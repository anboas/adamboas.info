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58" r:id="rId6"/>
    <p:sldId id="259" r:id="rId7"/>
    <p:sldId id="262" r:id="rId8"/>
    <p:sldId id="263" r:id="rId9"/>
    <p:sldId id="266" r:id="rId10"/>
    <p:sldId id="280" r:id="rId11"/>
    <p:sldId id="267" r:id="rId12"/>
    <p:sldId id="268" r:id="rId13"/>
    <p:sldId id="269" r:id="rId14"/>
    <p:sldId id="271" r:id="rId15"/>
    <p:sldId id="272" r:id="rId16"/>
    <p:sldId id="275" r:id="rId17"/>
    <p:sldId id="276" r:id="rId18"/>
    <p:sldId id="278" r:id="rId19"/>
    <p:sldId id="27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hoerner, Jeff A Mr CIV USA AMC" initials="SJAMCUA" lastIdx="4" clrIdx="0">
    <p:extLst>
      <p:ext uri="{19B8F6BF-5375-455C-9EA6-DF929625EA0E}">
        <p15:presenceInfo xmlns:p15="http://schemas.microsoft.com/office/powerpoint/2012/main" userId="S-1-5-21-329068152-448539723-839522115-4093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8A6"/>
    <a:srgbClr val="6C6C5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napToObjects="1">
      <p:cViewPr varScale="1">
        <p:scale>
          <a:sx n="86" d="100"/>
          <a:sy n="86" d="100"/>
        </p:scale>
        <p:origin x="1382" y="5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451"/>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3C336A-5755-0542-A654-1B181C12296A}" type="datetimeFigureOut">
              <a:rPr lang="en-US" smtClean="0"/>
              <a:t>8/2/2021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E9DBE-CFC8-FA43-8757-7925CCAB23E9}" type="slidenum">
              <a:rPr lang="en-US" smtClean="0"/>
              <a:t>‹#›</a:t>
            </a:fld>
            <a:endParaRPr lang="en-US"/>
          </a:p>
        </p:txBody>
      </p:sp>
    </p:spTree>
    <p:extLst>
      <p:ext uri="{BB962C8B-B14F-4D97-AF65-F5344CB8AC3E}">
        <p14:creationId xmlns:p14="http://schemas.microsoft.com/office/powerpoint/2010/main" val="8884325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BE9DBE-CFC8-FA43-8757-7925CCAB23E9}" type="slidenum">
              <a:rPr lang="en-US" smtClean="0"/>
              <a:t>1</a:t>
            </a:fld>
            <a:endParaRPr lang="en-US"/>
          </a:p>
        </p:txBody>
      </p:sp>
    </p:spTree>
    <p:extLst>
      <p:ext uri="{BB962C8B-B14F-4D97-AF65-F5344CB8AC3E}">
        <p14:creationId xmlns:p14="http://schemas.microsoft.com/office/powerpoint/2010/main" val="14743115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096000"/>
          </a:xfrm>
          <a:prstGeom prst="rect">
            <a:avLst/>
          </a:prstGeom>
        </p:spPr>
      </p:pic>
      <p:pic>
        <p:nvPicPr>
          <p:cNvPr id="5" name="Picture 4" descr="AMC-PPT-CoverBottomFrame-ACC.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808692"/>
            <a:ext cx="9144000" cy="2060448"/>
          </a:xfrm>
          <a:prstGeom prst="rect">
            <a:avLst/>
          </a:prstGeom>
        </p:spPr>
      </p:pic>
      <p:pic>
        <p:nvPicPr>
          <p:cNvPr id="6" name="Picture 5" descr="AMC-PPT-CoverTopFrame-Universal.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2151888" cy="1962912"/>
          </a:xfrm>
          <a:prstGeom prst="rect">
            <a:avLst/>
          </a:prstGeom>
        </p:spPr>
      </p:pic>
      <p:sp>
        <p:nvSpPr>
          <p:cNvPr id="2" name="Title 1"/>
          <p:cNvSpPr>
            <a:spLocks noGrp="1"/>
          </p:cNvSpPr>
          <p:nvPr>
            <p:ph type="ctrTitle" hasCustomPrompt="1"/>
          </p:nvPr>
        </p:nvSpPr>
        <p:spPr>
          <a:xfrm>
            <a:off x="843221" y="5142849"/>
            <a:ext cx="5879966" cy="822440"/>
          </a:xfrm>
        </p:spPr>
        <p:txBody>
          <a:bodyPr/>
          <a:lstStyle>
            <a:lvl1pPr>
              <a:defRPr sz="2800" b="1" i="0">
                <a:solidFill>
                  <a:srgbClr val="FFFFFF"/>
                </a:solidFill>
                <a:latin typeface="Arial"/>
                <a:cs typeface="Arial"/>
              </a:defRPr>
            </a:lvl1pPr>
          </a:lstStyle>
          <a:p>
            <a:r>
              <a:rPr lang="en-US" dirty="0" smtClean="0"/>
              <a:t>CLICK TO EDIT TITLE STYLE</a:t>
            </a:r>
            <a:endParaRPr lang="en-US" dirty="0"/>
          </a:p>
        </p:txBody>
      </p:sp>
      <p:sp>
        <p:nvSpPr>
          <p:cNvPr id="3" name="Subtitle 2"/>
          <p:cNvSpPr>
            <a:spLocks noGrp="1"/>
          </p:cNvSpPr>
          <p:nvPr>
            <p:ph type="subTitle" idx="1"/>
          </p:nvPr>
        </p:nvSpPr>
        <p:spPr>
          <a:xfrm>
            <a:off x="843220" y="5965289"/>
            <a:ext cx="5879967" cy="459477"/>
          </a:xfrm>
        </p:spPr>
        <p:txBody>
          <a:bodyPr/>
          <a:lstStyle>
            <a:lvl1pPr marL="0" indent="0" algn="l">
              <a:buNone/>
              <a:defRPr b="0" i="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43220" y="6433767"/>
            <a:ext cx="2133600" cy="287708"/>
          </a:xfrm>
          <a:prstGeom prst="rect">
            <a:avLst/>
          </a:prstGeom>
        </p:spPr>
        <p:txBody>
          <a:bodyPr/>
          <a:lstStyle>
            <a:lvl1pPr>
              <a:defRPr sz="1400" b="0" i="0">
                <a:solidFill>
                  <a:schemeClr val="bg1"/>
                </a:solidFill>
                <a:latin typeface="Arial"/>
                <a:cs typeface="Arial"/>
              </a:defRPr>
            </a:lvl1pPr>
          </a:lstStyle>
          <a:p>
            <a:fld id="{804C0843-1B88-445C-B75D-0D55154494F8}" type="datetime1">
              <a:rPr lang="en-US" smtClean="0"/>
              <a:t>8/2/2021</a:t>
            </a:fld>
            <a:endParaRPr lang="en-US" dirty="0"/>
          </a:p>
        </p:txBody>
      </p:sp>
    </p:spTree>
    <p:extLst>
      <p:ext uri="{BB962C8B-B14F-4D97-AF65-F5344CB8AC3E}">
        <p14:creationId xmlns:p14="http://schemas.microsoft.com/office/powerpoint/2010/main" val="808297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p>
            <a:fld id="{3650DDD2-8224-FD42-89E0-975387AD3410}" type="slidenum">
              <a:rPr lang="en-US" smtClean="0"/>
              <a:t>‹#›</a:t>
            </a:fld>
            <a:endParaRPr lang="en-US" dirty="0"/>
          </a:p>
        </p:txBody>
      </p:sp>
    </p:spTree>
    <p:extLst>
      <p:ext uri="{BB962C8B-B14F-4D97-AF65-F5344CB8AC3E}">
        <p14:creationId xmlns:p14="http://schemas.microsoft.com/office/powerpoint/2010/main" val="2417688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6" name="Slide Number Placeholder 5"/>
          <p:cNvSpPr>
            <a:spLocks noGrp="1"/>
          </p:cNvSpPr>
          <p:nvPr>
            <p:ph type="sldNum" sz="quarter" idx="12"/>
          </p:nvPr>
        </p:nvSpPr>
        <p:spPr/>
        <p:txBody>
          <a:bodyPr/>
          <a:lstStyle/>
          <a:p>
            <a:fld id="{3650DDD2-8224-FD42-89E0-975387AD3410}" type="slidenum">
              <a:rPr lang="en-US" smtClean="0"/>
              <a:t>‹#›</a:t>
            </a:fld>
            <a:endParaRPr lang="en-US"/>
          </a:p>
        </p:txBody>
      </p:sp>
    </p:spTree>
    <p:extLst>
      <p:ext uri="{BB962C8B-B14F-4D97-AF65-F5344CB8AC3E}">
        <p14:creationId xmlns:p14="http://schemas.microsoft.com/office/powerpoint/2010/main" val="3904051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a:spLocks noGrp="1"/>
          </p:cNvSpPr>
          <p:nvPr>
            <p:ph type="sldNum" sz="quarter" idx="12"/>
          </p:nvPr>
        </p:nvSpPr>
        <p:spPr/>
        <p:txBody>
          <a:bodyPr/>
          <a:lstStyle/>
          <a:p>
            <a:fld id="{3650DDD2-8224-FD42-89E0-975387AD3410}" type="slidenum">
              <a:rPr lang="en-US" smtClean="0"/>
              <a:t>‹#›</a:t>
            </a:fld>
            <a:endParaRPr lang="en-US"/>
          </a:p>
        </p:txBody>
      </p:sp>
    </p:spTree>
    <p:extLst>
      <p:ext uri="{BB962C8B-B14F-4D97-AF65-F5344CB8AC3E}">
        <p14:creationId xmlns:p14="http://schemas.microsoft.com/office/powerpoint/2010/main" val="3197713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8"/>
          <p:cNvSpPr>
            <a:spLocks noGrp="1"/>
          </p:cNvSpPr>
          <p:nvPr>
            <p:ph type="sldNum" sz="quarter" idx="12"/>
          </p:nvPr>
        </p:nvSpPr>
        <p:spPr/>
        <p:txBody>
          <a:bodyPr/>
          <a:lstStyle/>
          <a:p>
            <a:fld id="{3650DDD2-8224-FD42-89E0-975387AD3410}" type="slidenum">
              <a:rPr lang="en-US" smtClean="0"/>
              <a:t>‹#›</a:t>
            </a:fld>
            <a:endParaRPr lang="en-US"/>
          </a:p>
        </p:txBody>
      </p:sp>
    </p:spTree>
    <p:extLst>
      <p:ext uri="{BB962C8B-B14F-4D97-AF65-F5344CB8AC3E}">
        <p14:creationId xmlns:p14="http://schemas.microsoft.com/office/powerpoint/2010/main" val="2684855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5" name="Slide Number Placeholder 4"/>
          <p:cNvSpPr>
            <a:spLocks noGrp="1"/>
          </p:cNvSpPr>
          <p:nvPr>
            <p:ph type="sldNum" sz="quarter" idx="12"/>
          </p:nvPr>
        </p:nvSpPr>
        <p:spPr/>
        <p:txBody>
          <a:bodyPr/>
          <a:lstStyle/>
          <a:p>
            <a:fld id="{3650DDD2-8224-FD42-89E0-975387AD3410}" type="slidenum">
              <a:rPr lang="en-US" smtClean="0"/>
              <a:t>‹#›</a:t>
            </a:fld>
            <a:endParaRPr lang="en-US"/>
          </a:p>
        </p:txBody>
      </p:sp>
    </p:spTree>
    <p:extLst>
      <p:ext uri="{BB962C8B-B14F-4D97-AF65-F5344CB8AC3E}">
        <p14:creationId xmlns:p14="http://schemas.microsoft.com/office/powerpoint/2010/main" val="3365134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650DDD2-8224-FD42-89E0-975387AD3410}" type="slidenum">
              <a:rPr lang="en-US" smtClean="0"/>
              <a:t>‹#›</a:t>
            </a:fld>
            <a:endParaRPr lang="en-US"/>
          </a:p>
        </p:txBody>
      </p:sp>
    </p:spTree>
    <p:extLst>
      <p:ext uri="{BB962C8B-B14F-4D97-AF65-F5344CB8AC3E}">
        <p14:creationId xmlns:p14="http://schemas.microsoft.com/office/powerpoint/2010/main" val="1879686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217715"/>
            <a:ext cx="3008313" cy="11620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1217715"/>
            <a:ext cx="5111750" cy="490844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666052"/>
            <a:ext cx="3008313" cy="34601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3650DDD2-8224-FD42-89E0-975387AD3410}" type="slidenum">
              <a:rPr lang="en-US" smtClean="0"/>
              <a:t>‹#›</a:t>
            </a:fld>
            <a:endParaRPr lang="en-US"/>
          </a:p>
        </p:txBody>
      </p:sp>
    </p:spTree>
    <p:extLst>
      <p:ext uri="{BB962C8B-B14F-4D97-AF65-F5344CB8AC3E}">
        <p14:creationId xmlns:p14="http://schemas.microsoft.com/office/powerpoint/2010/main" val="983784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3650DDD2-8224-FD42-89E0-975387AD3410}" type="slidenum">
              <a:rPr lang="en-US" smtClean="0"/>
              <a:t>‹#›</a:t>
            </a:fld>
            <a:endParaRPr lang="en-US"/>
          </a:p>
        </p:txBody>
      </p:sp>
    </p:spTree>
    <p:extLst>
      <p:ext uri="{BB962C8B-B14F-4D97-AF65-F5344CB8AC3E}">
        <p14:creationId xmlns:p14="http://schemas.microsoft.com/office/powerpoint/2010/main" val="3410788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AMC-PPT_InsideBottomFrame-ACC.p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5943600"/>
            <a:ext cx="9144000" cy="914400"/>
          </a:xfrm>
          <a:prstGeom prst="rect">
            <a:avLst/>
          </a:prstGeom>
        </p:spPr>
      </p:pic>
      <p:pic>
        <p:nvPicPr>
          <p:cNvPr id="5" name="Picture 4"/>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0"/>
            <a:ext cx="9144000" cy="1146048"/>
          </a:xfrm>
          <a:prstGeom prst="rect">
            <a:avLst/>
          </a:prstGeom>
        </p:spPr>
      </p:pic>
      <p:sp>
        <p:nvSpPr>
          <p:cNvPr id="2" name="Title Placeholder 1"/>
          <p:cNvSpPr>
            <a:spLocks noGrp="1"/>
          </p:cNvSpPr>
          <p:nvPr>
            <p:ph type="title"/>
          </p:nvPr>
        </p:nvSpPr>
        <p:spPr>
          <a:xfrm>
            <a:off x="924438" y="93386"/>
            <a:ext cx="7762362" cy="401557"/>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924438" y="1214012"/>
            <a:ext cx="7274114" cy="500113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4"/>
          </p:nvPr>
        </p:nvSpPr>
        <p:spPr>
          <a:xfrm>
            <a:off x="3492621" y="6641981"/>
            <a:ext cx="2133600" cy="216020"/>
          </a:xfrm>
          <a:prstGeom prst="rect">
            <a:avLst/>
          </a:prstGeom>
        </p:spPr>
        <p:txBody>
          <a:bodyPr vert="horz" lIns="91440" tIns="45720" rIns="91440" bIns="45720" rtlCol="0" anchor="ctr"/>
          <a:lstStyle>
            <a:lvl1pPr algn="ctr">
              <a:defRPr sz="1200" b="0" i="0">
                <a:solidFill>
                  <a:schemeClr val="tx1">
                    <a:lumMod val="85000"/>
                    <a:lumOff val="15000"/>
                  </a:schemeClr>
                </a:solidFill>
                <a:latin typeface="Arial"/>
                <a:cs typeface="Arial"/>
              </a:defRPr>
            </a:lvl1pPr>
          </a:lstStyle>
          <a:p>
            <a:fld id="{3650DDD2-8224-FD42-89E0-975387AD3410}" type="slidenum">
              <a:rPr lang="en-US" smtClean="0"/>
              <a:pPr/>
              <a:t>‹#›</a:t>
            </a:fld>
            <a:endParaRPr lang="en-US" dirty="0"/>
          </a:p>
        </p:txBody>
      </p:sp>
      <p:sp>
        <p:nvSpPr>
          <p:cNvPr id="8" name="Date Placeholder 7"/>
          <p:cNvSpPr>
            <a:spLocks noGrp="1"/>
          </p:cNvSpPr>
          <p:nvPr>
            <p:ph type="dt" sz="half" idx="2"/>
          </p:nvPr>
        </p:nvSpPr>
        <p:spPr>
          <a:xfrm>
            <a:off x="76636" y="6173787"/>
            <a:ext cx="2133600" cy="365125"/>
          </a:xfrm>
          <a:prstGeom prst="rect">
            <a:avLst/>
          </a:prstGeom>
        </p:spPr>
        <p:txBody>
          <a:bodyPr vert="horz" lIns="91440" tIns="45720" rIns="91440" bIns="45720" rtlCol="0" anchor="ctr"/>
          <a:lstStyle>
            <a:lvl1pPr algn="l">
              <a:defRPr sz="1200" b="0" i="0">
                <a:solidFill>
                  <a:schemeClr val="tx1">
                    <a:tint val="75000"/>
                  </a:schemeClr>
                </a:solidFill>
                <a:latin typeface="Arial"/>
                <a:cs typeface="Arial"/>
              </a:defRPr>
            </a:lvl1pPr>
          </a:lstStyle>
          <a:p>
            <a:fld id="{0430CC2F-5FE4-4A82-8D05-35FC727B3F58}" type="datetime1">
              <a:rPr lang="en-US" smtClean="0"/>
              <a:t>8/2/2021</a:t>
            </a:fld>
            <a:endParaRPr lang="en-US" dirty="0"/>
          </a:p>
        </p:txBody>
      </p:sp>
      <p:sp>
        <p:nvSpPr>
          <p:cNvPr id="9" name="Footer Placeholder 8"/>
          <p:cNvSpPr>
            <a:spLocks noGrp="1"/>
          </p:cNvSpPr>
          <p:nvPr>
            <p:ph type="ftr" sz="quarter" idx="3"/>
          </p:nvPr>
        </p:nvSpPr>
        <p:spPr>
          <a:xfrm>
            <a:off x="5412252" y="6221241"/>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endParaRPr lang="en-US" dirty="0"/>
          </a:p>
        </p:txBody>
      </p:sp>
    </p:spTree>
    <p:extLst>
      <p:ext uri="{BB962C8B-B14F-4D97-AF65-F5344CB8AC3E}">
        <p14:creationId xmlns:p14="http://schemas.microsoft.com/office/powerpoint/2010/main" val="2730380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457200" rtl="0" eaLnBrk="1" latinLnBrk="0" hangingPunct="1">
        <a:spcBef>
          <a:spcPct val="0"/>
        </a:spcBef>
        <a:buNone/>
        <a:defRPr sz="2800" b="1" i="0" kern="1200">
          <a:solidFill>
            <a:srgbClr val="BFB8A6"/>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600" b="0" i="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9012" y="4953068"/>
            <a:ext cx="9074988" cy="822440"/>
          </a:xfrm>
        </p:spPr>
        <p:txBody>
          <a:bodyPr/>
          <a:lstStyle/>
          <a:p>
            <a:pPr algn="ctr"/>
            <a:r>
              <a:rPr lang="en-US" dirty="0" smtClean="0"/>
              <a:t>ACC-APG Competitive Industry Updates</a:t>
            </a:r>
            <a:endParaRPr lang="en-US" dirty="0"/>
          </a:p>
        </p:txBody>
      </p:sp>
      <p:sp>
        <p:nvSpPr>
          <p:cNvPr id="3" name="Subtitle 2"/>
          <p:cNvSpPr>
            <a:spLocks noGrp="1"/>
          </p:cNvSpPr>
          <p:nvPr>
            <p:ph type="subTitle" idx="1"/>
          </p:nvPr>
        </p:nvSpPr>
        <p:spPr>
          <a:xfrm>
            <a:off x="135854" y="5775508"/>
            <a:ext cx="8656454" cy="459477"/>
          </a:xfrm>
        </p:spPr>
        <p:txBody>
          <a:bodyPr>
            <a:noAutofit/>
          </a:bodyPr>
          <a:lstStyle/>
          <a:p>
            <a:pPr algn="ctr"/>
            <a:r>
              <a:rPr lang="en-US" sz="2600" dirty="0" smtClean="0"/>
              <a:t>ACC-APG Division D</a:t>
            </a:r>
          </a:p>
          <a:p>
            <a:pPr algn="ctr"/>
            <a:r>
              <a:rPr lang="en-US" dirty="0" smtClean="0"/>
              <a:t>Current as </a:t>
            </a:r>
            <a:r>
              <a:rPr lang="en-US" smtClean="0"/>
              <a:t>of 2 </a:t>
            </a:r>
            <a:r>
              <a:rPr lang="en-US" dirty="0" smtClean="0"/>
              <a:t>August</a:t>
            </a:r>
            <a:r>
              <a:rPr lang="en-US" sz="2600" dirty="0" smtClean="0"/>
              <a:t> 2021</a:t>
            </a:r>
            <a:endParaRPr lang="en-US" sz="2600" dirty="0"/>
          </a:p>
        </p:txBody>
      </p:sp>
    </p:spTree>
    <p:extLst>
      <p:ext uri="{BB962C8B-B14F-4D97-AF65-F5344CB8AC3E}">
        <p14:creationId xmlns:p14="http://schemas.microsoft.com/office/powerpoint/2010/main" val="35133979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1722361"/>
            <a:ext cx="7620000" cy="230832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following slides are for informational purposes ONLY. These are NOT formal solicitations / Requests for </a:t>
            </a:r>
            <a:r>
              <a:rPr lang="en-US" dirty="0" smtClean="0">
                <a:latin typeface="Arial" panose="020B0604020202020204" pitchFamily="34" charset="0"/>
                <a:cs typeface="Arial" panose="020B0604020202020204" pitchFamily="34" charset="0"/>
              </a:rPr>
              <a:t>Proposals </a:t>
            </a:r>
            <a:r>
              <a:rPr lang="en-US" dirty="0">
                <a:latin typeface="Arial" panose="020B0604020202020204" pitchFamily="34" charset="0"/>
                <a:cs typeface="Arial" panose="020B0604020202020204" pitchFamily="34" charset="0"/>
              </a:rPr>
              <a:t>(RFP) / Requests for Quotes (RFQ). Do NOT submit any formal proposals / quotes to this posting. All information contained in this posting is subject to change without notice. The Government will not respond and/or reimburse for any feedback, questions or documentation provided by Industry in response to this posting. </a:t>
            </a:r>
          </a:p>
          <a:p>
            <a:endParaRPr lang="en-US"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3650DDD2-8224-FD42-89E0-975387AD3410}" type="slidenum">
              <a:rPr lang="en-US" smtClean="0"/>
              <a:t>2</a:t>
            </a:fld>
            <a:endParaRPr lang="en-US" dirty="0"/>
          </a:p>
        </p:txBody>
      </p:sp>
    </p:spTree>
    <p:extLst>
      <p:ext uri="{BB962C8B-B14F-4D97-AF65-F5344CB8AC3E}">
        <p14:creationId xmlns:p14="http://schemas.microsoft.com/office/powerpoint/2010/main" val="20979943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prstClr val="white"/>
                </a:solidFill>
                <a:latin typeface=" Arial"/>
              </a:rPr>
              <a:t>Army Test and Evaluation Command </a:t>
            </a:r>
            <a:r>
              <a:rPr lang="en-US" dirty="0">
                <a:solidFill>
                  <a:prstClr val="white"/>
                </a:solidFill>
                <a:latin typeface=" Arial"/>
              </a:rPr>
              <a:t>(</a:t>
            </a:r>
            <a:r>
              <a:rPr lang="en-US" dirty="0" smtClean="0">
                <a:solidFill>
                  <a:prstClr val="white"/>
                </a:solidFill>
                <a:latin typeface=" Arial"/>
              </a:rPr>
              <a:t>ATEC</a:t>
            </a:r>
            <a:r>
              <a:rPr lang="en-US" dirty="0">
                <a:solidFill>
                  <a:prstClr val="white"/>
                </a:solidFill>
                <a:latin typeface=" Arial"/>
              </a:rPr>
              <a:t>)</a:t>
            </a:r>
          </a:p>
        </p:txBody>
      </p:sp>
      <p:sp>
        <p:nvSpPr>
          <p:cNvPr id="4" name="TextBox 8"/>
          <p:cNvSpPr txBox="1">
            <a:spLocks noGrp="1" noChangeArrowheads="1"/>
          </p:cNvSpPr>
          <p:nvPr>
            <p:ph idx="1"/>
          </p:nvPr>
        </p:nvSpPr>
        <p:spPr bwMode="auto">
          <a:xfrm>
            <a:off x="0" y="981099"/>
            <a:ext cx="9144000" cy="5115246"/>
          </a:xfrm>
          <a:prstGeom prst="rect">
            <a:avLst/>
          </a:prstGeom>
          <a:noFill/>
          <a:ln w="9525">
            <a:noFill/>
            <a:miter lim="800000"/>
            <a:headEnd/>
            <a:tailEnd/>
          </a:ln>
        </p:spPr>
        <p:txBody>
          <a:bodyPr wrap="square">
            <a:spAutoFit/>
          </a:bodyPr>
          <a:lstStyle/>
          <a:p>
            <a:pPr marL="0" indent="0">
              <a:buNone/>
              <a:defRPr/>
            </a:pPr>
            <a:r>
              <a:rPr lang="en-US" sz="1600" u="sng" dirty="0">
                <a:solidFill>
                  <a:prstClr val="black"/>
                </a:solidFill>
                <a:latin typeface="Arial" panose="020B0604020202020204" pitchFamily="34" charset="0"/>
                <a:cs typeface="Arial" panose="020B0604020202020204" pitchFamily="34" charset="0"/>
              </a:rPr>
              <a:t>Project Title</a:t>
            </a:r>
            <a:r>
              <a:rPr lang="en-US" sz="1600" dirty="0">
                <a:solidFill>
                  <a:prstClr val="black"/>
                </a:solidFill>
                <a:latin typeface="Arial" panose="020B0604020202020204" pitchFamily="34" charset="0"/>
                <a:cs typeface="Arial" panose="020B0604020202020204" pitchFamily="34" charset="0"/>
              </a:rPr>
              <a:t>:  </a:t>
            </a:r>
            <a:r>
              <a:rPr lang="fr-FR" sz="1600" dirty="0" smtClean="0">
                <a:solidFill>
                  <a:prstClr val="black"/>
                </a:solidFill>
                <a:latin typeface="Arial" panose="020B0604020202020204" pitchFamily="34" charset="0"/>
                <a:cs typeface="Arial" panose="020B0604020202020204" pitchFamily="34" charset="0"/>
              </a:rPr>
              <a:t>ATEC </a:t>
            </a:r>
            <a:r>
              <a:rPr lang="fr-FR" sz="1600" dirty="0" err="1" smtClean="0">
                <a:solidFill>
                  <a:prstClr val="black"/>
                </a:solidFill>
                <a:latin typeface="Arial" panose="020B0604020202020204" pitchFamily="34" charset="0"/>
                <a:cs typeface="Arial" panose="020B0604020202020204" pitchFamily="34" charset="0"/>
              </a:rPr>
              <a:t>Headquarters</a:t>
            </a:r>
            <a:r>
              <a:rPr lang="fr-FR" sz="1600" dirty="0" smtClean="0">
                <a:solidFill>
                  <a:prstClr val="black"/>
                </a:solidFill>
                <a:latin typeface="Arial" panose="020B0604020202020204" pitchFamily="34" charset="0"/>
                <a:cs typeface="Arial" panose="020B0604020202020204" pitchFamily="34" charset="0"/>
              </a:rPr>
              <a:t> Enterprise Consolidation of Range Support Services</a:t>
            </a:r>
            <a:endParaRPr lang="fr-FR" sz="1600" dirty="0">
              <a:solidFill>
                <a:prstClr val="black"/>
              </a:solidFill>
              <a:latin typeface="Arial" panose="020B0604020202020204" pitchFamily="34" charset="0"/>
              <a:cs typeface="Arial" panose="020B0604020202020204" pitchFamily="34" charset="0"/>
            </a:endParaRPr>
          </a:p>
          <a:p>
            <a:pPr marL="0" indent="0">
              <a:buNone/>
            </a:pPr>
            <a:r>
              <a:rPr lang="en-US" sz="1600" u="sng" dirty="0">
                <a:solidFill>
                  <a:prstClr val="black"/>
                </a:solidFill>
                <a:latin typeface="Arial" panose="020B0604020202020204" pitchFamily="34" charset="0"/>
                <a:cs typeface="Arial" panose="020B0604020202020204" pitchFamily="34" charset="0"/>
              </a:rPr>
              <a:t/>
            </a:r>
            <a:br>
              <a:rPr lang="en-US" sz="1600" u="sng" dirty="0">
                <a:solidFill>
                  <a:prstClr val="black"/>
                </a:solidFill>
                <a:latin typeface="Arial" panose="020B0604020202020204" pitchFamily="34" charset="0"/>
                <a:cs typeface="Arial" panose="020B0604020202020204" pitchFamily="34" charset="0"/>
              </a:rPr>
            </a:br>
            <a:r>
              <a:rPr lang="en-US" sz="1600" u="sng" dirty="0">
                <a:solidFill>
                  <a:prstClr val="black"/>
                </a:solidFill>
                <a:latin typeface="Arial" panose="020B0604020202020204" pitchFamily="34" charset="0"/>
                <a:cs typeface="Arial" panose="020B0604020202020204" pitchFamily="34" charset="0"/>
              </a:rPr>
              <a:t>Project Summary</a:t>
            </a: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Consolidation of five ATEC test range contracts to achieve cost savings and operational efficiencies. Aberdeen Test Center, Electronic Proving Ground, West Desert Test Center, White Sands Test Center, Yuma Test Center</a:t>
            </a:r>
            <a:endParaRPr lang="en-US" sz="1600" dirty="0">
              <a:solidFill>
                <a:prstClr val="black"/>
              </a:solidFill>
              <a:latin typeface="Arial" panose="020B0604020202020204" pitchFamily="34" charset="0"/>
              <a:cs typeface="Arial" panose="020B0604020202020204" pitchFamily="34" charset="0"/>
            </a:endParaRPr>
          </a:p>
          <a:p>
            <a:pPr marL="0" indent="0">
              <a:buNone/>
              <a:defRPr/>
            </a:pPr>
            <a:r>
              <a:rPr lang="en-US" sz="1600" dirty="0">
                <a:solidFill>
                  <a:prstClr val="black"/>
                </a:solidFill>
                <a:latin typeface="Arial" panose="020B0604020202020204" pitchFamily="34" charset="0"/>
                <a:cs typeface="Arial" panose="020B0604020202020204" pitchFamily="34" charset="0"/>
              </a:rPr>
              <a:t/>
            </a:r>
            <a:br>
              <a:rPr lang="en-US" sz="1600" dirty="0">
                <a:solidFill>
                  <a:prstClr val="black"/>
                </a:solidFill>
                <a:latin typeface="Arial" panose="020B0604020202020204" pitchFamily="34" charset="0"/>
                <a:cs typeface="Arial" panose="020B0604020202020204" pitchFamily="34" charset="0"/>
              </a:rPr>
            </a:br>
            <a:r>
              <a:rPr lang="en-US" sz="1600" u="sng" dirty="0">
                <a:solidFill>
                  <a:prstClr val="black"/>
                </a:solidFill>
                <a:latin typeface="Arial" panose="020B0604020202020204" pitchFamily="34" charset="0"/>
                <a:cs typeface="Arial" panose="020B0604020202020204" pitchFamily="34" charset="0"/>
              </a:rPr>
              <a:t>Prior/Current Contract Information</a:t>
            </a:r>
            <a:r>
              <a:rPr lang="en-US" sz="1600" dirty="0">
                <a:solidFill>
                  <a:prstClr val="black"/>
                </a:solidFill>
                <a:latin typeface="Arial" panose="020B0604020202020204" pitchFamily="34" charset="0"/>
                <a:cs typeface="Arial" panose="020B0604020202020204" pitchFamily="34" charset="0"/>
              </a:rPr>
              <a:t>:</a:t>
            </a:r>
          </a:p>
          <a:p>
            <a:pPr marL="0" indent="0">
              <a:buNone/>
              <a:defRPr/>
            </a:pP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ATC: W91CRB-15-D-0018	</a:t>
            </a: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  EPG: W91RUS-16-C-0006</a:t>
            </a:r>
          </a:p>
          <a:p>
            <a:pPr marL="0" indent="0">
              <a:buNone/>
              <a:defRPr/>
            </a:pPr>
            <a:r>
              <a:rPr lang="en-US" sz="1600" dirty="0" smtClean="0">
                <a:solidFill>
                  <a:prstClr val="black"/>
                </a:solidFill>
                <a:latin typeface="Arial" panose="020B0604020202020204" pitchFamily="34" charset="0"/>
                <a:cs typeface="Arial" panose="020B0604020202020204" pitchFamily="34" charset="0"/>
              </a:rPr>
              <a:t>   WDTC: W911S6-19-C-0004	</a:t>
            </a: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WSTC: W91151-19-C-0008    YTC: W9124R-18-C-0001</a:t>
            </a:r>
            <a:endParaRPr lang="en-US" sz="1600" dirty="0">
              <a:solidFill>
                <a:prstClr val="black"/>
              </a:solidFill>
              <a:latin typeface="Arial" panose="020B0604020202020204" pitchFamily="34" charset="0"/>
              <a:cs typeface="Arial" panose="020B0604020202020204" pitchFamily="34" charset="0"/>
            </a:endParaRPr>
          </a:p>
          <a:p>
            <a:pPr marL="0" indent="0">
              <a:buNone/>
              <a:defRPr/>
            </a:pPr>
            <a:r>
              <a:rPr lang="en-US" sz="1600" dirty="0">
                <a:solidFill>
                  <a:prstClr val="black"/>
                </a:solidFill>
                <a:latin typeface="Arial" panose="020B0604020202020204" pitchFamily="34" charset="0"/>
                <a:cs typeface="Arial" panose="020B0604020202020204" pitchFamily="34" charset="0"/>
              </a:rPr>
              <a:t/>
            </a:r>
            <a:br>
              <a:rPr lang="en-US" sz="1600" dirty="0">
                <a:solidFill>
                  <a:prstClr val="black"/>
                </a:solidFill>
                <a:latin typeface="Arial" panose="020B0604020202020204" pitchFamily="34" charset="0"/>
                <a:cs typeface="Arial" panose="020B0604020202020204" pitchFamily="34" charset="0"/>
              </a:rPr>
            </a:br>
            <a:r>
              <a:rPr lang="en-US" sz="1600" dirty="0">
                <a:solidFill>
                  <a:prstClr val="black"/>
                </a:solidFill>
                <a:latin typeface="Arial" panose="020B0604020202020204" pitchFamily="34" charset="0"/>
                <a:cs typeface="Arial" panose="020B0604020202020204" pitchFamily="34" charset="0"/>
              </a:rPr>
              <a:t>Note: This opportunity is expected to be unrestricted</a:t>
            </a:r>
          </a:p>
          <a:p>
            <a:pPr marL="0" indent="0">
              <a:buNone/>
              <a:defRPr/>
            </a:pPr>
            <a:endParaRPr lang="en-US" sz="1600" dirty="0">
              <a:solidFill>
                <a:prstClr val="black"/>
              </a:solidFill>
              <a:latin typeface="Arial" panose="020B0604020202020204" pitchFamily="34" charset="0"/>
              <a:cs typeface="Arial" panose="020B0604020202020204" pitchFamily="34" charset="0"/>
            </a:endParaRPr>
          </a:p>
          <a:p>
            <a:pPr marL="0" indent="0">
              <a:buNone/>
              <a:defRPr/>
            </a:pPr>
            <a:r>
              <a:rPr lang="en-US" sz="1600" u="sng" dirty="0">
                <a:solidFill>
                  <a:prstClr val="black"/>
                </a:solidFill>
                <a:latin typeface="Arial" panose="020B0604020202020204" pitchFamily="34" charset="0"/>
                <a:cs typeface="Arial" panose="020B0604020202020204" pitchFamily="34" charset="0"/>
              </a:rPr>
              <a:t>Contract Type</a:t>
            </a: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TBD</a:t>
            </a:r>
            <a:endParaRPr lang="en-US" sz="1600" dirty="0">
              <a:solidFill>
                <a:prstClr val="black"/>
              </a:solidFill>
              <a:latin typeface="Arial" panose="020B0604020202020204" pitchFamily="34" charset="0"/>
              <a:cs typeface="Arial" panose="020B0604020202020204" pitchFamily="34" charset="0"/>
            </a:endParaRPr>
          </a:p>
          <a:p>
            <a:pPr marL="0" indent="0">
              <a:buNone/>
              <a:defRPr/>
            </a:pPr>
            <a:r>
              <a:rPr lang="en-US" sz="1600" u="sng" dirty="0">
                <a:solidFill>
                  <a:prstClr val="black"/>
                </a:solidFill>
                <a:latin typeface="Arial" panose="020B0604020202020204" pitchFamily="34" charset="0"/>
                <a:cs typeface="Arial" panose="020B0604020202020204" pitchFamily="34" charset="0"/>
              </a:rPr>
              <a:t>ROM</a:t>
            </a: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$7B</a:t>
            </a:r>
            <a:endParaRPr lang="en-US" sz="1600" dirty="0">
              <a:solidFill>
                <a:prstClr val="black"/>
              </a:solidFill>
              <a:latin typeface="Arial" panose="020B0604020202020204" pitchFamily="34" charset="0"/>
              <a:cs typeface="Arial" panose="020B0604020202020204" pitchFamily="34" charset="0"/>
            </a:endParaRPr>
          </a:p>
          <a:p>
            <a:pPr marL="0" indent="0">
              <a:buNone/>
              <a:defRPr/>
            </a:pPr>
            <a:r>
              <a:rPr lang="en-US" sz="1600" u="sng" dirty="0">
                <a:solidFill>
                  <a:prstClr val="black"/>
                </a:solidFill>
                <a:latin typeface="Arial" panose="020B0604020202020204" pitchFamily="34" charset="0"/>
                <a:cs typeface="Arial" panose="020B0604020202020204" pitchFamily="34" charset="0"/>
              </a:rPr>
              <a:t>Period of Performance</a:t>
            </a: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15 </a:t>
            </a:r>
            <a:r>
              <a:rPr lang="en-US" sz="1600" dirty="0">
                <a:solidFill>
                  <a:prstClr val="black"/>
                </a:solidFill>
                <a:latin typeface="Arial" panose="020B0604020202020204" pitchFamily="34" charset="0"/>
                <a:cs typeface="Arial" panose="020B0604020202020204" pitchFamily="34" charset="0"/>
              </a:rPr>
              <a:t>year </a:t>
            </a:r>
            <a:r>
              <a:rPr lang="en-US" sz="1600" dirty="0" smtClean="0">
                <a:solidFill>
                  <a:prstClr val="black"/>
                </a:solidFill>
                <a:latin typeface="Arial" panose="020B0604020202020204" pitchFamily="34" charset="0"/>
                <a:cs typeface="Arial" panose="020B0604020202020204" pitchFamily="34" charset="0"/>
              </a:rPr>
              <a:t>Period of Performance</a:t>
            </a:r>
            <a:endParaRPr lang="en-US" sz="1600" dirty="0">
              <a:solidFill>
                <a:prstClr val="black"/>
              </a:solidFill>
              <a:latin typeface="Arial" panose="020B0604020202020204" pitchFamily="34" charset="0"/>
              <a:cs typeface="Arial" panose="020B0604020202020204" pitchFamily="34" charset="0"/>
            </a:endParaRPr>
          </a:p>
          <a:p>
            <a:pPr marL="0" indent="0">
              <a:buNone/>
              <a:defRPr/>
            </a:pPr>
            <a:r>
              <a:rPr lang="en-US" sz="1600" u="sng" dirty="0">
                <a:solidFill>
                  <a:prstClr val="black"/>
                </a:solidFill>
                <a:latin typeface="Arial" panose="020B0604020202020204" pitchFamily="34" charset="0"/>
                <a:cs typeface="Arial" panose="020B0604020202020204" pitchFamily="34" charset="0"/>
              </a:rPr>
              <a:t>Estimated Solicitation Release Date</a:t>
            </a:r>
            <a:r>
              <a:rPr lang="en-US" sz="1600" dirty="0">
                <a:solidFill>
                  <a:prstClr val="black"/>
                </a:solidFill>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2QFY22</a:t>
            </a:r>
            <a:endParaRPr lang="en-US" sz="1600" dirty="0">
              <a:latin typeface="Arial" panose="020B0604020202020204" pitchFamily="34" charset="0"/>
              <a:cs typeface="Arial" panose="020B0604020202020204" pitchFamily="34" charset="0"/>
            </a:endParaRPr>
          </a:p>
          <a:p>
            <a:pPr marL="0" indent="0">
              <a:buNone/>
              <a:defRPr/>
            </a:pPr>
            <a:r>
              <a:rPr lang="en-US" sz="1600" u="sng" dirty="0">
                <a:solidFill>
                  <a:prstClr val="black"/>
                </a:solidFill>
                <a:latin typeface="Arial" panose="020B0604020202020204" pitchFamily="34" charset="0"/>
                <a:cs typeface="Arial" panose="020B0604020202020204" pitchFamily="34" charset="0"/>
              </a:rPr>
              <a:t>Contracting Contact</a:t>
            </a:r>
            <a:r>
              <a:rPr lang="en-US" sz="1600" dirty="0">
                <a:solidFill>
                  <a:prstClr val="black"/>
                </a:solidFill>
                <a:latin typeface="Arial" panose="020B0604020202020204" pitchFamily="34" charset="0"/>
                <a:cs typeface="Arial" panose="020B0604020202020204" pitchFamily="34" charset="0"/>
              </a:rPr>
              <a:t>:  ACC-APG, Erin Weber, KO, erin.k.weber.civ@mail.mil</a:t>
            </a:r>
          </a:p>
          <a:p>
            <a:pPr marL="0" indent="0">
              <a:buNone/>
              <a:defRPr/>
            </a:pPr>
            <a:r>
              <a:rPr lang="en-US" sz="1600" b="1" dirty="0" smtClean="0">
                <a:solidFill>
                  <a:prstClr val="black"/>
                </a:solidFill>
                <a:latin typeface="Arial" panose="020B0604020202020204" pitchFamily="34" charset="0"/>
                <a:cs typeface="Arial" panose="020B0604020202020204" pitchFamily="34" charset="0"/>
              </a:rPr>
              <a:t>*</a:t>
            </a:r>
            <a:r>
              <a:rPr lang="en-US" sz="1600" b="1" dirty="0">
                <a:solidFill>
                  <a:prstClr val="black"/>
                </a:solidFill>
                <a:latin typeface="Arial" panose="020B0604020202020204" pitchFamily="34" charset="0"/>
                <a:cs typeface="Arial" panose="020B0604020202020204" pitchFamily="34" charset="0"/>
              </a:rPr>
              <a:t>Subject to Cancellation</a:t>
            </a:r>
          </a:p>
        </p:txBody>
      </p:sp>
      <p:sp>
        <p:nvSpPr>
          <p:cNvPr id="3" name="Slide Number Placeholder 2"/>
          <p:cNvSpPr>
            <a:spLocks noGrp="1"/>
          </p:cNvSpPr>
          <p:nvPr>
            <p:ph type="sldNum" sz="quarter" idx="12"/>
          </p:nvPr>
        </p:nvSpPr>
        <p:spPr/>
        <p:txBody>
          <a:bodyPr/>
          <a:lstStyle/>
          <a:p>
            <a:fld id="{3650DDD2-8224-FD42-89E0-975387AD3410}" type="slidenum">
              <a:rPr lang="en-US" smtClean="0"/>
              <a:t>3</a:t>
            </a:fld>
            <a:endParaRPr lang="en-US" dirty="0"/>
          </a:p>
        </p:txBody>
      </p:sp>
    </p:spTree>
    <p:extLst>
      <p:ext uri="{BB962C8B-B14F-4D97-AF65-F5344CB8AC3E}">
        <p14:creationId xmlns:p14="http://schemas.microsoft.com/office/powerpoint/2010/main" val="29686754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prstClr val="white"/>
                </a:solidFill>
                <a:latin typeface=" Arial"/>
              </a:rPr>
              <a:t>Redstone </a:t>
            </a:r>
            <a:r>
              <a:rPr lang="en-US" dirty="0">
                <a:solidFill>
                  <a:prstClr val="white"/>
                </a:solidFill>
                <a:latin typeface=" Arial"/>
              </a:rPr>
              <a:t>Test Center </a:t>
            </a:r>
            <a:r>
              <a:rPr lang="en-US" dirty="0" smtClean="0">
                <a:solidFill>
                  <a:prstClr val="white"/>
                </a:solidFill>
                <a:latin typeface=" Arial"/>
              </a:rPr>
              <a:t>(RTC</a:t>
            </a:r>
            <a:r>
              <a:rPr lang="en-US" dirty="0">
                <a:solidFill>
                  <a:prstClr val="white"/>
                </a:solidFill>
                <a:latin typeface=" Arial"/>
              </a:rPr>
              <a:t>)</a:t>
            </a:r>
          </a:p>
        </p:txBody>
      </p:sp>
      <p:sp>
        <p:nvSpPr>
          <p:cNvPr id="4" name="TextBox 8"/>
          <p:cNvSpPr txBox="1">
            <a:spLocks noGrp="1" noChangeArrowheads="1"/>
          </p:cNvSpPr>
          <p:nvPr>
            <p:ph idx="1"/>
          </p:nvPr>
        </p:nvSpPr>
        <p:spPr bwMode="auto">
          <a:xfrm>
            <a:off x="0" y="981099"/>
            <a:ext cx="9144000" cy="4869025"/>
          </a:xfrm>
          <a:prstGeom prst="rect">
            <a:avLst/>
          </a:prstGeom>
          <a:noFill/>
          <a:ln w="9525">
            <a:noFill/>
            <a:miter lim="800000"/>
            <a:headEnd/>
            <a:tailEnd/>
          </a:ln>
        </p:spPr>
        <p:txBody>
          <a:bodyPr wrap="square">
            <a:spAutoFit/>
          </a:bodyPr>
          <a:lstStyle/>
          <a:p>
            <a:pPr marL="0" indent="0">
              <a:buNone/>
            </a:pPr>
            <a:r>
              <a:rPr lang="en-US" sz="1600" u="sng" dirty="0" smtClean="0">
                <a:solidFill>
                  <a:prstClr val="black"/>
                </a:solidFill>
                <a:latin typeface=" Arial"/>
                <a:cs typeface="Arial" panose="020B0604020202020204" pitchFamily="34" charset="0"/>
              </a:rPr>
              <a:t>Project Title</a:t>
            </a:r>
            <a:r>
              <a:rPr lang="en-US" sz="1600" dirty="0" smtClean="0">
                <a:solidFill>
                  <a:prstClr val="black"/>
                </a:solidFill>
                <a:latin typeface=" Arial"/>
                <a:cs typeface="Arial" panose="020B0604020202020204" pitchFamily="34" charset="0"/>
              </a:rPr>
              <a:t>: </a:t>
            </a:r>
            <a:r>
              <a:rPr lang="en-US" sz="1600" dirty="0" smtClean="0">
                <a:latin typeface=" Arial"/>
              </a:rPr>
              <a:t>Redstone Test and Engineering Services (RTES)</a:t>
            </a:r>
            <a:br>
              <a:rPr lang="en-US" sz="1600" dirty="0" smtClean="0">
                <a:latin typeface=" Arial"/>
              </a:rPr>
            </a:br>
            <a:endParaRPr lang="en-US" sz="1600" u="sng" dirty="0" smtClean="0">
              <a:solidFill>
                <a:prstClr val="black"/>
              </a:solidFill>
              <a:latin typeface=" Arial"/>
              <a:cs typeface="Arial" panose="020B0604020202020204" pitchFamily="34" charset="0"/>
            </a:endParaRPr>
          </a:p>
          <a:p>
            <a:pPr marL="0" indent="0">
              <a:buNone/>
            </a:pPr>
            <a:r>
              <a:rPr lang="en-US" sz="1600" u="sng" dirty="0" smtClean="0">
                <a:solidFill>
                  <a:prstClr val="black"/>
                </a:solidFill>
                <a:latin typeface=" Arial"/>
                <a:cs typeface="Arial" panose="020B0604020202020204" pitchFamily="34" charset="0"/>
              </a:rPr>
              <a:t>Project Summary</a:t>
            </a:r>
            <a:r>
              <a:rPr lang="en-US" sz="1600" dirty="0" smtClean="0">
                <a:solidFill>
                  <a:prstClr val="black"/>
                </a:solidFill>
                <a:latin typeface=" Arial"/>
                <a:cs typeface="Arial" panose="020B0604020202020204" pitchFamily="34" charset="0"/>
              </a:rPr>
              <a:t>:  Engineering and Technical Test Support Services to RTC</a:t>
            </a:r>
            <a:endParaRPr lang="en-US" sz="1600" dirty="0">
              <a:latin typeface=" Arial"/>
            </a:endParaRPr>
          </a:p>
          <a:p>
            <a:pPr marL="0" indent="0">
              <a:buNone/>
              <a:defRPr/>
            </a:pPr>
            <a:r>
              <a:rPr lang="en-US" sz="1600" dirty="0">
                <a:solidFill>
                  <a:prstClr val="black"/>
                </a:solidFill>
                <a:latin typeface=" Arial"/>
                <a:cs typeface="Arial" panose="020B0604020202020204" pitchFamily="34" charset="0"/>
              </a:rPr>
              <a:t/>
            </a:r>
            <a:br>
              <a:rPr lang="en-US" sz="1600" dirty="0">
                <a:solidFill>
                  <a:prstClr val="black"/>
                </a:solidFill>
                <a:latin typeface=" Arial"/>
                <a:cs typeface="Arial" panose="020B0604020202020204" pitchFamily="34" charset="0"/>
              </a:rPr>
            </a:br>
            <a:r>
              <a:rPr lang="en-US" sz="1600" u="sng" dirty="0" smtClean="0">
                <a:solidFill>
                  <a:prstClr val="black"/>
                </a:solidFill>
                <a:latin typeface=" Arial"/>
                <a:cs typeface="Arial" panose="020B0604020202020204" pitchFamily="34" charset="0"/>
              </a:rPr>
              <a:t>Prior/Current Contract Information</a:t>
            </a:r>
            <a:r>
              <a:rPr lang="en-US" sz="1600" dirty="0" smtClean="0">
                <a:solidFill>
                  <a:prstClr val="black"/>
                </a:solidFill>
                <a:latin typeface=" Arial"/>
                <a:cs typeface="Arial" panose="020B0604020202020204" pitchFamily="34" charset="0"/>
              </a:rPr>
              <a:t>:</a:t>
            </a:r>
          </a:p>
          <a:p>
            <a:pPr marL="0" indent="0">
              <a:buNone/>
              <a:defRPr/>
            </a:pPr>
            <a:r>
              <a:rPr lang="en-US" sz="1600" dirty="0">
                <a:solidFill>
                  <a:prstClr val="black"/>
                </a:solidFill>
                <a:latin typeface=" Arial"/>
                <a:cs typeface="Arial" panose="020B0604020202020204" pitchFamily="34" charset="0"/>
              </a:rPr>
              <a:t>	</a:t>
            </a:r>
            <a:r>
              <a:rPr lang="en-US" sz="1600" dirty="0" smtClean="0">
                <a:solidFill>
                  <a:prstClr val="black"/>
                </a:solidFill>
                <a:latin typeface=" Arial"/>
                <a:cs typeface="Arial" panose="020B0604020202020204" pitchFamily="34" charset="0"/>
              </a:rPr>
              <a:t>Contract Number: </a:t>
            </a:r>
            <a:r>
              <a:rPr lang="en-US" sz="1600" dirty="0" smtClean="0">
                <a:latin typeface=" Arial"/>
              </a:rPr>
              <a:t>W91CRB-17-D-0009 </a:t>
            </a:r>
          </a:p>
          <a:p>
            <a:pPr marL="228600" indent="0">
              <a:buNone/>
            </a:pPr>
            <a:r>
              <a:rPr lang="en-US" sz="1600" dirty="0">
                <a:solidFill>
                  <a:prstClr val="black"/>
                </a:solidFill>
                <a:latin typeface=" Arial"/>
                <a:cs typeface="Arial" panose="020B0604020202020204" pitchFamily="34" charset="0"/>
              </a:rPr>
              <a:t>	</a:t>
            </a:r>
            <a:r>
              <a:rPr lang="en-US" sz="1600" dirty="0" smtClean="0">
                <a:solidFill>
                  <a:prstClr val="black"/>
                </a:solidFill>
                <a:latin typeface=" Arial"/>
                <a:cs typeface="Arial" panose="020B0604020202020204" pitchFamily="34" charset="0"/>
              </a:rPr>
              <a:t>Incumbent Contractor:  </a:t>
            </a:r>
            <a:r>
              <a:rPr lang="en-US" sz="1600" dirty="0" smtClean="0">
                <a:latin typeface=" Arial"/>
              </a:rPr>
              <a:t>Engineering Research &amp; Consulting, Inc.</a:t>
            </a:r>
          </a:p>
          <a:p>
            <a:pPr marL="228600" indent="0">
              <a:buNone/>
            </a:pPr>
            <a:endParaRPr lang="en-US" sz="1600" dirty="0">
              <a:solidFill>
                <a:prstClr val="black"/>
              </a:solidFill>
              <a:latin typeface=" Arial"/>
              <a:cs typeface="Arial" panose="020B0604020202020204" pitchFamily="34" charset="0"/>
            </a:endParaRPr>
          </a:p>
          <a:p>
            <a:pPr marL="228600" indent="0">
              <a:buNone/>
            </a:pPr>
            <a:r>
              <a:rPr lang="en-US" sz="1600" dirty="0" smtClean="0">
                <a:solidFill>
                  <a:prstClr val="black"/>
                </a:solidFill>
                <a:latin typeface=" Arial"/>
                <a:cs typeface="Arial" panose="020B0604020202020204" pitchFamily="34" charset="0"/>
              </a:rPr>
              <a:t>Note: This opportunity is expected to be a small business set-aside </a:t>
            </a:r>
            <a:br>
              <a:rPr lang="en-US" sz="1600" dirty="0" smtClean="0">
                <a:solidFill>
                  <a:prstClr val="black"/>
                </a:solidFill>
                <a:latin typeface=" Arial"/>
                <a:cs typeface="Arial" panose="020B0604020202020204" pitchFamily="34" charset="0"/>
              </a:rPr>
            </a:br>
            <a:endParaRPr lang="en-US" sz="1600" dirty="0">
              <a:solidFill>
                <a:prstClr val="black"/>
              </a:solidFill>
              <a:latin typeface=" Arial"/>
              <a:cs typeface="Arial" panose="020B0604020202020204" pitchFamily="34" charset="0"/>
            </a:endParaRPr>
          </a:p>
          <a:p>
            <a:pPr marL="0" indent="0">
              <a:buNone/>
              <a:defRPr/>
            </a:pPr>
            <a:r>
              <a:rPr lang="en-US" sz="1600" u="sng" dirty="0" smtClean="0">
                <a:solidFill>
                  <a:prstClr val="black"/>
                </a:solidFill>
                <a:latin typeface=" Arial"/>
                <a:cs typeface="Arial" panose="020B0604020202020204" pitchFamily="34" charset="0"/>
              </a:rPr>
              <a:t>Contract Type</a:t>
            </a:r>
            <a:r>
              <a:rPr lang="en-US" sz="1600" dirty="0" smtClean="0">
                <a:solidFill>
                  <a:prstClr val="black"/>
                </a:solidFill>
                <a:latin typeface=" Arial"/>
                <a:cs typeface="Arial" panose="020B0604020202020204" pitchFamily="34" charset="0"/>
              </a:rPr>
              <a:t>:  CPFF </a:t>
            </a:r>
          </a:p>
          <a:p>
            <a:pPr marL="0" indent="0">
              <a:buNone/>
              <a:defRPr/>
            </a:pPr>
            <a:r>
              <a:rPr lang="en-US" sz="1600" u="sng" dirty="0" smtClean="0">
                <a:solidFill>
                  <a:prstClr val="black"/>
                </a:solidFill>
                <a:latin typeface=" Arial"/>
                <a:cs typeface="Arial" panose="020B0604020202020204" pitchFamily="34" charset="0"/>
              </a:rPr>
              <a:t>ROM</a:t>
            </a:r>
            <a:r>
              <a:rPr lang="en-US" sz="1600" dirty="0" smtClean="0">
                <a:solidFill>
                  <a:prstClr val="black"/>
                </a:solidFill>
                <a:latin typeface=" Arial"/>
                <a:cs typeface="Arial" panose="020B0604020202020204" pitchFamily="34" charset="0"/>
              </a:rPr>
              <a:t>:  $994M</a:t>
            </a:r>
            <a:endParaRPr lang="en-US" sz="1600" dirty="0">
              <a:solidFill>
                <a:prstClr val="black"/>
              </a:solidFill>
              <a:latin typeface=" Arial"/>
              <a:cs typeface="Arial" panose="020B0604020202020204" pitchFamily="34" charset="0"/>
            </a:endParaRPr>
          </a:p>
          <a:p>
            <a:pPr marL="0" indent="0">
              <a:buNone/>
              <a:defRPr/>
            </a:pPr>
            <a:r>
              <a:rPr lang="en-US" sz="1600" u="sng" dirty="0" smtClean="0">
                <a:solidFill>
                  <a:prstClr val="black"/>
                </a:solidFill>
                <a:latin typeface=" Arial"/>
                <a:cs typeface="Arial" panose="020B0604020202020204" pitchFamily="34" charset="0"/>
              </a:rPr>
              <a:t>Period of Performance</a:t>
            </a:r>
            <a:r>
              <a:rPr lang="en-US" sz="1600" dirty="0" smtClean="0">
                <a:solidFill>
                  <a:prstClr val="black"/>
                </a:solidFill>
                <a:latin typeface=" Arial"/>
                <a:cs typeface="Arial" panose="020B0604020202020204" pitchFamily="34" charset="0"/>
              </a:rPr>
              <a:t>:  5 year ordering period</a:t>
            </a:r>
          </a:p>
          <a:p>
            <a:pPr marL="0" indent="0">
              <a:buNone/>
              <a:defRPr/>
            </a:pPr>
            <a:r>
              <a:rPr lang="en-US" sz="1600" u="sng" dirty="0" smtClean="0">
                <a:solidFill>
                  <a:prstClr val="black"/>
                </a:solidFill>
                <a:latin typeface=" Arial"/>
                <a:cs typeface="Arial" panose="020B0604020202020204" pitchFamily="34" charset="0"/>
              </a:rPr>
              <a:t>Estimated Solicitation Release Date</a:t>
            </a:r>
            <a:r>
              <a:rPr lang="en-US" sz="1600" dirty="0" smtClean="0">
                <a:solidFill>
                  <a:prstClr val="black"/>
                </a:solidFill>
                <a:latin typeface=" Arial"/>
                <a:cs typeface="Arial" panose="020B0604020202020204" pitchFamily="34" charset="0"/>
              </a:rPr>
              <a:t>:  </a:t>
            </a:r>
            <a:r>
              <a:rPr lang="en-US" sz="1600" dirty="0" smtClean="0">
                <a:latin typeface=" Arial"/>
                <a:cs typeface="Arial" panose="020B0604020202020204" pitchFamily="34" charset="0"/>
              </a:rPr>
              <a:t>4QFY21</a:t>
            </a:r>
          </a:p>
          <a:p>
            <a:pPr marL="0" indent="0">
              <a:buNone/>
              <a:defRPr/>
            </a:pPr>
            <a:r>
              <a:rPr lang="en-US" sz="1600" u="sng" dirty="0" smtClean="0">
                <a:solidFill>
                  <a:prstClr val="black"/>
                </a:solidFill>
                <a:latin typeface=" Arial"/>
                <a:cs typeface="Arial" panose="020B0604020202020204" pitchFamily="34" charset="0"/>
              </a:rPr>
              <a:t>Contracting Contact</a:t>
            </a:r>
            <a:r>
              <a:rPr lang="en-US" sz="1600" dirty="0" smtClean="0">
                <a:solidFill>
                  <a:prstClr val="black"/>
                </a:solidFill>
                <a:latin typeface=" Arial"/>
                <a:cs typeface="Arial" panose="020B0604020202020204" pitchFamily="34" charset="0"/>
              </a:rPr>
              <a:t>:  ACC-APG, Erin Weber, KO, erin.k.weber.civ@mail.mil</a:t>
            </a:r>
          </a:p>
          <a:p>
            <a:pPr marL="0" indent="0">
              <a:buNone/>
              <a:defRPr/>
            </a:pPr>
            <a:r>
              <a:rPr lang="en-US" sz="1600" b="1" dirty="0" smtClean="0">
                <a:solidFill>
                  <a:prstClr val="black"/>
                </a:solidFill>
                <a:latin typeface=" Arial"/>
                <a:cs typeface="Arial" panose="020B0604020202020204" pitchFamily="34" charset="0"/>
              </a:rPr>
              <a:t/>
            </a:r>
            <a:br>
              <a:rPr lang="en-US" sz="1600" b="1" dirty="0" smtClean="0">
                <a:solidFill>
                  <a:prstClr val="black"/>
                </a:solidFill>
                <a:latin typeface=" Arial"/>
                <a:cs typeface="Arial" panose="020B0604020202020204" pitchFamily="34" charset="0"/>
              </a:rPr>
            </a:br>
            <a:r>
              <a:rPr lang="en-US" sz="1600" b="1" dirty="0" smtClean="0">
                <a:solidFill>
                  <a:prstClr val="black"/>
                </a:solidFill>
                <a:latin typeface=" Arial"/>
                <a:cs typeface="Arial" panose="020B0604020202020204" pitchFamily="34" charset="0"/>
              </a:rPr>
              <a:t>*Subject to Cancellation</a:t>
            </a:r>
            <a:endParaRPr lang="en-US" sz="1600" b="1" dirty="0">
              <a:solidFill>
                <a:prstClr val="black"/>
              </a:solidFill>
              <a:latin typeface=" Arial"/>
              <a:cs typeface="Arial" panose="020B0604020202020204" pitchFamily="34" charset="0"/>
            </a:endParaRPr>
          </a:p>
        </p:txBody>
      </p:sp>
      <p:sp>
        <p:nvSpPr>
          <p:cNvPr id="3" name="Slide Number Placeholder 2"/>
          <p:cNvSpPr>
            <a:spLocks noGrp="1"/>
          </p:cNvSpPr>
          <p:nvPr>
            <p:ph type="sldNum" sz="quarter" idx="12"/>
          </p:nvPr>
        </p:nvSpPr>
        <p:spPr/>
        <p:txBody>
          <a:bodyPr/>
          <a:lstStyle/>
          <a:p>
            <a:fld id="{3650DDD2-8224-FD42-89E0-975387AD3410}" type="slidenum">
              <a:rPr lang="en-US" smtClean="0">
                <a:latin typeface=" Arial"/>
              </a:rPr>
              <a:t>4</a:t>
            </a:fld>
            <a:endParaRPr lang="en-US" dirty="0">
              <a:latin typeface=" Arial"/>
            </a:endParaRPr>
          </a:p>
        </p:txBody>
      </p:sp>
    </p:spTree>
    <p:extLst>
      <p:ext uri="{BB962C8B-B14F-4D97-AF65-F5344CB8AC3E}">
        <p14:creationId xmlns:p14="http://schemas.microsoft.com/office/powerpoint/2010/main" val="33584911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Rocky Mountain Arsenal (RMA)</a:t>
            </a:r>
          </a:p>
        </p:txBody>
      </p:sp>
      <p:sp>
        <p:nvSpPr>
          <p:cNvPr id="5" name="TextBox 8"/>
          <p:cNvSpPr txBox="1">
            <a:spLocks noChangeArrowheads="1"/>
          </p:cNvSpPr>
          <p:nvPr/>
        </p:nvSpPr>
        <p:spPr bwMode="auto">
          <a:xfrm>
            <a:off x="75759" y="1092679"/>
            <a:ext cx="9144000" cy="5262979"/>
          </a:xfrm>
          <a:prstGeom prst="rect">
            <a:avLst/>
          </a:prstGeom>
          <a:noFill/>
          <a:ln w="9525">
            <a:noFill/>
            <a:miter lim="800000"/>
            <a:headEnd/>
            <a:tailEnd/>
          </a:ln>
        </p:spPr>
        <p:txBody>
          <a:bodyPr wrap="square">
            <a:spAutoFit/>
          </a:bodyPr>
          <a:lstStyle/>
          <a:p>
            <a:pPr>
              <a:defRPr/>
            </a:pPr>
            <a:r>
              <a:rPr lang="en-US" sz="1600" u="sng" dirty="0">
                <a:solidFill>
                  <a:prstClr val="black"/>
                </a:solidFill>
                <a:latin typeface=" Arial"/>
              </a:rPr>
              <a:t>Project Title</a:t>
            </a:r>
            <a:r>
              <a:rPr lang="en-US" sz="1600" dirty="0">
                <a:solidFill>
                  <a:prstClr val="black"/>
                </a:solidFill>
                <a:latin typeface=" Arial"/>
              </a:rPr>
              <a:t>:  </a:t>
            </a:r>
            <a:r>
              <a:rPr lang="fr-FR" sz="1600" dirty="0">
                <a:solidFill>
                  <a:prstClr val="black"/>
                </a:solidFill>
                <a:latin typeface=" Arial"/>
              </a:rPr>
              <a:t>Rocky Mountain Arsenal (RMA) </a:t>
            </a:r>
            <a:r>
              <a:rPr lang="fr-FR" sz="1600" dirty="0" err="1" smtClean="0">
                <a:solidFill>
                  <a:prstClr val="black"/>
                </a:solidFill>
                <a:latin typeface=" Arial"/>
              </a:rPr>
              <a:t>Environmental</a:t>
            </a:r>
            <a:r>
              <a:rPr lang="fr-FR" sz="1600" dirty="0" smtClean="0">
                <a:solidFill>
                  <a:prstClr val="black"/>
                </a:solidFill>
                <a:latin typeface=" Arial"/>
              </a:rPr>
              <a:t> </a:t>
            </a:r>
            <a:r>
              <a:rPr lang="fr-FR" sz="1600" dirty="0" err="1" smtClean="0">
                <a:solidFill>
                  <a:prstClr val="black"/>
                </a:solidFill>
                <a:latin typeface=" Arial"/>
              </a:rPr>
              <a:t>Remediation</a:t>
            </a:r>
            <a:r>
              <a:rPr lang="fr-FR" sz="1600" dirty="0" smtClean="0">
                <a:solidFill>
                  <a:prstClr val="black"/>
                </a:solidFill>
                <a:latin typeface=" Arial"/>
              </a:rPr>
              <a:t> Services &amp; Construction (ERSC)</a:t>
            </a:r>
            <a:endParaRPr lang="fr-FR" sz="1600" dirty="0">
              <a:solidFill>
                <a:prstClr val="black"/>
              </a:solidFill>
              <a:latin typeface=" Arial"/>
            </a:endParaRPr>
          </a:p>
          <a:p>
            <a:endParaRPr lang="en-US" sz="1600" u="sng" dirty="0">
              <a:solidFill>
                <a:prstClr val="black"/>
              </a:solidFill>
              <a:latin typeface=" Arial"/>
            </a:endParaRPr>
          </a:p>
          <a:p>
            <a:r>
              <a:rPr lang="en-US" sz="1600" u="sng" dirty="0">
                <a:solidFill>
                  <a:prstClr val="black"/>
                </a:solidFill>
                <a:latin typeface=" Arial"/>
              </a:rPr>
              <a:t>Project Summary</a:t>
            </a:r>
            <a:r>
              <a:rPr lang="en-US" sz="1600" dirty="0">
                <a:solidFill>
                  <a:prstClr val="black"/>
                </a:solidFill>
                <a:latin typeface=" Arial"/>
              </a:rPr>
              <a:t>:  Operations and Maintenance of Groundwater Testing and Environmental Remediation Equipment at Rocky Mountain </a:t>
            </a:r>
            <a:r>
              <a:rPr lang="en-US" sz="1600" dirty="0" smtClean="0">
                <a:solidFill>
                  <a:prstClr val="black"/>
                </a:solidFill>
                <a:latin typeface=" Arial"/>
              </a:rPr>
              <a:t>Arsenal.  Construction of a consolidated water treatment plant.</a:t>
            </a:r>
            <a:endParaRPr lang="en-US" sz="1600" dirty="0">
              <a:solidFill>
                <a:prstClr val="black"/>
              </a:solidFill>
              <a:latin typeface=" Arial"/>
            </a:endParaRPr>
          </a:p>
          <a:p>
            <a:endParaRPr lang="en-US" sz="1600" dirty="0">
              <a:solidFill>
                <a:prstClr val="black"/>
              </a:solidFill>
              <a:latin typeface=" Arial"/>
            </a:endParaRPr>
          </a:p>
          <a:p>
            <a:pPr>
              <a:defRPr/>
            </a:pPr>
            <a:r>
              <a:rPr lang="en-US" sz="1600" u="sng" dirty="0">
                <a:solidFill>
                  <a:prstClr val="black"/>
                </a:solidFill>
                <a:latin typeface=" Arial"/>
              </a:rPr>
              <a:t>Prior/Current Contract Information</a:t>
            </a:r>
            <a:r>
              <a:rPr lang="en-US" sz="1600" dirty="0">
                <a:solidFill>
                  <a:prstClr val="black"/>
                </a:solidFill>
                <a:latin typeface=" Arial"/>
              </a:rPr>
              <a:t>:</a:t>
            </a:r>
          </a:p>
          <a:p>
            <a:pPr>
              <a:defRPr/>
            </a:pPr>
            <a:r>
              <a:rPr lang="en-US" sz="1600" dirty="0">
                <a:solidFill>
                  <a:prstClr val="black"/>
                </a:solidFill>
                <a:latin typeface=" Arial"/>
              </a:rPr>
              <a:t>	Contract Number:  </a:t>
            </a:r>
            <a:r>
              <a:rPr lang="en-US" sz="1600" dirty="0" smtClean="0">
                <a:solidFill>
                  <a:prstClr val="black"/>
                </a:solidFill>
                <a:latin typeface=" Arial"/>
              </a:rPr>
              <a:t>W9125F-12-D-0001</a:t>
            </a:r>
            <a:endParaRPr lang="en-US" sz="1600" dirty="0">
              <a:solidFill>
                <a:prstClr val="black"/>
              </a:solidFill>
              <a:latin typeface=" Arial"/>
            </a:endParaRPr>
          </a:p>
          <a:p>
            <a:pPr>
              <a:defRPr/>
            </a:pPr>
            <a:r>
              <a:rPr lang="en-US" sz="1600" dirty="0">
                <a:solidFill>
                  <a:prstClr val="black"/>
                </a:solidFill>
                <a:latin typeface=" Arial"/>
              </a:rPr>
              <a:t>	Incumbent Contractor:  Navarro Research &amp; Engineering</a:t>
            </a:r>
          </a:p>
          <a:p>
            <a:pPr>
              <a:defRPr/>
            </a:pPr>
            <a:endParaRPr lang="en-US" sz="1600" dirty="0">
              <a:solidFill>
                <a:prstClr val="black"/>
              </a:solidFill>
              <a:latin typeface=" Arial"/>
            </a:endParaRPr>
          </a:p>
          <a:p>
            <a:pPr>
              <a:defRPr/>
            </a:pPr>
            <a:r>
              <a:rPr lang="en-US" sz="1600" dirty="0">
                <a:solidFill>
                  <a:prstClr val="black"/>
                </a:solidFill>
                <a:latin typeface=" Arial"/>
              </a:rPr>
              <a:t>Note: This opportunity is expected to be set-aside for small businesses.</a:t>
            </a:r>
          </a:p>
          <a:p>
            <a:pPr>
              <a:defRPr/>
            </a:pPr>
            <a:endParaRPr lang="en-US" sz="1600" dirty="0">
              <a:solidFill>
                <a:prstClr val="black"/>
              </a:solidFill>
              <a:latin typeface=" Arial"/>
            </a:endParaRPr>
          </a:p>
          <a:p>
            <a:pPr>
              <a:defRPr/>
            </a:pPr>
            <a:r>
              <a:rPr lang="en-US" sz="1600" u="sng" dirty="0">
                <a:solidFill>
                  <a:prstClr val="black"/>
                </a:solidFill>
                <a:latin typeface=" Arial"/>
              </a:rPr>
              <a:t>Contract Type</a:t>
            </a:r>
            <a:r>
              <a:rPr lang="en-US" sz="1600" dirty="0">
                <a:solidFill>
                  <a:prstClr val="black"/>
                </a:solidFill>
                <a:latin typeface=" Arial"/>
              </a:rPr>
              <a:t>:  CPIF with FFP and Cost CLINs</a:t>
            </a:r>
          </a:p>
          <a:p>
            <a:pPr>
              <a:defRPr/>
            </a:pPr>
            <a:r>
              <a:rPr lang="en-US" sz="1600" u="sng" dirty="0">
                <a:solidFill>
                  <a:prstClr val="black"/>
                </a:solidFill>
                <a:latin typeface=" Arial"/>
              </a:rPr>
              <a:t>ROM</a:t>
            </a:r>
            <a:r>
              <a:rPr lang="en-US" sz="1600" dirty="0">
                <a:solidFill>
                  <a:prstClr val="black"/>
                </a:solidFill>
                <a:latin typeface=" Arial"/>
              </a:rPr>
              <a:t>:  $120M</a:t>
            </a:r>
          </a:p>
          <a:p>
            <a:pPr>
              <a:defRPr/>
            </a:pPr>
            <a:r>
              <a:rPr lang="en-US" sz="1600" u="sng" dirty="0">
                <a:solidFill>
                  <a:prstClr val="black"/>
                </a:solidFill>
                <a:latin typeface=" Arial"/>
              </a:rPr>
              <a:t>Period of Performance</a:t>
            </a:r>
            <a:r>
              <a:rPr lang="en-US" sz="1600" dirty="0">
                <a:solidFill>
                  <a:prstClr val="black"/>
                </a:solidFill>
                <a:latin typeface=" Arial"/>
              </a:rPr>
              <a:t>:  9 year ordering period</a:t>
            </a:r>
          </a:p>
          <a:p>
            <a:pPr>
              <a:defRPr/>
            </a:pPr>
            <a:r>
              <a:rPr lang="en-US" sz="1600" u="sng" dirty="0">
                <a:solidFill>
                  <a:prstClr val="black"/>
                </a:solidFill>
                <a:latin typeface=" Arial"/>
              </a:rPr>
              <a:t>Estimated Solicitation Release Date</a:t>
            </a:r>
            <a:r>
              <a:rPr lang="en-US" sz="1600" dirty="0">
                <a:solidFill>
                  <a:prstClr val="black"/>
                </a:solidFill>
                <a:latin typeface=" Arial"/>
              </a:rPr>
              <a:t>:  </a:t>
            </a:r>
            <a:r>
              <a:rPr lang="en-US" sz="1600" dirty="0" smtClean="0">
                <a:latin typeface=" Arial"/>
              </a:rPr>
              <a:t>4QFY21</a:t>
            </a:r>
            <a:endParaRPr lang="en-US" sz="1600" dirty="0">
              <a:latin typeface=" Arial"/>
            </a:endParaRPr>
          </a:p>
          <a:p>
            <a:pPr>
              <a:defRPr/>
            </a:pPr>
            <a:r>
              <a:rPr lang="en-US" sz="1600" u="sng" dirty="0">
                <a:solidFill>
                  <a:prstClr val="black"/>
                </a:solidFill>
                <a:latin typeface=" Arial"/>
              </a:rPr>
              <a:t>Contracting Contact</a:t>
            </a:r>
            <a:r>
              <a:rPr lang="en-US" sz="1600" dirty="0">
                <a:solidFill>
                  <a:prstClr val="black"/>
                </a:solidFill>
                <a:latin typeface=" Arial"/>
              </a:rPr>
              <a:t>:  ACC-APG, Erin Weber, KO, erin.k.weber.civ@mail.mil</a:t>
            </a:r>
          </a:p>
          <a:p>
            <a:pPr>
              <a:defRPr/>
            </a:pPr>
            <a:endParaRPr lang="en-US" sz="1600" dirty="0">
              <a:solidFill>
                <a:prstClr val="black"/>
              </a:solidFill>
              <a:latin typeface=" Arial"/>
            </a:endParaRPr>
          </a:p>
          <a:p>
            <a:pPr>
              <a:defRPr/>
            </a:pPr>
            <a:endParaRPr lang="en-US" sz="1600" dirty="0">
              <a:solidFill>
                <a:prstClr val="black"/>
              </a:solidFill>
              <a:latin typeface=" Arial"/>
            </a:endParaRPr>
          </a:p>
          <a:p>
            <a:pPr>
              <a:defRPr/>
            </a:pPr>
            <a:r>
              <a:rPr lang="en-US" sz="1600" b="1" dirty="0">
                <a:solidFill>
                  <a:prstClr val="black"/>
                </a:solidFill>
                <a:latin typeface=" Arial"/>
              </a:rPr>
              <a:t>*Subject to Cancellation</a:t>
            </a:r>
          </a:p>
        </p:txBody>
      </p:sp>
      <p:sp>
        <p:nvSpPr>
          <p:cNvPr id="3" name="Slide Number Placeholder 2"/>
          <p:cNvSpPr>
            <a:spLocks noGrp="1"/>
          </p:cNvSpPr>
          <p:nvPr>
            <p:ph type="sldNum" sz="quarter" idx="12"/>
          </p:nvPr>
        </p:nvSpPr>
        <p:spPr/>
        <p:txBody>
          <a:bodyPr/>
          <a:lstStyle/>
          <a:p>
            <a:fld id="{3650DDD2-8224-FD42-89E0-975387AD3410}" type="slidenum">
              <a:rPr lang="en-US" smtClean="0"/>
              <a:t>5</a:t>
            </a:fld>
            <a:endParaRPr lang="en-US" dirty="0"/>
          </a:p>
        </p:txBody>
      </p:sp>
    </p:spTree>
    <p:extLst>
      <p:ext uri="{BB962C8B-B14F-4D97-AF65-F5344CB8AC3E}">
        <p14:creationId xmlns:p14="http://schemas.microsoft.com/office/powerpoint/2010/main" val="23264902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prstClr val="white"/>
                </a:solidFill>
                <a:latin typeface=" Arial"/>
              </a:rPr>
              <a:t>Army G8</a:t>
            </a:r>
            <a:endParaRPr lang="en-US" dirty="0">
              <a:solidFill>
                <a:prstClr val="white"/>
              </a:solidFill>
              <a:latin typeface=" Arial"/>
            </a:endParaRPr>
          </a:p>
        </p:txBody>
      </p:sp>
      <p:sp>
        <p:nvSpPr>
          <p:cNvPr id="4" name="TextBox 8"/>
          <p:cNvSpPr txBox="1">
            <a:spLocks noChangeArrowheads="1"/>
          </p:cNvSpPr>
          <p:nvPr/>
        </p:nvSpPr>
        <p:spPr bwMode="auto">
          <a:xfrm>
            <a:off x="0" y="1066800"/>
            <a:ext cx="9144000" cy="4524315"/>
          </a:xfrm>
          <a:prstGeom prst="rect">
            <a:avLst/>
          </a:prstGeom>
          <a:noFill/>
          <a:ln w="9525">
            <a:noFill/>
            <a:miter lim="800000"/>
            <a:headEnd/>
            <a:tailEnd/>
          </a:ln>
        </p:spPr>
        <p:txBody>
          <a:bodyPr wrap="square">
            <a:spAutoFit/>
          </a:bodyPr>
          <a:lstStyle/>
          <a:p>
            <a:pPr>
              <a:defRPr/>
            </a:pPr>
            <a:r>
              <a:rPr lang="en-US" sz="1600" u="sng" dirty="0" smtClean="0">
                <a:latin typeface=" Arial"/>
                <a:cs typeface="Arial" panose="020B0604020202020204" pitchFamily="34" charset="0"/>
              </a:rPr>
              <a:t>Project Title</a:t>
            </a:r>
            <a:r>
              <a:rPr lang="en-US" sz="1600" dirty="0" smtClean="0">
                <a:latin typeface=" Arial"/>
                <a:cs typeface="Arial" panose="020B0604020202020204" pitchFamily="34" charset="0"/>
              </a:rPr>
              <a:t>:  </a:t>
            </a:r>
            <a:r>
              <a:rPr lang="en-US" sz="1600" dirty="0" smtClean="0">
                <a:latin typeface=" Arial"/>
              </a:rPr>
              <a:t>Force Development</a:t>
            </a:r>
          </a:p>
          <a:p>
            <a:pPr>
              <a:defRPr/>
            </a:pPr>
            <a:endParaRPr lang="en-US" sz="1600" dirty="0" smtClean="0">
              <a:latin typeface=" Arial"/>
              <a:cs typeface="Arial" panose="020B0604020202020204" pitchFamily="34" charset="0"/>
            </a:endParaRPr>
          </a:p>
          <a:p>
            <a:r>
              <a:rPr lang="en-US" sz="1600" u="sng" dirty="0" smtClean="0">
                <a:latin typeface=" Arial"/>
                <a:cs typeface="Arial" panose="020B0604020202020204" pitchFamily="34" charset="0"/>
              </a:rPr>
              <a:t>Project Summary</a:t>
            </a:r>
            <a:r>
              <a:rPr lang="en-US" sz="1600" dirty="0" smtClean="0">
                <a:latin typeface=" Arial"/>
                <a:cs typeface="Arial" panose="020B0604020202020204" pitchFamily="34" charset="0"/>
              </a:rPr>
              <a:t>:  </a:t>
            </a:r>
            <a:r>
              <a:rPr lang="en-US" sz="1600" dirty="0">
                <a:latin typeface=" Arial"/>
              </a:rPr>
              <a:t>The Force Development (FD) Directorate’s overall responsibility is to provide fully equipped forces, in a fiscally constrained environment, that meet of the Army Force requirements outlined in the Army Campaign Plan (ACP</a:t>
            </a:r>
            <a:r>
              <a:rPr lang="en-US" sz="1600" dirty="0" smtClean="0">
                <a:latin typeface=" Arial"/>
              </a:rPr>
              <a:t>).</a:t>
            </a:r>
          </a:p>
          <a:p>
            <a:endParaRPr lang="en-US" sz="1600" u="sng" dirty="0" smtClean="0">
              <a:latin typeface=" Arial"/>
              <a:cs typeface="Arial" panose="020B0604020202020204" pitchFamily="34" charset="0"/>
            </a:endParaRPr>
          </a:p>
          <a:p>
            <a:r>
              <a:rPr lang="en-US" sz="1600" u="sng" dirty="0" smtClean="0">
                <a:latin typeface=" Arial"/>
                <a:cs typeface="Arial" panose="020B0604020202020204" pitchFamily="34" charset="0"/>
              </a:rPr>
              <a:t>Prior/Current Contract Information</a:t>
            </a:r>
            <a:r>
              <a:rPr lang="en-US" sz="1600" dirty="0" smtClean="0">
                <a:latin typeface=" Arial"/>
                <a:cs typeface="Arial" panose="020B0604020202020204" pitchFamily="34" charset="0"/>
              </a:rPr>
              <a:t>:</a:t>
            </a:r>
          </a:p>
          <a:p>
            <a:pPr>
              <a:defRPr/>
            </a:pPr>
            <a:r>
              <a:rPr lang="en-US" sz="1600" dirty="0" smtClean="0">
                <a:latin typeface=" Arial"/>
                <a:cs typeface="Arial" panose="020B0604020202020204" pitchFamily="34" charset="0"/>
              </a:rPr>
              <a:t>	Contract Number:  W91CRB-18-C-0034</a:t>
            </a:r>
          </a:p>
          <a:p>
            <a:pPr>
              <a:defRPr/>
            </a:pPr>
            <a:r>
              <a:rPr lang="en-US" sz="1600" dirty="0" smtClean="0">
                <a:latin typeface=" Arial"/>
                <a:cs typeface="Arial" panose="020B0604020202020204" pitchFamily="34" charset="0"/>
              </a:rPr>
              <a:t>	Incumbent Contractor:  MDB Group, LLC</a:t>
            </a:r>
          </a:p>
          <a:p>
            <a:pPr>
              <a:defRPr/>
            </a:pPr>
            <a:r>
              <a:rPr lang="en-US" sz="1600" dirty="0" smtClean="0">
                <a:latin typeface=" Arial"/>
                <a:cs typeface="Arial" panose="020B0604020202020204" pitchFamily="34" charset="0"/>
              </a:rPr>
              <a:t>	Solicitation Number:  TBD</a:t>
            </a:r>
          </a:p>
          <a:p>
            <a:pPr>
              <a:defRPr/>
            </a:pPr>
            <a:endParaRPr lang="en-US" sz="1600" dirty="0" smtClean="0">
              <a:latin typeface=" Arial"/>
              <a:cs typeface="Arial" panose="020B0604020202020204" pitchFamily="34" charset="0"/>
            </a:endParaRPr>
          </a:p>
          <a:p>
            <a:pPr>
              <a:defRPr/>
            </a:pPr>
            <a:r>
              <a:rPr lang="en-US" sz="1600" u="sng" dirty="0" smtClean="0">
                <a:latin typeface=" Arial"/>
                <a:cs typeface="Arial" panose="020B0604020202020204" pitchFamily="34" charset="0"/>
              </a:rPr>
              <a:t>Contract Type</a:t>
            </a:r>
            <a:r>
              <a:rPr lang="en-US" sz="1600" dirty="0" smtClean="0">
                <a:latin typeface=" Arial"/>
                <a:cs typeface="Arial" panose="020B0604020202020204" pitchFamily="34" charset="0"/>
              </a:rPr>
              <a:t>:  T&amp;M</a:t>
            </a:r>
          </a:p>
          <a:p>
            <a:pPr>
              <a:defRPr/>
            </a:pPr>
            <a:r>
              <a:rPr lang="en-US" sz="1600" u="sng" dirty="0" smtClean="0">
                <a:latin typeface=" Arial"/>
                <a:cs typeface="Arial" panose="020B0604020202020204" pitchFamily="34" charset="0"/>
              </a:rPr>
              <a:t>ROM</a:t>
            </a:r>
            <a:r>
              <a:rPr lang="en-US" sz="1600" dirty="0" smtClean="0">
                <a:latin typeface=" Arial"/>
                <a:cs typeface="Arial" panose="020B0604020202020204" pitchFamily="34" charset="0"/>
              </a:rPr>
              <a:t>:  $38M</a:t>
            </a:r>
          </a:p>
          <a:p>
            <a:pPr>
              <a:defRPr/>
            </a:pPr>
            <a:r>
              <a:rPr lang="en-US" sz="1600" u="sng" dirty="0" smtClean="0">
                <a:latin typeface=" Arial"/>
                <a:cs typeface="Arial" panose="020B0604020202020204" pitchFamily="34" charset="0"/>
              </a:rPr>
              <a:t>Period of Performance</a:t>
            </a:r>
            <a:r>
              <a:rPr lang="en-US" sz="1600" dirty="0" smtClean="0">
                <a:latin typeface=" Arial"/>
                <a:cs typeface="Arial" panose="020B0604020202020204" pitchFamily="34" charset="0"/>
              </a:rPr>
              <a:t>:  3 year ordering period</a:t>
            </a:r>
          </a:p>
          <a:p>
            <a:pPr>
              <a:defRPr/>
            </a:pPr>
            <a:r>
              <a:rPr lang="en-US" sz="1600" u="sng" dirty="0">
                <a:solidFill>
                  <a:prstClr val="black"/>
                </a:solidFill>
                <a:latin typeface=" Arial"/>
                <a:cs typeface="Arial" panose="020B0604020202020204" pitchFamily="34" charset="0"/>
              </a:rPr>
              <a:t>Estimated Solicitation Release </a:t>
            </a:r>
            <a:r>
              <a:rPr lang="en-US" sz="1600" u="sng" dirty="0" smtClean="0">
                <a:solidFill>
                  <a:prstClr val="black"/>
                </a:solidFill>
                <a:latin typeface=" Arial"/>
                <a:cs typeface="Arial" panose="020B0604020202020204" pitchFamily="34" charset="0"/>
              </a:rPr>
              <a:t>Date</a:t>
            </a:r>
            <a:r>
              <a:rPr lang="en-US" sz="1600" dirty="0" smtClean="0">
                <a:latin typeface=" Arial"/>
                <a:cs typeface="Arial" panose="020B0604020202020204" pitchFamily="34" charset="0"/>
              </a:rPr>
              <a:t>:  4QFY21</a:t>
            </a:r>
          </a:p>
          <a:p>
            <a:pPr>
              <a:defRPr/>
            </a:pPr>
            <a:r>
              <a:rPr lang="en-US" sz="1600" u="sng" dirty="0" smtClean="0">
                <a:latin typeface=" Arial"/>
                <a:cs typeface="Arial" panose="020B0604020202020204" pitchFamily="34" charset="0"/>
              </a:rPr>
              <a:t>Contracting Contact</a:t>
            </a:r>
            <a:r>
              <a:rPr lang="en-US" sz="1600" dirty="0" smtClean="0">
                <a:latin typeface=" Arial"/>
                <a:cs typeface="Arial" panose="020B0604020202020204" pitchFamily="34" charset="0"/>
              </a:rPr>
              <a:t>: ACC-APG, Alex Obriwin, KO, alexander.s.obriwin.civ@mail.mil </a:t>
            </a:r>
          </a:p>
          <a:p>
            <a:pPr>
              <a:defRPr/>
            </a:pPr>
            <a:r>
              <a:rPr lang="en-US" sz="1600" b="1" dirty="0" smtClean="0">
                <a:latin typeface=" Arial"/>
                <a:cs typeface="Arial" panose="020B0604020202020204" pitchFamily="34" charset="0"/>
              </a:rPr>
              <a:t/>
            </a:r>
            <a:br>
              <a:rPr lang="en-US" sz="1600" b="1" dirty="0" smtClean="0">
                <a:latin typeface=" Arial"/>
                <a:cs typeface="Arial" panose="020B0604020202020204" pitchFamily="34" charset="0"/>
              </a:rPr>
            </a:br>
            <a:r>
              <a:rPr lang="en-US" sz="1600" b="1" dirty="0" smtClean="0">
                <a:latin typeface=" Arial"/>
                <a:cs typeface="Arial" panose="020B0604020202020204" pitchFamily="34" charset="0"/>
              </a:rPr>
              <a:t>*Subject to Cancellation</a:t>
            </a:r>
            <a:endParaRPr lang="en-US" sz="1600" b="1" dirty="0">
              <a:latin typeface=" Arial"/>
              <a:cs typeface="Arial" panose="020B0604020202020204" pitchFamily="34" charset="0"/>
            </a:endParaRPr>
          </a:p>
        </p:txBody>
      </p:sp>
      <p:sp>
        <p:nvSpPr>
          <p:cNvPr id="3" name="Slide Number Placeholder 2"/>
          <p:cNvSpPr>
            <a:spLocks noGrp="1"/>
          </p:cNvSpPr>
          <p:nvPr>
            <p:ph type="sldNum" sz="quarter" idx="12"/>
          </p:nvPr>
        </p:nvSpPr>
        <p:spPr/>
        <p:txBody>
          <a:bodyPr/>
          <a:lstStyle/>
          <a:p>
            <a:fld id="{3650DDD2-8224-FD42-89E0-975387AD3410}" type="slidenum">
              <a:rPr lang="en-US" smtClean="0"/>
              <a:t>6</a:t>
            </a:fld>
            <a:endParaRPr lang="en-US" dirty="0"/>
          </a:p>
        </p:txBody>
      </p:sp>
    </p:spTree>
    <p:extLst>
      <p:ext uri="{BB962C8B-B14F-4D97-AF65-F5344CB8AC3E}">
        <p14:creationId xmlns:p14="http://schemas.microsoft.com/office/powerpoint/2010/main" val="1513933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prstClr val="white"/>
                </a:solidFill>
                <a:latin typeface=" Arial"/>
              </a:rPr>
              <a:t>ASA FM&amp;C</a:t>
            </a:r>
            <a:endParaRPr lang="en-US" dirty="0">
              <a:solidFill>
                <a:prstClr val="white"/>
              </a:solidFill>
              <a:latin typeface=" Arial"/>
            </a:endParaRPr>
          </a:p>
        </p:txBody>
      </p:sp>
      <p:sp>
        <p:nvSpPr>
          <p:cNvPr id="4" name="TextBox 8"/>
          <p:cNvSpPr txBox="1">
            <a:spLocks noChangeArrowheads="1"/>
          </p:cNvSpPr>
          <p:nvPr/>
        </p:nvSpPr>
        <p:spPr bwMode="auto">
          <a:xfrm>
            <a:off x="0" y="1066800"/>
            <a:ext cx="9144000" cy="5016758"/>
          </a:xfrm>
          <a:prstGeom prst="rect">
            <a:avLst/>
          </a:prstGeom>
          <a:noFill/>
          <a:ln w="9525">
            <a:noFill/>
            <a:miter lim="800000"/>
            <a:headEnd/>
            <a:tailEnd/>
          </a:ln>
        </p:spPr>
        <p:txBody>
          <a:bodyPr wrap="square">
            <a:spAutoFit/>
          </a:bodyPr>
          <a:lstStyle/>
          <a:p>
            <a:pPr>
              <a:defRPr/>
            </a:pPr>
            <a:r>
              <a:rPr lang="en-US" sz="1600" u="sng" dirty="0">
                <a:latin typeface=" Arial"/>
                <a:cs typeface="Arial" panose="020B0604020202020204" pitchFamily="34" charset="0"/>
              </a:rPr>
              <a:t>Project Title</a:t>
            </a:r>
            <a:r>
              <a:rPr lang="en-US" sz="1600" dirty="0">
                <a:latin typeface=" Arial"/>
                <a:cs typeface="Arial" panose="020B0604020202020204" pitchFamily="34" charset="0"/>
              </a:rPr>
              <a:t>:  </a:t>
            </a:r>
            <a:r>
              <a:rPr lang="en-US" sz="1600" dirty="0">
                <a:latin typeface=" Arial"/>
              </a:rPr>
              <a:t>Army Financial </a:t>
            </a:r>
            <a:r>
              <a:rPr lang="en-US" sz="1600" dirty="0" smtClean="0">
                <a:latin typeface=" Arial"/>
              </a:rPr>
              <a:t>Improvement</a:t>
            </a:r>
            <a:br>
              <a:rPr lang="en-US" sz="1600" dirty="0" smtClean="0">
                <a:latin typeface=" Arial"/>
              </a:rPr>
            </a:br>
            <a:endParaRPr lang="en-US" sz="1600" dirty="0">
              <a:latin typeface=" Arial"/>
              <a:cs typeface="Arial" panose="020B0604020202020204" pitchFamily="34" charset="0"/>
            </a:endParaRPr>
          </a:p>
          <a:p>
            <a:r>
              <a:rPr lang="en-US" sz="1600" u="sng" dirty="0">
                <a:latin typeface=" Arial"/>
                <a:cs typeface="Arial" panose="020B0604020202020204" pitchFamily="34" charset="0"/>
              </a:rPr>
              <a:t>Project Summary</a:t>
            </a:r>
            <a:r>
              <a:rPr lang="en-US" sz="1600" dirty="0">
                <a:latin typeface=" Arial"/>
                <a:cs typeface="Arial" panose="020B0604020202020204" pitchFamily="34" charset="0"/>
              </a:rPr>
              <a:t>:  The </a:t>
            </a:r>
            <a:r>
              <a:rPr lang="en-US" sz="1600" dirty="0">
                <a:latin typeface=" Arial"/>
              </a:rPr>
              <a:t>Assistant Secretary of the Army Financial Management and Comptroller</a:t>
            </a:r>
            <a:r>
              <a:rPr lang="en-US" sz="1600" dirty="0">
                <a:latin typeface=" Arial"/>
                <a:cs typeface="Arial" panose="020B0604020202020204" pitchFamily="34" charset="0"/>
              </a:rPr>
              <a:t> </a:t>
            </a:r>
            <a:r>
              <a:rPr lang="en-US" sz="1600" dirty="0">
                <a:latin typeface=" Arial"/>
              </a:rPr>
              <a:t>has a requirement to provide the Army with a licensed accounting firm with professional federal accounting and auditing solutions to its business practices and information technology systems that comply with Generally Accepted Accounting Principles and lead the Army to an unmodified audit opinion of its financial statements</a:t>
            </a:r>
            <a:r>
              <a:rPr lang="en-US" sz="1600" dirty="0" smtClean="0">
                <a:latin typeface=" Arial"/>
              </a:rPr>
              <a:t>.</a:t>
            </a:r>
          </a:p>
          <a:p>
            <a:endParaRPr lang="en-US" sz="1600" u="sng" dirty="0">
              <a:latin typeface=" Arial"/>
              <a:cs typeface="Arial" panose="020B0604020202020204" pitchFamily="34" charset="0"/>
            </a:endParaRPr>
          </a:p>
          <a:p>
            <a:r>
              <a:rPr lang="en-US" sz="1600" u="sng" dirty="0">
                <a:latin typeface=" Arial"/>
                <a:cs typeface="Arial" panose="020B0604020202020204" pitchFamily="34" charset="0"/>
              </a:rPr>
              <a:t>Prior/Current Contract Information</a:t>
            </a:r>
            <a:r>
              <a:rPr lang="en-US" sz="1600" dirty="0">
                <a:latin typeface=" Arial"/>
                <a:cs typeface="Arial" panose="020B0604020202020204" pitchFamily="34" charset="0"/>
              </a:rPr>
              <a:t>:</a:t>
            </a:r>
          </a:p>
          <a:p>
            <a:pPr>
              <a:defRPr/>
            </a:pPr>
            <a:r>
              <a:rPr lang="en-US" sz="1600" dirty="0">
                <a:latin typeface=" Arial"/>
                <a:cs typeface="Arial" panose="020B0604020202020204" pitchFamily="34" charset="0"/>
              </a:rPr>
              <a:t>	Contract Number:  W91CRB-18-F-0138 and W91CRB-19-C-0030</a:t>
            </a:r>
          </a:p>
          <a:p>
            <a:pPr>
              <a:defRPr/>
            </a:pPr>
            <a:r>
              <a:rPr lang="en-US" sz="1600" dirty="0">
                <a:latin typeface=" Arial"/>
                <a:cs typeface="Arial" panose="020B0604020202020204" pitchFamily="34" charset="0"/>
              </a:rPr>
              <a:t>	Incumbent Contractor:  </a:t>
            </a:r>
            <a:r>
              <a:rPr lang="en-US" sz="1600" dirty="0">
                <a:latin typeface=" Arial"/>
              </a:rPr>
              <a:t>Ernst &amp; Young and Kearny</a:t>
            </a:r>
          </a:p>
          <a:p>
            <a:pPr>
              <a:defRPr/>
            </a:pPr>
            <a:r>
              <a:rPr lang="en-US" sz="1600" dirty="0">
                <a:latin typeface=" Arial"/>
                <a:cs typeface="Arial" panose="020B0604020202020204" pitchFamily="34" charset="0"/>
              </a:rPr>
              <a:t>	Solicitation Number:  TBD</a:t>
            </a:r>
          </a:p>
          <a:p>
            <a:pPr>
              <a:defRPr/>
            </a:pPr>
            <a:endParaRPr lang="en-US" sz="1600" dirty="0">
              <a:latin typeface=" Arial"/>
              <a:cs typeface="Arial" panose="020B0604020202020204" pitchFamily="34" charset="0"/>
            </a:endParaRPr>
          </a:p>
          <a:p>
            <a:pPr>
              <a:defRPr/>
            </a:pPr>
            <a:r>
              <a:rPr lang="en-US" sz="1600" u="sng" dirty="0">
                <a:latin typeface=" Arial"/>
                <a:cs typeface="Arial" panose="020B0604020202020204" pitchFamily="34" charset="0"/>
              </a:rPr>
              <a:t>Contract Type</a:t>
            </a:r>
            <a:r>
              <a:rPr lang="en-US" sz="1600" dirty="0">
                <a:latin typeface=" Arial"/>
                <a:cs typeface="Arial" panose="020B0604020202020204" pitchFamily="34" charset="0"/>
              </a:rPr>
              <a:t>:  T&amp;M</a:t>
            </a:r>
          </a:p>
          <a:p>
            <a:pPr>
              <a:defRPr/>
            </a:pPr>
            <a:r>
              <a:rPr lang="en-US" sz="1600" u="sng" dirty="0">
                <a:latin typeface=" Arial"/>
                <a:cs typeface="Arial" panose="020B0604020202020204" pitchFamily="34" charset="0"/>
              </a:rPr>
              <a:t>ROM</a:t>
            </a:r>
            <a:r>
              <a:rPr lang="en-US" sz="1600" dirty="0">
                <a:latin typeface=" Arial"/>
                <a:cs typeface="Arial" panose="020B0604020202020204" pitchFamily="34" charset="0"/>
              </a:rPr>
              <a:t>:  $950M</a:t>
            </a:r>
          </a:p>
          <a:p>
            <a:pPr>
              <a:defRPr/>
            </a:pPr>
            <a:r>
              <a:rPr lang="en-US" sz="1600" u="sng" dirty="0">
                <a:latin typeface=" Arial"/>
                <a:cs typeface="Arial" panose="020B0604020202020204" pitchFamily="34" charset="0"/>
              </a:rPr>
              <a:t>Period of Performance</a:t>
            </a:r>
            <a:r>
              <a:rPr lang="en-US" sz="1600" dirty="0">
                <a:latin typeface=" Arial"/>
                <a:cs typeface="Arial" panose="020B0604020202020204" pitchFamily="34" charset="0"/>
              </a:rPr>
              <a:t>:  4 years</a:t>
            </a:r>
          </a:p>
          <a:p>
            <a:pPr>
              <a:defRPr/>
            </a:pPr>
            <a:r>
              <a:rPr lang="en-US" sz="1600" u="sng" dirty="0">
                <a:solidFill>
                  <a:prstClr val="black"/>
                </a:solidFill>
                <a:latin typeface=" Arial"/>
                <a:cs typeface="Arial" panose="020B0604020202020204" pitchFamily="34" charset="0"/>
              </a:rPr>
              <a:t>Estimated Solicitation Release Date</a:t>
            </a:r>
            <a:r>
              <a:rPr lang="en-US" sz="1600" dirty="0">
                <a:latin typeface=" Arial"/>
                <a:cs typeface="Arial" panose="020B0604020202020204" pitchFamily="34" charset="0"/>
              </a:rPr>
              <a:t>:  1QFY22</a:t>
            </a:r>
          </a:p>
          <a:p>
            <a:pPr>
              <a:defRPr/>
            </a:pPr>
            <a:r>
              <a:rPr lang="en-US" sz="1600" u="sng" dirty="0">
                <a:latin typeface=" Arial"/>
                <a:cs typeface="Arial" panose="020B0604020202020204" pitchFamily="34" charset="0"/>
              </a:rPr>
              <a:t>Contracting Contact</a:t>
            </a:r>
            <a:r>
              <a:rPr lang="en-US" sz="1600" dirty="0">
                <a:latin typeface=" Arial"/>
                <a:cs typeface="Arial" panose="020B0604020202020204" pitchFamily="34" charset="0"/>
              </a:rPr>
              <a:t>: ACC-APG, Gwen Meadows, KO, gwen.e.meadows.civ@mail.mil</a:t>
            </a:r>
          </a:p>
          <a:p>
            <a:pPr>
              <a:defRPr/>
            </a:pPr>
            <a:r>
              <a:rPr lang="en-US" sz="1600" b="1" dirty="0">
                <a:latin typeface=" Arial"/>
                <a:cs typeface="Arial" panose="020B0604020202020204" pitchFamily="34" charset="0"/>
              </a:rPr>
              <a:t/>
            </a:r>
            <a:br>
              <a:rPr lang="en-US" sz="1600" b="1" dirty="0">
                <a:latin typeface=" Arial"/>
                <a:cs typeface="Arial" panose="020B0604020202020204" pitchFamily="34" charset="0"/>
              </a:rPr>
            </a:br>
            <a:r>
              <a:rPr lang="en-US" sz="1600" b="1" dirty="0">
                <a:latin typeface=" Arial"/>
                <a:cs typeface="Arial" panose="020B0604020202020204" pitchFamily="34" charset="0"/>
              </a:rPr>
              <a:t>*Subject to Cancellation</a:t>
            </a:r>
          </a:p>
        </p:txBody>
      </p:sp>
      <p:sp>
        <p:nvSpPr>
          <p:cNvPr id="3" name="Slide Number Placeholder 2"/>
          <p:cNvSpPr>
            <a:spLocks noGrp="1"/>
          </p:cNvSpPr>
          <p:nvPr>
            <p:ph type="sldNum" sz="quarter" idx="12"/>
          </p:nvPr>
        </p:nvSpPr>
        <p:spPr/>
        <p:txBody>
          <a:bodyPr/>
          <a:lstStyle/>
          <a:p>
            <a:fld id="{3650DDD2-8224-FD42-89E0-975387AD3410}" type="slidenum">
              <a:rPr lang="en-US" smtClean="0"/>
              <a:t>7</a:t>
            </a:fld>
            <a:endParaRPr lang="en-US" dirty="0"/>
          </a:p>
        </p:txBody>
      </p:sp>
    </p:spTree>
    <p:extLst>
      <p:ext uri="{BB962C8B-B14F-4D97-AF65-F5344CB8AC3E}">
        <p14:creationId xmlns:p14="http://schemas.microsoft.com/office/powerpoint/2010/main" val="7595385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PEO Soldier</a:t>
            </a:r>
          </a:p>
        </p:txBody>
      </p:sp>
      <p:sp>
        <p:nvSpPr>
          <p:cNvPr id="5" name="TextBox 8"/>
          <p:cNvSpPr txBox="1">
            <a:spLocks noChangeArrowheads="1"/>
          </p:cNvSpPr>
          <p:nvPr/>
        </p:nvSpPr>
        <p:spPr bwMode="auto">
          <a:xfrm>
            <a:off x="0" y="1066800"/>
            <a:ext cx="9144000" cy="5016758"/>
          </a:xfrm>
          <a:prstGeom prst="rect">
            <a:avLst/>
          </a:prstGeom>
          <a:noFill/>
          <a:ln w="9525">
            <a:noFill/>
            <a:miter lim="800000"/>
            <a:headEnd/>
            <a:tailEnd/>
          </a:ln>
        </p:spPr>
        <p:txBody>
          <a:bodyPr wrap="square">
            <a:spAutoFit/>
          </a:bodyPr>
          <a:lstStyle/>
          <a:p>
            <a:pPr>
              <a:defRPr/>
            </a:pPr>
            <a:r>
              <a:rPr lang="en-US" sz="1600" u="sng" dirty="0">
                <a:solidFill>
                  <a:prstClr val="black"/>
                </a:solidFill>
                <a:latin typeface=" Arial"/>
                <a:cs typeface="Arial" panose="020B0604020202020204" pitchFamily="34" charset="0"/>
              </a:rPr>
              <a:t>Project Title</a:t>
            </a:r>
            <a:r>
              <a:rPr lang="en-US" sz="1600" dirty="0">
                <a:solidFill>
                  <a:prstClr val="black"/>
                </a:solidFill>
                <a:latin typeface=" Arial"/>
                <a:cs typeface="Arial" panose="020B0604020202020204" pitchFamily="34" charset="0"/>
              </a:rPr>
              <a:t>:  </a:t>
            </a:r>
            <a:r>
              <a:rPr lang="en-US" sz="1600" dirty="0" smtClean="0">
                <a:solidFill>
                  <a:prstClr val="black"/>
                </a:solidFill>
                <a:latin typeface=" Arial"/>
                <a:cs typeface="Arial" panose="020B0604020202020204" pitchFamily="34" charset="0"/>
              </a:rPr>
              <a:t>Blast Pelvic Protector (BPP)</a:t>
            </a:r>
          </a:p>
          <a:p>
            <a:pPr>
              <a:defRPr/>
            </a:pPr>
            <a:endParaRPr lang="en-US" sz="1600" dirty="0">
              <a:solidFill>
                <a:prstClr val="black"/>
              </a:solidFill>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Project </a:t>
            </a:r>
            <a:r>
              <a:rPr lang="en-US" sz="1600" u="sng" dirty="0" smtClean="0">
                <a:solidFill>
                  <a:prstClr val="black"/>
                </a:solidFill>
                <a:latin typeface=" Arial"/>
                <a:cs typeface="Arial" panose="020B0604020202020204" pitchFamily="34" charset="0"/>
              </a:rPr>
              <a:t>Summary</a:t>
            </a:r>
            <a:r>
              <a:rPr lang="en-US" sz="1600" dirty="0" smtClean="0">
                <a:solidFill>
                  <a:prstClr val="black"/>
                </a:solidFill>
                <a:latin typeface=" Arial"/>
                <a:cs typeface="Arial" panose="020B0604020202020204" pitchFamily="34" charset="0"/>
              </a:rPr>
              <a:t>:  </a:t>
            </a:r>
            <a:r>
              <a:rPr lang="en-US" sz="1600" dirty="0" smtClean="0">
                <a:solidFill>
                  <a:prstClr val="black"/>
                </a:solidFill>
                <a:latin typeface=" Arial"/>
              </a:rPr>
              <a:t>The BPP </a:t>
            </a:r>
            <a:r>
              <a:rPr lang="en-US" sz="1600" dirty="0">
                <a:solidFill>
                  <a:prstClr val="black"/>
                </a:solidFill>
                <a:latin typeface=" Arial"/>
              </a:rPr>
              <a:t>is part of the Soldier Protection System Torso and Extremity Protection (SPS TEP</a:t>
            </a:r>
            <a:r>
              <a:rPr lang="en-US" sz="1600" dirty="0" smtClean="0">
                <a:solidFill>
                  <a:prstClr val="black"/>
                </a:solidFill>
                <a:latin typeface=" Arial"/>
              </a:rPr>
              <a:t>), designed as a blast harness worn over the Flame Resistance Army Combat Uniform and affords protection to the Soldier’s pelvic region, femoral arteries, inner thigh, and lower abdominal organs in a blast or fragmentation event by reducing penetration of large threats and debris.</a:t>
            </a:r>
            <a:r>
              <a:rPr lang="en-US" sz="1600" dirty="0" smtClean="0">
                <a:latin typeface=" Arial"/>
              </a:rPr>
              <a:t> </a:t>
            </a:r>
            <a:endParaRPr lang="en-US" sz="1600" dirty="0">
              <a:solidFill>
                <a:prstClr val="black"/>
              </a:solidFill>
              <a:latin typeface=" Arial"/>
              <a:cs typeface="Arial" panose="020B0604020202020204" pitchFamily="34" charset="0"/>
            </a:endParaRPr>
          </a:p>
          <a:p>
            <a:pPr>
              <a:defRPr/>
            </a:pPr>
            <a:endParaRPr lang="en-US" sz="1600" u="sng" dirty="0">
              <a:solidFill>
                <a:prstClr val="black"/>
              </a:solidFill>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Prior/Current Contract Information:</a:t>
            </a:r>
          </a:p>
          <a:p>
            <a:pPr>
              <a:defRPr/>
            </a:pPr>
            <a:r>
              <a:rPr lang="en-US" sz="1600" dirty="0">
                <a:solidFill>
                  <a:prstClr val="black"/>
                </a:solidFill>
                <a:latin typeface=" Arial"/>
                <a:cs typeface="Arial" panose="020B0604020202020204" pitchFamily="34" charset="0"/>
              </a:rPr>
              <a:t>	Contract Number:  </a:t>
            </a:r>
            <a:r>
              <a:rPr lang="en-US" sz="1600" dirty="0" smtClean="0">
                <a:solidFill>
                  <a:prstClr val="black"/>
                </a:solidFill>
                <a:latin typeface=" Arial"/>
                <a:cs typeface="Arial" panose="020B0604020202020204" pitchFamily="34" charset="0"/>
              </a:rPr>
              <a:t>W91CRB-15-D-0032/W91CRB-15-D-0033/</a:t>
            </a:r>
          </a:p>
          <a:p>
            <a:pPr>
              <a:defRPr/>
            </a:pPr>
            <a:r>
              <a:rPr lang="en-US" sz="1600" dirty="0">
                <a:solidFill>
                  <a:prstClr val="black"/>
                </a:solidFill>
                <a:latin typeface=" Arial"/>
                <a:cs typeface="Arial" panose="020B0604020202020204" pitchFamily="34" charset="0"/>
              </a:rPr>
              <a:t>	</a:t>
            </a:r>
            <a:r>
              <a:rPr lang="en-US" sz="1600" dirty="0" smtClean="0">
                <a:solidFill>
                  <a:prstClr val="black"/>
                </a:solidFill>
                <a:latin typeface=" Arial"/>
                <a:cs typeface="Arial" panose="020B0604020202020204" pitchFamily="34" charset="0"/>
              </a:rPr>
              <a:t>W91CRB-15-D-0034 </a:t>
            </a:r>
            <a:endParaRPr lang="en-US" sz="1600" dirty="0">
              <a:solidFill>
                <a:prstClr val="black"/>
              </a:solidFill>
              <a:latin typeface=" Arial"/>
              <a:cs typeface="Arial" panose="020B0604020202020204" pitchFamily="34" charset="0"/>
            </a:endParaRPr>
          </a:p>
          <a:p>
            <a:pPr>
              <a:defRPr/>
            </a:pPr>
            <a:r>
              <a:rPr lang="en-US" sz="1600" dirty="0">
                <a:solidFill>
                  <a:prstClr val="black"/>
                </a:solidFill>
                <a:latin typeface=" Arial"/>
                <a:cs typeface="Arial" panose="020B0604020202020204" pitchFamily="34" charset="0"/>
              </a:rPr>
              <a:t>	Incumbent </a:t>
            </a:r>
            <a:r>
              <a:rPr lang="en-US" sz="1600" dirty="0" smtClean="0">
                <a:solidFill>
                  <a:prstClr val="black"/>
                </a:solidFill>
                <a:latin typeface=" Arial"/>
                <a:cs typeface="Arial" panose="020B0604020202020204" pitchFamily="34" charset="0"/>
              </a:rPr>
              <a:t>Contractors: KDH Defense Systems; Bethel Industries </a:t>
            </a:r>
            <a:endParaRPr lang="en-US" sz="1600" dirty="0">
              <a:solidFill>
                <a:prstClr val="black"/>
              </a:solidFill>
              <a:latin typeface=" Arial"/>
              <a:cs typeface="Arial" panose="020B0604020202020204" pitchFamily="34" charset="0"/>
            </a:endParaRPr>
          </a:p>
          <a:p>
            <a:pPr>
              <a:defRPr/>
            </a:pPr>
            <a:endParaRPr lang="en-US" sz="1600" dirty="0">
              <a:solidFill>
                <a:prstClr val="black"/>
              </a:solidFill>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Contract Type:</a:t>
            </a:r>
            <a:r>
              <a:rPr lang="en-US" sz="1600" dirty="0">
                <a:solidFill>
                  <a:prstClr val="black"/>
                </a:solidFill>
                <a:latin typeface=" Arial"/>
                <a:cs typeface="Arial" panose="020B0604020202020204" pitchFamily="34" charset="0"/>
              </a:rPr>
              <a:t> Delivery orders will be FFP </a:t>
            </a:r>
          </a:p>
          <a:p>
            <a:pPr>
              <a:defRPr/>
            </a:pPr>
            <a:r>
              <a:rPr lang="en-US" sz="1600" u="sng" dirty="0" smtClean="0">
                <a:latin typeface=" Arial"/>
                <a:cs typeface="Arial" panose="020B0604020202020204" pitchFamily="34" charset="0"/>
              </a:rPr>
              <a:t>ROM</a:t>
            </a:r>
            <a:r>
              <a:rPr lang="en-US" sz="1600" dirty="0" smtClean="0">
                <a:latin typeface=" Arial"/>
                <a:cs typeface="Arial" panose="020B0604020202020204" pitchFamily="34" charset="0"/>
              </a:rPr>
              <a:t>: $156M</a:t>
            </a:r>
            <a:endParaRPr lang="en-US" sz="1600" dirty="0">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Period of Performance:</a:t>
            </a:r>
            <a:r>
              <a:rPr lang="en-US" sz="1600" dirty="0">
                <a:solidFill>
                  <a:prstClr val="black"/>
                </a:solidFill>
                <a:latin typeface=" Arial"/>
                <a:cs typeface="Arial" panose="020B0604020202020204" pitchFamily="34" charset="0"/>
              </a:rPr>
              <a:t> 5 year ordering period with options</a:t>
            </a:r>
          </a:p>
          <a:p>
            <a:pPr>
              <a:defRPr/>
            </a:pPr>
            <a:r>
              <a:rPr lang="en-US" sz="1600" u="sng" dirty="0">
                <a:solidFill>
                  <a:prstClr val="black"/>
                </a:solidFill>
                <a:latin typeface=" Arial"/>
                <a:cs typeface="Arial" panose="020B0604020202020204" pitchFamily="34" charset="0"/>
              </a:rPr>
              <a:t>Estimated Solicitation Release Date:</a:t>
            </a:r>
            <a:r>
              <a:rPr lang="en-US" sz="1600" dirty="0">
                <a:solidFill>
                  <a:prstClr val="black"/>
                </a:solidFill>
                <a:latin typeface=" Arial"/>
                <a:cs typeface="Arial" panose="020B0604020202020204" pitchFamily="34" charset="0"/>
              </a:rPr>
              <a:t> </a:t>
            </a:r>
            <a:r>
              <a:rPr lang="en-US" sz="1600" dirty="0" smtClean="0">
                <a:latin typeface=" Arial"/>
                <a:cs typeface="Arial" panose="020B0604020202020204" pitchFamily="34" charset="0"/>
              </a:rPr>
              <a:t>2QFY22</a:t>
            </a:r>
            <a:endParaRPr lang="en-US" sz="1600" dirty="0">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Contracting Contact:</a:t>
            </a:r>
            <a:r>
              <a:rPr lang="en-US" sz="1600" dirty="0">
                <a:solidFill>
                  <a:prstClr val="black"/>
                </a:solidFill>
                <a:latin typeface=" Arial"/>
                <a:cs typeface="Arial" panose="020B0604020202020204" pitchFamily="34" charset="0"/>
              </a:rPr>
              <a:t> ACC-APG, </a:t>
            </a:r>
            <a:r>
              <a:rPr lang="en-US" sz="1600" dirty="0">
                <a:latin typeface=" Arial"/>
                <a:cs typeface="Arial" panose="020B0604020202020204" pitchFamily="34" charset="0"/>
              </a:rPr>
              <a:t>Lisa </a:t>
            </a:r>
            <a:r>
              <a:rPr lang="en-US" sz="1600" dirty="0" err="1">
                <a:latin typeface=" Arial"/>
                <a:cs typeface="Arial" panose="020B0604020202020204" pitchFamily="34" charset="0"/>
              </a:rPr>
              <a:t>Yamakawa</a:t>
            </a:r>
            <a:r>
              <a:rPr lang="en-US" sz="1600" dirty="0">
                <a:latin typeface=" Arial"/>
                <a:cs typeface="Arial" panose="020B0604020202020204" pitchFamily="34" charset="0"/>
              </a:rPr>
              <a:t>, KO, Lisa.J.Yamakawa.civ@mail.mil</a:t>
            </a:r>
            <a:r>
              <a:rPr lang="en-US" sz="1600" dirty="0">
                <a:latin typeface=" Arial"/>
                <a:cs typeface="Arial" panose="020B0604020202020204" pitchFamily="34" charset="0"/>
                <a:hlinkClick r:id="rId2"/>
              </a:rPr>
              <a:t> </a:t>
            </a:r>
            <a:endParaRPr lang="en-US" sz="1600" dirty="0" smtClean="0">
              <a:latin typeface=" Arial"/>
              <a:cs typeface="Arial" panose="020B0604020202020204" pitchFamily="34" charset="0"/>
            </a:endParaRPr>
          </a:p>
          <a:p>
            <a:pPr>
              <a:defRPr/>
            </a:pPr>
            <a:r>
              <a:rPr lang="en-US" sz="1600" dirty="0" smtClean="0">
                <a:solidFill>
                  <a:prstClr val="black"/>
                </a:solidFill>
                <a:latin typeface=" Arial"/>
                <a:cs typeface="Arial" panose="020B0604020202020204" pitchFamily="34" charset="0"/>
              </a:rPr>
              <a:t/>
            </a:r>
            <a:br>
              <a:rPr lang="en-US" sz="1600" dirty="0" smtClean="0">
                <a:solidFill>
                  <a:prstClr val="black"/>
                </a:solidFill>
                <a:latin typeface=" Arial"/>
                <a:cs typeface="Arial" panose="020B0604020202020204" pitchFamily="34" charset="0"/>
              </a:rPr>
            </a:b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3" name="Slide Number Placeholder 2"/>
          <p:cNvSpPr>
            <a:spLocks noGrp="1"/>
          </p:cNvSpPr>
          <p:nvPr>
            <p:ph type="sldNum" sz="quarter" idx="12"/>
          </p:nvPr>
        </p:nvSpPr>
        <p:spPr/>
        <p:txBody>
          <a:bodyPr/>
          <a:lstStyle/>
          <a:p>
            <a:fld id="{3650DDD2-8224-FD42-89E0-975387AD3410}" type="slidenum">
              <a:rPr lang="en-US" smtClean="0"/>
              <a:t>8</a:t>
            </a:fld>
            <a:endParaRPr lang="en-US" dirty="0"/>
          </a:p>
        </p:txBody>
      </p:sp>
    </p:spTree>
    <p:extLst>
      <p:ext uri="{BB962C8B-B14F-4D97-AF65-F5344CB8AC3E}">
        <p14:creationId xmlns:p14="http://schemas.microsoft.com/office/powerpoint/2010/main" val="18340958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PEO Soldier</a:t>
            </a:r>
          </a:p>
        </p:txBody>
      </p:sp>
      <p:sp>
        <p:nvSpPr>
          <p:cNvPr id="3" name="TextBox 8"/>
          <p:cNvSpPr txBox="1">
            <a:spLocks noChangeArrowheads="1"/>
          </p:cNvSpPr>
          <p:nvPr/>
        </p:nvSpPr>
        <p:spPr bwMode="auto">
          <a:xfrm>
            <a:off x="0" y="1066800"/>
            <a:ext cx="9144000" cy="5509200"/>
          </a:xfrm>
          <a:prstGeom prst="rect">
            <a:avLst/>
          </a:prstGeom>
          <a:noFill/>
          <a:ln w="9525">
            <a:noFill/>
            <a:miter lim="800000"/>
            <a:headEnd/>
            <a:tailEnd/>
          </a:ln>
        </p:spPr>
        <p:txBody>
          <a:bodyPr wrap="square">
            <a:spAutoFit/>
          </a:bodyPr>
          <a:lstStyle/>
          <a:p>
            <a:pPr>
              <a:defRPr/>
            </a:pPr>
            <a:r>
              <a:rPr lang="en-US" sz="1600" u="sng" dirty="0">
                <a:solidFill>
                  <a:prstClr val="black"/>
                </a:solidFill>
                <a:latin typeface=" Arial"/>
                <a:cs typeface="Arial" panose="020B0604020202020204" pitchFamily="34" charset="0"/>
              </a:rPr>
              <a:t>Project Title</a:t>
            </a:r>
            <a:r>
              <a:rPr lang="en-US" sz="1600" dirty="0">
                <a:solidFill>
                  <a:prstClr val="black"/>
                </a:solidFill>
                <a:latin typeface=" Arial"/>
                <a:cs typeface="Arial" panose="020B0604020202020204" pitchFamily="34" charset="0"/>
              </a:rPr>
              <a:t>:  </a:t>
            </a:r>
            <a:r>
              <a:rPr lang="en-US" sz="1600" dirty="0" smtClean="0">
                <a:solidFill>
                  <a:prstClr val="black"/>
                </a:solidFill>
                <a:latin typeface=" Arial"/>
                <a:cs typeface="Arial" panose="020B0604020202020204" pitchFamily="34" charset="0"/>
              </a:rPr>
              <a:t>Ballistic Combat Shirt (BCS)</a:t>
            </a:r>
          </a:p>
          <a:p>
            <a:pPr>
              <a:defRPr/>
            </a:pPr>
            <a:endParaRPr lang="en-US" sz="1600" u="sng" dirty="0">
              <a:solidFill>
                <a:prstClr val="black"/>
              </a:solidFill>
              <a:latin typeface=" Arial"/>
              <a:cs typeface="Arial" panose="020B0604020202020204" pitchFamily="34" charset="0"/>
            </a:endParaRPr>
          </a:p>
          <a:p>
            <a:pPr>
              <a:defRPr/>
            </a:pPr>
            <a:r>
              <a:rPr lang="en-US" sz="1600" u="sng" dirty="0" smtClean="0">
                <a:solidFill>
                  <a:prstClr val="black"/>
                </a:solidFill>
                <a:latin typeface=" Arial"/>
                <a:cs typeface="Arial" panose="020B0604020202020204" pitchFamily="34" charset="0"/>
              </a:rPr>
              <a:t>Project Summary</a:t>
            </a:r>
            <a:r>
              <a:rPr lang="en-US" sz="1600" dirty="0" smtClean="0">
                <a:solidFill>
                  <a:prstClr val="black"/>
                </a:solidFill>
                <a:latin typeface=" Arial"/>
                <a:cs typeface="Arial" panose="020B0604020202020204" pitchFamily="34" charset="0"/>
              </a:rPr>
              <a:t>:  </a:t>
            </a:r>
            <a:r>
              <a:rPr lang="en-US" sz="1600" dirty="0" smtClean="0">
                <a:solidFill>
                  <a:prstClr val="black"/>
                </a:solidFill>
                <a:latin typeface=" Arial"/>
              </a:rPr>
              <a:t>The </a:t>
            </a:r>
            <a:r>
              <a:rPr lang="en-US" sz="1600" dirty="0" smtClean="0">
                <a:latin typeface=" Arial"/>
              </a:rPr>
              <a:t>BCS </a:t>
            </a:r>
            <a:r>
              <a:rPr lang="en-US" sz="1600" dirty="0">
                <a:solidFill>
                  <a:prstClr val="black"/>
                </a:solidFill>
                <a:latin typeface=" Arial"/>
              </a:rPr>
              <a:t>is part of the Soldier Protection System Torso and Extremity Protection (SPS TEP</a:t>
            </a:r>
            <a:r>
              <a:rPr lang="en-US" sz="1600" dirty="0" smtClean="0">
                <a:solidFill>
                  <a:prstClr val="black"/>
                </a:solidFill>
                <a:latin typeface=" Arial"/>
              </a:rPr>
              <a:t>), designed to function as an armored Army Combat Shirt (ACS).  The non-ballistic materials used in the torso and sleeves are equal to the ACS in weight and functional characteristics, to include flame resistance and moisture wicking.  The deltoid and upper thoracic portions of the BCS contain soft armor that provides protection from fragmenting munitions as well as handgun threats.</a:t>
            </a:r>
            <a:br>
              <a:rPr lang="en-US" sz="1600" dirty="0" smtClean="0">
                <a:solidFill>
                  <a:prstClr val="black"/>
                </a:solidFill>
                <a:latin typeface=" Arial"/>
              </a:rPr>
            </a:br>
            <a:endParaRPr lang="en-US" sz="1600" u="sng" dirty="0">
              <a:solidFill>
                <a:prstClr val="black"/>
              </a:solidFill>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Prior/Current Contract Information:</a:t>
            </a:r>
          </a:p>
          <a:p>
            <a:pPr>
              <a:defRPr/>
            </a:pPr>
            <a:r>
              <a:rPr lang="en-US" sz="1600" dirty="0">
                <a:solidFill>
                  <a:prstClr val="black"/>
                </a:solidFill>
                <a:latin typeface=" Arial"/>
                <a:cs typeface="Arial" panose="020B0604020202020204" pitchFamily="34" charset="0"/>
              </a:rPr>
              <a:t>	</a:t>
            </a:r>
            <a:r>
              <a:rPr lang="en-US" sz="1600" dirty="0">
                <a:latin typeface=" Arial"/>
                <a:cs typeface="Arial" panose="020B0604020202020204" pitchFamily="34" charset="0"/>
              </a:rPr>
              <a:t>Contract Number:  </a:t>
            </a:r>
            <a:r>
              <a:rPr lang="en-US" sz="1600" dirty="0" smtClean="0">
                <a:latin typeface=" Arial"/>
                <a:cs typeface="Arial" panose="020B0604020202020204" pitchFamily="34" charset="0"/>
              </a:rPr>
              <a:t>W91CRB-15-D-0025/W91CRB-15-D-0026/</a:t>
            </a:r>
          </a:p>
          <a:p>
            <a:pPr>
              <a:defRPr/>
            </a:pPr>
            <a:r>
              <a:rPr lang="en-US" sz="1600" dirty="0">
                <a:latin typeface=" Arial"/>
                <a:cs typeface="Arial" panose="020B0604020202020204" pitchFamily="34" charset="0"/>
              </a:rPr>
              <a:t>	</a:t>
            </a:r>
            <a:r>
              <a:rPr lang="en-US" sz="1600" dirty="0" smtClean="0">
                <a:latin typeface=" Arial"/>
                <a:cs typeface="Arial" panose="020B0604020202020204" pitchFamily="34" charset="0"/>
              </a:rPr>
              <a:t>W91CRB-16-D-0019 </a:t>
            </a:r>
            <a:endParaRPr lang="en-US" sz="1600" dirty="0">
              <a:latin typeface=" Arial"/>
              <a:cs typeface="Arial" panose="020B0604020202020204" pitchFamily="34" charset="0"/>
            </a:endParaRPr>
          </a:p>
          <a:p>
            <a:pPr>
              <a:defRPr/>
            </a:pPr>
            <a:r>
              <a:rPr lang="en-US" sz="1600" dirty="0">
                <a:solidFill>
                  <a:prstClr val="black"/>
                </a:solidFill>
                <a:latin typeface=" Arial"/>
                <a:cs typeface="Arial" panose="020B0604020202020204" pitchFamily="34" charset="0"/>
              </a:rPr>
              <a:t>	Incumbent </a:t>
            </a:r>
            <a:r>
              <a:rPr lang="en-US" sz="1600" dirty="0" smtClean="0">
                <a:solidFill>
                  <a:prstClr val="black"/>
                </a:solidFill>
                <a:latin typeface=" Arial"/>
                <a:cs typeface="Arial" panose="020B0604020202020204" pitchFamily="34" charset="0"/>
              </a:rPr>
              <a:t>Contractors: Point Blank Protective Apparel &amp; Uniform; Carter Enterprises; Eagle Industries</a:t>
            </a:r>
            <a:endParaRPr lang="en-US" sz="1600" dirty="0">
              <a:solidFill>
                <a:prstClr val="black"/>
              </a:solidFill>
              <a:latin typeface=" Arial"/>
              <a:cs typeface="Arial" panose="020B0604020202020204" pitchFamily="34" charset="0"/>
            </a:endParaRPr>
          </a:p>
          <a:p>
            <a:pPr>
              <a:defRPr/>
            </a:pPr>
            <a:endParaRPr lang="en-US" sz="1600" u="sng" dirty="0" smtClean="0">
              <a:solidFill>
                <a:prstClr val="black"/>
              </a:solidFill>
              <a:latin typeface=" Arial"/>
              <a:cs typeface="Arial" panose="020B0604020202020204" pitchFamily="34" charset="0"/>
            </a:endParaRPr>
          </a:p>
          <a:p>
            <a:pPr>
              <a:defRPr/>
            </a:pPr>
            <a:r>
              <a:rPr lang="en-US" sz="1600" u="sng" dirty="0" smtClean="0">
                <a:solidFill>
                  <a:prstClr val="black"/>
                </a:solidFill>
                <a:latin typeface=" Arial"/>
                <a:cs typeface="Arial" panose="020B0604020202020204" pitchFamily="34" charset="0"/>
              </a:rPr>
              <a:t>Contract </a:t>
            </a:r>
            <a:r>
              <a:rPr lang="en-US" sz="1600" u="sng" dirty="0">
                <a:solidFill>
                  <a:prstClr val="black"/>
                </a:solidFill>
                <a:latin typeface=" Arial"/>
                <a:cs typeface="Arial" panose="020B0604020202020204" pitchFamily="34" charset="0"/>
              </a:rPr>
              <a:t>Type:</a:t>
            </a:r>
            <a:r>
              <a:rPr lang="en-US" sz="1600" dirty="0">
                <a:solidFill>
                  <a:prstClr val="black"/>
                </a:solidFill>
                <a:latin typeface=" Arial"/>
                <a:cs typeface="Arial" panose="020B0604020202020204" pitchFamily="34" charset="0"/>
              </a:rPr>
              <a:t> Delivery orders will be FFP </a:t>
            </a:r>
          </a:p>
          <a:p>
            <a:pPr>
              <a:defRPr/>
            </a:pPr>
            <a:r>
              <a:rPr lang="en-US" sz="1600" u="sng" dirty="0">
                <a:solidFill>
                  <a:prstClr val="black"/>
                </a:solidFill>
                <a:latin typeface=" Arial"/>
                <a:cs typeface="Arial" panose="020B0604020202020204" pitchFamily="34" charset="0"/>
              </a:rPr>
              <a:t>ROM</a:t>
            </a:r>
            <a:r>
              <a:rPr lang="en-US" sz="1600" dirty="0">
                <a:solidFill>
                  <a:prstClr val="black"/>
                </a:solidFill>
                <a:latin typeface=" Arial"/>
                <a:cs typeface="Arial" panose="020B0604020202020204" pitchFamily="34" charset="0"/>
              </a:rPr>
              <a:t>: $</a:t>
            </a:r>
            <a:r>
              <a:rPr lang="en-US" sz="1600" dirty="0" smtClean="0">
                <a:solidFill>
                  <a:prstClr val="black"/>
                </a:solidFill>
                <a:latin typeface=" Arial"/>
                <a:cs typeface="Arial" panose="020B0604020202020204" pitchFamily="34" charset="0"/>
              </a:rPr>
              <a:t>628M</a:t>
            </a:r>
            <a:endParaRPr lang="en-US" sz="1600" dirty="0">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Period of Performance:</a:t>
            </a:r>
            <a:r>
              <a:rPr lang="en-US" sz="1600" dirty="0">
                <a:solidFill>
                  <a:prstClr val="black"/>
                </a:solidFill>
                <a:latin typeface=" Arial"/>
                <a:cs typeface="Arial" panose="020B0604020202020204" pitchFamily="34" charset="0"/>
              </a:rPr>
              <a:t> 5 year ordering period with </a:t>
            </a:r>
            <a:r>
              <a:rPr lang="en-US" sz="1600" dirty="0" smtClean="0">
                <a:solidFill>
                  <a:prstClr val="black"/>
                </a:solidFill>
                <a:latin typeface=" Arial"/>
                <a:cs typeface="Arial" panose="020B0604020202020204" pitchFamily="34" charset="0"/>
              </a:rPr>
              <a:t>two 2-year options</a:t>
            </a:r>
            <a:endParaRPr lang="en-US" sz="1600" dirty="0">
              <a:solidFill>
                <a:prstClr val="black"/>
              </a:solidFill>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Estimated Solicitation Release Date:</a:t>
            </a:r>
            <a:r>
              <a:rPr lang="en-US" sz="1600" dirty="0">
                <a:solidFill>
                  <a:prstClr val="black"/>
                </a:solidFill>
                <a:latin typeface=" Arial"/>
                <a:cs typeface="Arial" panose="020B0604020202020204" pitchFamily="34" charset="0"/>
              </a:rPr>
              <a:t> </a:t>
            </a:r>
            <a:r>
              <a:rPr lang="en-US" sz="1600" dirty="0" smtClean="0">
                <a:solidFill>
                  <a:prstClr val="black"/>
                </a:solidFill>
                <a:latin typeface=" Arial"/>
                <a:cs typeface="Arial" panose="020B0604020202020204" pitchFamily="34" charset="0"/>
              </a:rPr>
              <a:t>W91CRB-21-R-0002, </a:t>
            </a:r>
            <a:r>
              <a:rPr lang="en-US" sz="1600" dirty="0" smtClean="0">
                <a:latin typeface=" Arial"/>
                <a:cs typeface="Arial" panose="020B0604020202020204" pitchFamily="34" charset="0"/>
              </a:rPr>
              <a:t>4QFY21</a:t>
            </a:r>
            <a:endParaRPr lang="en-US" sz="1600" dirty="0">
              <a:latin typeface=" Arial"/>
              <a:cs typeface="Arial" panose="020B0604020202020204" pitchFamily="34" charset="0"/>
            </a:endParaRPr>
          </a:p>
          <a:p>
            <a:pPr>
              <a:defRPr/>
            </a:pPr>
            <a:r>
              <a:rPr lang="en-US" sz="1600" u="sng" dirty="0">
                <a:solidFill>
                  <a:prstClr val="black"/>
                </a:solidFill>
                <a:latin typeface=" Arial"/>
                <a:cs typeface="Arial" panose="020B0604020202020204" pitchFamily="34" charset="0"/>
              </a:rPr>
              <a:t>Contracting Contact:</a:t>
            </a:r>
            <a:r>
              <a:rPr lang="en-US" sz="1600" dirty="0">
                <a:solidFill>
                  <a:prstClr val="black"/>
                </a:solidFill>
                <a:latin typeface=" Arial"/>
                <a:cs typeface="Arial" panose="020B0604020202020204" pitchFamily="34" charset="0"/>
              </a:rPr>
              <a:t> ACC-APG, </a:t>
            </a:r>
            <a:r>
              <a:rPr lang="en-US" sz="1600" dirty="0">
                <a:solidFill>
                  <a:prstClr val="black"/>
                </a:solidFill>
                <a:latin typeface=" Arial"/>
              </a:rPr>
              <a:t>Terri </a:t>
            </a:r>
            <a:r>
              <a:rPr lang="en-US" sz="1600" dirty="0" smtClean="0">
                <a:solidFill>
                  <a:prstClr val="black"/>
                </a:solidFill>
                <a:latin typeface=" Arial"/>
                <a:cs typeface="Arial" panose="020B0604020202020204" pitchFamily="34" charset="0"/>
              </a:rPr>
              <a:t>Quick, KO, theresa.s.quick.civ@mail.mil </a:t>
            </a:r>
            <a:endParaRPr lang="en-US" sz="1600" dirty="0">
              <a:solidFill>
                <a:prstClr val="black"/>
              </a:solidFill>
              <a:latin typeface=" Arial"/>
              <a:cs typeface="Arial" panose="020B0604020202020204" pitchFamily="34" charset="0"/>
            </a:endParaRPr>
          </a:p>
          <a:p>
            <a:pPr>
              <a:defRPr/>
            </a:pPr>
            <a:r>
              <a:rPr lang="en-US" sz="1600" b="1" dirty="0" smtClean="0">
                <a:solidFill>
                  <a:prstClr val="black"/>
                </a:solidFill>
                <a:latin typeface=" Arial"/>
              </a:rPr>
              <a:t/>
            </a:r>
            <a:br>
              <a:rPr lang="en-US" sz="1600" b="1" dirty="0" smtClean="0">
                <a:solidFill>
                  <a:prstClr val="black"/>
                </a:solidFill>
                <a:latin typeface=" Arial"/>
              </a:rPr>
            </a:b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4" name="Slide Number Placeholder 3"/>
          <p:cNvSpPr>
            <a:spLocks noGrp="1"/>
          </p:cNvSpPr>
          <p:nvPr>
            <p:ph type="sldNum" sz="quarter" idx="12"/>
          </p:nvPr>
        </p:nvSpPr>
        <p:spPr/>
        <p:txBody>
          <a:bodyPr/>
          <a:lstStyle/>
          <a:p>
            <a:fld id="{3650DDD2-8224-FD42-89E0-975387AD3410}" type="slidenum">
              <a:rPr lang="en-US" smtClean="0"/>
              <a:t>9</a:t>
            </a:fld>
            <a:endParaRPr lang="en-US" dirty="0"/>
          </a:p>
        </p:txBody>
      </p:sp>
    </p:spTree>
    <p:extLst>
      <p:ext uri="{BB962C8B-B14F-4D97-AF65-F5344CB8AC3E}">
        <p14:creationId xmlns:p14="http://schemas.microsoft.com/office/powerpoint/2010/main" val="29013663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PEO Soldier</a:t>
            </a:r>
          </a:p>
        </p:txBody>
      </p:sp>
      <p:sp>
        <p:nvSpPr>
          <p:cNvPr id="3" name="TextBox 8"/>
          <p:cNvSpPr txBox="1">
            <a:spLocks noChangeArrowheads="1"/>
          </p:cNvSpPr>
          <p:nvPr/>
        </p:nvSpPr>
        <p:spPr bwMode="auto">
          <a:xfrm>
            <a:off x="0" y="1066800"/>
            <a:ext cx="9144000" cy="4770537"/>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Next Generation Integrated Head Protection System (NG IHPS)</a:t>
            </a:r>
          </a:p>
          <a:p>
            <a:pPr>
              <a:defRPr/>
            </a:pPr>
            <a:endParaRPr lang="en-US" sz="1600" u="sng" dirty="0" smtClean="0">
              <a:solidFill>
                <a:prstClr val="black"/>
              </a:solidFill>
              <a:latin typeface=" Arial"/>
            </a:endParaRPr>
          </a:p>
          <a:p>
            <a:pPr>
              <a:defRPr/>
            </a:pPr>
            <a:r>
              <a:rPr lang="en-US" sz="1600" u="sng" dirty="0" smtClean="0">
                <a:solidFill>
                  <a:prstClr val="black"/>
                </a:solidFill>
                <a:latin typeface=" Arial"/>
              </a:rPr>
              <a:t>Project </a:t>
            </a:r>
            <a:r>
              <a:rPr lang="en-US" sz="1600" u="sng" dirty="0">
                <a:solidFill>
                  <a:prstClr val="black"/>
                </a:solidFill>
                <a:latin typeface=" Arial"/>
              </a:rPr>
              <a:t>Summary</a:t>
            </a:r>
            <a:r>
              <a:rPr lang="en-US" sz="1600" u="sng" dirty="0" smtClean="0">
                <a:solidFill>
                  <a:prstClr val="black"/>
                </a:solidFill>
                <a:latin typeface=" Arial"/>
              </a:rPr>
              <a:t>: </a:t>
            </a:r>
            <a:r>
              <a:rPr lang="en-US" sz="1600" dirty="0">
                <a:solidFill>
                  <a:prstClr val="black"/>
                </a:solidFill>
                <a:latin typeface=" Arial"/>
              </a:rPr>
              <a:t>The NG IHPS will transition from IHPS LRIP by incorporating Polyethylene (PE) Film technology meeting the Threat P protection level without the use of the current attached Ballistic Applique. </a:t>
            </a:r>
            <a:endParaRPr lang="en-US" sz="1600" dirty="0" smtClean="0">
              <a:solidFill>
                <a:prstClr val="black"/>
              </a:solidFill>
              <a:latin typeface=" Arial"/>
            </a:endParaRPr>
          </a:p>
          <a:p>
            <a:pPr>
              <a:defRPr/>
            </a:pPr>
            <a:endParaRPr lang="en-US" sz="1600" u="sng" dirty="0" smtClean="0">
              <a:solidFill>
                <a:prstClr val="black"/>
              </a:solidFill>
              <a:latin typeface=" Arial"/>
            </a:endParaRPr>
          </a:p>
          <a:p>
            <a:pPr>
              <a:defRPr/>
            </a:pPr>
            <a:r>
              <a:rPr lang="en-US" sz="1600" u="sng" dirty="0">
                <a:solidFill>
                  <a:prstClr val="black"/>
                </a:solidFill>
                <a:latin typeface=" Arial"/>
              </a:rPr>
              <a:t>Prior/Current Contract Information</a:t>
            </a:r>
            <a:r>
              <a:rPr lang="en-US" sz="1600" u="sng" dirty="0" smtClean="0">
                <a:solidFill>
                  <a:prstClr val="black"/>
                </a:solidFill>
                <a:latin typeface=" Arial"/>
              </a:rPr>
              <a:t>:  IHPS LRIP</a:t>
            </a:r>
            <a:endParaRPr lang="en-US" sz="1600" u="sng" dirty="0">
              <a:solidFill>
                <a:prstClr val="black"/>
              </a:solidFill>
              <a:latin typeface=" Arial"/>
            </a:endParaRPr>
          </a:p>
          <a:p>
            <a:pPr>
              <a:defRPr/>
            </a:pPr>
            <a:r>
              <a:rPr lang="en-US" sz="1600" dirty="0" smtClean="0">
                <a:solidFill>
                  <a:prstClr val="black"/>
                </a:solidFill>
                <a:latin typeface=" Arial"/>
              </a:rPr>
              <a:t>	Contract Number:  W91CRB-14-C-0005</a:t>
            </a:r>
          </a:p>
          <a:p>
            <a:pPr>
              <a:defRPr/>
            </a:pPr>
            <a:r>
              <a:rPr lang="en-US" sz="1600" dirty="0" smtClean="0">
                <a:solidFill>
                  <a:prstClr val="black"/>
                </a:solidFill>
                <a:latin typeface=" Arial"/>
              </a:rPr>
              <a:t>	Incumbent Contractor: </a:t>
            </a:r>
            <a:r>
              <a:rPr lang="en-US" sz="1600" dirty="0" err="1" smtClean="0">
                <a:solidFill>
                  <a:prstClr val="black"/>
                </a:solidFill>
                <a:latin typeface=" Arial"/>
              </a:rPr>
              <a:t>Ceradyne</a:t>
            </a:r>
            <a:endParaRPr lang="en-US" sz="1600" dirty="0" smtClean="0">
              <a:solidFill>
                <a:prstClr val="black"/>
              </a:solidFill>
              <a:latin typeface=" Arial"/>
            </a:endParaRPr>
          </a:p>
          <a:p>
            <a:pPr>
              <a:defRPr/>
            </a:pPr>
            <a:endParaRPr lang="en-US" sz="1600" dirty="0" smtClean="0">
              <a:solidFill>
                <a:prstClr val="black"/>
              </a:solidFill>
              <a:latin typeface=" Arial"/>
            </a:endParaRPr>
          </a:p>
          <a:p>
            <a:pPr>
              <a:defRPr/>
            </a:pPr>
            <a:r>
              <a:rPr lang="en-US" sz="1600" u="sng" dirty="0">
                <a:solidFill>
                  <a:prstClr val="black"/>
                </a:solidFill>
                <a:latin typeface=" Arial"/>
              </a:rPr>
              <a:t>Contract </a:t>
            </a:r>
            <a:r>
              <a:rPr lang="en-US" sz="1600" u="sng" dirty="0" smtClean="0">
                <a:solidFill>
                  <a:prstClr val="black"/>
                </a:solidFill>
                <a:latin typeface=" Arial"/>
              </a:rPr>
              <a:t>Type</a:t>
            </a:r>
            <a:r>
              <a:rPr lang="en-US" sz="1600" dirty="0" smtClean="0">
                <a:solidFill>
                  <a:prstClr val="black"/>
                </a:solidFill>
                <a:latin typeface=" Arial"/>
              </a:rPr>
              <a:t>:  Delivery orders will be FFP </a:t>
            </a:r>
          </a:p>
          <a:p>
            <a:pPr>
              <a:defRPr/>
            </a:pPr>
            <a:r>
              <a:rPr lang="en-US" sz="1600" u="sng" dirty="0">
                <a:solidFill>
                  <a:prstClr val="black"/>
                </a:solidFill>
                <a:latin typeface=" Arial"/>
              </a:rPr>
              <a:t>ROM</a:t>
            </a:r>
            <a:r>
              <a:rPr lang="en-US" sz="1600" dirty="0">
                <a:solidFill>
                  <a:prstClr val="black"/>
                </a:solidFill>
                <a:latin typeface=" Arial"/>
              </a:rPr>
              <a:t>:  $900M</a:t>
            </a:r>
          </a:p>
          <a:p>
            <a:pPr>
              <a:defRPr/>
            </a:pPr>
            <a:r>
              <a:rPr lang="en-US" sz="1600" u="sng" dirty="0">
                <a:solidFill>
                  <a:prstClr val="black"/>
                </a:solidFill>
                <a:latin typeface=" Arial"/>
              </a:rPr>
              <a:t>Period of Performance</a:t>
            </a:r>
            <a:r>
              <a:rPr lang="en-US" sz="1600" dirty="0">
                <a:solidFill>
                  <a:prstClr val="black"/>
                </a:solidFill>
                <a:latin typeface=" Arial"/>
              </a:rPr>
              <a:t>:  5 year ordering period with options</a:t>
            </a:r>
          </a:p>
          <a:p>
            <a:pPr>
              <a:defRPr/>
            </a:pPr>
            <a:r>
              <a:rPr lang="en-US" sz="1600" u="sng" dirty="0">
                <a:solidFill>
                  <a:prstClr val="black"/>
                </a:solidFill>
                <a:latin typeface=" Arial"/>
              </a:rPr>
              <a:t>Estimated Solicitation Release Date</a:t>
            </a:r>
            <a:r>
              <a:rPr lang="en-US" sz="1600" dirty="0">
                <a:solidFill>
                  <a:prstClr val="black"/>
                </a:solidFill>
                <a:latin typeface=" Arial"/>
              </a:rPr>
              <a:t>:  </a:t>
            </a:r>
            <a:r>
              <a:rPr lang="en-US" sz="1600" dirty="0" smtClean="0">
                <a:latin typeface=" Arial"/>
              </a:rPr>
              <a:t>1QFY22</a:t>
            </a:r>
            <a:endParaRPr lang="en-US" sz="1600" dirty="0">
              <a:latin typeface=" Arial"/>
            </a:endParaRPr>
          </a:p>
          <a:p>
            <a:pPr>
              <a:defRPr/>
            </a:pPr>
            <a:r>
              <a:rPr lang="en-US" sz="1600" u="sng" dirty="0">
                <a:solidFill>
                  <a:prstClr val="black"/>
                </a:solidFill>
                <a:latin typeface=" Arial"/>
              </a:rPr>
              <a:t>Contracting Contact</a:t>
            </a:r>
            <a:r>
              <a:rPr lang="en-US" sz="1600" dirty="0">
                <a:solidFill>
                  <a:prstClr val="black"/>
                </a:solidFill>
                <a:latin typeface=" Arial"/>
              </a:rPr>
              <a:t>:  ACC-APG, Terri Quick, KO, </a:t>
            </a:r>
            <a:r>
              <a:rPr lang="en-US" sz="1600" dirty="0">
                <a:solidFill>
                  <a:prstClr val="black"/>
                </a:solidFill>
                <a:latin typeface=" Arial"/>
                <a:cs typeface="Arial" panose="020B0604020202020204" pitchFamily="34" charset="0"/>
              </a:rPr>
              <a:t>theresa.s.quick.civ@mail.mil</a:t>
            </a:r>
            <a:endParaRPr lang="en-US" sz="1600" dirty="0" smtClean="0">
              <a:solidFill>
                <a:prstClr val="black"/>
              </a:solidFill>
              <a:latin typeface=" Arial"/>
            </a:endParaRPr>
          </a:p>
          <a:p>
            <a:pPr>
              <a:defRPr/>
            </a:pPr>
            <a:endParaRPr lang="en-US" sz="1600" b="1" dirty="0" smtClean="0">
              <a:solidFill>
                <a:prstClr val="black"/>
              </a:solidFill>
              <a:latin typeface=" Arial"/>
            </a:endParaRPr>
          </a:p>
          <a:p>
            <a:pPr>
              <a:defRPr/>
            </a:pPr>
            <a:endParaRPr lang="en-US" sz="1600" b="1" dirty="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4" name="Slide Number Placeholder 3"/>
          <p:cNvSpPr>
            <a:spLocks noGrp="1"/>
          </p:cNvSpPr>
          <p:nvPr>
            <p:ph type="sldNum" sz="quarter" idx="12"/>
          </p:nvPr>
        </p:nvSpPr>
        <p:spPr/>
        <p:txBody>
          <a:bodyPr/>
          <a:lstStyle/>
          <a:p>
            <a:fld id="{3650DDD2-8224-FD42-89E0-975387AD3410}" type="slidenum">
              <a:rPr lang="en-US" smtClean="0"/>
              <a:t>10</a:t>
            </a:fld>
            <a:endParaRPr lang="en-US" dirty="0"/>
          </a:p>
        </p:txBody>
      </p:sp>
    </p:spTree>
    <p:extLst>
      <p:ext uri="{BB962C8B-B14F-4D97-AF65-F5344CB8AC3E}">
        <p14:creationId xmlns:p14="http://schemas.microsoft.com/office/powerpoint/2010/main" val="31954554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PEO Soldier</a:t>
            </a:r>
          </a:p>
        </p:txBody>
      </p:sp>
      <p:sp>
        <p:nvSpPr>
          <p:cNvPr id="3" name="TextBox 8"/>
          <p:cNvSpPr txBox="1">
            <a:spLocks noChangeArrowheads="1"/>
          </p:cNvSpPr>
          <p:nvPr/>
        </p:nvSpPr>
        <p:spPr bwMode="auto">
          <a:xfrm>
            <a:off x="0" y="1066800"/>
            <a:ext cx="9144000" cy="4770537"/>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NG IHPS Mandible and Visor</a:t>
            </a:r>
          </a:p>
          <a:p>
            <a:pPr>
              <a:defRPr/>
            </a:pPr>
            <a:endParaRPr lang="en-US" sz="1600" u="sng" dirty="0" smtClean="0">
              <a:solidFill>
                <a:prstClr val="black"/>
              </a:solidFill>
              <a:latin typeface=" Arial"/>
            </a:endParaRPr>
          </a:p>
          <a:p>
            <a:pPr>
              <a:defRPr/>
            </a:pPr>
            <a:r>
              <a:rPr lang="en-US" sz="1600" u="sng" dirty="0" smtClean="0">
                <a:latin typeface=" Arial"/>
              </a:rPr>
              <a:t>Project </a:t>
            </a:r>
            <a:r>
              <a:rPr lang="en-US" sz="1600" u="sng" dirty="0">
                <a:latin typeface=" Arial"/>
              </a:rPr>
              <a:t>Summary</a:t>
            </a:r>
            <a:r>
              <a:rPr lang="en-US" sz="1600" u="sng" dirty="0" smtClean="0">
                <a:latin typeface=" Arial"/>
              </a:rPr>
              <a:t>:</a:t>
            </a:r>
          </a:p>
          <a:p>
            <a:pPr marR="0" lvl="0">
              <a:spcBef>
                <a:spcPts val="0"/>
              </a:spcBef>
              <a:spcAft>
                <a:spcPts val="0"/>
              </a:spcAft>
              <a:buSzPts val="1200"/>
            </a:pPr>
            <a:r>
              <a:rPr lang="en-US" sz="1600" dirty="0" smtClean="0">
                <a:latin typeface=" Arial"/>
                <a:ea typeface="Times New Roman" panose="02020603050405020304" pitchFamily="18" charset="0"/>
                <a:cs typeface="Arial" panose="020B0604020202020204" pitchFamily="34" charset="0"/>
              </a:rPr>
              <a:t>The </a:t>
            </a:r>
            <a:r>
              <a:rPr lang="en-US" sz="1600" dirty="0">
                <a:latin typeface=" Arial"/>
                <a:ea typeface="Times New Roman" panose="02020603050405020304" pitchFamily="18" charset="0"/>
                <a:cs typeface="Arial" panose="020B0604020202020204" pitchFamily="34" charset="0"/>
              </a:rPr>
              <a:t>IHPS consists of a base ballistic protective shell (modular helmet (MH)), retention system, suspension system, helmet cover, mandible and visor, hearing protection, a Night Vision Device (NVD) bracket, and rail set.  This </a:t>
            </a:r>
            <a:r>
              <a:rPr lang="en-US" sz="1600" dirty="0" smtClean="0">
                <a:latin typeface=" Arial"/>
                <a:ea typeface="Times New Roman" panose="02020603050405020304" pitchFamily="18" charset="0"/>
                <a:cs typeface="Arial" panose="020B0604020202020204" pitchFamily="34" charset="0"/>
              </a:rPr>
              <a:t>solicitation procures the mandible </a:t>
            </a:r>
            <a:r>
              <a:rPr lang="en-US" sz="1600" dirty="0">
                <a:latin typeface=" Arial"/>
                <a:ea typeface="Times New Roman" panose="02020603050405020304" pitchFamily="18" charset="0"/>
                <a:cs typeface="Arial" panose="020B0604020202020204" pitchFamily="34" charset="0"/>
              </a:rPr>
              <a:t>and visor </a:t>
            </a:r>
            <a:r>
              <a:rPr lang="en-US" sz="1600" dirty="0" smtClean="0">
                <a:latin typeface=" Arial"/>
                <a:ea typeface="Times New Roman" panose="02020603050405020304" pitchFamily="18" charset="0"/>
                <a:cs typeface="Arial" panose="020B0604020202020204" pitchFamily="34" charset="0"/>
              </a:rPr>
              <a:t>components only.</a:t>
            </a:r>
            <a:endParaRPr lang="en-US" sz="1600" dirty="0">
              <a:latin typeface=" Arial"/>
              <a:ea typeface="Times New Roman" panose="02020603050405020304" pitchFamily="18" charset="0"/>
              <a:cs typeface="Times New Roman" panose="02020603050405020304" pitchFamily="18" charset="0"/>
            </a:endParaRPr>
          </a:p>
          <a:p>
            <a:pPr>
              <a:defRPr/>
            </a:pPr>
            <a:endParaRPr lang="en-US" sz="1600" u="sng" dirty="0" smtClean="0">
              <a:solidFill>
                <a:prstClr val="black"/>
              </a:solidFill>
              <a:latin typeface=" Arial"/>
            </a:endParaRPr>
          </a:p>
          <a:p>
            <a:pPr>
              <a:defRPr/>
            </a:pPr>
            <a:r>
              <a:rPr lang="en-US" sz="1600" u="sng" dirty="0" smtClean="0">
                <a:solidFill>
                  <a:prstClr val="black"/>
                </a:solidFill>
                <a:latin typeface=" Arial"/>
              </a:rPr>
              <a:t>Prior/Current </a:t>
            </a:r>
            <a:r>
              <a:rPr lang="en-US" sz="1600" u="sng" dirty="0">
                <a:solidFill>
                  <a:prstClr val="black"/>
                </a:solidFill>
                <a:latin typeface=" Arial"/>
              </a:rPr>
              <a:t>Contract Information</a:t>
            </a:r>
            <a:r>
              <a:rPr lang="en-US" sz="1600" u="sng" dirty="0" smtClean="0">
                <a:solidFill>
                  <a:prstClr val="black"/>
                </a:solidFill>
                <a:latin typeface=" Arial"/>
              </a:rPr>
              <a:t>:  </a:t>
            </a:r>
          </a:p>
          <a:p>
            <a:pPr>
              <a:defRPr/>
            </a:pPr>
            <a:r>
              <a:rPr lang="en-US" sz="1600" dirty="0" smtClean="0">
                <a:solidFill>
                  <a:prstClr val="black"/>
                </a:solidFill>
                <a:latin typeface=" Arial"/>
              </a:rPr>
              <a:t>Contract </a:t>
            </a:r>
            <a:r>
              <a:rPr lang="en-US" sz="1600" dirty="0">
                <a:solidFill>
                  <a:prstClr val="black"/>
                </a:solidFill>
                <a:latin typeface=" Arial"/>
              </a:rPr>
              <a:t>Number:  W91CRB-14-C-0005</a:t>
            </a:r>
          </a:p>
          <a:p>
            <a:pPr>
              <a:defRPr/>
            </a:pPr>
            <a:r>
              <a:rPr lang="en-US" sz="1600" dirty="0" smtClean="0">
                <a:solidFill>
                  <a:prstClr val="black"/>
                </a:solidFill>
                <a:latin typeface=" Arial"/>
              </a:rPr>
              <a:t>Incumbent </a:t>
            </a:r>
            <a:r>
              <a:rPr lang="en-US" sz="1600" dirty="0">
                <a:solidFill>
                  <a:prstClr val="black"/>
                </a:solidFill>
                <a:latin typeface=" Arial"/>
              </a:rPr>
              <a:t>Contractor: </a:t>
            </a:r>
            <a:r>
              <a:rPr lang="en-US" sz="1600" dirty="0" err="1">
                <a:solidFill>
                  <a:prstClr val="black"/>
                </a:solidFill>
                <a:latin typeface=" Arial"/>
              </a:rPr>
              <a:t>Ceradyne</a:t>
            </a:r>
            <a:endParaRPr lang="en-US" sz="1600" dirty="0">
              <a:solidFill>
                <a:prstClr val="black"/>
              </a:solidFill>
              <a:latin typeface=" Arial"/>
            </a:endParaRPr>
          </a:p>
          <a:p>
            <a:pPr>
              <a:defRPr/>
            </a:pPr>
            <a:endParaRPr lang="en-US" sz="1600" u="sng"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Delivery orders will be FFP </a:t>
            </a:r>
          </a:p>
          <a:p>
            <a:pPr>
              <a:defRPr/>
            </a:pPr>
            <a:endParaRPr lang="en-US" sz="1600" u="sng" dirty="0" smtClean="0">
              <a:solidFill>
                <a:prstClr val="black"/>
              </a:solidFill>
              <a:latin typeface=" Arial"/>
            </a:endParaRPr>
          </a:p>
          <a:p>
            <a:pPr>
              <a:defRPr/>
            </a:pPr>
            <a:r>
              <a:rPr lang="en-US" sz="1600" u="sng" dirty="0" smtClean="0">
                <a:solidFill>
                  <a:prstClr val="black"/>
                </a:solidFill>
                <a:latin typeface=" Arial"/>
              </a:rPr>
              <a:t>ROM</a:t>
            </a:r>
            <a:r>
              <a:rPr lang="en-US" sz="1600" dirty="0">
                <a:solidFill>
                  <a:prstClr val="black"/>
                </a:solidFill>
                <a:latin typeface=" Arial"/>
              </a:rPr>
              <a:t>:  </a:t>
            </a:r>
            <a:r>
              <a:rPr lang="en-US" sz="1600" dirty="0" smtClean="0">
                <a:solidFill>
                  <a:prstClr val="black"/>
                </a:solidFill>
                <a:latin typeface=" Arial"/>
              </a:rPr>
              <a:t>$50M</a:t>
            </a:r>
            <a:endParaRPr lang="en-US" sz="1600" dirty="0">
              <a:solidFill>
                <a:prstClr val="black"/>
              </a:solidFill>
              <a:latin typeface=" Arial"/>
            </a:endParaRPr>
          </a:p>
          <a:p>
            <a:pPr>
              <a:defRPr/>
            </a:pPr>
            <a:r>
              <a:rPr lang="en-US" sz="1600" u="sng" dirty="0" smtClean="0">
                <a:solidFill>
                  <a:prstClr val="black"/>
                </a:solidFill>
                <a:latin typeface=" Arial"/>
              </a:rPr>
              <a:t>Period </a:t>
            </a:r>
            <a:r>
              <a:rPr lang="en-US" sz="1600" u="sng" dirty="0">
                <a:solidFill>
                  <a:prstClr val="black"/>
                </a:solidFill>
                <a:latin typeface=" Arial"/>
              </a:rPr>
              <a:t>of Performance</a:t>
            </a:r>
            <a:r>
              <a:rPr lang="en-US" sz="1600" dirty="0">
                <a:solidFill>
                  <a:prstClr val="black"/>
                </a:solidFill>
                <a:latin typeface=" Arial"/>
              </a:rPr>
              <a:t>:  5 year ordering </a:t>
            </a:r>
            <a:r>
              <a:rPr lang="en-US" sz="1600" dirty="0" smtClean="0">
                <a:solidFill>
                  <a:prstClr val="black"/>
                </a:solidFill>
                <a:latin typeface=" Arial"/>
              </a:rPr>
              <a:t>period</a:t>
            </a:r>
            <a:endParaRPr lang="en-US" sz="1600" dirty="0">
              <a:solidFill>
                <a:prstClr val="black"/>
              </a:solidFill>
              <a:latin typeface=" Arial"/>
            </a:endParaRPr>
          </a:p>
          <a:p>
            <a:pPr>
              <a:defRPr/>
            </a:pPr>
            <a:r>
              <a:rPr lang="en-US" sz="1600" u="sng" dirty="0" smtClean="0">
                <a:solidFill>
                  <a:prstClr val="black"/>
                </a:solidFill>
                <a:latin typeface=" Arial"/>
              </a:rPr>
              <a:t>Estimated </a:t>
            </a:r>
            <a:r>
              <a:rPr lang="en-US" sz="1600" u="sng" dirty="0">
                <a:solidFill>
                  <a:prstClr val="black"/>
                </a:solidFill>
                <a:latin typeface=" Arial"/>
              </a:rPr>
              <a:t>Solicitation Release Date</a:t>
            </a:r>
            <a:r>
              <a:rPr lang="en-US" sz="1600" dirty="0">
                <a:solidFill>
                  <a:prstClr val="black"/>
                </a:solidFill>
                <a:latin typeface=" Arial"/>
              </a:rPr>
              <a:t>:  </a:t>
            </a:r>
            <a:r>
              <a:rPr lang="en-US" sz="1600" dirty="0">
                <a:latin typeface=" Arial"/>
              </a:rPr>
              <a:t>4QFY21</a:t>
            </a:r>
          </a:p>
          <a:p>
            <a:pPr>
              <a:defRPr/>
            </a:pPr>
            <a:r>
              <a:rPr lang="en-US" sz="1600" u="sng" dirty="0" smtClean="0">
                <a:solidFill>
                  <a:prstClr val="black"/>
                </a:solidFill>
                <a:latin typeface=" Arial"/>
              </a:rPr>
              <a:t>Contracting </a:t>
            </a:r>
            <a:r>
              <a:rPr lang="en-US" sz="1600" u="sng" dirty="0">
                <a:solidFill>
                  <a:prstClr val="black"/>
                </a:solidFill>
                <a:latin typeface=" Arial"/>
              </a:rPr>
              <a:t>Contact</a:t>
            </a:r>
            <a:r>
              <a:rPr lang="en-US" sz="1600" dirty="0">
                <a:solidFill>
                  <a:prstClr val="black"/>
                </a:solidFill>
                <a:latin typeface=" Arial"/>
              </a:rPr>
              <a:t>:  ACC-APG, </a:t>
            </a:r>
            <a:r>
              <a:rPr lang="en-US" sz="1600" dirty="0" err="1" smtClean="0">
                <a:solidFill>
                  <a:prstClr val="black"/>
                </a:solidFill>
                <a:latin typeface=" Arial"/>
              </a:rPr>
              <a:t>Theresa.S.Quick</a:t>
            </a:r>
            <a:r>
              <a:rPr lang="en-US" sz="1600" dirty="0" smtClean="0">
                <a:solidFill>
                  <a:prstClr val="black"/>
                </a:solidFill>
                <a:latin typeface=" Arial"/>
              </a:rPr>
              <a:t>, </a:t>
            </a:r>
            <a:r>
              <a:rPr lang="en-US" sz="1600" dirty="0">
                <a:solidFill>
                  <a:prstClr val="black"/>
                </a:solidFill>
                <a:latin typeface=" Arial"/>
              </a:rPr>
              <a:t>KO, </a:t>
            </a:r>
            <a:r>
              <a:rPr lang="en-US" sz="1600" dirty="0" smtClean="0">
                <a:solidFill>
                  <a:prstClr val="black"/>
                </a:solidFill>
                <a:latin typeface=" Arial"/>
              </a:rPr>
              <a:t>Theresa.S.Quick.civ@mail.mil</a:t>
            </a: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4" name="Slide Number Placeholder 3"/>
          <p:cNvSpPr>
            <a:spLocks noGrp="1"/>
          </p:cNvSpPr>
          <p:nvPr>
            <p:ph type="sldNum" sz="quarter" idx="12"/>
          </p:nvPr>
        </p:nvSpPr>
        <p:spPr/>
        <p:txBody>
          <a:bodyPr/>
          <a:lstStyle/>
          <a:p>
            <a:fld id="{3650DDD2-8224-FD42-89E0-975387AD3410}" type="slidenum">
              <a:rPr lang="en-US" smtClean="0"/>
              <a:t>11</a:t>
            </a:fld>
            <a:endParaRPr lang="en-US" dirty="0"/>
          </a:p>
        </p:txBody>
      </p:sp>
    </p:spTree>
    <p:extLst>
      <p:ext uri="{BB962C8B-B14F-4D97-AF65-F5344CB8AC3E}">
        <p14:creationId xmlns:p14="http://schemas.microsoft.com/office/powerpoint/2010/main" val="35665039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PEO Soldier</a:t>
            </a:r>
          </a:p>
        </p:txBody>
      </p:sp>
      <p:sp>
        <p:nvSpPr>
          <p:cNvPr id="3" name="TextBox 8"/>
          <p:cNvSpPr txBox="1">
            <a:spLocks noChangeArrowheads="1"/>
          </p:cNvSpPr>
          <p:nvPr/>
        </p:nvSpPr>
        <p:spPr bwMode="auto">
          <a:xfrm>
            <a:off x="0" y="1066800"/>
            <a:ext cx="9144000" cy="5262979"/>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a:t>
            </a:r>
            <a:r>
              <a:rPr lang="en-US" sz="1600" dirty="0" smtClean="0">
                <a:latin typeface=" Arial"/>
              </a:rPr>
              <a:t>PM IVAS Support Services</a:t>
            </a:r>
          </a:p>
          <a:p>
            <a:pPr>
              <a:defRPr/>
            </a:pPr>
            <a:endParaRPr lang="en-US" sz="1600" dirty="0" smtClean="0">
              <a:latin typeface=" Arial"/>
            </a:endParaRPr>
          </a:p>
          <a:p>
            <a:pPr>
              <a:defRPr/>
            </a:pPr>
            <a:r>
              <a:rPr lang="en-US" sz="1600" u="sng" dirty="0" smtClean="0">
                <a:solidFill>
                  <a:prstClr val="black"/>
                </a:solidFill>
                <a:latin typeface=" Arial"/>
              </a:rPr>
              <a:t>Project </a:t>
            </a:r>
            <a:r>
              <a:rPr lang="en-US" sz="1600" u="sng" dirty="0">
                <a:solidFill>
                  <a:prstClr val="black"/>
                </a:solidFill>
                <a:latin typeface=" Arial"/>
              </a:rPr>
              <a:t>Summary</a:t>
            </a:r>
            <a:r>
              <a:rPr lang="en-US" sz="1600" u="sng" dirty="0" smtClean="0">
                <a:solidFill>
                  <a:prstClr val="black"/>
                </a:solidFill>
                <a:latin typeface=" Arial"/>
              </a:rPr>
              <a:t>:</a:t>
            </a:r>
          </a:p>
          <a:p>
            <a:pPr>
              <a:defRPr/>
            </a:pPr>
            <a:r>
              <a:rPr lang="en-US" sz="1600" dirty="0" smtClean="0">
                <a:solidFill>
                  <a:prstClr val="black"/>
                </a:solidFill>
                <a:latin typeface=" Arial"/>
              </a:rPr>
              <a:t>The </a:t>
            </a:r>
            <a:r>
              <a:rPr lang="en-US" sz="1600" dirty="0">
                <a:solidFill>
                  <a:prstClr val="black"/>
                </a:solidFill>
                <a:latin typeface=" Arial"/>
              </a:rPr>
              <a:t>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a:t>
            </a:r>
          </a:p>
          <a:p>
            <a:pPr>
              <a:defRPr/>
            </a:pPr>
            <a:endParaRPr lang="en-US" sz="1600" u="sng" dirty="0" smtClean="0">
              <a:solidFill>
                <a:prstClr val="black"/>
              </a:solidFill>
              <a:latin typeface=" Arial"/>
            </a:endParaRPr>
          </a:p>
          <a:p>
            <a:pPr>
              <a:defRPr/>
            </a:pPr>
            <a:r>
              <a:rPr lang="en-US" sz="1600" u="sng" dirty="0" smtClean="0">
                <a:solidFill>
                  <a:prstClr val="black"/>
                </a:solidFill>
                <a:latin typeface=" Arial"/>
              </a:rPr>
              <a:t>Prior/Current </a:t>
            </a:r>
            <a:r>
              <a:rPr lang="en-US" sz="1600" u="sng" dirty="0">
                <a:solidFill>
                  <a:prstClr val="black"/>
                </a:solidFill>
                <a:latin typeface=" Arial"/>
              </a:rPr>
              <a:t>Contract Information</a:t>
            </a:r>
            <a:r>
              <a:rPr lang="en-US" sz="1600" u="sng" dirty="0" smtClean="0">
                <a:solidFill>
                  <a:prstClr val="black"/>
                </a:solidFill>
                <a:latin typeface=" Arial"/>
              </a:rPr>
              <a:t>:  </a:t>
            </a:r>
          </a:p>
          <a:p>
            <a:pPr>
              <a:defRPr/>
            </a:pPr>
            <a:r>
              <a:rPr lang="en-US" sz="1600" dirty="0">
                <a:latin typeface=" Arial"/>
              </a:rPr>
              <a:t>Contract Number:  W91CRB-19-F-0106</a:t>
            </a:r>
          </a:p>
          <a:p>
            <a:pPr>
              <a:defRPr/>
            </a:pPr>
            <a:r>
              <a:rPr lang="en-US" sz="1600" dirty="0">
                <a:latin typeface=" Arial"/>
              </a:rPr>
              <a:t>Incumbent Contract:  CACI, Inc. </a:t>
            </a:r>
          </a:p>
          <a:p>
            <a:pPr>
              <a:defRPr/>
            </a:pPr>
            <a:r>
              <a:rPr lang="en-US" sz="1600" dirty="0">
                <a:solidFill>
                  <a:srgbClr val="FF0000"/>
                </a:solidFill>
                <a:latin typeface=" Arial"/>
              </a:rPr>
              <a:t>  </a:t>
            </a:r>
          </a:p>
          <a:p>
            <a:pPr>
              <a:defRPr/>
            </a:pPr>
            <a:r>
              <a:rPr lang="en-US" sz="1600" u="sng" dirty="0" smtClean="0">
                <a:solidFill>
                  <a:prstClr val="black"/>
                </a:solidFill>
                <a:latin typeface=" Arial"/>
              </a:rPr>
              <a:t>Contract Type</a:t>
            </a:r>
            <a:r>
              <a:rPr lang="en-US" sz="1600" dirty="0" smtClean="0">
                <a:solidFill>
                  <a:prstClr val="black"/>
                </a:solidFill>
                <a:latin typeface=" Arial"/>
              </a:rPr>
              <a:t>:  CPFF task order on Responsive Strategic Sourcing for Services (RS3</a:t>
            </a:r>
            <a:r>
              <a:rPr lang="en-US" sz="1600" dirty="0">
                <a:solidFill>
                  <a:prstClr val="black"/>
                </a:solidFill>
                <a:latin typeface=" Arial"/>
              </a:rPr>
              <a:t>)</a:t>
            </a:r>
            <a:endParaRPr lang="en-US" sz="1600" dirty="0" smtClean="0">
              <a:solidFill>
                <a:prstClr val="black"/>
              </a:solidFill>
              <a:latin typeface=" Arial"/>
            </a:endParaRPr>
          </a:p>
          <a:p>
            <a:pPr>
              <a:defRPr/>
            </a:pPr>
            <a:endParaRPr lang="en-US" sz="1600" u="sng" dirty="0" smtClean="0">
              <a:solidFill>
                <a:srgbClr val="FF0000"/>
              </a:solidFill>
              <a:latin typeface=" Arial"/>
            </a:endParaRPr>
          </a:p>
          <a:p>
            <a:pPr>
              <a:defRPr/>
            </a:pPr>
            <a:r>
              <a:rPr lang="en-US" sz="1600" u="sng" dirty="0" smtClean="0">
                <a:latin typeface=" Arial"/>
              </a:rPr>
              <a:t>ROM</a:t>
            </a:r>
            <a:r>
              <a:rPr lang="en-US" sz="1600" dirty="0">
                <a:latin typeface=" Arial"/>
              </a:rPr>
              <a:t>:  </a:t>
            </a:r>
            <a:r>
              <a:rPr lang="en-US" sz="1600" dirty="0" smtClean="0">
                <a:latin typeface=" Arial"/>
              </a:rPr>
              <a:t>$264M</a:t>
            </a:r>
            <a:endParaRPr lang="en-US" sz="1600" dirty="0">
              <a:latin typeface=" Arial"/>
            </a:endParaRPr>
          </a:p>
          <a:p>
            <a:pPr>
              <a:defRPr/>
            </a:pPr>
            <a:r>
              <a:rPr lang="en-US" sz="1600" u="sng" dirty="0" smtClean="0">
                <a:latin typeface=" Arial"/>
              </a:rPr>
              <a:t>Period </a:t>
            </a:r>
            <a:r>
              <a:rPr lang="en-US" sz="1600" u="sng" dirty="0">
                <a:latin typeface=" Arial"/>
              </a:rPr>
              <a:t>of Performance</a:t>
            </a:r>
            <a:r>
              <a:rPr lang="en-US" sz="1600" dirty="0">
                <a:latin typeface=" Arial"/>
              </a:rPr>
              <a:t>:  </a:t>
            </a:r>
            <a:r>
              <a:rPr lang="en-US" sz="1600" dirty="0" smtClean="0">
                <a:latin typeface=" Arial"/>
              </a:rPr>
              <a:t>One Year contract with four one-year option years.</a:t>
            </a:r>
            <a:endParaRPr lang="en-US" sz="1600" u="sng" dirty="0" smtClean="0">
              <a:latin typeface=" Arial"/>
            </a:endParaRPr>
          </a:p>
          <a:p>
            <a:pPr>
              <a:defRPr/>
            </a:pPr>
            <a:r>
              <a:rPr lang="en-US" sz="1600" u="sng" dirty="0" smtClean="0">
                <a:latin typeface=" Arial"/>
              </a:rPr>
              <a:t>Estimated </a:t>
            </a:r>
            <a:r>
              <a:rPr lang="en-US" sz="1600" u="sng" dirty="0">
                <a:latin typeface=" Arial"/>
              </a:rPr>
              <a:t>Solicitation Release Date</a:t>
            </a:r>
            <a:r>
              <a:rPr lang="en-US" sz="1600" dirty="0">
                <a:latin typeface=" Arial"/>
              </a:rPr>
              <a:t>:  </a:t>
            </a:r>
            <a:r>
              <a:rPr lang="en-US" sz="1600" dirty="0" smtClean="0">
                <a:latin typeface=" Arial"/>
              </a:rPr>
              <a:t>4QFY21</a:t>
            </a:r>
            <a:endParaRPr lang="en-US" sz="1600" dirty="0">
              <a:latin typeface=" Arial"/>
            </a:endParaRPr>
          </a:p>
          <a:p>
            <a:pPr>
              <a:defRPr/>
            </a:pPr>
            <a:r>
              <a:rPr lang="en-US" sz="1600" u="sng" dirty="0" smtClean="0">
                <a:latin typeface=" Arial"/>
              </a:rPr>
              <a:t>Contracting </a:t>
            </a:r>
            <a:r>
              <a:rPr lang="en-US" sz="1600" u="sng" dirty="0">
                <a:latin typeface=" Arial"/>
              </a:rPr>
              <a:t>Contact</a:t>
            </a:r>
            <a:r>
              <a:rPr lang="en-US" sz="1600" dirty="0">
                <a:latin typeface=" Arial"/>
              </a:rPr>
              <a:t>:  ACC-APG, </a:t>
            </a:r>
            <a:r>
              <a:rPr lang="en-US" sz="1600" dirty="0" err="1" smtClean="0">
                <a:latin typeface=" Arial"/>
              </a:rPr>
              <a:t>Kelly.L.Griffin</a:t>
            </a:r>
            <a:r>
              <a:rPr lang="en-US" sz="1600" dirty="0" smtClean="0">
                <a:latin typeface=" Arial"/>
              </a:rPr>
              <a:t>, </a:t>
            </a:r>
            <a:r>
              <a:rPr lang="en-US" sz="1600" dirty="0">
                <a:solidFill>
                  <a:prstClr val="black"/>
                </a:solidFill>
                <a:latin typeface=" Arial"/>
              </a:rPr>
              <a:t>KO, </a:t>
            </a:r>
            <a:r>
              <a:rPr lang="en-US" sz="1600" dirty="0" smtClean="0">
                <a:solidFill>
                  <a:prstClr val="black"/>
                </a:solidFill>
                <a:latin typeface=" Arial"/>
              </a:rPr>
              <a:t>Kelly.L.Griffin.civ@mail.mil</a:t>
            </a:r>
          </a:p>
          <a:p>
            <a:pPr>
              <a:defRPr/>
            </a:pPr>
            <a:endParaRPr lang="en-US" sz="1600" b="1" dirty="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4" name="Slide Number Placeholder 3"/>
          <p:cNvSpPr>
            <a:spLocks noGrp="1"/>
          </p:cNvSpPr>
          <p:nvPr>
            <p:ph type="sldNum" sz="quarter" idx="12"/>
          </p:nvPr>
        </p:nvSpPr>
        <p:spPr/>
        <p:txBody>
          <a:bodyPr/>
          <a:lstStyle/>
          <a:p>
            <a:fld id="{3650DDD2-8224-FD42-89E0-975387AD3410}" type="slidenum">
              <a:rPr lang="en-US" smtClean="0"/>
              <a:t>12</a:t>
            </a:fld>
            <a:endParaRPr lang="en-US" dirty="0"/>
          </a:p>
        </p:txBody>
      </p:sp>
    </p:spTree>
    <p:extLst>
      <p:ext uri="{BB962C8B-B14F-4D97-AF65-F5344CB8AC3E}">
        <p14:creationId xmlns:p14="http://schemas.microsoft.com/office/powerpoint/2010/main" val="39151452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PEO Soldier</a:t>
            </a:r>
          </a:p>
        </p:txBody>
      </p:sp>
      <p:sp>
        <p:nvSpPr>
          <p:cNvPr id="5" name="TextBox 8"/>
          <p:cNvSpPr txBox="1">
            <a:spLocks noChangeArrowheads="1"/>
          </p:cNvSpPr>
          <p:nvPr/>
        </p:nvSpPr>
        <p:spPr bwMode="auto">
          <a:xfrm>
            <a:off x="0" y="1066800"/>
            <a:ext cx="9144000" cy="4524315"/>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Universal Battery Charger (UBC)</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Project Summary:  </a:t>
            </a:r>
            <a:r>
              <a:rPr lang="en-US" sz="1600" dirty="0" smtClean="0">
                <a:latin typeface=" Arial"/>
              </a:rPr>
              <a:t>UBC </a:t>
            </a:r>
            <a:r>
              <a:rPr lang="en-US" sz="1600" dirty="0">
                <a:latin typeface=" Arial"/>
              </a:rPr>
              <a:t>provides Brigade Combat Teams (BCTs) with a lightweight, man-portable, modular, scalable, and robust charging capability to charge multiple battery types simultaneously for both dismounted Tier 1 (most austere) and mounted (vehicle) user operations and missions. </a:t>
            </a:r>
            <a:endParaRPr lang="en-US" sz="1600" dirty="0" smtClean="0">
              <a:latin typeface=" Arial"/>
            </a:endParaRPr>
          </a:p>
          <a:p>
            <a:pPr>
              <a:defRPr/>
            </a:pPr>
            <a:endParaRPr lang="en-US" sz="1600" u="sng" dirty="0">
              <a:solidFill>
                <a:prstClr val="black"/>
              </a:solidFill>
              <a:latin typeface=" Arial"/>
            </a:endParaRPr>
          </a:p>
          <a:p>
            <a:pPr>
              <a:defRPr/>
            </a:pPr>
            <a:r>
              <a:rPr lang="en-US" sz="1600" u="sng" dirty="0" smtClean="0">
                <a:solidFill>
                  <a:prstClr val="black"/>
                </a:solidFill>
                <a:latin typeface=" Arial"/>
              </a:rPr>
              <a:t>Prior/Current </a:t>
            </a:r>
            <a:r>
              <a:rPr lang="en-US" sz="1600" u="sng" dirty="0">
                <a:solidFill>
                  <a:prstClr val="black"/>
                </a:solidFill>
                <a:latin typeface=" Arial"/>
              </a:rPr>
              <a:t>Contract Information:</a:t>
            </a:r>
          </a:p>
          <a:p>
            <a:pPr>
              <a:defRPr/>
            </a:pPr>
            <a:r>
              <a:rPr lang="en-US" sz="1600" dirty="0" smtClean="0">
                <a:solidFill>
                  <a:prstClr val="black"/>
                </a:solidFill>
                <a:latin typeface=" Arial"/>
              </a:rPr>
              <a:t>	Contract Number:  W91CRB-16-D-0008</a:t>
            </a:r>
          </a:p>
          <a:p>
            <a:pPr>
              <a:defRPr/>
            </a:pPr>
            <a:r>
              <a:rPr lang="en-US" sz="1600" dirty="0" smtClean="0">
                <a:solidFill>
                  <a:prstClr val="black"/>
                </a:solidFill>
                <a:latin typeface=" Arial"/>
              </a:rPr>
              <a:t>	Incumbent Contractor: Thales Defense &amp; Security, Inc.</a:t>
            </a:r>
          </a:p>
          <a:p>
            <a:pPr>
              <a:defRPr/>
            </a:pPr>
            <a:r>
              <a:rPr lang="en-US" sz="1600" dirty="0">
                <a:solidFill>
                  <a:prstClr val="black"/>
                </a:solidFill>
                <a:latin typeface=" Arial"/>
              </a:rPr>
              <a:t>	</a:t>
            </a:r>
            <a:r>
              <a:rPr lang="en-US" sz="1600" dirty="0" smtClean="0">
                <a:solidFill>
                  <a:prstClr val="black"/>
                </a:solidFill>
                <a:latin typeface=" Arial"/>
              </a:rPr>
              <a:t>Solicitation Number:  TBD</a:t>
            </a:r>
          </a:p>
          <a:p>
            <a:pPr>
              <a:defRPr/>
            </a:pPr>
            <a:endParaRPr lang="en-US" sz="1600" dirty="0" smtClean="0">
              <a:solidFill>
                <a:prstClr val="black"/>
              </a:solidFill>
              <a:latin typeface=" Arial"/>
            </a:endParaRPr>
          </a:p>
          <a:p>
            <a:pPr>
              <a:defRPr/>
            </a:pPr>
            <a:r>
              <a:rPr lang="en-US" sz="1600" u="sng" dirty="0">
                <a:solidFill>
                  <a:prstClr val="black"/>
                </a:solidFill>
                <a:latin typeface=" Arial"/>
              </a:rPr>
              <a:t>Contract </a:t>
            </a:r>
            <a:r>
              <a:rPr lang="en-US" sz="1600" u="sng" dirty="0" smtClean="0">
                <a:solidFill>
                  <a:prstClr val="black"/>
                </a:solidFill>
                <a:latin typeface=" Arial"/>
              </a:rPr>
              <a:t>Type</a:t>
            </a:r>
            <a:r>
              <a:rPr lang="en-US" sz="1600" dirty="0" smtClean="0">
                <a:solidFill>
                  <a:prstClr val="black"/>
                </a:solidFill>
                <a:latin typeface=" Arial"/>
              </a:rPr>
              <a:t>:  FFP </a:t>
            </a:r>
          </a:p>
          <a:p>
            <a:pPr>
              <a:defRPr/>
            </a:pPr>
            <a:r>
              <a:rPr lang="en-US" sz="1600" u="sng" dirty="0" smtClean="0">
                <a:solidFill>
                  <a:prstClr val="black"/>
                </a:solidFill>
                <a:latin typeface=" Arial"/>
              </a:rPr>
              <a:t>ROM</a:t>
            </a:r>
            <a:r>
              <a:rPr lang="en-US" sz="1600" dirty="0" smtClean="0">
                <a:solidFill>
                  <a:prstClr val="black"/>
                </a:solidFill>
                <a:latin typeface=" Arial"/>
              </a:rPr>
              <a:t>:  TBD</a:t>
            </a:r>
          </a:p>
          <a:p>
            <a:pPr>
              <a:defRPr/>
            </a:pPr>
            <a:r>
              <a:rPr lang="en-US" sz="1600" u="sng" dirty="0">
                <a:solidFill>
                  <a:prstClr val="black"/>
                </a:solidFill>
                <a:latin typeface=" Arial"/>
              </a:rPr>
              <a:t>Period of </a:t>
            </a:r>
            <a:r>
              <a:rPr lang="en-US" sz="1600" u="sng" dirty="0" smtClean="0">
                <a:solidFill>
                  <a:prstClr val="black"/>
                </a:solidFill>
                <a:latin typeface=" Arial"/>
              </a:rPr>
              <a:t>Performance</a:t>
            </a:r>
            <a:r>
              <a:rPr lang="en-US" sz="1600" dirty="0" smtClean="0">
                <a:solidFill>
                  <a:prstClr val="black"/>
                </a:solidFill>
                <a:latin typeface=" Arial"/>
              </a:rPr>
              <a:t>:  TBD</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TBD</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t>
            </a:r>
            <a:r>
              <a:rPr lang="en-US" sz="1600" dirty="0">
                <a:solidFill>
                  <a:prstClr val="black"/>
                </a:solidFill>
                <a:latin typeface=" Arial"/>
              </a:rPr>
              <a:t>ACC-APG, </a:t>
            </a:r>
            <a:r>
              <a:rPr lang="en-US" sz="1600" dirty="0" smtClean="0">
                <a:solidFill>
                  <a:prstClr val="black"/>
                </a:solidFill>
                <a:latin typeface=" Arial"/>
              </a:rPr>
              <a:t>George Hubbard, </a:t>
            </a:r>
            <a:r>
              <a:rPr lang="en-US" sz="1600" dirty="0">
                <a:solidFill>
                  <a:prstClr val="black"/>
                </a:solidFill>
                <a:latin typeface=" Arial"/>
              </a:rPr>
              <a:t>KO, </a:t>
            </a:r>
            <a:r>
              <a:rPr lang="en-US" sz="1600" u="sng" dirty="0">
                <a:solidFill>
                  <a:prstClr val="black"/>
                </a:solidFill>
                <a:latin typeface=" Arial"/>
              </a:rPr>
              <a:t>george.b.hubbard5.civ@mail.mil</a:t>
            </a:r>
          </a:p>
          <a:p>
            <a:pPr>
              <a:defRPr/>
            </a:pPr>
            <a:endParaRPr lang="en-US" sz="1600"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3" name="Slide Number Placeholder 2"/>
          <p:cNvSpPr>
            <a:spLocks noGrp="1"/>
          </p:cNvSpPr>
          <p:nvPr>
            <p:ph type="sldNum" sz="quarter" idx="12"/>
          </p:nvPr>
        </p:nvSpPr>
        <p:spPr/>
        <p:txBody>
          <a:bodyPr/>
          <a:lstStyle/>
          <a:p>
            <a:fld id="{3650DDD2-8224-FD42-89E0-975387AD3410}" type="slidenum">
              <a:rPr lang="en-US" smtClean="0"/>
              <a:t>13</a:t>
            </a:fld>
            <a:endParaRPr lang="en-US" dirty="0"/>
          </a:p>
        </p:txBody>
      </p:sp>
    </p:spTree>
    <p:extLst>
      <p:ext uri="{BB962C8B-B14F-4D97-AF65-F5344CB8AC3E}">
        <p14:creationId xmlns:p14="http://schemas.microsoft.com/office/powerpoint/2010/main" val="34109343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white"/>
                </a:solidFill>
                <a:latin typeface=" Arial"/>
              </a:rPr>
              <a:t>PEO Soldier</a:t>
            </a:r>
          </a:p>
        </p:txBody>
      </p:sp>
      <p:sp>
        <p:nvSpPr>
          <p:cNvPr id="5" name="TextBox 8"/>
          <p:cNvSpPr txBox="1">
            <a:spLocks noChangeArrowheads="1"/>
          </p:cNvSpPr>
          <p:nvPr/>
        </p:nvSpPr>
        <p:spPr bwMode="auto">
          <a:xfrm>
            <a:off x="0" y="1066800"/>
            <a:ext cx="9144000" cy="5262979"/>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a:solidFill>
                  <a:prstClr val="black"/>
                </a:solidFill>
                <a:latin typeface=" Arial"/>
                <a:sym typeface="Wingdings" panose="05000000000000000000" pitchFamily="2" charset="2"/>
              </a:rPr>
              <a:t>: Laser Target Locator Module (</a:t>
            </a:r>
            <a:r>
              <a:rPr lang="en-US" sz="1600" dirty="0" smtClean="0">
                <a:solidFill>
                  <a:prstClr val="black"/>
                </a:solidFill>
                <a:latin typeface=" Arial"/>
                <a:sym typeface="Wingdings" panose="05000000000000000000" pitchFamily="2" charset="2"/>
              </a:rPr>
              <a:t>LTLM III)</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Project Summary: </a:t>
            </a:r>
            <a:r>
              <a:rPr lang="en-US" sz="1600" dirty="0">
                <a:solidFill>
                  <a:prstClr val="black"/>
                </a:solidFill>
                <a:latin typeface=" Arial"/>
              </a:rPr>
              <a:t>LTLM </a:t>
            </a:r>
            <a:r>
              <a:rPr lang="en-US" sz="1600" dirty="0" smtClean="0">
                <a:solidFill>
                  <a:prstClr val="black"/>
                </a:solidFill>
                <a:latin typeface=" Arial"/>
              </a:rPr>
              <a:t>III is a laser </a:t>
            </a:r>
            <a:r>
              <a:rPr lang="en-US" sz="1600" dirty="0">
                <a:solidFill>
                  <a:prstClr val="black"/>
                </a:solidFill>
                <a:latin typeface=" Arial"/>
              </a:rPr>
              <a:t>target locator with integrated Global Positioning System (GPS) that provides self-location and target location. This handheld device addresses the need of dismounted observers (Scouts, Fire Support Teams [FIST], Forward Observers [FO], Infantry, and selected maneuver force personnel) to fulfill a critical and immediate need for a lightweight, day/night capability to determine range, direction, and vertical angle to targets and objectively to digitally transmit this data</a:t>
            </a:r>
            <a:r>
              <a:rPr lang="en-US" sz="1600" dirty="0" smtClean="0">
                <a:solidFill>
                  <a:prstClr val="black"/>
                </a:solidFill>
                <a:latin typeface=" Arial"/>
              </a:rPr>
              <a:t>.</a:t>
            </a:r>
          </a:p>
          <a:p>
            <a:pPr>
              <a:defRPr/>
            </a:pPr>
            <a:endParaRPr lang="en-US" sz="1600" dirty="0">
              <a:solidFill>
                <a:prstClr val="black"/>
              </a:solidFill>
              <a:latin typeface=" Arial"/>
            </a:endParaRPr>
          </a:p>
          <a:p>
            <a:pPr>
              <a:defRPr/>
            </a:pPr>
            <a:r>
              <a:rPr lang="en-US" sz="1600" u="sng" dirty="0" smtClean="0">
                <a:solidFill>
                  <a:prstClr val="black"/>
                </a:solidFill>
                <a:latin typeface=" Arial"/>
              </a:rPr>
              <a:t>Prior/Current </a:t>
            </a:r>
            <a:r>
              <a:rPr lang="en-US" sz="1600" u="sng" dirty="0">
                <a:solidFill>
                  <a:prstClr val="black"/>
                </a:solidFill>
                <a:latin typeface=" Arial"/>
              </a:rPr>
              <a:t>Contract Information:</a:t>
            </a:r>
          </a:p>
          <a:p>
            <a:pPr>
              <a:defRPr/>
            </a:pPr>
            <a:r>
              <a:rPr lang="en-US" sz="1600" dirty="0" smtClean="0">
                <a:solidFill>
                  <a:prstClr val="black"/>
                </a:solidFill>
                <a:latin typeface=" Arial"/>
              </a:rPr>
              <a:t>	Contract Number:  W91CRB-16-D-0018</a:t>
            </a:r>
          </a:p>
          <a:p>
            <a:pPr>
              <a:defRPr/>
            </a:pPr>
            <a:r>
              <a:rPr lang="en-US" sz="1600" dirty="0" smtClean="0">
                <a:solidFill>
                  <a:prstClr val="black"/>
                </a:solidFill>
                <a:latin typeface=" Arial"/>
              </a:rPr>
              <a:t>	Incumbent Contractor: Optics 1, Inc.</a:t>
            </a:r>
          </a:p>
          <a:p>
            <a:pPr>
              <a:defRPr/>
            </a:pPr>
            <a:r>
              <a:rPr lang="en-US" sz="1600" dirty="0">
                <a:solidFill>
                  <a:prstClr val="black"/>
                </a:solidFill>
                <a:latin typeface=" Arial"/>
              </a:rPr>
              <a:t>	</a:t>
            </a:r>
            <a:r>
              <a:rPr lang="en-US" sz="1600" dirty="0" smtClean="0">
                <a:solidFill>
                  <a:prstClr val="black"/>
                </a:solidFill>
                <a:latin typeface=" Arial"/>
              </a:rPr>
              <a:t>Solicitation Number:  TBD</a:t>
            </a:r>
          </a:p>
          <a:p>
            <a:pPr>
              <a:defRPr/>
            </a:pPr>
            <a:endParaRPr lang="en-US" sz="1600" dirty="0" smtClean="0">
              <a:solidFill>
                <a:prstClr val="black"/>
              </a:solidFill>
              <a:latin typeface=" Arial"/>
            </a:endParaRPr>
          </a:p>
          <a:p>
            <a:pPr>
              <a:defRPr/>
            </a:pPr>
            <a:r>
              <a:rPr lang="en-US" sz="1600" u="sng" dirty="0">
                <a:solidFill>
                  <a:prstClr val="black"/>
                </a:solidFill>
                <a:latin typeface=" Arial"/>
              </a:rPr>
              <a:t>Contract </a:t>
            </a:r>
            <a:r>
              <a:rPr lang="en-US" sz="1600" u="sng" dirty="0" smtClean="0">
                <a:solidFill>
                  <a:prstClr val="black"/>
                </a:solidFill>
                <a:latin typeface=" Arial"/>
              </a:rPr>
              <a:t>Type</a:t>
            </a:r>
            <a:r>
              <a:rPr lang="en-US" sz="1600" dirty="0" smtClean="0">
                <a:solidFill>
                  <a:prstClr val="black"/>
                </a:solidFill>
                <a:latin typeface=" Arial"/>
              </a:rPr>
              <a:t>:  TBD</a:t>
            </a:r>
          </a:p>
          <a:p>
            <a:pPr>
              <a:defRPr/>
            </a:pPr>
            <a:r>
              <a:rPr lang="en-US" sz="1600" u="sng" dirty="0" smtClean="0">
                <a:solidFill>
                  <a:prstClr val="black"/>
                </a:solidFill>
                <a:latin typeface=" Arial"/>
              </a:rPr>
              <a:t>ROM</a:t>
            </a:r>
            <a:r>
              <a:rPr lang="en-US" sz="1600" dirty="0" smtClean="0">
                <a:solidFill>
                  <a:prstClr val="black"/>
                </a:solidFill>
                <a:latin typeface=" Arial"/>
              </a:rPr>
              <a:t>:  TBD</a:t>
            </a:r>
          </a:p>
          <a:p>
            <a:pPr>
              <a:defRPr/>
            </a:pPr>
            <a:r>
              <a:rPr lang="en-US" sz="1600" u="sng" dirty="0">
                <a:solidFill>
                  <a:prstClr val="black"/>
                </a:solidFill>
                <a:latin typeface=" Arial"/>
              </a:rPr>
              <a:t>Period of </a:t>
            </a:r>
            <a:r>
              <a:rPr lang="en-US" sz="1600" u="sng" dirty="0" smtClean="0">
                <a:solidFill>
                  <a:prstClr val="black"/>
                </a:solidFill>
                <a:latin typeface=" Arial"/>
              </a:rPr>
              <a:t>Performance</a:t>
            </a:r>
            <a:r>
              <a:rPr lang="en-US" sz="1600" dirty="0" smtClean="0">
                <a:solidFill>
                  <a:prstClr val="black"/>
                </a:solidFill>
                <a:latin typeface=" Arial"/>
              </a:rPr>
              <a:t>:  TBD</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4QFY21</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t>
            </a:r>
            <a:r>
              <a:rPr lang="en-US" sz="1600" dirty="0">
                <a:solidFill>
                  <a:prstClr val="black"/>
                </a:solidFill>
                <a:latin typeface=" Arial"/>
              </a:rPr>
              <a:t>ACC-APG, </a:t>
            </a:r>
            <a:r>
              <a:rPr lang="en-US" sz="1600" dirty="0" smtClean="0">
                <a:solidFill>
                  <a:prstClr val="black"/>
                </a:solidFill>
                <a:latin typeface=" Arial"/>
              </a:rPr>
              <a:t>Pete Buckless, </a:t>
            </a:r>
            <a:r>
              <a:rPr lang="en-US" sz="1600" dirty="0">
                <a:solidFill>
                  <a:prstClr val="black"/>
                </a:solidFill>
                <a:latin typeface=" Arial"/>
              </a:rPr>
              <a:t>KO, </a:t>
            </a:r>
            <a:r>
              <a:rPr lang="en-US" sz="1600" u="sng" dirty="0" smtClean="0">
                <a:solidFill>
                  <a:prstClr val="black"/>
                </a:solidFill>
                <a:latin typeface=" Arial"/>
              </a:rPr>
              <a:t>peter.p.buckless.civ@mail.mil</a:t>
            </a:r>
          </a:p>
          <a:p>
            <a:pPr>
              <a:defRPr/>
            </a:pPr>
            <a:endParaRPr lang="en-US" sz="1600"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3" name="Slide Number Placeholder 2"/>
          <p:cNvSpPr>
            <a:spLocks noGrp="1"/>
          </p:cNvSpPr>
          <p:nvPr>
            <p:ph type="sldNum" sz="quarter" idx="12"/>
          </p:nvPr>
        </p:nvSpPr>
        <p:spPr/>
        <p:txBody>
          <a:bodyPr/>
          <a:lstStyle/>
          <a:p>
            <a:fld id="{3650DDD2-8224-FD42-89E0-975387AD3410}" type="slidenum">
              <a:rPr lang="en-US" smtClean="0"/>
              <a:t>14</a:t>
            </a:fld>
            <a:endParaRPr lang="en-US" dirty="0"/>
          </a:p>
        </p:txBody>
      </p:sp>
    </p:spTree>
    <p:extLst>
      <p:ext uri="{BB962C8B-B14F-4D97-AF65-F5344CB8AC3E}">
        <p14:creationId xmlns:p14="http://schemas.microsoft.com/office/powerpoint/2010/main" val="4807949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prstClr val="white"/>
                </a:solidFill>
                <a:latin typeface=" Arial"/>
              </a:rPr>
              <a:t>CECOM SAMD </a:t>
            </a:r>
            <a:r>
              <a:rPr lang="en-US" dirty="0">
                <a:solidFill>
                  <a:prstClr val="white"/>
                </a:solidFill>
                <a:latin typeface=" Arial"/>
              </a:rPr>
              <a:t>(Foreign Military Sales - FMS)</a:t>
            </a:r>
          </a:p>
        </p:txBody>
      </p:sp>
      <p:sp>
        <p:nvSpPr>
          <p:cNvPr id="5" name="TextBox 8"/>
          <p:cNvSpPr txBox="1">
            <a:spLocks noChangeArrowheads="1"/>
          </p:cNvSpPr>
          <p:nvPr/>
        </p:nvSpPr>
        <p:spPr bwMode="auto">
          <a:xfrm>
            <a:off x="0" y="1066800"/>
            <a:ext cx="9144000" cy="5047536"/>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Arial" panose="020B0604020202020204" pitchFamily="34" charset="0"/>
                <a:cs typeface="Arial" panose="020B0604020202020204" pitchFamily="34" charset="0"/>
              </a:rPr>
              <a:t>Project Title:</a:t>
            </a:r>
            <a:r>
              <a:rPr lang="en-US" sz="1600" dirty="0" smtClean="0">
                <a:solidFill>
                  <a:prstClr val="black"/>
                </a:solidFill>
                <a:latin typeface="Arial" panose="020B0604020202020204" pitchFamily="34" charset="0"/>
                <a:cs typeface="Arial" panose="020B0604020202020204" pitchFamily="34" charset="0"/>
              </a:rPr>
              <a:t> Medium Thermal Weapon Sight (MTWS)</a:t>
            </a:r>
          </a:p>
          <a:p>
            <a:pPr>
              <a:defRPr/>
            </a:pPr>
            <a:endParaRPr lang="en-US" sz="1600" dirty="0" smtClean="0">
              <a:solidFill>
                <a:prstClr val="black"/>
              </a:solidFill>
              <a:latin typeface="Arial" panose="020B0604020202020204" pitchFamily="34" charset="0"/>
              <a:cs typeface="Arial" panose="020B0604020202020204" pitchFamily="34" charset="0"/>
            </a:endParaRPr>
          </a:p>
          <a:p>
            <a:pPr>
              <a:defRPr/>
            </a:pPr>
            <a:r>
              <a:rPr lang="en-US" sz="1600" u="sng" dirty="0" smtClean="0">
                <a:solidFill>
                  <a:prstClr val="black"/>
                </a:solidFill>
                <a:latin typeface="Arial" panose="020B0604020202020204" pitchFamily="34" charset="0"/>
                <a:cs typeface="Arial" panose="020B0604020202020204" pitchFamily="34" charset="0"/>
              </a:rPr>
              <a:t>Project Summary:</a:t>
            </a:r>
            <a:r>
              <a:rPr lang="en-US" sz="1600" dirty="0" smtClean="0">
                <a:solidFill>
                  <a:prstClr val="black"/>
                </a:solidFill>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The </a:t>
            </a:r>
            <a:r>
              <a:rPr lang="en-US" sz="1600" dirty="0">
                <a:latin typeface="Arial" panose="020B0604020202020204" pitchFamily="34" charset="0"/>
                <a:cs typeface="Arial" panose="020B0604020202020204" pitchFamily="34" charset="0"/>
              </a:rPr>
              <a:t>Contractor shall </a:t>
            </a:r>
            <a:r>
              <a:rPr lang="en-US" sz="1600" dirty="0" smtClean="0">
                <a:latin typeface="Arial" panose="020B0604020202020204" pitchFamily="34" charset="0"/>
                <a:cs typeface="Arial" panose="020B0604020202020204" pitchFamily="34" charset="0"/>
              </a:rPr>
              <a:t>provide production, manufacturing, </a:t>
            </a:r>
            <a:r>
              <a:rPr lang="en-US" sz="1600" dirty="0">
                <a:latin typeface="Arial" panose="020B0604020202020204" pitchFamily="34" charset="0"/>
                <a:cs typeface="Arial" panose="020B0604020202020204" pitchFamily="34" charset="0"/>
              </a:rPr>
              <a:t>test, and delivery of one hundred seventy (</a:t>
            </a:r>
            <a:r>
              <a:rPr lang="en-US" sz="1600" dirty="0" smtClean="0">
                <a:latin typeface="Arial" panose="020B0604020202020204" pitchFamily="34" charset="0"/>
                <a:cs typeface="Arial" panose="020B0604020202020204" pitchFamily="34" charset="0"/>
              </a:rPr>
              <a:t>170ea) </a:t>
            </a:r>
            <a:r>
              <a:rPr lang="en-US" sz="1600" dirty="0">
                <a:latin typeface="Arial" panose="020B0604020202020204" pitchFamily="34" charset="0"/>
                <a:cs typeface="Arial" panose="020B0604020202020204" pitchFamily="34" charset="0"/>
              </a:rPr>
              <a:t>MTWS kits for Stinger MAN-PORTABLE AIR-DEFENSE SYSTEMS </a:t>
            </a:r>
            <a:r>
              <a:rPr lang="en-US" sz="1600" dirty="0" smtClean="0">
                <a:latin typeface="Arial" panose="020B0604020202020204" pitchFamily="34" charset="0"/>
                <a:cs typeface="Arial" panose="020B0604020202020204" pitchFamily="34" charset="0"/>
              </a:rPr>
              <a:t>(MANPADS). The </a:t>
            </a:r>
            <a:r>
              <a:rPr lang="en-US" sz="1600" dirty="0">
                <a:latin typeface="Arial" panose="020B0604020202020204" pitchFamily="34" charset="0"/>
                <a:cs typeface="Arial" panose="020B0604020202020204" pitchFamily="34" charset="0"/>
              </a:rPr>
              <a:t>Contractor shall ensure that the </a:t>
            </a:r>
            <a:r>
              <a:rPr lang="en-US" sz="1600" dirty="0" smtClean="0">
                <a:latin typeface="Arial" panose="020B0604020202020204" pitchFamily="34" charset="0"/>
                <a:cs typeface="Arial" panose="020B0604020202020204" pitchFamily="34" charset="0"/>
              </a:rPr>
              <a:t>MTWS are attached </a:t>
            </a:r>
            <a:r>
              <a:rPr lang="en-US" sz="1600" dirty="0">
                <a:latin typeface="Arial" panose="020B0604020202020204" pitchFamily="34" charset="0"/>
                <a:cs typeface="Arial" panose="020B0604020202020204" pitchFamily="34" charset="0"/>
              </a:rPr>
              <a:t>to the MANPADS in a way </a:t>
            </a:r>
            <a:r>
              <a:rPr lang="en-US" sz="1600" dirty="0" smtClean="0">
                <a:latin typeface="Arial" panose="020B0604020202020204" pitchFamily="34" charset="0"/>
                <a:cs typeface="Arial" panose="020B0604020202020204" pitchFamily="34" charset="0"/>
              </a:rPr>
              <a:t>which </a:t>
            </a:r>
            <a:r>
              <a:rPr lang="en-US" sz="1600" dirty="0">
                <a:latin typeface="Arial" panose="020B0604020202020204" pitchFamily="34" charset="0"/>
                <a:cs typeface="Arial" panose="020B0604020202020204" pitchFamily="34" charset="0"/>
              </a:rPr>
              <a:t>provides complete functionality in day or night operations. The contractor shall provide sufficient spares (2 years) to support this </a:t>
            </a:r>
            <a:r>
              <a:rPr lang="en-US" sz="1600" dirty="0" smtClean="0">
                <a:latin typeface="Arial" panose="020B0604020202020204" pitchFamily="34" charset="0"/>
                <a:cs typeface="Arial" panose="020B0604020202020204" pitchFamily="34" charset="0"/>
              </a:rPr>
              <a:t>effort.</a:t>
            </a:r>
          </a:p>
          <a:p>
            <a:pPr>
              <a:defRPr/>
            </a:pPr>
            <a:endParaRPr lang="en-US" sz="1600" u="sng" dirty="0">
              <a:solidFill>
                <a:prstClr val="black"/>
              </a:solidFill>
              <a:latin typeface="Arial" panose="020B0604020202020204" pitchFamily="34" charset="0"/>
              <a:cs typeface="Arial" panose="020B0604020202020204" pitchFamily="34" charset="0"/>
            </a:endParaRPr>
          </a:p>
          <a:p>
            <a:pPr>
              <a:defRPr/>
            </a:pPr>
            <a:r>
              <a:rPr lang="en-US" sz="1600" u="sng" dirty="0" smtClean="0">
                <a:solidFill>
                  <a:prstClr val="black"/>
                </a:solidFill>
                <a:latin typeface="Arial" panose="020B0604020202020204" pitchFamily="34" charset="0"/>
                <a:cs typeface="Arial" panose="020B0604020202020204" pitchFamily="34" charset="0"/>
              </a:rPr>
              <a:t>Prior/Current </a:t>
            </a:r>
            <a:r>
              <a:rPr lang="en-US" sz="1600" u="sng" dirty="0">
                <a:solidFill>
                  <a:prstClr val="black"/>
                </a:solidFill>
                <a:latin typeface="Arial" panose="020B0604020202020204" pitchFamily="34" charset="0"/>
                <a:cs typeface="Arial" panose="020B0604020202020204" pitchFamily="34" charset="0"/>
              </a:rPr>
              <a:t>Contract </a:t>
            </a:r>
            <a:r>
              <a:rPr lang="en-US" sz="1600" u="sng" dirty="0" smtClean="0">
                <a:solidFill>
                  <a:prstClr val="black"/>
                </a:solidFill>
                <a:latin typeface="Arial" panose="020B0604020202020204" pitchFamily="34" charset="0"/>
                <a:cs typeface="Arial" panose="020B0604020202020204" pitchFamily="34" charset="0"/>
              </a:rPr>
              <a:t>Information:</a:t>
            </a:r>
          </a:p>
          <a:p>
            <a:pPr>
              <a:defRPr/>
            </a:pPr>
            <a:r>
              <a:rPr lang="en-US" sz="1600" dirty="0" smtClean="0">
                <a:solidFill>
                  <a:prstClr val="black"/>
                </a:solidFill>
                <a:latin typeface="Arial" panose="020B0604020202020204" pitchFamily="34" charset="0"/>
                <a:cs typeface="Arial" panose="020B0604020202020204" pitchFamily="34" charset="0"/>
              </a:rPr>
              <a:t>Contract Number:  N/A</a:t>
            </a:r>
          </a:p>
          <a:p>
            <a:pPr>
              <a:defRPr/>
            </a:pPr>
            <a:r>
              <a:rPr lang="en-US" sz="1600" dirty="0" smtClean="0">
                <a:solidFill>
                  <a:prstClr val="black"/>
                </a:solidFill>
                <a:latin typeface="Arial" panose="020B0604020202020204" pitchFamily="34" charset="0"/>
                <a:cs typeface="Arial" panose="020B0604020202020204" pitchFamily="34" charset="0"/>
              </a:rPr>
              <a:t>Incumbent Contractor: N/A</a:t>
            </a:r>
          </a:p>
          <a:p>
            <a:pPr>
              <a:defRPr/>
            </a:pPr>
            <a:r>
              <a:rPr lang="en-US" sz="1600" dirty="0" smtClean="0">
                <a:solidFill>
                  <a:prstClr val="black"/>
                </a:solidFill>
                <a:latin typeface="Arial" panose="020B0604020202020204" pitchFamily="34" charset="0"/>
                <a:cs typeface="Arial" panose="020B0604020202020204" pitchFamily="34" charset="0"/>
              </a:rPr>
              <a:t>Solicitation Number:  TBD</a:t>
            </a:r>
          </a:p>
          <a:p>
            <a:pPr>
              <a:defRPr/>
            </a:pPr>
            <a:endParaRPr lang="en-US" sz="1600" dirty="0" smtClean="0">
              <a:solidFill>
                <a:prstClr val="black"/>
              </a:solidFill>
              <a:latin typeface="Arial" panose="020B0604020202020204" pitchFamily="34" charset="0"/>
              <a:cs typeface="Arial" panose="020B0604020202020204" pitchFamily="34" charset="0"/>
            </a:endParaRPr>
          </a:p>
          <a:p>
            <a:pPr>
              <a:defRPr/>
            </a:pPr>
            <a:r>
              <a:rPr lang="en-US" sz="1600" u="sng" dirty="0">
                <a:solidFill>
                  <a:prstClr val="black"/>
                </a:solidFill>
                <a:latin typeface="Arial" panose="020B0604020202020204" pitchFamily="34" charset="0"/>
                <a:cs typeface="Arial" panose="020B0604020202020204" pitchFamily="34" charset="0"/>
              </a:rPr>
              <a:t>Contract </a:t>
            </a:r>
            <a:r>
              <a:rPr lang="en-US" sz="1600" u="sng" dirty="0" smtClean="0">
                <a:solidFill>
                  <a:prstClr val="black"/>
                </a:solidFill>
                <a:latin typeface="Arial" panose="020B0604020202020204" pitchFamily="34" charset="0"/>
                <a:cs typeface="Arial" panose="020B0604020202020204" pitchFamily="34" charset="0"/>
              </a:rPr>
              <a:t>Type:</a:t>
            </a:r>
            <a:r>
              <a:rPr lang="en-US" sz="1600" dirty="0" smtClean="0">
                <a:solidFill>
                  <a:prstClr val="black"/>
                </a:solidFill>
                <a:latin typeface="Arial" panose="020B0604020202020204" pitchFamily="34" charset="0"/>
                <a:cs typeface="Arial" panose="020B0604020202020204" pitchFamily="34" charset="0"/>
              </a:rPr>
              <a:t> Firm-Fixed Price </a:t>
            </a:r>
          </a:p>
          <a:p>
            <a:pPr>
              <a:defRPr/>
            </a:pPr>
            <a:r>
              <a:rPr lang="en-US" sz="1600" u="sng" dirty="0" smtClean="0">
                <a:solidFill>
                  <a:prstClr val="black"/>
                </a:solidFill>
                <a:latin typeface="Arial" panose="020B0604020202020204" pitchFamily="34" charset="0"/>
                <a:cs typeface="Arial" panose="020B0604020202020204" pitchFamily="34" charset="0"/>
              </a:rPr>
              <a:t>ROM:</a:t>
            </a:r>
            <a:r>
              <a:rPr lang="en-US" sz="1600" dirty="0" smtClean="0">
                <a:solidFill>
                  <a:prstClr val="black"/>
                </a:solidFill>
                <a:latin typeface="Arial" panose="020B0604020202020204" pitchFamily="34" charset="0"/>
                <a:cs typeface="Arial" panose="020B0604020202020204" pitchFamily="34" charset="0"/>
              </a:rPr>
              <a:t> $7.9M</a:t>
            </a:r>
          </a:p>
          <a:p>
            <a:pPr>
              <a:defRPr/>
            </a:pPr>
            <a:r>
              <a:rPr lang="en-US" sz="1600" u="sng" dirty="0">
                <a:solidFill>
                  <a:prstClr val="black"/>
                </a:solidFill>
                <a:latin typeface="Arial" panose="020B0604020202020204" pitchFamily="34" charset="0"/>
                <a:cs typeface="Arial" panose="020B0604020202020204" pitchFamily="34" charset="0"/>
              </a:rPr>
              <a:t>Period of </a:t>
            </a:r>
            <a:r>
              <a:rPr lang="en-US" sz="1600" u="sng" dirty="0" smtClean="0">
                <a:solidFill>
                  <a:prstClr val="black"/>
                </a:solidFill>
                <a:latin typeface="Arial" panose="020B0604020202020204" pitchFamily="34" charset="0"/>
                <a:cs typeface="Arial" panose="020B0604020202020204" pitchFamily="34" charset="0"/>
              </a:rPr>
              <a:t>Performance:</a:t>
            </a:r>
            <a:r>
              <a:rPr lang="en-US" sz="1600" dirty="0" smtClean="0">
                <a:solidFill>
                  <a:prstClr val="black"/>
                </a:solidFill>
                <a:latin typeface="Arial" panose="020B0604020202020204" pitchFamily="34" charset="0"/>
                <a:cs typeface="Arial" panose="020B0604020202020204" pitchFamily="34" charset="0"/>
              </a:rPr>
              <a:t> 41 months</a:t>
            </a:r>
          </a:p>
          <a:p>
            <a:pPr>
              <a:defRPr/>
            </a:pPr>
            <a:r>
              <a:rPr lang="en-US" sz="1600" u="sng" dirty="0" smtClean="0">
                <a:solidFill>
                  <a:prstClr val="black"/>
                </a:solidFill>
                <a:latin typeface="Arial" panose="020B0604020202020204" pitchFamily="34" charset="0"/>
                <a:cs typeface="Arial" panose="020B0604020202020204" pitchFamily="34" charset="0"/>
              </a:rPr>
              <a:t>Estimated Solicitation Released Date:</a:t>
            </a:r>
            <a:r>
              <a:rPr lang="en-US" sz="1600" dirty="0" smtClean="0">
                <a:solidFill>
                  <a:prstClr val="black"/>
                </a:solidFill>
                <a:latin typeface="Arial" panose="020B0604020202020204" pitchFamily="34" charset="0"/>
                <a:cs typeface="Arial" panose="020B0604020202020204" pitchFamily="34" charset="0"/>
              </a:rPr>
              <a:t> TBD</a:t>
            </a:r>
          </a:p>
          <a:p>
            <a:pPr>
              <a:defRPr/>
            </a:pPr>
            <a:r>
              <a:rPr lang="en-US" sz="1600" u="sng" dirty="0" smtClean="0">
                <a:solidFill>
                  <a:prstClr val="black"/>
                </a:solidFill>
                <a:latin typeface="Arial" panose="020B0604020202020204" pitchFamily="34" charset="0"/>
                <a:cs typeface="Arial" panose="020B0604020202020204" pitchFamily="34" charset="0"/>
              </a:rPr>
              <a:t>Contracting Contact:</a:t>
            </a:r>
            <a:r>
              <a:rPr lang="en-US" sz="1600" dirty="0" smtClean="0">
                <a:solidFill>
                  <a:prstClr val="black"/>
                </a:solidFill>
                <a:latin typeface="Arial" panose="020B0604020202020204" pitchFamily="34" charset="0"/>
                <a:cs typeface="Arial" panose="020B0604020202020204" pitchFamily="34" charset="0"/>
              </a:rPr>
              <a:t> ACC-APG</a:t>
            </a:r>
            <a:r>
              <a:rPr lang="en-US" sz="1600" dirty="0">
                <a:solidFill>
                  <a:prstClr val="black"/>
                </a:solidFill>
                <a:latin typeface="Arial" panose="020B0604020202020204" pitchFamily="34" charset="0"/>
                <a:cs typeface="Arial" panose="020B0604020202020204" pitchFamily="34" charset="0"/>
              </a:rPr>
              <a:t>, </a:t>
            </a:r>
            <a:r>
              <a:rPr lang="en-US" sz="1600" dirty="0" smtClean="0">
                <a:solidFill>
                  <a:prstClr val="black"/>
                </a:solidFill>
                <a:latin typeface="Arial" panose="020B0604020202020204" pitchFamily="34" charset="0"/>
                <a:cs typeface="Arial" panose="020B0604020202020204" pitchFamily="34" charset="0"/>
              </a:rPr>
              <a:t>Gloria Atkins, </a:t>
            </a:r>
            <a:r>
              <a:rPr lang="en-US" sz="1600" dirty="0">
                <a:solidFill>
                  <a:prstClr val="black"/>
                </a:solidFill>
                <a:latin typeface="Arial" panose="020B0604020202020204" pitchFamily="34" charset="0"/>
                <a:cs typeface="Arial" panose="020B0604020202020204" pitchFamily="34" charset="0"/>
              </a:rPr>
              <a:t>KO, </a:t>
            </a:r>
            <a:r>
              <a:rPr lang="en-US" sz="1600" dirty="0" smtClean="0">
                <a:solidFill>
                  <a:prstClr val="black"/>
                </a:solidFill>
                <a:latin typeface="Arial" panose="020B0604020202020204" pitchFamily="34" charset="0"/>
                <a:cs typeface="Arial" panose="020B0604020202020204" pitchFamily="34" charset="0"/>
              </a:rPr>
              <a:t>gloria.e.atkins.civ@mail.mil</a:t>
            </a:r>
            <a:endParaRPr lang="en-US" sz="1600" dirty="0">
              <a:solidFill>
                <a:prstClr val="black"/>
              </a:solidFill>
              <a:latin typeface="Arial" panose="020B0604020202020204" pitchFamily="34" charset="0"/>
              <a:cs typeface="Arial" panose="020B0604020202020204" pitchFamily="34" charset="0"/>
            </a:endParaRPr>
          </a:p>
          <a:p>
            <a:pPr>
              <a:defRPr/>
            </a:pPr>
            <a:endParaRPr lang="en-US" dirty="0" smtClean="0">
              <a:solidFill>
                <a:prstClr val="black"/>
              </a:solidFill>
              <a:latin typeface="Arial" panose="020B0604020202020204" pitchFamily="34" charset="0"/>
              <a:cs typeface="Arial" panose="020B0604020202020204" pitchFamily="34" charset="0"/>
            </a:endParaRPr>
          </a:p>
          <a:p>
            <a:pPr>
              <a:defRPr/>
            </a:pPr>
            <a:r>
              <a:rPr lang="en-US" sz="1600" b="1" dirty="0" smtClean="0">
                <a:solidFill>
                  <a:prstClr val="black"/>
                </a:solidFill>
                <a:latin typeface="Arial" panose="020B0604020202020204" pitchFamily="34" charset="0"/>
                <a:cs typeface="Arial" panose="020B0604020202020204" pitchFamily="34" charset="0"/>
              </a:rPr>
              <a:t>*Subject to Cancellation</a:t>
            </a:r>
            <a:endParaRPr lang="en-US" sz="1600" b="1" dirty="0">
              <a:solidFill>
                <a:prstClr val="black"/>
              </a:solidFill>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3650DDD2-8224-FD42-89E0-975387AD3410}" type="slidenum">
              <a:rPr lang="en-US" smtClean="0"/>
              <a:t>15</a:t>
            </a:fld>
            <a:endParaRPr lang="en-US" dirty="0"/>
          </a:p>
        </p:txBody>
      </p:sp>
    </p:spTree>
    <p:extLst>
      <p:ext uri="{BB962C8B-B14F-4D97-AF65-F5344CB8AC3E}">
        <p14:creationId xmlns:p14="http://schemas.microsoft.com/office/powerpoint/2010/main" val="30381160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prstClr val="white"/>
                </a:solidFill>
                <a:latin typeface=" Arial"/>
              </a:rPr>
              <a:t>CECOM SAMD </a:t>
            </a:r>
            <a:r>
              <a:rPr lang="en-US" dirty="0">
                <a:solidFill>
                  <a:prstClr val="white"/>
                </a:solidFill>
                <a:latin typeface=" Arial"/>
              </a:rPr>
              <a:t>(Foreign Military Sales - FMS)</a:t>
            </a:r>
          </a:p>
        </p:txBody>
      </p:sp>
      <p:sp>
        <p:nvSpPr>
          <p:cNvPr id="5" name="TextBox 8"/>
          <p:cNvSpPr txBox="1">
            <a:spLocks noChangeArrowheads="1"/>
          </p:cNvSpPr>
          <p:nvPr/>
        </p:nvSpPr>
        <p:spPr bwMode="auto">
          <a:xfrm>
            <a:off x="0" y="1072243"/>
            <a:ext cx="9144000" cy="5016758"/>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Arial" panose="020B0604020202020204" pitchFamily="34" charset="0"/>
                <a:cs typeface="Arial" panose="020B0604020202020204" pitchFamily="34" charset="0"/>
              </a:rPr>
              <a:t>Project Title:</a:t>
            </a:r>
            <a:r>
              <a:rPr lang="en-US" sz="1600" dirty="0" smtClean="0">
                <a:solidFill>
                  <a:prstClr val="black"/>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Family of High Frequency (HF) </a:t>
            </a:r>
            <a:r>
              <a:rPr lang="en-US" sz="1600" dirty="0" smtClean="0">
                <a:latin typeface="Arial" panose="020B0604020202020204" pitchFamily="34" charset="0"/>
                <a:cs typeface="Arial" panose="020B0604020202020204" pitchFamily="34" charset="0"/>
              </a:rPr>
              <a:t>radios</a:t>
            </a:r>
            <a:endParaRPr lang="en-US" sz="1600" dirty="0">
              <a:latin typeface="Arial" panose="020B0604020202020204" pitchFamily="34" charset="0"/>
              <a:cs typeface="Arial" panose="020B0604020202020204" pitchFamily="34" charset="0"/>
            </a:endParaRPr>
          </a:p>
          <a:p>
            <a:pPr>
              <a:defRPr/>
            </a:pPr>
            <a:endParaRPr lang="en-US" sz="1600" dirty="0" smtClean="0">
              <a:solidFill>
                <a:prstClr val="black"/>
              </a:solidFill>
              <a:latin typeface="Arial" panose="020B0604020202020204" pitchFamily="34" charset="0"/>
              <a:cs typeface="Arial" panose="020B0604020202020204" pitchFamily="34" charset="0"/>
            </a:endParaRPr>
          </a:p>
          <a:p>
            <a:pPr>
              <a:defRPr/>
            </a:pPr>
            <a:r>
              <a:rPr lang="en-US" sz="1600" u="sng" dirty="0" smtClean="0">
                <a:solidFill>
                  <a:prstClr val="black"/>
                </a:solidFill>
                <a:latin typeface="Arial" panose="020B0604020202020204" pitchFamily="34" charset="0"/>
                <a:cs typeface="Arial" panose="020B0604020202020204" pitchFamily="34" charset="0"/>
              </a:rPr>
              <a:t>Project Summary:</a:t>
            </a:r>
            <a:r>
              <a:rPr lang="en-US" sz="1600" dirty="0" smtClean="0">
                <a:solidFill>
                  <a:prstClr val="black"/>
                </a:solidFill>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Family </a:t>
            </a:r>
            <a:r>
              <a:rPr lang="en-US" sz="1600" dirty="0">
                <a:latin typeface="Arial" panose="020B0604020202020204" pitchFamily="34" charset="0"/>
                <a:cs typeface="Arial" panose="020B0604020202020204" pitchFamily="34" charset="0"/>
              </a:rPr>
              <a:t>of High Frequency (HF) radios that can interoperate with varying Barrett capabilities and equipment to include, Digital Selective Calling, Telcall 4 and 6 digit, Automatic Link Establishment (ALE), Clover 2000 internal modem with internet and fax gateway software, secure call programming, Frequency Hopping, vehicle and manpack configurations, Spares kits and installation </a:t>
            </a:r>
            <a:r>
              <a:rPr lang="en-US" sz="1600" dirty="0" smtClean="0">
                <a:latin typeface="Arial" panose="020B0604020202020204" pitchFamily="34" charset="0"/>
                <a:cs typeface="Arial" panose="020B0604020202020204" pitchFamily="34" charset="0"/>
              </a:rPr>
              <a:t>kits.</a:t>
            </a:r>
          </a:p>
          <a:p>
            <a:pPr>
              <a:defRPr/>
            </a:pPr>
            <a:endParaRPr lang="en-US" sz="1600" u="sng" dirty="0">
              <a:solidFill>
                <a:prstClr val="black"/>
              </a:solidFill>
              <a:latin typeface="Arial" panose="020B0604020202020204" pitchFamily="34" charset="0"/>
              <a:cs typeface="Arial" panose="020B0604020202020204" pitchFamily="34" charset="0"/>
            </a:endParaRPr>
          </a:p>
          <a:p>
            <a:pPr>
              <a:defRPr/>
            </a:pPr>
            <a:r>
              <a:rPr lang="en-US" sz="1600" u="sng" dirty="0" smtClean="0">
                <a:solidFill>
                  <a:prstClr val="black"/>
                </a:solidFill>
                <a:latin typeface="Arial" panose="020B0604020202020204" pitchFamily="34" charset="0"/>
                <a:cs typeface="Arial" panose="020B0604020202020204" pitchFamily="34" charset="0"/>
              </a:rPr>
              <a:t>Prior/Current </a:t>
            </a:r>
            <a:r>
              <a:rPr lang="en-US" sz="1600" u="sng" dirty="0">
                <a:solidFill>
                  <a:prstClr val="black"/>
                </a:solidFill>
                <a:latin typeface="Arial" panose="020B0604020202020204" pitchFamily="34" charset="0"/>
                <a:cs typeface="Arial" panose="020B0604020202020204" pitchFamily="34" charset="0"/>
              </a:rPr>
              <a:t>Contract Information:</a:t>
            </a:r>
          </a:p>
          <a:p>
            <a:pPr>
              <a:defRPr/>
            </a:pPr>
            <a:r>
              <a:rPr lang="en-US" sz="1600" dirty="0" smtClean="0">
                <a:solidFill>
                  <a:prstClr val="black"/>
                </a:solidFill>
                <a:latin typeface="Arial" panose="020B0604020202020204" pitchFamily="34" charset="0"/>
                <a:cs typeface="Arial" panose="020B0604020202020204" pitchFamily="34" charset="0"/>
              </a:rPr>
              <a:t>Contract Number: N/A</a:t>
            </a:r>
          </a:p>
          <a:p>
            <a:pPr>
              <a:defRPr/>
            </a:pPr>
            <a:r>
              <a:rPr lang="en-US" sz="1600" dirty="0" smtClean="0">
                <a:solidFill>
                  <a:prstClr val="black"/>
                </a:solidFill>
                <a:latin typeface="Arial" panose="020B0604020202020204" pitchFamily="34" charset="0"/>
                <a:cs typeface="Arial" panose="020B0604020202020204" pitchFamily="34" charset="0"/>
              </a:rPr>
              <a:t>Incumbent Contractor: </a:t>
            </a:r>
            <a:r>
              <a:rPr lang="en-US" sz="1600" dirty="0">
                <a:latin typeface="Arial" panose="020B0604020202020204" pitchFamily="34" charset="0"/>
                <a:cs typeface="Arial" panose="020B0604020202020204" pitchFamily="34" charset="0"/>
              </a:rPr>
              <a:t>Barrett Global Communications, </a:t>
            </a:r>
            <a:r>
              <a:rPr lang="en-US" sz="1600" dirty="0" smtClean="0">
                <a:latin typeface="Arial" panose="020B0604020202020204" pitchFamily="34" charset="0"/>
                <a:cs typeface="Arial" panose="020B0604020202020204" pitchFamily="34" charset="0"/>
              </a:rPr>
              <a:t>Inc.</a:t>
            </a:r>
          </a:p>
          <a:p>
            <a:pPr>
              <a:defRPr/>
            </a:pPr>
            <a:r>
              <a:rPr lang="en-US" sz="1600" dirty="0" smtClean="0">
                <a:solidFill>
                  <a:prstClr val="black"/>
                </a:solidFill>
                <a:latin typeface="Arial" panose="020B0604020202020204" pitchFamily="34" charset="0"/>
                <a:cs typeface="Arial" panose="020B0604020202020204" pitchFamily="34" charset="0"/>
              </a:rPr>
              <a:t>Solicitation Number:  TBD</a:t>
            </a:r>
          </a:p>
          <a:p>
            <a:pPr>
              <a:defRPr/>
            </a:pPr>
            <a:endParaRPr lang="en-US" sz="1600" dirty="0" smtClean="0">
              <a:solidFill>
                <a:prstClr val="black"/>
              </a:solidFill>
              <a:latin typeface="Arial" panose="020B0604020202020204" pitchFamily="34" charset="0"/>
              <a:cs typeface="Arial" panose="020B0604020202020204" pitchFamily="34" charset="0"/>
            </a:endParaRPr>
          </a:p>
          <a:p>
            <a:pPr>
              <a:defRPr/>
            </a:pPr>
            <a:r>
              <a:rPr lang="en-US" sz="1600" u="sng" dirty="0">
                <a:solidFill>
                  <a:prstClr val="black"/>
                </a:solidFill>
                <a:latin typeface="Arial" panose="020B0604020202020204" pitchFamily="34" charset="0"/>
                <a:cs typeface="Arial" panose="020B0604020202020204" pitchFamily="34" charset="0"/>
              </a:rPr>
              <a:t>Contract </a:t>
            </a:r>
            <a:r>
              <a:rPr lang="en-US" sz="1600" u="sng" dirty="0" smtClean="0">
                <a:solidFill>
                  <a:prstClr val="black"/>
                </a:solidFill>
                <a:latin typeface="Arial" panose="020B0604020202020204" pitchFamily="34" charset="0"/>
                <a:cs typeface="Arial" panose="020B0604020202020204" pitchFamily="34" charset="0"/>
              </a:rPr>
              <a:t>Type:</a:t>
            </a:r>
            <a:r>
              <a:rPr lang="en-US" sz="1600" dirty="0" smtClean="0">
                <a:solidFill>
                  <a:prstClr val="black"/>
                </a:solidFill>
                <a:latin typeface="Arial" panose="020B0604020202020204" pitchFamily="34" charset="0"/>
                <a:cs typeface="Arial" panose="020B0604020202020204" pitchFamily="34" charset="0"/>
              </a:rPr>
              <a:t> Firm-Fixed Price</a:t>
            </a:r>
            <a:endParaRPr lang="en-US" sz="1600" dirty="0" smtClean="0">
              <a:latin typeface="Arial" panose="020B0604020202020204" pitchFamily="34" charset="0"/>
              <a:cs typeface="Arial" panose="020B0604020202020204" pitchFamily="34" charset="0"/>
            </a:endParaRPr>
          </a:p>
          <a:p>
            <a:pPr>
              <a:defRPr/>
            </a:pPr>
            <a:r>
              <a:rPr lang="en-US" sz="1600" u="sng" dirty="0" smtClean="0">
                <a:solidFill>
                  <a:prstClr val="black"/>
                </a:solidFill>
                <a:latin typeface="Arial" panose="020B0604020202020204" pitchFamily="34" charset="0"/>
                <a:cs typeface="Arial" panose="020B0604020202020204" pitchFamily="34" charset="0"/>
              </a:rPr>
              <a:t>ROM:</a:t>
            </a:r>
            <a:r>
              <a:rPr lang="en-US" sz="1600" dirty="0" smtClean="0">
                <a:solidFill>
                  <a:prstClr val="black"/>
                </a:solidFill>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669,904.71</a:t>
            </a:r>
          </a:p>
          <a:p>
            <a:pPr>
              <a:defRPr/>
            </a:pPr>
            <a:r>
              <a:rPr lang="en-US" sz="1600" u="sng" dirty="0" smtClean="0">
                <a:solidFill>
                  <a:prstClr val="black"/>
                </a:solidFill>
                <a:latin typeface="Arial" panose="020B0604020202020204" pitchFamily="34" charset="0"/>
                <a:cs typeface="Arial" panose="020B0604020202020204" pitchFamily="34" charset="0"/>
              </a:rPr>
              <a:t>Period </a:t>
            </a:r>
            <a:r>
              <a:rPr lang="en-US" sz="1600" u="sng" dirty="0">
                <a:solidFill>
                  <a:prstClr val="black"/>
                </a:solidFill>
                <a:latin typeface="Arial" panose="020B0604020202020204" pitchFamily="34" charset="0"/>
                <a:cs typeface="Arial" panose="020B0604020202020204" pitchFamily="34" charset="0"/>
              </a:rPr>
              <a:t>of </a:t>
            </a:r>
            <a:r>
              <a:rPr lang="en-US" sz="1600" u="sng" dirty="0" smtClean="0">
                <a:solidFill>
                  <a:prstClr val="black"/>
                </a:solidFill>
                <a:latin typeface="Arial" panose="020B0604020202020204" pitchFamily="34" charset="0"/>
                <a:cs typeface="Arial" panose="020B0604020202020204" pitchFamily="34" charset="0"/>
              </a:rPr>
              <a:t>Performance:</a:t>
            </a:r>
            <a:r>
              <a:rPr lang="en-US" sz="1600" dirty="0" smtClean="0">
                <a:solidFill>
                  <a:prstClr val="black"/>
                </a:solidFill>
                <a:latin typeface="Arial" panose="020B0604020202020204" pitchFamily="34" charset="0"/>
                <a:cs typeface="Arial" panose="020B0604020202020204" pitchFamily="34" charset="0"/>
              </a:rPr>
              <a:t> 12-14 months </a:t>
            </a:r>
          </a:p>
          <a:p>
            <a:pPr>
              <a:defRPr/>
            </a:pPr>
            <a:r>
              <a:rPr lang="en-US" sz="1600" u="sng" dirty="0" smtClean="0">
                <a:solidFill>
                  <a:prstClr val="black"/>
                </a:solidFill>
                <a:latin typeface="Arial" panose="020B0604020202020204" pitchFamily="34" charset="0"/>
                <a:cs typeface="Arial" panose="020B0604020202020204" pitchFamily="34" charset="0"/>
              </a:rPr>
              <a:t>Estimated Solicitation Released Date:</a:t>
            </a:r>
            <a:r>
              <a:rPr lang="en-US" sz="1600" dirty="0" smtClean="0">
                <a:solidFill>
                  <a:prstClr val="black"/>
                </a:solidFill>
                <a:latin typeface="Arial" panose="020B0604020202020204" pitchFamily="34" charset="0"/>
                <a:cs typeface="Arial" panose="020B0604020202020204" pitchFamily="34" charset="0"/>
              </a:rPr>
              <a:t> TBD</a:t>
            </a:r>
          </a:p>
          <a:p>
            <a:r>
              <a:rPr lang="en-US" sz="1600" u="sng" dirty="0" smtClean="0">
                <a:solidFill>
                  <a:prstClr val="black"/>
                </a:solidFill>
                <a:latin typeface="Arial" panose="020B0604020202020204" pitchFamily="34" charset="0"/>
                <a:cs typeface="Arial" panose="020B0604020202020204" pitchFamily="34" charset="0"/>
              </a:rPr>
              <a:t>Contracting Contact:</a:t>
            </a:r>
            <a:r>
              <a:rPr lang="en-US" sz="1600" dirty="0" smtClean="0">
                <a:solidFill>
                  <a:prstClr val="black"/>
                </a:solidFill>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Gloria Atkins KO; </a:t>
            </a:r>
            <a:r>
              <a:rPr lang="en-US" sz="1600" dirty="0">
                <a:solidFill>
                  <a:prstClr val="black"/>
                </a:solidFill>
                <a:latin typeface="Arial" panose="020B0604020202020204" pitchFamily="34" charset="0"/>
                <a:cs typeface="Arial" panose="020B0604020202020204" pitchFamily="34" charset="0"/>
              </a:rPr>
              <a:t>gloria.e.atkins.civ@mail.mil</a:t>
            </a:r>
          </a:p>
          <a:p>
            <a:endParaRPr lang="en-US" sz="1600" dirty="0" smtClean="0">
              <a:solidFill>
                <a:prstClr val="black"/>
              </a:solidFill>
              <a:latin typeface="Arial" panose="020B0604020202020204" pitchFamily="34" charset="0"/>
              <a:cs typeface="Arial" panose="020B0604020202020204" pitchFamily="34" charset="0"/>
            </a:endParaRPr>
          </a:p>
          <a:p>
            <a:pPr>
              <a:defRPr/>
            </a:pPr>
            <a:r>
              <a:rPr lang="en-US" sz="1600" b="1" dirty="0" smtClean="0">
                <a:solidFill>
                  <a:prstClr val="black"/>
                </a:solidFill>
                <a:latin typeface="Arial" panose="020B0604020202020204" pitchFamily="34" charset="0"/>
                <a:cs typeface="Arial" panose="020B0604020202020204" pitchFamily="34" charset="0"/>
              </a:rPr>
              <a:t>*Subject to Cancellation</a:t>
            </a:r>
            <a:endParaRPr lang="en-US" sz="1600" b="1" dirty="0">
              <a:solidFill>
                <a:prstClr val="black"/>
              </a:solidFill>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3650DDD2-8224-FD42-89E0-975387AD3410}" type="slidenum">
              <a:rPr lang="en-US" smtClean="0"/>
              <a:t>16</a:t>
            </a:fld>
            <a:endParaRPr lang="en-US" dirty="0"/>
          </a:p>
        </p:txBody>
      </p:sp>
    </p:spTree>
    <p:extLst>
      <p:ext uri="{BB962C8B-B14F-4D97-AF65-F5344CB8AC3E}">
        <p14:creationId xmlns:p14="http://schemas.microsoft.com/office/powerpoint/2010/main" val="3812885514"/>
      </p:ext>
    </p:extLst>
  </p:cSld>
  <p:clrMapOvr>
    <a:masterClrMapping/>
  </p:clrMapOvr>
  <p:timing>
    <p:tnLst>
      <p:par>
        <p:cTn id="1" dur="indefinite" restart="never" nodeType="tmRoot"/>
      </p:par>
    </p:tnLst>
  </p:timing>
</p:sld>
</file>

<file path=ppt/theme/theme1.xml><?xml version="1.0" encoding="utf-8"?>
<a:theme xmlns:a="http://schemas.openxmlformats.org/drawingml/2006/main" name="AMC-ACC-PPT_Template_2018">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CC_PowerPoint_Template.potx [Read-Only]" id="{0CDB4C39-CA50-45E8-ABB6-506E8C9C8423}" vid="{5DBE1FEB-E404-451E-9D7A-6DF1963B49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1300C156C568488018C807633E5834" ma:contentTypeVersion="0" ma:contentTypeDescription="Create a new document." ma:contentTypeScope="" ma:versionID="5761258407d628d9998e916cb2d303a0">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335864-1D7D-407A-BFEE-47C642B5C7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A49D1651-3BAF-45C8-B0C4-47517641798E}">
  <ds:schemaRefs>
    <ds:schemaRef ds:uri="http://schemas.microsoft.com/sharepoint/v3/contenttype/forms"/>
  </ds:schemaRefs>
</ds:datastoreItem>
</file>

<file path=customXml/itemProps3.xml><?xml version="1.0" encoding="utf-8"?>
<ds:datastoreItem xmlns:ds="http://schemas.openxmlformats.org/officeDocument/2006/customXml" ds:itemID="{544BBF92-0BC7-401A-B2D3-88C877D643A1}">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ACC_PowerPoint_Template - Oct 2019</Template>
  <TotalTime>897</TotalTime>
  <Words>1936</Words>
  <Application>Microsoft Office PowerPoint</Application>
  <PresentationFormat>On-screen Show (4:3)</PresentationFormat>
  <Paragraphs>252</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 Arial</vt:lpstr>
      <vt:lpstr>Arial</vt:lpstr>
      <vt:lpstr>Calibri</vt:lpstr>
      <vt:lpstr>Times New Roman</vt:lpstr>
      <vt:lpstr>Wingdings</vt:lpstr>
      <vt:lpstr>AMC-ACC-PPT_Template_2018</vt:lpstr>
      <vt:lpstr>ACC-APG Competitive Industry Updates</vt:lpstr>
      <vt:lpstr>PowerPoint Presentation</vt:lpstr>
      <vt:lpstr>Army Test and Evaluation Command (ATEC)</vt:lpstr>
      <vt:lpstr>Redstone Test Center (RTC)</vt:lpstr>
      <vt:lpstr>Rocky Mountain Arsenal (RMA)</vt:lpstr>
      <vt:lpstr>Army G8</vt:lpstr>
      <vt:lpstr>ASA FM&amp;C</vt:lpstr>
      <vt:lpstr>PEO Soldier</vt:lpstr>
      <vt:lpstr>PEO Soldier</vt:lpstr>
      <vt:lpstr>PEO Soldier</vt:lpstr>
      <vt:lpstr>PEO Soldier</vt:lpstr>
      <vt:lpstr>PEO Soldier</vt:lpstr>
      <vt:lpstr>PEO Soldier</vt:lpstr>
      <vt:lpstr>PEO Soldier</vt:lpstr>
      <vt:lpstr>CECOM SAMD (Foreign Military Sales - FMS)</vt:lpstr>
      <vt:lpstr>CECOM SAMD (Foreign Military Sales - FMS)</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ACC-APG Competitive Industry Updates</dc:title>
  <dc:creator>Allen, Sara E CIV USA AMC</dc:creator>
  <cp:lastModifiedBy>McCarthy, Kim A CIV USA AMC</cp:lastModifiedBy>
  <cp:revision>70</cp:revision>
  <dcterms:created xsi:type="dcterms:W3CDTF">2020-01-27T14:08:25Z</dcterms:created>
  <dcterms:modified xsi:type="dcterms:W3CDTF">2021-08-02T15:55:18Z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0x0101000C1300C156C568488018C807633E5834</vt:lpwstr>
  </property>
</Properties>
</file>