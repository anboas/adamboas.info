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9144000"/>
  <p:notesSz cx="6881800" cy="9296400"/>
  <p:embeddedFontLst>
    <p:embeddedFont>
      <p:font typeface="Tahoma"/>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88">
          <p15:clr>
            <a:srgbClr val="A4A3A4"/>
          </p15:clr>
        </p15:guide>
        <p15:guide id="2" pos="576">
          <p15:clr>
            <a:srgbClr val="A4A3A4"/>
          </p15:clr>
        </p15:guide>
      </p15:sldGuideLst>
    </p:ext>
    <p:ext uri="{2D200454-40CA-4A62-9FC3-DE9A4176ACB9}">
      <p15:notesGuideLst>
        <p15:guide id="1" orient="horz" pos="2928">
          <p15:clr>
            <a:srgbClr val="A4A3A4"/>
          </p15:clr>
        </p15:guide>
        <p15:guide id="2" pos="2168">
          <p15:clr>
            <a:srgbClr val="A4A3A4"/>
          </p15:clr>
        </p15:guide>
      </p15:notesGuideLst>
    </p:ext>
    <p:ext uri="GoogleSlidesCustomDataVersion2">
      <go:slidesCustomData xmlns:go="http://customooxmlschemas.google.com/" r:id="rId50" roundtripDataSignature="AMtx7mha1t+1SqDuOknzrl1XUaghjRP9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88" orient="horz"/>
        <p:guide pos="576"/>
      </p:guideLst>
    </p:cSldViewPr>
  </p:slideViewPr>
  <p:notesViewPr>
    <p:cSldViewPr snapToGrid="0">
      <p:cViewPr varScale="1">
        <p:scale>
          <a:sx n="100" d="100"/>
          <a:sy n="100" d="100"/>
        </p:scale>
        <p:origin x="0" y="0"/>
      </p:cViewPr>
      <p:guideLst>
        <p:guide pos="2928" orient="horz"/>
        <p:guide pos="216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Tahoma-regular.fntdata"/><Relationship Id="rId47" Type="http://schemas.openxmlformats.org/officeDocument/2006/relationships/slide" Target="slides/slide42.xml"/><Relationship Id="rId49" Type="http://schemas.openxmlformats.org/officeDocument/2006/relationships/font" Target="fonts/Tahom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7564" cy="46004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32688" y="0"/>
            <a:ext cx="2947564" cy="46004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07064" y="4449219"/>
            <a:ext cx="5066125" cy="414358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2030"/>
            <a:ext cx="2947564" cy="46163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32688" y="8822030"/>
            <a:ext cx="2947564" cy="461636"/>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 name="Google Shape;69;p1: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 name="Google Shape;77;p2: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2" type="sldNum"/>
          </p:nvPr>
        </p:nvSpPr>
        <p:spPr>
          <a:xfrm>
            <a:off x="3932688" y="8822030"/>
            <a:ext cx="2947564" cy="46163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a:t>‹#›</a:t>
            </a:fld>
            <a:endParaRPr/>
          </a:p>
        </p:txBody>
      </p:sp>
      <p:sp>
        <p:nvSpPr>
          <p:cNvPr id="84" name="Google Shape;84;p3: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3:notes"/>
          <p:cNvSpPr txBox="1"/>
          <p:nvPr>
            <p:ph idx="1" type="body"/>
          </p:nvPr>
        </p:nvSpPr>
        <p:spPr>
          <a:xfrm>
            <a:off x="902790" y="4427891"/>
            <a:ext cx="4962267" cy="419324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p4: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 name="Google Shape;99;p5: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p6: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7: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 name="Google Shape;122;p8: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9: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10: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11: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p12: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8" name="Google Shape;158;p13: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6" name="Google Shape;166;p14:notes"/>
          <p:cNvSpPr txBox="1"/>
          <p:nvPr>
            <p:ph idx="1" type="body"/>
          </p:nvPr>
        </p:nvSpPr>
        <p:spPr>
          <a:xfrm>
            <a:off x="907064" y="4449219"/>
            <a:ext cx="5066125" cy="414358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 – CTR will be provided access to the F2F share drive.  All files, documents, maps, etc. will be stored on this drive.  No CD deliverable will be provided at the end of the contract.  CTRs MUST utilize the Government provided computers and all files stored as noted.</a:t>
            </a:r>
            <a:endParaRPr/>
          </a:p>
        </p:txBody>
      </p:sp>
      <p:sp>
        <p:nvSpPr>
          <p:cNvPr id="167" name="Google Shape;167;p14:notes"/>
          <p:cNvSpPr txBox="1"/>
          <p:nvPr>
            <p:ph idx="12" type="sldNum"/>
          </p:nvPr>
        </p:nvSpPr>
        <p:spPr>
          <a:xfrm>
            <a:off x="3932688" y="8822030"/>
            <a:ext cx="2947564" cy="46163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4" name="Google Shape;174;p15: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p16: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17: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p18: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2" name="Google Shape;202;p19: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 name="Google Shape;209;p20: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p21: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22: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p23: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4: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p24: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4" name="Google Shape;244;p25: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6: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1" name="Google Shape;251;p26: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7: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 name="Google Shape;258;p27: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p28: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 name="Google Shape;272;p29: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0: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9" name="Google Shape;279;p30: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1: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6" name="Google Shape;286;p31: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32: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0" name="Google Shape;300;p33:notes"/>
          <p:cNvSpPr txBox="1"/>
          <p:nvPr>
            <p:ph idx="1" type="body"/>
          </p:nvPr>
        </p:nvSpPr>
        <p:spPr>
          <a:xfrm>
            <a:off x="907064" y="4449219"/>
            <a:ext cx="5066125" cy="414358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sz="1200"/>
              <a:t>SLD 45 operates utilizing several exemptions defined by FDEP.  Compliance with exemptions is equivalent if not harder than permit compliance. </a:t>
            </a:r>
            <a:endParaRPr/>
          </a:p>
        </p:txBody>
      </p:sp>
      <p:sp>
        <p:nvSpPr>
          <p:cNvPr id="301" name="Google Shape;301;p33:notes"/>
          <p:cNvSpPr txBox="1"/>
          <p:nvPr>
            <p:ph idx="12" type="sldNum"/>
          </p:nvPr>
        </p:nvSpPr>
        <p:spPr>
          <a:xfrm>
            <a:off x="3932688" y="8822030"/>
            <a:ext cx="2947564" cy="46163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4: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p34: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5: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5" name="Google Shape;315;p35:notes"/>
          <p:cNvSpPr txBox="1"/>
          <p:nvPr>
            <p:ph idx="1" type="body"/>
          </p:nvPr>
        </p:nvSpPr>
        <p:spPr>
          <a:xfrm>
            <a:off x="907064" y="4449219"/>
            <a:ext cx="5066125" cy="414358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5:notes"/>
          <p:cNvSpPr txBox="1"/>
          <p:nvPr>
            <p:ph idx="12" type="sldNum"/>
          </p:nvPr>
        </p:nvSpPr>
        <p:spPr>
          <a:xfrm>
            <a:off x="3932688" y="8822030"/>
            <a:ext cx="2947564" cy="46163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6: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3" name="Google Shape;323;p36: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7: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p37: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p38: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9: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p39: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0: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 name="Google Shape;351;p40: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1: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9" name="Google Shape;359;p41: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2:notes"/>
          <p:cNvSpPr txBox="1"/>
          <p:nvPr>
            <p:ph idx="1" type="body"/>
          </p:nvPr>
        </p:nvSpPr>
        <p:spPr>
          <a:xfrm>
            <a:off x="907064" y="4449219"/>
            <a:ext cx="5066125" cy="4143583"/>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7" name="Google Shape;367;p42:notes"/>
          <p:cNvSpPr/>
          <p:nvPr>
            <p:ph idx="2" type="sldImg"/>
          </p:nvPr>
        </p:nvSpPr>
        <p:spPr>
          <a:xfrm>
            <a:off x="1089025" y="690563"/>
            <a:ext cx="4703763" cy="35290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cxnSp>
        <p:nvCxnSpPr>
          <p:cNvPr id="17" name="Google Shape;17;p44"/>
          <p:cNvCxnSpPr/>
          <p:nvPr/>
        </p:nvCxnSpPr>
        <p:spPr>
          <a:xfrm>
            <a:off x="381000" y="6388100"/>
            <a:ext cx="8382000" cy="0"/>
          </a:xfrm>
          <a:prstGeom prst="straightConnector1">
            <a:avLst/>
          </a:prstGeom>
          <a:noFill/>
          <a:ln cap="flat" cmpd="sng" w="57150">
            <a:solidFill>
              <a:srgbClr val="1A1596"/>
            </a:solidFill>
            <a:prstDash val="solid"/>
            <a:round/>
            <a:headEnd len="med" w="med" type="none"/>
            <a:tailEnd len="med" w="med" type="none"/>
          </a:ln>
        </p:spPr>
      </p:cxnSp>
      <p:sp>
        <p:nvSpPr>
          <p:cNvPr id="18" name="Google Shape;18;p44"/>
          <p:cNvSpPr txBox="1"/>
          <p:nvPr>
            <p:ph idx="1" type="body"/>
          </p:nvPr>
        </p:nvSpPr>
        <p:spPr>
          <a:xfrm>
            <a:off x="4598987" y="4465638"/>
            <a:ext cx="4314353" cy="1144587"/>
          </a:xfrm>
          <a:prstGeom prst="rect">
            <a:avLst/>
          </a:prstGeom>
          <a:noFill/>
          <a:ln>
            <a:noFill/>
          </a:ln>
        </p:spPr>
        <p:txBody>
          <a:bodyPr anchorCtr="0" anchor="t" bIns="45700" lIns="91425" spcFirstLastPara="1" rIns="91425" wrap="square" tIns="45700">
            <a:noAutofit/>
          </a:bodyPr>
          <a:lstStyle>
            <a:lvl1pPr indent="-228600" lvl="0" marL="457200" algn="ctr">
              <a:spcBef>
                <a:spcPts val="560"/>
              </a:spcBef>
              <a:spcAft>
                <a:spcPts val="0"/>
              </a:spcAft>
              <a:buClr>
                <a:schemeClr val="dk1"/>
              </a:buClr>
              <a:buSzPts val="2800"/>
              <a:buFont typeface="Arial"/>
              <a:buNone/>
              <a:defRPr b="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44"/>
          <p:cNvSpPr txBox="1"/>
          <p:nvPr>
            <p:ph idx="2" type="body"/>
          </p:nvPr>
        </p:nvSpPr>
        <p:spPr>
          <a:xfrm>
            <a:off x="4678363" y="1836738"/>
            <a:ext cx="4218502" cy="2125662"/>
          </a:xfrm>
          <a:prstGeom prst="rect">
            <a:avLst/>
          </a:prstGeom>
          <a:noFill/>
          <a:ln>
            <a:noFill/>
          </a:ln>
        </p:spPr>
        <p:txBody>
          <a:bodyPr anchorCtr="0" anchor="t" bIns="45700" lIns="91425" spcFirstLastPara="1" rIns="91425" wrap="square" tIns="45700">
            <a:noAutofit/>
          </a:bodyPr>
          <a:lstStyle>
            <a:lvl1pPr indent="-228600" lvl="0" marL="457200" algn="ctr">
              <a:spcBef>
                <a:spcPts val="880"/>
              </a:spcBef>
              <a:spcAft>
                <a:spcPts val="0"/>
              </a:spcAft>
              <a:buClr>
                <a:schemeClr val="dk1"/>
              </a:buClr>
              <a:buSzPts val="4400"/>
              <a:buFont typeface="Arial"/>
              <a:buNone/>
              <a:defRPr sz="4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0" name="Google Shape;20;p44"/>
          <p:cNvCxnSpPr/>
          <p:nvPr/>
        </p:nvCxnSpPr>
        <p:spPr>
          <a:xfrm>
            <a:off x="381000" y="1079500"/>
            <a:ext cx="8382000" cy="0"/>
          </a:xfrm>
          <a:prstGeom prst="straightConnector1">
            <a:avLst/>
          </a:prstGeom>
          <a:noFill/>
          <a:ln cap="flat" cmpd="sng" w="57150">
            <a:solidFill>
              <a:srgbClr val="1A1596"/>
            </a:solidFill>
            <a:prstDash val="solid"/>
            <a:round/>
            <a:headEnd len="med" w="med" type="none"/>
            <a:tailEnd len="med" w="med" type="none"/>
          </a:ln>
        </p:spPr>
      </p:cxnSp>
      <p:pic>
        <p:nvPicPr>
          <p:cNvPr descr="C:\Users\1061378037A\Desktop\Shield_AFIMSC_jpg.jpg" id="21" name="Google Shape;21;p44"/>
          <p:cNvPicPr preferRelativeResize="0"/>
          <p:nvPr/>
        </p:nvPicPr>
        <p:blipFill rotWithShape="1">
          <a:blip r:embed="rId2">
            <a:alphaModFix/>
          </a:blip>
          <a:srcRect b="0" l="0" r="0" t="0"/>
          <a:stretch/>
        </p:blipFill>
        <p:spPr>
          <a:xfrm>
            <a:off x="543852" y="1600200"/>
            <a:ext cx="4111335" cy="4059591"/>
          </a:xfrm>
          <a:prstGeom prst="rect">
            <a:avLst/>
          </a:prstGeom>
          <a:noFill/>
          <a:ln>
            <a:noFill/>
          </a:ln>
        </p:spPr>
      </p:pic>
      <p:sp>
        <p:nvSpPr>
          <p:cNvPr id="22" name="Google Shape;22;p44"/>
          <p:cNvSpPr/>
          <p:nvPr/>
        </p:nvSpPr>
        <p:spPr>
          <a:xfrm>
            <a:off x="0" y="404526"/>
            <a:ext cx="9144000" cy="600164"/>
          </a:xfrm>
          <a:prstGeom prst="rect">
            <a:avLst/>
          </a:prstGeom>
          <a:noFill/>
          <a:ln>
            <a:noFill/>
          </a:ln>
          <a:effectLst>
            <a:outerShdw rotWithShape="0" algn="ctr" dir="2700000" dist="35560">
              <a:srgbClr val="C0C0C0">
                <a:alpha val="50196"/>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300"/>
              <a:buFont typeface="Tahoma"/>
              <a:buNone/>
            </a:pPr>
            <a:r>
              <a:rPr b="1" i="0" lang="en-US" sz="3300" u="none" cap="none" strike="noStrike">
                <a:solidFill>
                  <a:schemeClr val="dk1"/>
                </a:solidFill>
                <a:latin typeface="Tahoma"/>
                <a:ea typeface="Tahoma"/>
                <a:cs typeface="Tahoma"/>
                <a:sym typeface="Tahoma"/>
              </a:rPr>
              <a:t>Air Force Civil Engineer Center</a:t>
            </a:r>
            <a:endParaRPr/>
          </a:p>
        </p:txBody>
      </p:sp>
      <p:sp>
        <p:nvSpPr>
          <p:cNvPr id="23" name="Google Shape;23;p44"/>
          <p:cNvSpPr txBox="1"/>
          <p:nvPr/>
        </p:nvSpPr>
        <p:spPr>
          <a:xfrm>
            <a:off x="381000" y="6477490"/>
            <a:ext cx="838200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Tahoma"/>
              <a:buNone/>
            </a:pPr>
            <a:r>
              <a:rPr b="1" i="1" lang="en-US" sz="1600" u="none" cap="none" strike="noStrike">
                <a:solidFill>
                  <a:schemeClr val="dk1"/>
                </a:solidFill>
                <a:latin typeface="Tahoma"/>
                <a:ea typeface="Tahoma"/>
                <a:cs typeface="Tahoma"/>
                <a:sym typeface="Tahoma"/>
              </a:rPr>
              <a:t>Battle Ready…Built Right!</a:t>
            </a:r>
            <a:endParaRPr b="1" i="1" sz="1600" u="none" cap="none" strike="noStrike">
              <a:solidFill>
                <a:schemeClr val="dk1"/>
              </a:solidFill>
              <a:latin typeface="Tahoma"/>
              <a:ea typeface="Tahoma"/>
              <a:cs typeface="Tahoma"/>
              <a:sym typeface="Tahoma"/>
            </a:endParaRPr>
          </a:p>
        </p:txBody>
      </p:sp>
      <p:pic>
        <p:nvPicPr>
          <p:cNvPr id="24" name="Google Shape;24;p44"/>
          <p:cNvPicPr preferRelativeResize="0"/>
          <p:nvPr/>
        </p:nvPicPr>
        <p:blipFill rotWithShape="1">
          <a:blip r:embed="rId3">
            <a:alphaModFix/>
          </a:blip>
          <a:srcRect b="0" l="0" r="0" t="0"/>
          <a:stretch/>
        </p:blipFill>
        <p:spPr>
          <a:xfrm>
            <a:off x="543852" y="1600200"/>
            <a:ext cx="4111335" cy="4114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5"/>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7" name="Google Shape;27;p45"/>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5"/>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 Section Divider2" showMasterSp="0">
  <p:cSld name="Custom -- Section Divider2">
    <p:spTree>
      <p:nvGrpSpPr>
        <p:cNvPr id="29" name="Shape 29"/>
        <p:cNvGrpSpPr/>
        <p:nvPr/>
      </p:nvGrpSpPr>
      <p:grpSpPr>
        <a:xfrm>
          <a:off x="0" y="0"/>
          <a:ext cx="0" cy="0"/>
          <a:chOff x="0" y="0"/>
          <a:chExt cx="0" cy="0"/>
        </a:xfrm>
      </p:grpSpPr>
      <p:sp>
        <p:nvSpPr>
          <p:cNvPr id="30" name="Google Shape;30;p46"/>
          <p:cNvSpPr txBox="1"/>
          <p:nvPr>
            <p:ph idx="1" type="body"/>
          </p:nvPr>
        </p:nvSpPr>
        <p:spPr>
          <a:xfrm>
            <a:off x="1000125" y="4051301"/>
            <a:ext cx="7880350" cy="454024"/>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7F7F7F"/>
              </a:buClr>
              <a:buSzPts val="2000"/>
              <a:buFont typeface="Arial"/>
              <a:buNone/>
              <a:defRPr sz="2000">
                <a:solidFill>
                  <a:srgbClr val="7F7F7F"/>
                </a:solidFill>
              </a:defRPr>
            </a:lvl1pPr>
            <a:lvl2pPr indent="-228600" lvl="1" marL="914400" algn="l">
              <a:spcBef>
                <a:spcPts val="360"/>
              </a:spcBef>
              <a:spcAft>
                <a:spcPts val="0"/>
              </a:spcAft>
              <a:buClr>
                <a:srgbClr val="888888"/>
              </a:buClr>
              <a:buSzPts val="1800"/>
              <a:buFont typeface="Arial"/>
              <a:buNone/>
              <a:defRPr sz="1800">
                <a:solidFill>
                  <a:srgbClr val="888888"/>
                </a:solidFill>
              </a:defRPr>
            </a:lvl2pPr>
            <a:lvl3pPr indent="-228600" lvl="2" marL="1371600" algn="l">
              <a:spcBef>
                <a:spcPts val="320"/>
              </a:spcBef>
              <a:spcAft>
                <a:spcPts val="0"/>
              </a:spcAft>
              <a:buClr>
                <a:srgbClr val="888888"/>
              </a:buClr>
              <a:buSzPts val="1600"/>
              <a:buFont typeface="Arial"/>
              <a:buNone/>
              <a:defRPr sz="1600">
                <a:solidFill>
                  <a:srgbClr val="888888"/>
                </a:solidFill>
              </a:defRPr>
            </a:lvl3pPr>
            <a:lvl4pPr indent="-228600" lvl="3" marL="1828800" algn="l">
              <a:spcBef>
                <a:spcPts val="280"/>
              </a:spcBef>
              <a:spcAft>
                <a:spcPts val="0"/>
              </a:spcAft>
              <a:buClr>
                <a:srgbClr val="888888"/>
              </a:buClr>
              <a:buSzPts val="1400"/>
              <a:buFont typeface="Arial"/>
              <a:buNone/>
              <a:defRPr sz="1400">
                <a:solidFill>
                  <a:srgbClr val="888888"/>
                </a:solidFill>
              </a:defRPr>
            </a:lvl4pPr>
            <a:lvl5pPr indent="-228600" lvl="4" marL="2286000" algn="l">
              <a:spcBef>
                <a:spcPts val="280"/>
              </a:spcBef>
              <a:spcAft>
                <a:spcPts val="0"/>
              </a:spcAft>
              <a:buClr>
                <a:srgbClr val="888888"/>
              </a:buClr>
              <a:buSzPts val="1400"/>
              <a:buFont typeface="Arial"/>
              <a:buNone/>
              <a:defRPr sz="1400">
                <a:solidFill>
                  <a:srgbClr val="888888"/>
                </a:solidFill>
              </a:defRPr>
            </a:lvl5pPr>
            <a:lvl6pPr indent="-228600" lvl="5" marL="2743200" algn="l">
              <a:spcBef>
                <a:spcPts val="280"/>
              </a:spcBef>
              <a:spcAft>
                <a:spcPts val="0"/>
              </a:spcAft>
              <a:buClr>
                <a:srgbClr val="888888"/>
              </a:buClr>
              <a:buSzPts val="1400"/>
              <a:buFont typeface="Arial"/>
              <a:buNone/>
              <a:defRPr sz="1400">
                <a:solidFill>
                  <a:srgbClr val="888888"/>
                </a:solidFill>
              </a:defRPr>
            </a:lvl6pPr>
            <a:lvl7pPr indent="-228600" lvl="6" marL="3200400" algn="l">
              <a:spcBef>
                <a:spcPts val="280"/>
              </a:spcBef>
              <a:spcAft>
                <a:spcPts val="0"/>
              </a:spcAft>
              <a:buClr>
                <a:srgbClr val="888888"/>
              </a:buClr>
              <a:buSzPts val="1400"/>
              <a:buFont typeface="Arial"/>
              <a:buNone/>
              <a:defRPr sz="1400">
                <a:solidFill>
                  <a:srgbClr val="888888"/>
                </a:solidFill>
              </a:defRPr>
            </a:lvl7pPr>
            <a:lvl8pPr indent="-228600" lvl="7" marL="3657600" algn="l">
              <a:spcBef>
                <a:spcPts val="280"/>
              </a:spcBef>
              <a:spcAft>
                <a:spcPts val="0"/>
              </a:spcAft>
              <a:buClr>
                <a:srgbClr val="888888"/>
              </a:buClr>
              <a:buSzPts val="1400"/>
              <a:buFont typeface="Arial"/>
              <a:buNone/>
              <a:defRPr sz="1400">
                <a:solidFill>
                  <a:srgbClr val="888888"/>
                </a:solidFill>
              </a:defRPr>
            </a:lvl8pPr>
            <a:lvl9pPr indent="-228600" lvl="8" marL="4114800" algn="l">
              <a:spcBef>
                <a:spcPts val="280"/>
              </a:spcBef>
              <a:spcAft>
                <a:spcPts val="0"/>
              </a:spcAft>
              <a:buClr>
                <a:srgbClr val="888888"/>
              </a:buClr>
              <a:buSzPts val="1400"/>
              <a:buFont typeface="Arial"/>
              <a:buNone/>
              <a:defRPr sz="1400">
                <a:solidFill>
                  <a:srgbClr val="888888"/>
                </a:solidFill>
              </a:defRPr>
            </a:lvl9pPr>
          </a:lstStyle>
          <a:p/>
        </p:txBody>
      </p:sp>
      <p:sp>
        <p:nvSpPr>
          <p:cNvPr id="31" name="Google Shape;31;p46"/>
          <p:cNvSpPr txBox="1"/>
          <p:nvPr>
            <p:ph type="title"/>
          </p:nvPr>
        </p:nvSpPr>
        <p:spPr>
          <a:xfrm>
            <a:off x="1651" y="2805113"/>
            <a:ext cx="8878824" cy="1143000"/>
          </a:xfrm>
          <a:prstGeom prst="rect">
            <a:avLst/>
          </a:prstGeom>
          <a:solidFill>
            <a:schemeClr val="accent6"/>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3600" cap="none">
                <a:solidFill>
                  <a:schemeClr val="lt1"/>
                </a:solidFill>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2" name="Google Shape;32;p46"/>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iefing END" showMasterSp="0" type="blank">
  <p:cSld name="BLANK">
    <p:spTree>
      <p:nvGrpSpPr>
        <p:cNvPr id="33" name="Shape 33"/>
        <p:cNvGrpSpPr/>
        <p:nvPr/>
      </p:nvGrpSpPr>
      <p:grpSpPr>
        <a:xfrm>
          <a:off x="0" y="0"/>
          <a:ext cx="0" cy="0"/>
          <a:chOff x="0" y="0"/>
          <a:chExt cx="0" cy="0"/>
        </a:xfrm>
      </p:grpSpPr>
      <p:pic>
        <p:nvPicPr>
          <p:cNvPr descr="C:\Users\1061378037A\Desktop\Shield_AFIMSC_jpg.jpg" id="34" name="Google Shape;34;p47"/>
          <p:cNvPicPr preferRelativeResize="0"/>
          <p:nvPr/>
        </p:nvPicPr>
        <p:blipFill rotWithShape="1">
          <a:blip r:embed="rId2">
            <a:alphaModFix/>
          </a:blip>
          <a:srcRect b="0" l="0" r="0" t="0"/>
          <a:stretch/>
        </p:blipFill>
        <p:spPr>
          <a:xfrm>
            <a:off x="2546363" y="1480931"/>
            <a:ext cx="4111335" cy="4059591"/>
          </a:xfrm>
          <a:prstGeom prst="rect">
            <a:avLst/>
          </a:prstGeom>
          <a:noFill/>
          <a:ln>
            <a:noFill/>
          </a:ln>
        </p:spPr>
      </p:pic>
      <p:pic>
        <p:nvPicPr>
          <p:cNvPr id="35" name="Google Shape;35;p47"/>
          <p:cNvPicPr preferRelativeResize="0"/>
          <p:nvPr/>
        </p:nvPicPr>
        <p:blipFill rotWithShape="1">
          <a:blip r:embed="rId3">
            <a:alphaModFix/>
          </a:blip>
          <a:srcRect b="0" l="0" r="0" t="0"/>
          <a:stretch/>
        </p:blipFill>
        <p:spPr>
          <a:xfrm>
            <a:off x="2530370" y="1485618"/>
            <a:ext cx="4229808" cy="419538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48"/>
          <p:cNvSpPr txBox="1"/>
          <p:nvPr>
            <p:ph type="title"/>
          </p:nvPr>
        </p:nvSpPr>
        <p:spPr>
          <a:xfrm>
            <a:off x="938676" y="76200"/>
            <a:ext cx="7209443"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8" name="Google Shape;38;p48"/>
          <p:cNvSpPr txBox="1"/>
          <p:nvPr>
            <p:ph idx="1" type="body"/>
          </p:nvPr>
        </p:nvSpPr>
        <p:spPr>
          <a:xfrm>
            <a:off x="381000" y="1216025"/>
            <a:ext cx="4191000" cy="35877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9" name="Google Shape;39;p48"/>
          <p:cNvSpPr txBox="1"/>
          <p:nvPr>
            <p:ph idx="2" type="body"/>
          </p:nvPr>
        </p:nvSpPr>
        <p:spPr>
          <a:xfrm>
            <a:off x="4724400" y="1216025"/>
            <a:ext cx="4191000" cy="35877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0" name="Google Shape;40;p48"/>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9"/>
          <p:cNvSpPr txBox="1"/>
          <p:nvPr>
            <p:ph type="title"/>
          </p:nvPr>
        </p:nvSpPr>
        <p:spPr>
          <a:xfrm>
            <a:off x="1143000" y="274638"/>
            <a:ext cx="7074568" cy="82023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3" name="Google Shape;43;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4" name="Google Shape;44;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5" name="Google Shape;45;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6" name="Google Shape;46;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7" name="Google Shape;47;p49"/>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50"/>
          <p:cNvSpPr txBox="1"/>
          <p:nvPr>
            <p:ph type="title"/>
          </p:nvPr>
        </p:nvSpPr>
        <p:spPr>
          <a:xfrm>
            <a:off x="938676" y="76200"/>
            <a:ext cx="7209443"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0" name="Google Shape;50;p50"/>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51"/>
          <p:cNvSpPr txBox="1"/>
          <p:nvPr>
            <p:ph type="title"/>
          </p:nvPr>
        </p:nvSpPr>
        <p:spPr>
          <a:xfrm>
            <a:off x="457200" y="1091226"/>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3" name="Google Shape;53;p51"/>
          <p:cNvSpPr txBox="1"/>
          <p:nvPr>
            <p:ph idx="1" type="body"/>
          </p:nvPr>
        </p:nvSpPr>
        <p:spPr>
          <a:xfrm>
            <a:off x="3575050" y="1091226"/>
            <a:ext cx="5111750" cy="5562237"/>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4" name="Google Shape;54;p51"/>
          <p:cNvSpPr txBox="1"/>
          <p:nvPr>
            <p:ph idx="2" type="body"/>
          </p:nvPr>
        </p:nvSpPr>
        <p:spPr>
          <a:xfrm>
            <a:off x="457200" y="2253276"/>
            <a:ext cx="3008313" cy="4352061"/>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5" name="Google Shape;55;p51"/>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 name="Shape 56"/>
        <p:cNvGrpSpPr/>
        <p:nvPr/>
      </p:nvGrpSpPr>
      <p:grpSpPr>
        <a:xfrm>
          <a:off x="0" y="0"/>
          <a:ext cx="0" cy="0"/>
          <a:chOff x="0" y="0"/>
          <a:chExt cx="0" cy="0"/>
        </a:xfrm>
      </p:grpSpPr>
      <p:sp>
        <p:nvSpPr>
          <p:cNvPr id="57" name="Google Shape;57;p52"/>
          <p:cNvSpPr txBox="1"/>
          <p:nvPr>
            <p:ph type="title"/>
          </p:nvPr>
        </p:nvSpPr>
        <p:spPr>
          <a:xfrm>
            <a:off x="1792288" y="5317976"/>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8" name="Google Shape;58;p52"/>
          <p:cNvSpPr/>
          <p:nvPr>
            <p:ph idx="2" type="pic"/>
          </p:nvPr>
        </p:nvSpPr>
        <p:spPr>
          <a:xfrm>
            <a:off x="1792288" y="1130151"/>
            <a:ext cx="5486400" cy="4114800"/>
          </a:xfrm>
          <a:prstGeom prst="rect">
            <a:avLst/>
          </a:prstGeom>
          <a:noFill/>
          <a:ln>
            <a:noFill/>
          </a:ln>
        </p:spPr>
      </p:sp>
      <p:sp>
        <p:nvSpPr>
          <p:cNvPr id="59" name="Google Shape;59;p52"/>
          <p:cNvSpPr txBox="1"/>
          <p:nvPr>
            <p:ph idx="1" type="body"/>
          </p:nvPr>
        </p:nvSpPr>
        <p:spPr>
          <a:xfrm>
            <a:off x="1792288" y="5884714"/>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0" name="Google Shape;60;p52"/>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61" name="Shape 61"/>
        <p:cNvGrpSpPr/>
        <p:nvPr/>
      </p:nvGrpSpPr>
      <p:grpSpPr>
        <a:xfrm>
          <a:off x="0" y="0"/>
          <a:ext cx="0" cy="0"/>
          <a:chOff x="0" y="0"/>
          <a:chExt cx="0" cy="0"/>
        </a:xfrm>
      </p:grpSpPr>
      <p:sp>
        <p:nvSpPr>
          <p:cNvPr id="62" name="Google Shape;62;p53"/>
          <p:cNvSpPr txBox="1"/>
          <p:nvPr>
            <p:ph idx="1" type="body"/>
          </p:nvPr>
        </p:nvSpPr>
        <p:spPr>
          <a:xfrm>
            <a:off x="393032" y="1231232"/>
            <a:ext cx="8534400" cy="472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 name="Google Shape;63;p53"/>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64" name="Shape 64"/>
        <p:cNvGrpSpPr/>
        <p:nvPr/>
      </p:nvGrpSpPr>
      <p:grpSpPr>
        <a:xfrm>
          <a:off x="0" y="0"/>
          <a:ext cx="0" cy="0"/>
          <a:chOff x="0" y="0"/>
          <a:chExt cx="0" cy="0"/>
        </a:xfrm>
      </p:grpSpPr>
      <p:sp>
        <p:nvSpPr>
          <p:cNvPr id="65" name="Google Shape;65;p54"/>
          <p:cNvSpPr txBox="1"/>
          <p:nvPr>
            <p:ph type="title"/>
          </p:nvPr>
        </p:nvSpPr>
        <p:spPr>
          <a:xfrm>
            <a:off x="986588" y="274638"/>
            <a:ext cx="7206917" cy="82023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transition>
    <p:split orient="vert"/>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6" name="Shape 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43"/>
          <p:cNvSpPr txBox="1"/>
          <p:nvPr>
            <p:ph type="title"/>
          </p:nvPr>
        </p:nvSpPr>
        <p:spPr>
          <a:xfrm>
            <a:off x="938676" y="76200"/>
            <a:ext cx="7209443" cy="91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dk2"/>
                </a:solidFill>
                <a:latin typeface="Arial"/>
                <a:ea typeface="Arial"/>
                <a:cs typeface="Arial"/>
                <a:sym typeface="Arial"/>
              </a:defRPr>
            </a:lvl1pPr>
            <a:lvl2pPr lvl="1" marR="0" rtl="0" algn="r">
              <a:spcBef>
                <a:spcPts val="0"/>
              </a:spcBef>
              <a:spcAft>
                <a:spcPts val="0"/>
              </a:spcAft>
              <a:buSzPts val="1400"/>
              <a:buNone/>
              <a:defRPr b="1" i="0" sz="3600" u="none" cap="none" strike="noStrike">
                <a:solidFill>
                  <a:schemeClr val="dk2"/>
                </a:solidFill>
                <a:latin typeface="Arial"/>
                <a:ea typeface="Arial"/>
                <a:cs typeface="Arial"/>
                <a:sym typeface="Arial"/>
              </a:defRPr>
            </a:lvl2pPr>
            <a:lvl3pPr lvl="2" marR="0" rtl="0" algn="r">
              <a:spcBef>
                <a:spcPts val="0"/>
              </a:spcBef>
              <a:spcAft>
                <a:spcPts val="0"/>
              </a:spcAft>
              <a:buSzPts val="1400"/>
              <a:buNone/>
              <a:defRPr b="1" i="0" sz="3600" u="none" cap="none" strike="noStrike">
                <a:solidFill>
                  <a:schemeClr val="dk2"/>
                </a:solidFill>
                <a:latin typeface="Arial"/>
                <a:ea typeface="Arial"/>
                <a:cs typeface="Arial"/>
                <a:sym typeface="Arial"/>
              </a:defRPr>
            </a:lvl3pPr>
            <a:lvl4pPr lvl="3" marR="0" rtl="0" algn="r">
              <a:spcBef>
                <a:spcPts val="0"/>
              </a:spcBef>
              <a:spcAft>
                <a:spcPts val="0"/>
              </a:spcAft>
              <a:buSzPts val="1400"/>
              <a:buNone/>
              <a:defRPr b="1" i="0" sz="3600" u="none" cap="none" strike="noStrike">
                <a:solidFill>
                  <a:schemeClr val="dk2"/>
                </a:solidFill>
                <a:latin typeface="Arial"/>
                <a:ea typeface="Arial"/>
                <a:cs typeface="Arial"/>
                <a:sym typeface="Arial"/>
              </a:defRPr>
            </a:lvl4pPr>
            <a:lvl5pPr lvl="4" marR="0" rtl="0" algn="r">
              <a:spcBef>
                <a:spcPts val="0"/>
              </a:spcBef>
              <a:spcAft>
                <a:spcPts val="0"/>
              </a:spcAft>
              <a:buSzPts val="1400"/>
              <a:buNone/>
              <a:defRPr b="1" i="0" sz="3600" u="none" cap="none" strike="noStrike">
                <a:solidFill>
                  <a:schemeClr val="dk2"/>
                </a:solidFill>
                <a:latin typeface="Arial"/>
                <a:ea typeface="Arial"/>
                <a:cs typeface="Arial"/>
                <a:sym typeface="Arial"/>
              </a:defRPr>
            </a:lvl5pPr>
            <a:lvl6pPr lvl="5" marR="0" rtl="0" algn="r">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r">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r">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r">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12" name="Google Shape;12;p43"/>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1"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1"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3" name="Google Shape;13;p43"/>
          <p:cNvCxnSpPr/>
          <p:nvPr/>
        </p:nvCxnSpPr>
        <p:spPr>
          <a:xfrm>
            <a:off x="381000" y="1080263"/>
            <a:ext cx="8382000" cy="0"/>
          </a:xfrm>
          <a:prstGeom prst="straightConnector1">
            <a:avLst/>
          </a:prstGeom>
          <a:noFill/>
          <a:ln cap="flat" cmpd="sng" w="57150">
            <a:solidFill>
              <a:srgbClr val="1A1596"/>
            </a:solidFill>
            <a:prstDash val="solid"/>
            <a:round/>
            <a:headEnd len="med" w="med" type="none"/>
            <a:tailEnd len="med" w="med" type="none"/>
          </a:ln>
        </p:spPr>
      </p:cxnSp>
      <p:pic>
        <p:nvPicPr>
          <p:cNvPr descr="C:\Users\1061378037A\Desktop\Shield_AFIMSC_jpg.jpg" id="14" name="Google Shape;14;p43"/>
          <p:cNvPicPr preferRelativeResize="0"/>
          <p:nvPr/>
        </p:nvPicPr>
        <p:blipFill rotWithShape="1">
          <a:blip r:embed="rId1">
            <a:alphaModFix/>
          </a:blip>
          <a:srcRect b="0" l="0" r="0" t="0"/>
          <a:stretch/>
        </p:blipFill>
        <p:spPr>
          <a:xfrm>
            <a:off x="31380" y="94627"/>
            <a:ext cx="904176" cy="892797"/>
          </a:xfrm>
          <a:prstGeom prst="rect">
            <a:avLst/>
          </a:prstGeom>
          <a:noFill/>
          <a:ln>
            <a:noFill/>
          </a:ln>
        </p:spPr>
      </p:pic>
      <p:pic>
        <p:nvPicPr>
          <p:cNvPr id="15" name="Google Shape;15;p43"/>
          <p:cNvPicPr preferRelativeResize="0"/>
          <p:nvPr/>
        </p:nvPicPr>
        <p:blipFill rotWithShape="1">
          <a:blip r:embed="rId2">
            <a:alphaModFix/>
          </a:blip>
          <a:srcRect b="0" l="0" r="0" t="0"/>
          <a:stretch/>
        </p:blipFill>
        <p:spPr>
          <a:xfrm>
            <a:off x="8229413" y="94627"/>
            <a:ext cx="914397" cy="9069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mailto:scott.flash@us.af.mil" TargetMode="External"/><Relationship Id="rId4" Type="http://schemas.openxmlformats.org/officeDocument/2006/relationships/hyperlink" Target="mailto:mark.dixon.5@us.af.mi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
          <p:cNvSpPr txBox="1"/>
          <p:nvPr>
            <p:ph idx="1" type="body"/>
          </p:nvPr>
        </p:nvSpPr>
        <p:spPr>
          <a:xfrm>
            <a:off x="4630487" y="4070101"/>
            <a:ext cx="4314300" cy="1144500"/>
          </a:xfrm>
          <a:prstGeom prst="rect">
            <a:avLst/>
          </a:prstGeom>
          <a:noFill/>
          <a:ln>
            <a:noFill/>
          </a:ln>
        </p:spPr>
        <p:txBody>
          <a:bodyPr anchorCtr="0" anchor="t" bIns="45700" lIns="91425" spcFirstLastPara="1" rIns="91425" wrap="square" tIns="45700">
            <a:noAutofit/>
          </a:bodyPr>
          <a:lstStyle/>
          <a:p>
            <a:pPr indent="0" lvl="0" marL="0" rtl="0" algn="ctr">
              <a:spcBef>
                <a:spcPts val="480"/>
              </a:spcBef>
              <a:spcAft>
                <a:spcPts val="0"/>
              </a:spcAft>
              <a:buClr>
                <a:schemeClr val="dk1"/>
              </a:buClr>
              <a:buSzPts val="2400"/>
              <a:buFont typeface="Arial"/>
              <a:buNone/>
            </a:pPr>
            <a:r>
              <a:rPr lang="en-US" sz="2400"/>
              <a:t>06 – 07 MAY 2026</a:t>
            </a:r>
            <a:endParaRPr sz="2400"/>
          </a:p>
          <a:p>
            <a:pPr indent="0" lvl="0" marL="0" rtl="0" algn="ctr">
              <a:spcBef>
                <a:spcPts val="480"/>
              </a:spcBef>
              <a:spcAft>
                <a:spcPts val="0"/>
              </a:spcAft>
              <a:buClr>
                <a:schemeClr val="dk1"/>
              </a:buClr>
              <a:buSzPts val="2400"/>
              <a:buFont typeface="Arial"/>
              <a:buNone/>
            </a:pPr>
            <a:r>
              <a:rPr lang="en-US" sz="2400"/>
              <a:t>Time: 8:00am EST</a:t>
            </a:r>
            <a:endParaRPr sz="2400"/>
          </a:p>
        </p:txBody>
      </p:sp>
      <p:sp>
        <p:nvSpPr>
          <p:cNvPr id="72" name="Google Shape;72;p1"/>
          <p:cNvSpPr txBox="1"/>
          <p:nvPr>
            <p:ph idx="2" type="body"/>
          </p:nvPr>
        </p:nvSpPr>
        <p:spPr>
          <a:xfrm>
            <a:off x="4678363" y="1836738"/>
            <a:ext cx="4218502" cy="2125662"/>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en-US" sz="4000"/>
              <a:t>AFCEC/CZQE F2F Site Visit</a:t>
            </a:r>
            <a:endParaRPr/>
          </a:p>
          <a:p>
            <a:pPr indent="0" lvl="0" marL="0" rtl="0" algn="ctr">
              <a:spcBef>
                <a:spcPts val="880"/>
              </a:spcBef>
              <a:spcAft>
                <a:spcPts val="0"/>
              </a:spcAft>
              <a:buClr>
                <a:schemeClr val="dk1"/>
              </a:buClr>
              <a:buSzPts val="4400"/>
              <a:buFont typeface="Arial"/>
              <a:buNone/>
            </a:pPr>
            <a:r>
              <a:t/>
            </a:r>
            <a:endParaRPr/>
          </a:p>
        </p:txBody>
      </p:sp>
      <p:sp>
        <p:nvSpPr>
          <p:cNvPr id="73" name="Google Shape;73;p1"/>
          <p:cNvSpPr txBox="1"/>
          <p:nvPr>
            <p:ph idx="4294967295" type="sldNum"/>
          </p:nvPr>
        </p:nvSpPr>
        <p:spPr>
          <a:xfrm>
            <a:off x="7010400" y="6519863"/>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74" name="Google Shape;74;p1"/>
          <p:cNvSpPr txBox="1"/>
          <p:nvPr/>
        </p:nvSpPr>
        <p:spPr>
          <a:xfrm>
            <a:off x="4598987" y="5547154"/>
            <a:ext cx="4173224" cy="6401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Tamy Dabu, AFCEC/CZQ</a:t>
            </a:r>
            <a:endParaRPr/>
          </a:p>
          <a:p>
            <a:pPr indent="0" lvl="0" marL="0" marR="0" rtl="0" algn="ctr">
              <a:spcBef>
                <a:spcPts val="36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East Installation Support </a:t>
            </a:r>
            <a:r>
              <a:rPr b="1" i="0" lang="en-US" sz="1800" u="none" cap="none" strike="noStrike">
                <a:solidFill>
                  <a:schemeClr val="dk1"/>
                </a:solidFill>
                <a:latin typeface="Arial"/>
                <a:ea typeface="Arial"/>
                <a:cs typeface="Arial"/>
                <a:sym typeface="Arial"/>
              </a:rPr>
              <a:t>Branch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Purpose of the Site Visit</a:t>
            </a:r>
            <a:endParaRPr/>
          </a:p>
        </p:txBody>
      </p:sp>
      <p:sp>
        <p:nvSpPr>
          <p:cNvPr id="80" name="Google Shape;80;p2"/>
          <p:cNvSpPr txBox="1"/>
          <p:nvPr>
            <p:ph idx="1" type="body"/>
          </p:nvPr>
        </p:nvSpPr>
        <p:spPr>
          <a:xfrm>
            <a:off x="304800" y="2470632"/>
            <a:ext cx="8534400" cy="191673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rPr i="1" lang="en-US" sz="2400"/>
              <a:t>Provide a forum for vendor(s) to view the installations, site conditions, and example locations, as well as develop questions to assist the AF in clarifying scope requirements.</a:t>
            </a:r>
            <a:endParaRPr/>
          </a:p>
          <a:p>
            <a:pPr indent="-165100" lvl="0" marL="342900" rtl="0" algn="ctr">
              <a:spcBef>
                <a:spcPts val="560"/>
              </a:spcBef>
              <a:spcAft>
                <a:spcPts val="0"/>
              </a:spcAft>
              <a:buClr>
                <a:schemeClr val="dk1"/>
              </a:buClr>
              <a:buSzPts val="2800"/>
              <a:buFont typeface="Arial"/>
              <a:buNone/>
            </a:pPr>
            <a:r>
              <a:t/>
            </a:r>
            <a:endParaRPr i="1"/>
          </a:p>
        </p:txBody>
      </p:sp>
      <p:sp>
        <p:nvSpPr>
          <p:cNvPr id="81" name="Google Shape;81;p2"/>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 Overview of Schedule</a:t>
            </a:r>
            <a:endParaRPr/>
          </a:p>
        </p:txBody>
      </p:sp>
      <p:sp>
        <p:nvSpPr>
          <p:cNvPr id="88" name="Google Shape;88;p3"/>
          <p:cNvSpPr txBox="1"/>
          <p:nvPr>
            <p:ph idx="1" type="body"/>
          </p:nvPr>
        </p:nvSpPr>
        <p:spPr>
          <a:xfrm>
            <a:off x="304800" y="1216025"/>
            <a:ext cx="8534400" cy="514458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Acquisition Overview</a:t>
            </a:r>
            <a:endParaRPr/>
          </a:p>
          <a:p>
            <a:pPr indent="-285750" lvl="1" marL="742950" rtl="0" algn="l">
              <a:spcBef>
                <a:spcPts val="480"/>
              </a:spcBef>
              <a:spcAft>
                <a:spcPts val="0"/>
              </a:spcAft>
              <a:buClr>
                <a:schemeClr val="dk1"/>
              </a:buClr>
              <a:buSzPts val="2400"/>
              <a:buFont typeface="Arial"/>
              <a:buChar char="•"/>
            </a:pPr>
            <a:r>
              <a:rPr lang="en-US"/>
              <a:t>Introductions</a:t>
            </a:r>
            <a:endParaRPr/>
          </a:p>
          <a:p>
            <a:pPr indent="-285750" lvl="1" marL="742950" rtl="0" algn="l">
              <a:spcBef>
                <a:spcPts val="480"/>
              </a:spcBef>
              <a:spcAft>
                <a:spcPts val="0"/>
              </a:spcAft>
              <a:buClr>
                <a:schemeClr val="dk1"/>
              </a:buClr>
              <a:buSzPts val="2400"/>
              <a:buFont typeface="Arial"/>
              <a:buChar char="•"/>
            </a:pPr>
            <a:r>
              <a:rPr lang="en-US"/>
              <a:t>Type of Acquisition</a:t>
            </a:r>
            <a:endParaRPr/>
          </a:p>
          <a:p>
            <a:pPr indent="-285750" lvl="1" marL="742950" rtl="0" algn="l">
              <a:spcBef>
                <a:spcPts val="480"/>
              </a:spcBef>
              <a:spcAft>
                <a:spcPts val="0"/>
              </a:spcAft>
              <a:buClr>
                <a:schemeClr val="dk1"/>
              </a:buClr>
              <a:buSzPts val="2400"/>
              <a:buFont typeface="Arial"/>
              <a:buChar char="•"/>
            </a:pPr>
            <a:r>
              <a:rPr lang="en-US"/>
              <a:t>Ground Rules</a:t>
            </a:r>
            <a:endParaRPr/>
          </a:p>
          <a:p>
            <a:pPr indent="-285750" lvl="1" marL="742950" rtl="0" algn="l">
              <a:spcBef>
                <a:spcPts val="480"/>
              </a:spcBef>
              <a:spcAft>
                <a:spcPts val="0"/>
              </a:spcAft>
              <a:buClr>
                <a:schemeClr val="dk1"/>
              </a:buClr>
              <a:buSzPts val="2400"/>
              <a:buFont typeface="Arial"/>
              <a:buChar char="•"/>
            </a:pPr>
            <a:r>
              <a:rPr lang="en-US"/>
              <a:t>Acquisition Timeline</a:t>
            </a:r>
            <a:endParaRPr/>
          </a:p>
          <a:p>
            <a:pPr indent="-342900" lvl="0" marL="342900" rtl="0" algn="l">
              <a:spcBef>
                <a:spcPts val="480"/>
              </a:spcBef>
              <a:spcAft>
                <a:spcPts val="0"/>
              </a:spcAft>
              <a:buClr>
                <a:schemeClr val="dk1"/>
              </a:buClr>
              <a:buSzPts val="2400"/>
              <a:buFont typeface="Arial"/>
              <a:buChar char="•"/>
            </a:pPr>
            <a:r>
              <a:rPr lang="en-US" sz="2400"/>
              <a:t>Installation Overview</a:t>
            </a:r>
            <a:endParaRPr sz="2400"/>
          </a:p>
          <a:p>
            <a:pPr indent="-285750" lvl="1" marL="742950" rtl="0" algn="l">
              <a:spcBef>
                <a:spcPts val="480"/>
              </a:spcBef>
              <a:spcAft>
                <a:spcPts val="0"/>
              </a:spcAft>
              <a:buClr>
                <a:schemeClr val="dk1"/>
              </a:buClr>
              <a:buSzPts val="2400"/>
              <a:buFont typeface="Arial"/>
              <a:buChar char="•"/>
            </a:pPr>
            <a:r>
              <a:rPr lang="en-US"/>
              <a:t>Introductions</a:t>
            </a:r>
            <a:endParaRPr/>
          </a:p>
          <a:p>
            <a:pPr indent="-285750" lvl="1" marL="742950" rtl="0" algn="l">
              <a:spcBef>
                <a:spcPts val="480"/>
              </a:spcBef>
              <a:spcAft>
                <a:spcPts val="0"/>
              </a:spcAft>
              <a:buClr>
                <a:schemeClr val="dk1"/>
              </a:buClr>
              <a:buSzPts val="2400"/>
              <a:buFont typeface="Arial"/>
              <a:buChar char="•"/>
            </a:pPr>
            <a:r>
              <a:rPr lang="en-US"/>
              <a:t>Installation Facts</a:t>
            </a:r>
            <a:endParaRPr/>
          </a:p>
          <a:p>
            <a:pPr indent="-285750" lvl="1" marL="742950" rtl="0" algn="l">
              <a:spcBef>
                <a:spcPts val="480"/>
              </a:spcBef>
              <a:spcAft>
                <a:spcPts val="0"/>
              </a:spcAft>
              <a:buClr>
                <a:schemeClr val="dk1"/>
              </a:buClr>
              <a:buSzPts val="2400"/>
              <a:buFont typeface="Arial"/>
              <a:buChar char="•"/>
            </a:pPr>
            <a:r>
              <a:rPr lang="en-US"/>
              <a:t>Environmental Program Areas</a:t>
            </a:r>
            <a:endParaRPr/>
          </a:p>
          <a:p>
            <a:pPr indent="-285750" lvl="1" marL="742950" rtl="0" algn="l">
              <a:spcBef>
                <a:spcPts val="480"/>
              </a:spcBef>
              <a:spcAft>
                <a:spcPts val="0"/>
              </a:spcAft>
              <a:buClr>
                <a:schemeClr val="dk1"/>
              </a:buClr>
              <a:buSzPts val="2400"/>
              <a:buFont typeface="Arial"/>
              <a:buChar char="•"/>
            </a:pPr>
            <a:r>
              <a:rPr lang="en-US"/>
              <a:t>Unique Considerations</a:t>
            </a:r>
            <a:endParaRPr/>
          </a:p>
          <a:p>
            <a:pPr indent="-342900" lvl="0" marL="342900" rtl="0" algn="l">
              <a:spcBef>
                <a:spcPts val="480"/>
              </a:spcBef>
              <a:spcAft>
                <a:spcPts val="0"/>
              </a:spcAft>
              <a:buClr>
                <a:schemeClr val="dk1"/>
              </a:buClr>
              <a:buSzPts val="2400"/>
              <a:buFont typeface="Arial"/>
              <a:buChar char="•"/>
            </a:pPr>
            <a:r>
              <a:rPr lang="en-US" sz="2400"/>
              <a:t>Site Tour</a:t>
            </a:r>
            <a:endParaRPr/>
          </a:p>
          <a:p>
            <a:pPr indent="-165100" lvl="0" marL="342900" rtl="0" algn="l">
              <a:spcBef>
                <a:spcPts val="560"/>
              </a:spcBef>
              <a:spcAft>
                <a:spcPts val="0"/>
              </a:spcAft>
              <a:buClr>
                <a:schemeClr val="dk1"/>
              </a:buClr>
              <a:buSzPts val="2800"/>
              <a:buFont typeface="Arial"/>
              <a:buNone/>
            </a:pPr>
            <a:r>
              <a:t/>
            </a:r>
            <a:endParaRPr/>
          </a:p>
        </p:txBody>
      </p:sp>
      <p:sp>
        <p:nvSpPr>
          <p:cNvPr id="89" name="Google Shape;89;p3"/>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idx="1" type="body"/>
          </p:nvPr>
        </p:nvSpPr>
        <p:spPr>
          <a:xfrm>
            <a:off x="631825" y="1921049"/>
            <a:ext cx="7880350" cy="45988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US" sz="2400">
                <a:solidFill>
                  <a:schemeClr val="dk1"/>
                </a:solidFill>
              </a:rPr>
              <a:t>Any changes will be incorporated by formal amendment to the Request for Proposal (RFP)</a:t>
            </a:r>
            <a:endParaRPr/>
          </a:p>
          <a:p>
            <a:pPr indent="-285750" lvl="1" marL="742950" rtl="0" algn="l">
              <a:spcBef>
                <a:spcPts val="480"/>
              </a:spcBef>
              <a:spcAft>
                <a:spcPts val="0"/>
              </a:spcAft>
              <a:buClr>
                <a:schemeClr val="dk1"/>
              </a:buClr>
              <a:buSzPts val="2400"/>
              <a:buFont typeface="Arial"/>
              <a:buChar char="•"/>
            </a:pPr>
            <a:r>
              <a:rPr lang="en-US" sz="2400">
                <a:solidFill>
                  <a:schemeClr val="dk1"/>
                </a:solidFill>
              </a:rPr>
              <a:t>Amendments will be posted to FEDBIZOPPS</a:t>
            </a:r>
            <a:endParaRPr/>
          </a:p>
          <a:p>
            <a:pPr indent="-285750" lvl="1" marL="742950" rtl="0" algn="l">
              <a:spcBef>
                <a:spcPts val="480"/>
              </a:spcBef>
              <a:spcAft>
                <a:spcPts val="0"/>
              </a:spcAft>
              <a:buClr>
                <a:schemeClr val="dk1"/>
              </a:buClr>
              <a:buSzPts val="2400"/>
              <a:buFont typeface="Arial"/>
              <a:buChar char="•"/>
            </a:pPr>
            <a:r>
              <a:rPr lang="en-US" sz="2400">
                <a:solidFill>
                  <a:schemeClr val="dk1"/>
                </a:solidFill>
              </a:rPr>
              <a:t>Unless the formal solicitation is amended, it remains unchanged as a result of this conference</a:t>
            </a:r>
            <a:endParaRPr/>
          </a:p>
          <a:p>
            <a:pPr indent="0" lvl="0" marL="0" rtl="0" algn="l">
              <a:spcBef>
                <a:spcPts val="480"/>
              </a:spcBef>
              <a:spcAft>
                <a:spcPts val="0"/>
              </a:spcAft>
              <a:buClr>
                <a:schemeClr val="dk1"/>
              </a:buClr>
              <a:buSzPts val="2400"/>
              <a:buFont typeface="Arial"/>
              <a:buNone/>
            </a:pPr>
            <a:r>
              <a:rPr lang="en-US" sz="2400">
                <a:solidFill>
                  <a:schemeClr val="dk1"/>
                </a:solidFill>
              </a:rPr>
              <a:t>Pre-proposal conference minutes, presentation, attendees and questions/answers will be made available on FEDBIZOPPS</a:t>
            </a:r>
            <a:endParaRPr/>
          </a:p>
        </p:txBody>
      </p:sp>
      <p:sp>
        <p:nvSpPr>
          <p:cNvPr id="95" name="Google Shape;95;p4"/>
          <p:cNvSpPr txBox="1"/>
          <p:nvPr>
            <p:ph type="title"/>
          </p:nvPr>
        </p:nvSpPr>
        <p:spPr>
          <a:xfrm>
            <a:off x="132588" y="564330"/>
            <a:ext cx="8878824" cy="1143000"/>
          </a:xfrm>
          <a:prstGeom prst="rect">
            <a:avLst/>
          </a:prstGeom>
          <a:solidFill>
            <a:schemeClr val="accent6"/>
          </a:solidFill>
          <a:ln>
            <a:noFill/>
          </a:ln>
        </p:spPr>
        <p:txBody>
          <a:bodyPr anchorCtr="0" anchor="b" bIns="45700" lIns="91425" spcFirstLastPara="1" rIns="91425" wrap="square" tIns="45700">
            <a:noAutofit/>
          </a:bodyPr>
          <a:lstStyle/>
          <a:p>
            <a:pPr indent="0" lvl="0" marL="914400" rtl="0" algn="l">
              <a:spcBef>
                <a:spcPts val="0"/>
              </a:spcBef>
              <a:spcAft>
                <a:spcPts val="0"/>
              </a:spcAft>
              <a:buNone/>
            </a:pPr>
            <a:r>
              <a:rPr lang="en-US"/>
              <a:t>Acquisition Overview</a:t>
            </a:r>
            <a:endParaRPr/>
          </a:p>
        </p:txBody>
      </p:sp>
      <p:sp>
        <p:nvSpPr>
          <p:cNvPr id="96" name="Google Shape;96;p4"/>
          <p:cNvSpPr txBox="1"/>
          <p:nvPr>
            <p:ph idx="4294967295" type="sldNum"/>
          </p:nvPr>
        </p:nvSpPr>
        <p:spPr>
          <a:xfrm>
            <a:off x="8075613" y="6519863"/>
            <a:ext cx="1068387"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Acquisition Team</a:t>
            </a:r>
            <a:br>
              <a:rPr lang="en-US"/>
            </a:br>
            <a:r>
              <a:rPr lang="en-US"/>
              <a:t>Introductions</a:t>
            </a:r>
            <a:endParaRPr/>
          </a:p>
        </p:txBody>
      </p:sp>
      <p:sp>
        <p:nvSpPr>
          <p:cNvPr id="102" name="Google Shape;102;p5"/>
          <p:cNvSpPr txBox="1"/>
          <p:nvPr>
            <p:ph idx="1" type="body"/>
          </p:nvPr>
        </p:nvSpPr>
        <p:spPr>
          <a:xfrm>
            <a:off x="304800" y="1216025"/>
            <a:ext cx="8534400" cy="45316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DAF</a:t>
            </a:r>
            <a:endParaRPr/>
          </a:p>
          <a:p>
            <a:pPr indent="-285750" lvl="1" marL="742950" rtl="0" algn="l">
              <a:spcBef>
                <a:spcPts val="480"/>
              </a:spcBef>
              <a:spcAft>
                <a:spcPts val="0"/>
              </a:spcAft>
              <a:buClr>
                <a:schemeClr val="dk1"/>
              </a:buClr>
              <a:buSzPts val="2400"/>
              <a:buFont typeface="Arial"/>
              <a:buChar char="•"/>
            </a:pPr>
            <a:r>
              <a:rPr lang="en-US"/>
              <a:t>Contracting Officer’s Representative (COR): </a:t>
            </a:r>
            <a:endParaRPr/>
          </a:p>
          <a:p>
            <a:pPr indent="0" lvl="1" marL="457200" rtl="0" algn="l">
              <a:spcBef>
                <a:spcPts val="480"/>
              </a:spcBef>
              <a:spcAft>
                <a:spcPts val="0"/>
              </a:spcAft>
              <a:buClr>
                <a:schemeClr val="dk1"/>
              </a:buClr>
              <a:buSzPts val="2400"/>
              <a:buFont typeface="Arial"/>
              <a:buNone/>
            </a:pPr>
            <a:r>
              <a:rPr lang="en-US"/>
              <a:t>	Scott Flash, </a:t>
            </a:r>
            <a:r>
              <a:rPr lang="en-US" u="sng">
                <a:solidFill>
                  <a:schemeClr val="hlink"/>
                </a:solidFill>
                <a:hlinkClick r:id="rId3"/>
              </a:rPr>
              <a:t>scott.flash@us.af.mil</a:t>
            </a:r>
            <a:endParaRPr/>
          </a:p>
          <a:p>
            <a:pPr indent="-285750" lvl="1" marL="742950" rtl="0" algn="l">
              <a:spcBef>
                <a:spcPts val="480"/>
              </a:spcBef>
              <a:spcAft>
                <a:spcPts val="0"/>
              </a:spcAft>
              <a:buClr>
                <a:schemeClr val="dk1"/>
              </a:buClr>
              <a:buSzPts val="2400"/>
              <a:buFont typeface="Arial"/>
              <a:buChar char="•"/>
            </a:pPr>
            <a:r>
              <a:rPr lang="en-US"/>
              <a:t>Technical Program Manager (TPM):</a:t>
            </a:r>
            <a:endParaRPr/>
          </a:p>
          <a:p>
            <a:pPr indent="0" lvl="1" marL="457200" rtl="0" algn="l">
              <a:spcBef>
                <a:spcPts val="480"/>
              </a:spcBef>
              <a:spcAft>
                <a:spcPts val="0"/>
              </a:spcAft>
              <a:buClr>
                <a:schemeClr val="dk1"/>
              </a:buClr>
              <a:buSzPts val="2400"/>
              <a:buFont typeface="Arial"/>
              <a:buNone/>
            </a:pPr>
            <a:r>
              <a:rPr lang="en-US"/>
              <a:t>	Mark Dixon, </a:t>
            </a:r>
            <a:r>
              <a:rPr lang="en-US" u="sng">
                <a:solidFill>
                  <a:schemeClr val="hlink"/>
                </a:solidFill>
                <a:hlinkClick r:id="rId4"/>
              </a:rPr>
              <a:t>mark.dixon.5@us.af.mil</a:t>
            </a:r>
            <a:endParaRPr/>
          </a:p>
          <a:p>
            <a:pPr indent="-342900" lvl="0" marL="342900" rtl="0" algn="l">
              <a:spcBef>
                <a:spcPts val="480"/>
              </a:spcBef>
              <a:spcAft>
                <a:spcPts val="0"/>
              </a:spcAft>
              <a:buClr>
                <a:schemeClr val="dk1"/>
              </a:buClr>
              <a:buSzPts val="2400"/>
              <a:buFont typeface="Arial"/>
              <a:buChar char="•"/>
            </a:pPr>
            <a:r>
              <a:rPr lang="en-US" sz="2400"/>
              <a:t>GSA</a:t>
            </a:r>
            <a:endParaRPr/>
          </a:p>
          <a:p>
            <a:pPr indent="-285750" lvl="1" marL="742950" rtl="0" algn="l">
              <a:spcBef>
                <a:spcPts val="480"/>
              </a:spcBef>
              <a:spcAft>
                <a:spcPts val="0"/>
              </a:spcAft>
              <a:buClr>
                <a:schemeClr val="dk1"/>
              </a:buClr>
              <a:buSzPts val="2400"/>
              <a:buFont typeface="Arial"/>
              <a:buChar char="•"/>
            </a:pPr>
            <a:r>
              <a:rPr lang="en-US"/>
              <a:t>Contracting Officer (KO): Clyde Gardner</a:t>
            </a:r>
            <a:endParaRPr/>
          </a:p>
          <a:p>
            <a:pPr indent="-285750" lvl="1" marL="742950" rtl="0" algn="l">
              <a:spcBef>
                <a:spcPts val="480"/>
              </a:spcBef>
              <a:spcAft>
                <a:spcPts val="0"/>
              </a:spcAft>
              <a:buClr>
                <a:schemeClr val="dk1"/>
              </a:buClr>
              <a:buSzPts val="2400"/>
              <a:buFont typeface="Arial"/>
              <a:buChar char="•"/>
            </a:pPr>
            <a:r>
              <a:rPr lang="en-US"/>
              <a:t>Project Manager: Patricia (Pat) Hammons</a:t>
            </a:r>
            <a:endParaRPr/>
          </a:p>
          <a:p>
            <a:pPr indent="-285750" lvl="1" marL="742950" rtl="0" algn="l">
              <a:spcBef>
                <a:spcPts val="480"/>
              </a:spcBef>
              <a:spcAft>
                <a:spcPts val="0"/>
              </a:spcAft>
              <a:buClr>
                <a:schemeClr val="dk1"/>
              </a:buClr>
              <a:buSzPts val="2400"/>
              <a:buFont typeface="Arial"/>
              <a:buChar char="•"/>
            </a:pPr>
            <a:r>
              <a:rPr lang="en-US"/>
              <a:t>Contract Specialist:  Jada Morrow</a:t>
            </a:r>
            <a:endParaRPr/>
          </a:p>
        </p:txBody>
      </p:sp>
      <p:sp>
        <p:nvSpPr>
          <p:cNvPr id="103" name="Google Shape;103;p5"/>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104" name="Google Shape;104;p5"/>
          <p:cNvSpPr txBox="1"/>
          <p:nvPr/>
        </p:nvSpPr>
        <p:spPr>
          <a:xfrm>
            <a:off x="0" y="5969285"/>
            <a:ext cx="9143999"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Only the CO has authority to bind government contractually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Acquisition Overview</a:t>
            </a:r>
            <a:endParaRPr/>
          </a:p>
        </p:txBody>
      </p:sp>
      <p:sp>
        <p:nvSpPr>
          <p:cNvPr id="110" name="Google Shape;110;p6"/>
          <p:cNvSpPr txBox="1"/>
          <p:nvPr>
            <p:ph idx="1" type="body"/>
          </p:nvPr>
        </p:nvSpPr>
        <p:spPr>
          <a:xfrm>
            <a:off x="304800" y="1216024"/>
            <a:ext cx="8534400" cy="4380907"/>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Font typeface="Arial"/>
              <a:buNone/>
            </a:pPr>
            <a:r>
              <a:t/>
            </a:r>
            <a:endParaRPr sz="2400"/>
          </a:p>
          <a:p>
            <a:pPr indent="-342900" lvl="0" marL="342900" rtl="0" algn="l">
              <a:spcBef>
                <a:spcPts val="480"/>
              </a:spcBef>
              <a:spcAft>
                <a:spcPts val="0"/>
              </a:spcAft>
              <a:buClr>
                <a:schemeClr val="dk1"/>
              </a:buClr>
              <a:buSzPts val="2400"/>
              <a:buFont typeface="Arial"/>
              <a:buChar char="•"/>
            </a:pPr>
            <a:r>
              <a:rPr lang="en-US" sz="2400"/>
              <a:t>Contract Title: F2F Environmental Services for SLD45 &amp; APAFR</a:t>
            </a:r>
            <a:endParaRPr/>
          </a:p>
          <a:p>
            <a:pPr indent="-342900" lvl="0" marL="342900" rtl="0" algn="l">
              <a:spcBef>
                <a:spcPts val="480"/>
              </a:spcBef>
              <a:spcAft>
                <a:spcPts val="0"/>
              </a:spcAft>
              <a:buClr>
                <a:schemeClr val="dk1"/>
              </a:buClr>
              <a:buSzPts val="2400"/>
              <a:buFont typeface="Arial"/>
              <a:buChar char="•"/>
            </a:pPr>
            <a:r>
              <a:rPr lang="en-US" sz="2400"/>
              <a:t>Contract Vehicle: MAS 8a C</a:t>
            </a:r>
            <a:r>
              <a:rPr lang="en-US" sz="2400"/>
              <a:t>ompetitive, SIN 541620</a:t>
            </a:r>
            <a:r>
              <a:rPr lang="en-US" sz="2400"/>
              <a:t> </a:t>
            </a:r>
            <a:endParaRPr/>
          </a:p>
          <a:p>
            <a:pPr indent="-285750" lvl="1" marL="742950" rtl="0" algn="l">
              <a:spcBef>
                <a:spcPts val="480"/>
              </a:spcBef>
              <a:spcAft>
                <a:spcPts val="0"/>
              </a:spcAft>
              <a:buClr>
                <a:schemeClr val="dk1"/>
              </a:buClr>
              <a:buSzPts val="2400"/>
              <a:buFont typeface="Arial"/>
              <a:buChar char="–"/>
            </a:pPr>
            <a:r>
              <a:rPr lang="en-US"/>
              <a:t>7600A-GT&amp;C-A2511-057-047-086084</a:t>
            </a:r>
            <a:endParaRPr/>
          </a:p>
          <a:p>
            <a:pPr indent="-285750" lvl="1" marL="742950" rtl="0" algn="l">
              <a:spcBef>
                <a:spcPts val="480"/>
              </a:spcBef>
              <a:spcAft>
                <a:spcPts val="0"/>
              </a:spcAft>
              <a:buClr>
                <a:schemeClr val="dk1"/>
              </a:buClr>
              <a:buSzPts val="2400"/>
              <a:buFont typeface="Arial"/>
              <a:buChar char="–"/>
            </a:pPr>
            <a:r>
              <a:rPr lang="en-US"/>
              <a:t>Acquisition ID#: 47QFWA26K0005</a:t>
            </a:r>
            <a:endParaRPr/>
          </a:p>
          <a:p>
            <a:pPr indent="-285750" lvl="1" marL="742950" rtl="0" algn="l">
              <a:spcBef>
                <a:spcPts val="480"/>
              </a:spcBef>
              <a:spcAft>
                <a:spcPts val="0"/>
              </a:spcAft>
              <a:buClr>
                <a:schemeClr val="dk1"/>
              </a:buClr>
              <a:buSzPts val="2400"/>
              <a:buFont typeface="Arial"/>
              <a:buChar char="–"/>
            </a:pPr>
            <a:r>
              <a:rPr lang="en-US"/>
              <a:t>Solicitation#: 47QFWA26Q0005</a:t>
            </a:r>
            <a:endParaRPr/>
          </a:p>
          <a:p>
            <a:pPr indent="-342900" lvl="0" marL="342900" rtl="0" algn="l">
              <a:spcBef>
                <a:spcPts val="480"/>
              </a:spcBef>
              <a:spcAft>
                <a:spcPts val="0"/>
              </a:spcAft>
              <a:buClr>
                <a:schemeClr val="dk1"/>
              </a:buClr>
              <a:buSzPts val="2400"/>
              <a:buFont typeface="Arial"/>
              <a:buChar char="•"/>
            </a:pPr>
            <a:r>
              <a:rPr lang="en-US" sz="2400"/>
              <a:t>Contract Type: Tasks-FFP; Travel &amp; MES-T&amp;M</a:t>
            </a:r>
            <a:endParaRPr/>
          </a:p>
          <a:p>
            <a:pPr indent="-342900" lvl="0" marL="342900" rtl="0" algn="l">
              <a:spcBef>
                <a:spcPts val="480"/>
              </a:spcBef>
              <a:spcAft>
                <a:spcPts val="0"/>
              </a:spcAft>
              <a:buClr>
                <a:schemeClr val="dk1"/>
              </a:buClr>
              <a:buSzPts val="2400"/>
              <a:buFont typeface="Arial"/>
              <a:buChar char="•"/>
            </a:pPr>
            <a:r>
              <a:rPr lang="en-US" sz="2400"/>
              <a:t>Period of Performance: 8-mo Base Year (BY) + 4 12-mo. Option Years (OY)</a:t>
            </a:r>
            <a:endParaRPr/>
          </a:p>
        </p:txBody>
      </p:sp>
      <p:sp>
        <p:nvSpPr>
          <p:cNvPr id="111" name="Google Shape;111;p6"/>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Ground Rules for Site Visit</a:t>
            </a:r>
            <a:endParaRPr/>
          </a:p>
        </p:txBody>
      </p:sp>
      <p:sp>
        <p:nvSpPr>
          <p:cNvPr id="117" name="Google Shape;117;p7"/>
          <p:cNvSpPr txBox="1"/>
          <p:nvPr>
            <p:ph idx="1" type="body"/>
          </p:nvPr>
        </p:nvSpPr>
        <p:spPr>
          <a:xfrm>
            <a:off x="304800" y="1216024"/>
            <a:ext cx="8534400" cy="42000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Attendance at site visit is based on company’s decision to participate </a:t>
            </a:r>
            <a:endParaRPr/>
          </a:p>
          <a:p>
            <a:pPr indent="-342900" lvl="0" marL="342900" rtl="0" algn="l">
              <a:spcBef>
                <a:spcPts val="480"/>
              </a:spcBef>
              <a:spcAft>
                <a:spcPts val="0"/>
              </a:spcAft>
              <a:buClr>
                <a:schemeClr val="dk1"/>
              </a:buClr>
              <a:buSzPts val="2400"/>
              <a:buFont typeface="Arial"/>
              <a:buChar char="•"/>
            </a:pPr>
            <a:r>
              <a:rPr lang="en-US" sz="2400"/>
              <a:t>Government will not provide reimbursement for site visit</a:t>
            </a:r>
            <a:endParaRPr/>
          </a:p>
          <a:p>
            <a:pPr indent="-342900" lvl="0" marL="342900" rtl="0" algn="l">
              <a:spcBef>
                <a:spcPts val="480"/>
              </a:spcBef>
              <a:spcAft>
                <a:spcPts val="0"/>
              </a:spcAft>
              <a:buClr>
                <a:schemeClr val="dk1"/>
              </a:buClr>
              <a:buSzPts val="2400"/>
              <a:buFont typeface="Arial"/>
              <a:buChar char="•"/>
            </a:pPr>
            <a:r>
              <a:rPr lang="en-US" sz="2400"/>
              <a:t>Offeror shall not contact any AFCEC or Base personnel</a:t>
            </a:r>
            <a:endParaRPr/>
          </a:p>
          <a:p>
            <a:pPr indent="-342900" lvl="0" marL="342900" rtl="0" algn="l">
              <a:spcBef>
                <a:spcPts val="480"/>
              </a:spcBef>
              <a:spcAft>
                <a:spcPts val="0"/>
              </a:spcAft>
              <a:buClr>
                <a:schemeClr val="dk1"/>
              </a:buClr>
              <a:buSzPts val="2400"/>
              <a:buFont typeface="Arial"/>
              <a:buChar char="•"/>
            </a:pPr>
            <a:r>
              <a:rPr lang="en-US" sz="2400"/>
              <a:t>Offeror shall not contact regulatory agencies </a:t>
            </a:r>
            <a:endParaRPr/>
          </a:p>
          <a:p>
            <a:pPr indent="-190500" lvl="0" marL="342900" rtl="0" algn="l">
              <a:spcBef>
                <a:spcPts val="480"/>
              </a:spcBef>
              <a:spcAft>
                <a:spcPts val="0"/>
              </a:spcAft>
              <a:buClr>
                <a:schemeClr val="dk1"/>
              </a:buClr>
              <a:buSzPts val="2400"/>
              <a:buFont typeface="Arial"/>
              <a:buNone/>
            </a:pPr>
            <a:r>
              <a:t/>
            </a:r>
            <a:endParaRPr sz="2400"/>
          </a:p>
          <a:p>
            <a:pPr indent="-165100" lvl="0" marL="342900" rtl="0" algn="l">
              <a:spcBef>
                <a:spcPts val="560"/>
              </a:spcBef>
              <a:spcAft>
                <a:spcPts val="0"/>
              </a:spcAft>
              <a:buClr>
                <a:schemeClr val="dk1"/>
              </a:buClr>
              <a:buSzPts val="2800"/>
              <a:buFont typeface="Arial"/>
              <a:buNone/>
            </a:pPr>
            <a:r>
              <a:t/>
            </a:r>
            <a:endParaRPr/>
          </a:p>
        </p:txBody>
      </p:sp>
      <p:sp>
        <p:nvSpPr>
          <p:cNvPr id="118" name="Google Shape;118;p7"/>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119" name="Google Shape;119;p7"/>
          <p:cNvSpPr txBox="1"/>
          <p:nvPr/>
        </p:nvSpPr>
        <p:spPr>
          <a:xfrm>
            <a:off x="0" y="5969285"/>
            <a:ext cx="9143999"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All communication MUST be through the GSA CO/PM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Ground Rules for Site Visit</a:t>
            </a:r>
            <a:endParaRPr/>
          </a:p>
        </p:txBody>
      </p:sp>
      <p:sp>
        <p:nvSpPr>
          <p:cNvPr id="125" name="Google Shape;125;p8"/>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All Technical or Contractual questions resulting from this site visit must be submitted per the Contracting Officer’s instructions in the solicitation.</a:t>
            </a:r>
            <a:endParaRPr/>
          </a:p>
          <a:p>
            <a:pPr indent="-342900" lvl="0" marL="342900" rtl="0" algn="l">
              <a:spcBef>
                <a:spcPts val="480"/>
              </a:spcBef>
              <a:spcAft>
                <a:spcPts val="0"/>
              </a:spcAft>
              <a:buClr>
                <a:schemeClr val="dk1"/>
              </a:buClr>
              <a:buSzPts val="2400"/>
              <a:buFont typeface="Arial"/>
              <a:buChar char="•"/>
            </a:pPr>
            <a:r>
              <a:rPr lang="en-US" sz="2400"/>
              <a:t>No questions will be asked or answered during the site visit.</a:t>
            </a:r>
            <a:endParaRPr/>
          </a:p>
          <a:p>
            <a:pPr indent="-342900" lvl="0" marL="342900" rtl="0" algn="l">
              <a:spcBef>
                <a:spcPts val="480"/>
              </a:spcBef>
              <a:spcAft>
                <a:spcPts val="0"/>
              </a:spcAft>
              <a:buClr>
                <a:schemeClr val="dk1"/>
              </a:buClr>
              <a:buSzPts val="2400"/>
              <a:buFont typeface="Arial"/>
              <a:buChar char="•"/>
            </a:pPr>
            <a:r>
              <a:rPr lang="en-US" sz="2400"/>
              <a:t>If questions are asked/answered orally, the vendor takes a risk in relying on that response rather than receiving the response in writing.</a:t>
            </a:r>
            <a:endParaRPr/>
          </a:p>
          <a:p>
            <a:pPr indent="-342900" lvl="0" marL="342900" rtl="0" algn="l">
              <a:spcBef>
                <a:spcPts val="480"/>
              </a:spcBef>
              <a:spcAft>
                <a:spcPts val="0"/>
              </a:spcAft>
              <a:buClr>
                <a:schemeClr val="dk1"/>
              </a:buClr>
              <a:buSzPts val="2400"/>
              <a:buFont typeface="Arial"/>
              <a:buChar char="•"/>
            </a:pPr>
            <a:r>
              <a:rPr lang="en-US" sz="2400"/>
              <a:t>Written responses to questions shall take precedence over information given verbally during the site visit.</a:t>
            </a:r>
            <a:endParaRPr/>
          </a:p>
        </p:txBody>
      </p:sp>
      <p:sp>
        <p:nvSpPr>
          <p:cNvPr id="126" name="Google Shape;126;p8"/>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Overview of PWS</a:t>
            </a:r>
            <a:br>
              <a:rPr lang="en-US"/>
            </a:br>
            <a:r>
              <a:rPr lang="en-US" sz="2400"/>
              <a:t>General</a:t>
            </a:r>
            <a:endParaRPr/>
          </a:p>
        </p:txBody>
      </p:sp>
      <p:sp>
        <p:nvSpPr>
          <p:cNvPr id="132" name="Google Shape;132;p9"/>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Char char="•"/>
            </a:pPr>
            <a:r>
              <a:rPr lang="en-US" sz="2400"/>
              <a:t>Includes support for five (05) geographically separate installations with four (4) satellite radar locations in Florida (one state)</a:t>
            </a:r>
            <a:endParaRPr/>
          </a:p>
          <a:p>
            <a:pPr indent="-342900" lvl="0" marL="342900" rtl="0" algn="l">
              <a:spcBef>
                <a:spcPts val="480"/>
              </a:spcBef>
              <a:spcAft>
                <a:spcPts val="0"/>
              </a:spcAft>
              <a:buClr>
                <a:schemeClr val="dk1"/>
              </a:buClr>
              <a:buSzPts val="2400"/>
              <a:buFont typeface="Arial"/>
              <a:buChar char="•"/>
            </a:pPr>
            <a:r>
              <a:rPr lang="en-US" sz="2400"/>
              <a:t>Scope encompasses the full range of methods, technologies, and supporting activities necessary to conduct environmental operations and services</a:t>
            </a:r>
            <a:endParaRPr/>
          </a:p>
          <a:p>
            <a:pPr indent="-342900" lvl="0" marL="342900" rtl="0" algn="l">
              <a:spcBef>
                <a:spcPts val="480"/>
              </a:spcBef>
              <a:spcAft>
                <a:spcPts val="0"/>
              </a:spcAft>
              <a:buClr>
                <a:schemeClr val="dk1"/>
              </a:buClr>
              <a:buSzPts val="2400"/>
              <a:buFont typeface="Arial"/>
              <a:buChar char="•"/>
            </a:pPr>
            <a:r>
              <a:rPr lang="en-US" sz="2400"/>
              <a:t>Contractor shall furnish the personnel, services, equipment, tools, materials, vehicles, supervision, and other requirements necessary to perform work unless otherwise noted</a:t>
            </a:r>
            <a:endParaRPr/>
          </a:p>
          <a:p>
            <a:pPr indent="-285750" lvl="1" marL="742950" rtl="0" algn="l">
              <a:spcBef>
                <a:spcPts val="480"/>
              </a:spcBef>
              <a:spcAft>
                <a:spcPts val="0"/>
              </a:spcAft>
              <a:buClr>
                <a:schemeClr val="dk1"/>
              </a:buClr>
              <a:buSzPts val="2400"/>
              <a:buFont typeface="Arial"/>
              <a:buChar char="–"/>
            </a:pPr>
            <a:r>
              <a:rPr lang="en-US"/>
              <a:t>i.e., government furnished material, vehicle, etc.</a:t>
            </a:r>
            <a:endParaRPr/>
          </a:p>
          <a:p>
            <a:pPr indent="-342900" lvl="0" marL="342900" rtl="0" algn="l">
              <a:spcBef>
                <a:spcPts val="480"/>
              </a:spcBef>
              <a:spcAft>
                <a:spcPts val="0"/>
              </a:spcAft>
              <a:buClr>
                <a:schemeClr val="dk1"/>
              </a:buClr>
              <a:buSzPts val="2400"/>
              <a:buFont typeface="Arial"/>
              <a:buChar char="•"/>
            </a:pPr>
            <a:r>
              <a:rPr lang="en-US" sz="2400"/>
              <a:t>PWS requirements apply to each applicable installations, unless otherwise identified</a:t>
            </a:r>
            <a:endParaRPr/>
          </a:p>
          <a:p>
            <a:pPr indent="-165100" lvl="0" marL="342900" rtl="0" algn="l">
              <a:spcBef>
                <a:spcPts val="560"/>
              </a:spcBef>
              <a:spcAft>
                <a:spcPts val="0"/>
              </a:spcAft>
              <a:buClr>
                <a:schemeClr val="dk1"/>
              </a:buClr>
              <a:buSzPts val="2800"/>
              <a:buFont typeface="Arial"/>
              <a:buNone/>
            </a:pPr>
            <a:r>
              <a:t/>
            </a:r>
            <a:endParaRPr/>
          </a:p>
        </p:txBody>
      </p:sp>
      <p:sp>
        <p:nvSpPr>
          <p:cNvPr id="133" name="Google Shape;133;p9"/>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Overview of PWS</a:t>
            </a:r>
            <a:br>
              <a:rPr lang="en-US"/>
            </a:br>
            <a:r>
              <a:rPr lang="en-US" sz="2400"/>
              <a:t>Table 1 Requirements</a:t>
            </a:r>
            <a:endParaRPr/>
          </a:p>
        </p:txBody>
      </p:sp>
      <p:sp>
        <p:nvSpPr>
          <p:cNvPr id="139" name="Google Shape;139;p10"/>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Table 1 summarizes requirements by Basic and Optional requirements</a:t>
            </a:r>
            <a:endParaRPr/>
          </a:p>
          <a:p>
            <a:pPr indent="-285750" lvl="1" marL="742950" rtl="0" algn="l">
              <a:spcBef>
                <a:spcPts val="400"/>
              </a:spcBef>
              <a:spcAft>
                <a:spcPts val="0"/>
              </a:spcAft>
              <a:buClr>
                <a:schemeClr val="dk1"/>
              </a:buClr>
              <a:buSzPts val="2000"/>
              <a:buFont typeface="Arial"/>
              <a:buChar char="•"/>
            </a:pPr>
            <a:r>
              <a:rPr lang="en-US" sz="2000"/>
              <a:t>Basic requirements are included in each year for the installation identified </a:t>
            </a:r>
            <a:endParaRPr/>
          </a:p>
          <a:p>
            <a:pPr indent="-285750" lvl="1" marL="742950" rtl="0" algn="l">
              <a:spcBef>
                <a:spcPts val="400"/>
              </a:spcBef>
              <a:spcAft>
                <a:spcPts val="0"/>
              </a:spcAft>
              <a:buClr>
                <a:schemeClr val="dk1"/>
              </a:buClr>
              <a:buSzPts val="2000"/>
              <a:buFont typeface="Arial"/>
              <a:buChar char="•"/>
            </a:pPr>
            <a:r>
              <a:rPr lang="en-US" sz="2000"/>
              <a:t>Optional requirements may be exercised in the year identified for the base, as determined by bona fide need / funding and as executed via modification </a:t>
            </a:r>
            <a:endParaRPr/>
          </a:p>
          <a:p>
            <a:pPr indent="-285750" lvl="1" marL="742950" rtl="0" algn="l">
              <a:spcBef>
                <a:spcPts val="400"/>
              </a:spcBef>
              <a:spcAft>
                <a:spcPts val="0"/>
              </a:spcAft>
              <a:buClr>
                <a:srgbClr val="FF0000"/>
              </a:buClr>
              <a:buSzPts val="2000"/>
              <a:buFont typeface="Arial"/>
              <a:buChar char="•"/>
            </a:pPr>
            <a:r>
              <a:rPr lang="en-US" sz="2000">
                <a:solidFill>
                  <a:srgbClr val="FF0000"/>
                </a:solidFill>
              </a:rPr>
              <a:t>Table 1 is also presented in Attachment 4 of the PWS organized by base indicating basic or option for each year</a:t>
            </a:r>
            <a:endParaRPr/>
          </a:p>
          <a:p>
            <a:pPr indent="-165100" lvl="0" marL="342900" rtl="0" algn="l">
              <a:spcBef>
                <a:spcPts val="560"/>
              </a:spcBef>
              <a:spcAft>
                <a:spcPts val="0"/>
              </a:spcAft>
              <a:buClr>
                <a:schemeClr val="dk1"/>
              </a:buClr>
              <a:buSzPts val="2800"/>
              <a:buFont typeface="Arial"/>
              <a:buNone/>
            </a:pPr>
            <a:r>
              <a:t/>
            </a:r>
            <a:endParaRPr/>
          </a:p>
        </p:txBody>
      </p:sp>
      <p:sp>
        <p:nvSpPr>
          <p:cNvPr id="140" name="Google Shape;140;p10"/>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PWS References</a:t>
            </a:r>
            <a:endParaRPr/>
          </a:p>
        </p:txBody>
      </p:sp>
      <p:sp>
        <p:nvSpPr>
          <p:cNvPr id="146" name="Google Shape;146;p11"/>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Font typeface="Arial"/>
              <a:buChar char="•"/>
            </a:pPr>
            <a:r>
              <a:rPr lang="en-US"/>
              <a:t>Task Requirements (Chapter 3.0 of the PWS)</a:t>
            </a:r>
            <a:endParaRPr/>
          </a:p>
          <a:p>
            <a:pPr indent="-342900" lvl="0" marL="342900" rtl="0" algn="l">
              <a:spcBef>
                <a:spcPts val="434"/>
              </a:spcBef>
              <a:spcAft>
                <a:spcPts val="0"/>
              </a:spcAft>
              <a:buClr>
                <a:schemeClr val="dk1"/>
              </a:buClr>
              <a:buSzPct val="100000"/>
              <a:buFont typeface="Arial"/>
              <a:buChar char="•"/>
            </a:pPr>
            <a:r>
              <a:rPr lang="en-US"/>
              <a:t>Contract Data Requirements List (CDRLs) Deliverables</a:t>
            </a:r>
            <a:endParaRPr/>
          </a:p>
          <a:p>
            <a:pPr indent="-285750" lvl="1" marL="742950" rtl="0" algn="l">
              <a:spcBef>
                <a:spcPts val="372"/>
              </a:spcBef>
              <a:spcAft>
                <a:spcPts val="0"/>
              </a:spcAft>
              <a:buClr>
                <a:schemeClr val="dk1"/>
              </a:buClr>
              <a:buSzPct val="100000"/>
              <a:buFont typeface="Arial"/>
              <a:buChar char="•"/>
            </a:pPr>
            <a:r>
              <a:rPr lang="en-US"/>
              <a:t>Distribution to AFCEC (COR and/or Base PM)</a:t>
            </a:r>
            <a:endParaRPr/>
          </a:p>
          <a:p>
            <a:pPr indent="-285782" lvl="1" marL="742950" rtl="0" algn="l">
              <a:spcBef>
                <a:spcPts val="387"/>
              </a:spcBef>
              <a:spcAft>
                <a:spcPts val="0"/>
              </a:spcAft>
              <a:buClr>
                <a:schemeClr val="dk1"/>
              </a:buClr>
              <a:buSzPct val="100000"/>
              <a:buFont typeface="Arial"/>
              <a:buChar char="•"/>
            </a:pPr>
            <a:r>
              <a:rPr lang="en-US" sz="2500"/>
              <a:t>Primary Format is electronic unless specified hard copy eMail, CD, or Files Transfer Program/eDASH acceptable</a:t>
            </a:r>
            <a:endParaRPr/>
          </a:p>
          <a:p>
            <a:pPr indent="-285782" lvl="1" marL="742950" rtl="0" algn="l">
              <a:spcBef>
                <a:spcPts val="387"/>
              </a:spcBef>
              <a:spcAft>
                <a:spcPts val="0"/>
              </a:spcAft>
              <a:buClr>
                <a:schemeClr val="dk1"/>
              </a:buClr>
              <a:buSzPct val="100000"/>
              <a:buFont typeface="Arial"/>
              <a:buChar char="•"/>
            </a:pPr>
            <a:r>
              <a:rPr lang="en-US" sz="2500"/>
              <a:t>Format:  1) IAW Standardized Format; 2) Coordinated w/PM</a:t>
            </a:r>
            <a:endParaRPr/>
          </a:p>
          <a:p>
            <a:pPr indent="-285782" lvl="1" marL="742950" rtl="0" algn="l">
              <a:spcBef>
                <a:spcPts val="387"/>
              </a:spcBef>
              <a:spcAft>
                <a:spcPts val="0"/>
              </a:spcAft>
              <a:buClr>
                <a:schemeClr val="dk1"/>
              </a:buClr>
              <a:buSzPct val="100000"/>
              <a:buFont typeface="Arial"/>
              <a:buChar char="•"/>
            </a:pPr>
            <a:r>
              <a:rPr lang="en-US" sz="2500"/>
              <a:t>Submit all required deliverables/reports through ASSIST</a:t>
            </a:r>
            <a:endParaRPr/>
          </a:p>
          <a:p>
            <a:pPr indent="-342900" lvl="0" marL="342900" rtl="0" algn="l">
              <a:spcBef>
                <a:spcPts val="434"/>
              </a:spcBef>
              <a:spcAft>
                <a:spcPts val="0"/>
              </a:spcAft>
              <a:buClr>
                <a:schemeClr val="dk1"/>
              </a:buClr>
              <a:buSzPct val="100000"/>
              <a:buFont typeface="Arial"/>
              <a:buChar char="•"/>
            </a:pPr>
            <a:r>
              <a:rPr lang="en-US"/>
              <a:t>Supporting Documents (List on Atch </a:t>
            </a:r>
            <a:r>
              <a:rPr lang="en-US">
                <a:highlight>
                  <a:srgbClr val="FFFF00"/>
                </a:highlight>
              </a:rPr>
              <a:t>3</a:t>
            </a:r>
            <a:r>
              <a:rPr lang="en-US"/>
              <a:t>)</a:t>
            </a:r>
            <a:endParaRPr/>
          </a:p>
          <a:p>
            <a:pPr indent="-285782" lvl="1" marL="742950" rtl="0" algn="l">
              <a:spcBef>
                <a:spcPts val="387"/>
              </a:spcBef>
              <a:spcAft>
                <a:spcPts val="0"/>
              </a:spcAft>
              <a:buClr>
                <a:schemeClr val="dk1"/>
              </a:buClr>
              <a:buSzPct val="100000"/>
              <a:buFont typeface="Arial"/>
              <a:buChar char="•"/>
            </a:pPr>
            <a:r>
              <a:rPr lang="en-US" sz="2500"/>
              <a:t>Program Requirements, Permit Requirements, Sampling Requirements, Deadlines, Formatting, etc.</a:t>
            </a:r>
            <a:endParaRPr/>
          </a:p>
          <a:p>
            <a:pPr indent="-285750" lvl="1" marL="742950" rtl="0" algn="l">
              <a:spcBef>
                <a:spcPts val="372"/>
              </a:spcBef>
              <a:spcAft>
                <a:spcPts val="0"/>
              </a:spcAft>
              <a:buClr>
                <a:schemeClr val="dk1"/>
              </a:buClr>
              <a:buSzPct val="100000"/>
              <a:buFont typeface="Arial"/>
              <a:buChar char="•"/>
            </a:pPr>
            <a:r>
              <a:rPr lang="en-US"/>
              <a:t>Available electronically (no hard copy)</a:t>
            </a:r>
            <a:endParaRPr/>
          </a:p>
          <a:p>
            <a:pPr indent="-342900" lvl="0" marL="342900" rtl="0" algn="l">
              <a:spcBef>
                <a:spcPts val="434"/>
              </a:spcBef>
              <a:spcAft>
                <a:spcPts val="0"/>
              </a:spcAft>
              <a:buClr>
                <a:schemeClr val="dk1"/>
              </a:buClr>
              <a:buSzPct val="100000"/>
              <a:buFont typeface="Arial"/>
              <a:buChar char="•"/>
            </a:pPr>
            <a:r>
              <a:rPr lang="en-US"/>
              <a:t>Program Details (Atch </a:t>
            </a:r>
            <a:r>
              <a:rPr lang="en-US">
                <a:highlight>
                  <a:srgbClr val="FFFF00"/>
                </a:highlight>
              </a:rPr>
              <a:t>4</a:t>
            </a:r>
            <a:r>
              <a:rPr lang="en-US"/>
              <a:t>)</a:t>
            </a:r>
            <a:endParaRPr/>
          </a:p>
          <a:p>
            <a:pPr indent="-285750" lvl="1" marL="742950" rtl="0" algn="l">
              <a:spcBef>
                <a:spcPts val="372"/>
              </a:spcBef>
              <a:spcAft>
                <a:spcPts val="0"/>
              </a:spcAft>
              <a:buClr>
                <a:schemeClr val="dk1"/>
              </a:buClr>
              <a:buSzPct val="100000"/>
              <a:buFont typeface="Arial"/>
              <a:buChar char="•"/>
            </a:pPr>
            <a:r>
              <a:rPr lang="en-US"/>
              <a:t>HW/HM, ESAM, Air Quality, Water Quality, Solid Waste, EMS, POL, Toxics, Public Notification, Plans/Permits</a:t>
            </a:r>
            <a:endParaRPr/>
          </a:p>
          <a:p>
            <a:pPr indent="-285750" lvl="1" marL="742950" rtl="0" algn="l">
              <a:spcBef>
                <a:spcPts val="372"/>
              </a:spcBef>
              <a:spcAft>
                <a:spcPts val="0"/>
              </a:spcAft>
              <a:buClr>
                <a:schemeClr val="dk1"/>
              </a:buClr>
              <a:buSzPct val="100000"/>
              <a:buFont typeface="Arial"/>
              <a:buChar char="•"/>
            </a:pPr>
            <a:r>
              <a:rPr lang="en-US"/>
              <a:t>Contains historical averages to be used as reference only and includes relevant Government Furnished Equipment</a:t>
            </a:r>
            <a:endParaRPr/>
          </a:p>
          <a:p>
            <a:pPr indent="-342900" lvl="0" marL="342900" rtl="0" algn="l">
              <a:spcBef>
                <a:spcPts val="434"/>
              </a:spcBef>
              <a:spcAft>
                <a:spcPts val="0"/>
              </a:spcAft>
              <a:buClr>
                <a:schemeClr val="dk1"/>
              </a:buClr>
              <a:buSzPct val="100000"/>
              <a:buFont typeface="Arial"/>
              <a:buChar char="•"/>
            </a:pPr>
            <a:r>
              <a:rPr lang="en-US"/>
              <a:t>Additional References:  GIS Maps</a:t>
            </a:r>
            <a:endParaRPr/>
          </a:p>
          <a:p>
            <a:pPr indent="-205105" lvl="0" marL="342900" rtl="0" algn="l">
              <a:spcBef>
                <a:spcPts val="434"/>
              </a:spcBef>
              <a:spcAft>
                <a:spcPts val="0"/>
              </a:spcAft>
              <a:buClr>
                <a:schemeClr val="dk1"/>
              </a:buClr>
              <a:buSzPct val="100000"/>
              <a:buFont typeface="Arial"/>
              <a:buNone/>
            </a:pPr>
            <a:r>
              <a:t/>
            </a:r>
            <a:endParaRPr/>
          </a:p>
        </p:txBody>
      </p:sp>
      <p:sp>
        <p:nvSpPr>
          <p:cNvPr id="147" name="Google Shape;147;p11"/>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Acquisition Timeline</a:t>
            </a:r>
            <a:endParaRPr/>
          </a:p>
        </p:txBody>
      </p:sp>
      <p:sp>
        <p:nvSpPr>
          <p:cNvPr id="153" name="Google Shape;153;p12"/>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42900" lvl="0" marL="342900" rtl="0" algn="l">
              <a:spcBef>
                <a:spcPts val="480"/>
              </a:spcBef>
              <a:spcAft>
                <a:spcPts val="0"/>
              </a:spcAft>
              <a:buClr>
                <a:schemeClr val="dk1"/>
              </a:buClr>
              <a:buSzPts val="2400"/>
              <a:buFont typeface="Arial"/>
              <a:buChar char="•"/>
            </a:pPr>
            <a:r>
              <a:rPr lang="en-US" sz="2400"/>
              <a:t>Site Visit: 6 - 7 May 2026 (Time: 8:00 am EST)</a:t>
            </a:r>
            <a:endParaRPr/>
          </a:p>
          <a:p>
            <a:pPr indent="-342900" lvl="0" marL="342900" rtl="0" algn="l">
              <a:spcBef>
                <a:spcPts val="480"/>
              </a:spcBef>
              <a:spcAft>
                <a:spcPts val="0"/>
              </a:spcAft>
              <a:buClr>
                <a:schemeClr val="dk1"/>
              </a:buClr>
              <a:buSzPts val="2400"/>
              <a:buFont typeface="Arial"/>
              <a:buChar char="•"/>
            </a:pPr>
            <a:r>
              <a:rPr lang="en-US" sz="2400"/>
              <a:t>Vendor Questions Due: 18 May 2026</a:t>
            </a:r>
            <a:endParaRPr/>
          </a:p>
          <a:p>
            <a:pPr indent="-342900" lvl="0" marL="342900" rtl="0" algn="l">
              <a:spcBef>
                <a:spcPts val="480"/>
              </a:spcBef>
              <a:spcAft>
                <a:spcPts val="0"/>
              </a:spcAft>
              <a:buClr>
                <a:schemeClr val="dk1"/>
              </a:buClr>
              <a:buSzPts val="2400"/>
              <a:buFont typeface="Arial"/>
              <a:buChar char="•"/>
            </a:pPr>
            <a:r>
              <a:rPr lang="en-US" sz="2400"/>
              <a:t>Anticipated Government Response: 17 June 2026</a:t>
            </a:r>
            <a:endParaRPr sz="2400"/>
          </a:p>
          <a:p>
            <a:pPr indent="-381000" lvl="0" marL="342900" rtl="0" algn="l">
              <a:spcBef>
                <a:spcPts val="0"/>
              </a:spcBef>
              <a:spcAft>
                <a:spcPts val="0"/>
              </a:spcAft>
              <a:buSzPts val="2400"/>
              <a:buChar char="•"/>
            </a:pPr>
            <a:r>
              <a:rPr lang="en-US" sz="2400"/>
              <a:t>Anticipated RFQ Posting: 17 June 2026</a:t>
            </a:r>
            <a:endParaRPr sz="2400"/>
          </a:p>
          <a:p>
            <a:pPr indent="-342900" lvl="0" marL="342900" rtl="0" algn="l">
              <a:spcBef>
                <a:spcPts val="480"/>
              </a:spcBef>
              <a:spcAft>
                <a:spcPts val="0"/>
              </a:spcAft>
              <a:buClr>
                <a:schemeClr val="dk1"/>
              </a:buClr>
              <a:buSzPts val="2400"/>
              <a:buFont typeface="Arial"/>
              <a:buChar char="•"/>
            </a:pPr>
            <a:r>
              <a:rPr lang="en-US" sz="2400"/>
              <a:t>RFQ Closing Date: 17 July 2026</a:t>
            </a:r>
            <a:endParaRPr/>
          </a:p>
          <a:p>
            <a:pPr indent="-342900" lvl="0" marL="342900" rtl="0" algn="l">
              <a:spcBef>
                <a:spcPts val="480"/>
              </a:spcBef>
              <a:spcAft>
                <a:spcPts val="0"/>
              </a:spcAft>
              <a:buClr>
                <a:schemeClr val="dk1"/>
              </a:buClr>
              <a:buSzPts val="2400"/>
              <a:buFont typeface="Arial"/>
              <a:buChar char="•"/>
            </a:pPr>
            <a:r>
              <a:rPr lang="en-US" sz="2400"/>
              <a:t>Estimated Award Date: 17 Aug 2026</a:t>
            </a:r>
            <a:endParaRPr/>
          </a:p>
          <a:p>
            <a:pPr indent="-165100" lvl="0" marL="342900" rtl="0" algn="l">
              <a:spcBef>
                <a:spcPts val="560"/>
              </a:spcBef>
              <a:spcAft>
                <a:spcPts val="0"/>
              </a:spcAft>
              <a:buClr>
                <a:schemeClr val="dk1"/>
              </a:buClr>
              <a:buSzPts val="2800"/>
              <a:buFont typeface="Arial"/>
              <a:buNone/>
            </a:pPr>
            <a:r>
              <a:t/>
            </a:r>
            <a:endParaRPr/>
          </a:p>
        </p:txBody>
      </p:sp>
      <p:sp>
        <p:nvSpPr>
          <p:cNvPr id="154" name="Google Shape;154;p12"/>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155" name="Google Shape;155;p12"/>
          <p:cNvSpPr txBox="1"/>
          <p:nvPr/>
        </p:nvSpPr>
        <p:spPr>
          <a:xfrm>
            <a:off x="0" y="5969285"/>
            <a:ext cx="9143999" cy="830997"/>
          </a:xfrm>
          <a:prstGeom prst="rect">
            <a:avLst/>
          </a:prstGeom>
          <a:solidFill>
            <a:schemeClr val="accent2"/>
          </a:solidFill>
          <a:ln>
            <a:noFill/>
          </a:ln>
        </p:spPr>
        <p:txBody>
          <a:bodyPr anchorCtr="0" anchor="t" bIns="45700" lIns="91425" spcFirstLastPara="1" rIns="91425" wrap="square" tIns="45700">
            <a:spAutoFit/>
          </a:bodyPr>
          <a:lstStyle/>
          <a:p>
            <a:pPr indent="0" lvl="1" marL="0" marR="0" rtl="0" algn="ctr">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Any Requests for Information after the required Due date</a:t>
            </a:r>
            <a:br>
              <a:rPr b="1" i="0" lang="en-US" sz="2400" u="none" cap="none" strike="noStrike">
                <a:solidFill>
                  <a:schemeClr val="lt1"/>
                </a:solidFill>
                <a:latin typeface="Arial"/>
                <a:ea typeface="Arial"/>
                <a:cs typeface="Arial"/>
                <a:sym typeface="Arial"/>
              </a:rPr>
            </a:br>
            <a:r>
              <a:rPr b="1" i="0" lang="en-US" sz="2400" u="none" cap="none" strike="noStrike">
                <a:solidFill>
                  <a:schemeClr val="lt1"/>
                </a:solidFill>
                <a:latin typeface="Arial"/>
                <a:ea typeface="Arial"/>
                <a:cs typeface="Arial"/>
                <a:sym typeface="Arial"/>
              </a:rPr>
              <a:t>and time WILL NOT be accepted. No Exceptions.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idx="1" type="body"/>
          </p:nvPr>
        </p:nvSpPr>
        <p:spPr>
          <a:xfrm>
            <a:off x="631825" y="1659792"/>
            <a:ext cx="7880350" cy="47008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7F7F7F"/>
              </a:buClr>
              <a:buSzPts val="1200"/>
              <a:buFont typeface="Arial"/>
              <a:buNone/>
            </a:pPr>
            <a:r>
              <a:t/>
            </a:r>
            <a:endParaRPr b="0" sz="1200">
              <a:solidFill>
                <a:srgbClr val="FFFFFF"/>
              </a:solidFill>
              <a:highlight>
                <a:srgbClr val="131314"/>
              </a:highlight>
            </a:endParaRPr>
          </a:p>
          <a:p>
            <a:pPr indent="0" lvl="0" marL="0" rtl="0" algn="l">
              <a:spcBef>
                <a:spcPts val="480"/>
              </a:spcBef>
              <a:spcAft>
                <a:spcPts val="0"/>
              </a:spcAft>
              <a:buClr>
                <a:srgbClr val="7F7F7F"/>
              </a:buClr>
              <a:buSzPts val="2400"/>
              <a:buFont typeface="Arial"/>
              <a:buNone/>
            </a:pPr>
            <a:r>
              <a:t/>
            </a:r>
            <a:endParaRPr sz="2400">
              <a:solidFill>
                <a:schemeClr val="dk1"/>
              </a:solidFill>
            </a:endParaRPr>
          </a:p>
        </p:txBody>
      </p:sp>
      <p:sp>
        <p:nvSpPr>
          <p:cNvPr id="161" name="Google Shape;161;p13"/>
          <p:cNvSpPr txBox="1"/>
          <p:nvPr>
            <p:ph type="title"/>
          </p:nvPr>
        </p:nvSpPr>
        <p:spPr>
          <a:xfrm>
            <a:off x="132588" y="152348"/>
            <a:ext cx="8878824" cy="1143000"/>
          </a:xfrm>
          <a:prstGeom prst="rect">
            <a:avLst/>
          </a:prstGeom>
          <a:solidFill>
            <a:schemeClr val="accent6"/>
          </a:solidFill>
          <a:ln>
            <a:noFill/>
          </a:ln>
        </p:spPr>
        <p:txBody>
          <a:bodyPr anchorCtr="0" anchor="b" bIns="45700" lIns="91425" spcFirstLastPara="1" rIns="91425" wrap="square" tIns="45700">
            <a:noAutofit/>
          </a:bodyPr>
          <a:lstStyle/>
          <a:p>
            <a:pPr indent="0" lvl="0" marL="914400" rtl="0" algn="l">
              <a:spcBef>
                <a:spcPts val="0"/>
              </a:spcBef>
              <a:spcAft>
                <a:spcPts val="0"/>
              </a:spcAft>
              <a:buNone/>
            </a:pPr>
            <a:r>
              <a:rPr lang="en-US"/>
              <a:t>Installation Overview</a:t>
            </a:r>
            <a:endParaRPr/>
          </a:p>
        </p:txBody>
      </p:sp>
      <p:sp>
        <p:nvSpPr>
          <p:cNvPr id="162" name="Google Shape;162;p13"/>
          <p:cNvSpPr txBox="1"/>
          <p:nvPr>
            <p:ph idx="4294967295" type="sldNum"/>
          </p:nvPr>
        </p:nvSpPr>
        <p:spPr>
          <a:xfrm>
            <a:off x="8075613" y="6519863"/>
            <a:ext cx="1068387"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163" name="Google Shape;163;p13"/>
          <p:cNvSpPr txBox="1"/>
          <p:nvPr/>
        </p:nvSpPr>
        <p:spPr>
          <a:xfrm>
            <a:off x="396910" y="1454604"/>
            <a:ext cx="8350180" cy="508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This solicitation outlines the requirements for comprehensive Fence-to-Fence Environmental Service Support across multiple Department of Air Force (DAF) installations and associated facilities in Florida.</a:t>
            </a:r>
            <a:endParaRPr/>
          </a:p>
          <a:p>
            <a:pPr indent="0" lvl="0" marL="0" marR="0" rtl="0" algn="l">
              <a:lnSpc>
                <a:spcPct val="115000"/>
              </a:lnSpc>
              <a:spcBef>
                <a:spcPts val="12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Locations Included:</a:t>
            </a:r>
            <a:endParaRPr/>
          </a:p>
          <a:p>
            <a:pPr indent="-342900" lvl="0" marL="342900" marR="0" rtl="0" algn="l">
              <a:spcBef>
                <a:spcPts val="80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Patrick Space Force Base (PSFB)</a:t>
            </a:r>
            <a:endParaRPr/>
          </a:p>
          <a:p>
            <a:pPr indent="-342900" lvl="0" marL="342900" marR="0" rtl="0" algn="l">
              <a:spcBef>
                <a:spcPts val="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Cape Canaveral Space Force Station (CCSFS)</a:t>
            </a:r>
            <a:endParaRPr/>
          </a:p>
          <a:p>
            <a:pPr indent="-342900" lvl="0" marL="342900" marR="0" rtl="0" algn="l">
              <a:spcBef>
                <a:spcPts val="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Jonathan Dickinson Missile Tracking Annex (JDMTA)</a:t>
            </a:r>
            <a:endParaRPr/>
          </a:p>
          <a:p>
            <a:pPr indent="-342900" lvl="0" marL="342900" marR="0" rtl="0" algn="l">
              <a:spcBef>
                <a:spcPts val="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Malabar Transmitter Annex (MTA)</a:t>
            </a:r>
            <a:endParaRPr/>
          </a:p>
          <a:p>
            <a:pPr indent="-342900" lvl="0" marL="342900" marR="0" rtl="0" algn="l">
              <a:spcBef>
                <a:spcPts val="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Satellites: KARS Park, Tel IV, Shiloh, and Cocoa Doppler</a:t>
            </a:r>
            <a:endParaRPr/>
          </a:p>
          <a:p>
            <a:pPr indent="-342900" lvl="0" marL="342900" marR="0" rtl="0" algn="l">
              <a:spcBef>
                <a:spcPts val="0"/>
              </a:spcBef>
              <a:spcAft>
                <a:spcPts val="0"/>
              </a:spcAft>
              <a:buClr>
                <a:schemeClr val="dk1"/>
              </a:buClr>
              <a:buSzPts val="1000"/>
              <a:buFont typeface="Noto Sans Symbols"/>
              <a:buChar char="∙"/>
            </a:pPr>
            <a:r>
              <a:rPr b="1" i="0" lang="en-US" sz="2000" u="none" cap="none" strike="noStrike">
                <a:solidFill>
                  <a:schemeClr val="dk1"/>
                </a:solidFill>
                <a:latin typeface="Arial"/>
                <a:ea typeface="Arial"/>
                <a:cs typeface="Arial"/>
                <a:sym typeface="Arial"/>
              </a:rPr>
              <a:t>Avon Park Air Force Range (APAFR)</a:t>
            </a:r>
            <a:endParaRPr/>
          </a:p>
          <a:p>
            <a:pPr indent="0" lvl="0" marL="0" marR="0" rtl="0" algn="l">
              <a:lnSpc>
                <a:spcPct val="115000"/>
              </a:lnSpc>
              <a:spcBef>
                <a:spcPts val="4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  PSFB, CCSFS, JDMTA, and MTA will be collectively referred to as Space Launch Delta 45 (SLD 45).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Discussion</a:t>
            </a:r>
            <a:endParaRPr/>
          </a:p>
        </p:txBody>
      </p:sp>
      <p:sp>
        <p:nvSpPr>
          <p:cNvPr id="170" name="Google Shape;170;p14"/>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Installation Facts (next slides)</a:t>
            </a:r>
            <a:endParaRPr/>
          </a:p>
          <a:p>
            <a:pPr indent="-342900" lvl="0" marL="342900" rtl="0" algn="l">
              <a:spcBef>
                <a:spcPts val="480"/>
              </a:spcBef>
              <a:spcAft>
                <a:spcPts val="0"/>
              </a:spcAft>
              <a:buClr>
                <a:schemeClr val="dk1"/>
              </a:buClr>
              <a:buSzPts val="2400"/>
              <a:buFont typeface="Arial"/>
              <a:buChar char="•"/>
            </a:pPr>
            <a:r>
              <a:rPr lang="en-US" sz="2400"/>
              <a:t>Infrastructure</a:t>
            </a:r>
            <a:endParaRPr/>
          </a:p>
          <a:p>
            <a:pPr indent="-285750" lvl="1" marL="742950" rtl="0" algn="l">
              <a:spcBef>
                <a:spcPts val="480"/>
              </a:spcBef>
              <a:spcAft>
                <a:spcPts val="0"/>
              </a:spcAft>
              <a:buClr>
                <a:schemeClr val="dk1"/>
              </a:buClr>
              <a:buSzPts val="2400"/>
              <a:buFont typeface="Arial"/>
              <a:buChar char="•"/>
            </a:pPr>
            <a:r>
              <a:rPr lang="en-US"/>
              <a:t>Base Access (DBIDS, CAC)</a:t>
            </a:r>
            <a:endParaRPr/>
          </a:p>
          <a:p>
            <a:pPr indent="-285750" lvl="1" marL="742950" rtl="0" algn="l">
              <a:spcBef>
                <a:spcPts val="480"/>
              </a:spcBef>
              <a:spcAft>
                <a:spcPts val="0"/>
              </a:spcAft>
              <a:buClr>
                <a:schemeClr val="dk1"/>
              </a:buClr>
              <a:buSzPts val="2400"/>
              <a:buFont typeface="Arial"/>
              <a:buChar char="•"/>
            </a:pPr>
            <a:r>
              <a:rPr lang="en-US"/>
              <a:t>Communications</a:t>
            </a:r>
            <a:endParaRPr/>
          </a:p>
          <a:p>
            <a:pPr indent="-285750" lvl="1" marL="742950" rtl="0" algn="l">
              <a:spcBef>
                <a:spcPts val="480"/>
              </a:spcBef>
              <a:spcAft>
                <a:spcPts val="0"/>
              </a:spcAft>
              <a:buClr>
                <a:schemeClr val="dk1"/>
              </a:buClr>
              <a:buSzPts val="2400"/>
              <a:buFont typeface="Arial"/>
              <a:buChar char="•"/>
            </a:pPr>
            <a:r>
              <a:rPr lang="en-US"/>
              <a:t>Data Systems (EESOH-MIS, APIMS, eDASH, LAN)</a:t>
            </a:r>
            <a:endParaRPr/>
          </a:p>
          <a:p>
            <a:pPr indent="-342900" lvl="0" marL="342900" rtl="0" algn="l">
              <a:spcBef>
                <a:spcPts val="480"/>
              </a:spcBef>
              <a:spcAft>
                <a:spcPts val="0"/>
              </a:spcAft>
              <a:buClr>
                <a:schemeClr val="dk1"/>
              </a:buClr>
              <a:buSzPts val="2400"/>
              <a:buFont typeface="Arial"/>
              <a:buChar char="•"/>
            </a:pPr>
            <a:r>
              <a:rPr lang="en-US" sz="2400"/>
              <a:t>Program Review (PWS Requirements)</a:t>
            </a:r>
            <a:endParaRPr/>
          </a:p>
          <a:p>
            <a:pPr indent="-285750" lvl="1" marL="742950" rtl="0" algn="l">
              <a:spcBef>
                <a:spcPts val="480"/>
              </a:spcBef>
              <a:spcAft>
                <a:spcPts val="0"/>
              </a:spcAft>
              <a:buClr>
                <a:schemeClr val="dk1"/>
              </a:buClr>
              <a:buSzPts val="2400"/>
              <a:buFont typeface="Arial"/>
              <a:buChar char="•"/>
            </a:pPr>
            <a:r>
              <a:rPr lang="en-US"/>
              <a:t>HW/HM, Env Sampling, Air Quality, Water Quality, Solid Waste, EMS,  POL and Toxics</a:t>
            </a:r>
            <a:r>
              <a:rPr lang="en-US">
                <a:solidFill>
                  <a:srgbClr val="FF0000"/>
                </a:solidFill>
              </a:rPr>
              <a:t> </a:t>
            </a:r>
            <a:endParaRPr/>
          </a:p>
          <a:p>
            <a:pPr indent="-342900" lvl="1" marL="342900" rtl="0" algn="l">
              <a:spcBef>
                <a:spcPts val="480"/>
              </a:spcBef>
              <a:spcAft>
                <a:spcPts val="0"/>
              </a:spcAft>
              <a:buClr>
                <a:schemeClr val="dk1"/>
              </a:buClr>
              <a:buSzPts val="2400"/>
              <a:buFont typeface="Arial"/>
              <a:buChar char="•"/>
            </a:pPr>
            <a:r>
              <a:rPr lang="en-US"/>
              <a:t>Unique Considerations</a:t>
            </a:r>
            <a:endParaRPr/>
          </a:p>
          <a:p>
            <a:pPr indent="-285750" lvl="1" marL="742950" rtl="0" algn="l">
              <a:spcBef>
                <a:spcPts val="480"/>
              </a:spcBef>
              <a:spcAft>
                <a:spcPts val="0"/>
              </a:spcAft>
              <a:buClr>
                <a:schemeClr val="dk1"/>
              </a:buClr>
              <a:buSzPts val="2400"/>
              <a:buFont typeface="Arial"/>
              <a:buChar char="•"/>
            </a:pPr>
            <a:r>
              <a:rPr lang="en-US"/>
              <a:t>CCSFS and the other GSUs are a GOCO. CTR will be the day-to-day on-site MPM for ENV compliance oversight.   </a:t>
            </a:r>
            <a:endParaRPr/>
          </a:p>
          <a:p>
            <a:pPr indent="0" lvl="0" marL="0" rtl="0" algn="l">
              <a:spcBef>
                <a:spcPts val="560"/>
              </a:spcBef>
              <a:spcAft>
                <a:spcPts val="0"/>
              </a:spcAft>
              <a:buClr>
                <a:schemeClr val="dk1"/>
              </a:buClr>
              <a:buSzPts val="2800"/>
              <a:buFont typeface="Arial"/>
              <a:buNone/>
            </a:pPr>
            <a:r>
              <a:t/>
            </a:r>
            <a:endParaRPr/>
          </a:p>
        </p:txBody>
      </p:sp>
      <p:sp>
        <p:nvSpPr>
          <p:cNvPr id="171" name="Google Shape;171;p14"/>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Installation Facts – (PSFB)</a:t>
            </a:r>
            <a:endParaRPr/>
          </a:p>
        </p:txBody>
      </p:sp>
      <p:sp>
        <p:nvSpPr>
          <p:cNvPr id="177" name="Google Shape;177;p15"/>
          <p:cNvSpPr txBox="1"/>
          <p:nvPr>
            <p:ph idx="1" type="body"/>
          </p:nvPr>
        </p:nvSpPr>
        <p:spPr>
          <a:xfrm>
            <a:off x="304800" y="1216025"/>
            <a:ext cx="8534400" cy="497376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MAJCOM: United States Space Force (USSF) </a:t>
            </a:r>
            <a:endParaRPr/>
          </a:p>
          <a:p>
            <a:pPr indent="-342900" lvl="0" marL="342900" rtl="0" algn="l">
              <a:spcBef>
                <a:spcPts val="480"/>
              </a:spcBef>
              <a:spcAft>
                <a:spcPts val="0"/>
              </a:spcAft>
              <a:buClr>
                <a:schemeClr val="dk1"/>
              </a:buClr>
              <a:buSzPts val="2400"/>
              <a:buFont typeface="Arial"/>
              <a:buChar char="•"/>
            </a:pPr>
            <a:r>
              <a:rPr lang="en-US" sz="2400"/>
              <a:t>Host Unit: Space Launch Delta 45 (SLD45)</a:t>
            </a:r>
            <a:endParaRPr/>
          </a:p>
          <a:p>
            <a:pPr indent="-342900" lvl="0" marL="342900" rtl="0" algn="l">
              <a:spcBef>
                <a:spcPts val="480"/>
              </a:spcBef>
              <a:spcAft>
                <a:spcPts val="0"/>
              </a:spcAft>
              <a:buClr>
                <a:schemeClr val="dk1"/>
              </a:buClr>
              <a:buSzPts val="2400"/>
              <a:buFont typeface="Arial"/>
              <a:buChar char="•"/>
            </a:pPr>
            <a:r>
              <a:rPr lang="en-US" sz="2400"/>
              <a:t>Wings: AFRC 920</a:t>
            </a:r>
            <a:r>
              <a:rPr baseline="30000" lang="en-US" sz="2400"/>
              <a:t>th</a:t>
            </a:r>
            <a:r>
              <a:rPr lang="en-US" sz="2400"/>
              <a:t> Rescue Wing</a:t>
            </a:r>
            <a:endParaRPr/>
          </a:p>
          <a:p>
            <a:pPr indent="-342900" lvl="0" marL="342900" rtl="0" algn="l">
              <a:spcBef>
                <a:spcPts val="480"/>
              </a:spcBef>
              <a:spcAft>
                <a:spcPts val="0"/>
              </a:spcAft>
              <a:buClr>
                <a:schemeClr val="dk1"/>
              </a:buClr>
              <a:buSzPts val="2400"/>
              <a:buFont typeface="Arial"/>
              <a:buChar char="•"/>
            </a:pPr>
            <a:r>
              <a:rPr lang="en-US" sz="2400"/>
              <a:t>Major Tenants: AFTAC, Space and Missile System Center, DOS, NASA, FAA, DEOMI, Joint Stars Test Force</a:t>
            </a:r>
            <a:endParaRPr/>
          </a:p>
          <a:p>
            <a:pPr indent="-342900" lvl="0" marL="342900" rtl="0" algn="l">
              <a:spcBef>
                <a:spcPts val="480"/>
              </a:spcBef>
              <a:spcAft>
                <a:spcPts val="0"/>
              </a:spcAft>
              <a:buClr>
                <a:schemeClr val="dk1"/>
              </a:buClr>
              <a:buSzPts val="2400"/>
              <a:buFont typeface="Arial"/>
              <a:buChar char="•"/>
            </a:pPr>
            <a:r>
              <a:rPr lang="en-US" sz="2400"/>
              <a:t>Mission: Processing and launching of gov’t and commercial satellites from CCSFS.  SLD45 is the final authority for all launches on the Eastern Range </a:t>
            </a:r>
            <a:endParaRPr/>
          </a:p>
          <a:p>
            <a:pPr indent="-342900" lvl="0" marL="342900" rtl="0" algn="l">
              <a:spcBef>
                <a:spcPts val="480"/>
              </a:spcBef>
              <a:spcAft>
                <a:spcPts val="0"/>
              </a:spcAft>
              <a:buClr>
                <a:schemeClr val="dk1"/>
              </a:buClr>
              <a:buSzPts val="2400"/>
              <a:buFont typeface="Arial"/>
              <a:buChar char="•"/>
            </a:pPr>
            <a:r>
              <a:rPr lang="en-US" sz="2400"/>
              <a:t>Size: 2,002 acres </a:t>
            </a:r>
            <a:endParaRPr/>
          </a:p>
          <a:p>
            <a:pPr indent="-342900" lvl="0" marL="342900" rtl="0" algn="l">
              <a:spcBef>
                <a:spcPts val="480"/>
              </a:spcBef>
              <a:spcAft>
                <a:spcPts val="0"/>
              </a:spcAft>
              <a:buClr>
                <a:schemeClr val="dk1"/>
              </a:buClr>
              <a:buSzPts val="2400"/>
              <a:buFont typeface="Arial"/>
              <a:buChar char="•"/>
            </a:pPr>
            <a:r>
              <a:rPr lang="en-US" sz="2400"/>
              <a:t>Runway(s): 2 (Runways: 9,003 feet and 3,992 feet long)</a:t>
            </a:r>
            <a:endParaRPr/>
          </a:p>
        </p:txBody>
      </p:sp>
      <p:sp>
        <p:nvSpPr>
          <p:cNvPr id="178" name="Google Shape;178;p15"/>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Installation Facts – (CCSFS)</a:t>
            </a:r>
            <a:endParaRPr/>
          </a:p>
        </p:txBody>
      </p:sp>
      <p:sp>
        <p:nvSpPr>
          <p:cNvPr id="184" name="Google Shape;184;p16"/>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MAJCOM: United States Space Force (USSF) </a:t>
            </a:r>
            <a:endParaRPr/>
          </a:p>
          <a:p>
            <a:pPr indent="-342900" lvl="0" marL="342900" rtl="0" algn="l">
              <a:spcBef>
                <a:spcPts val="480"/>
              </a:spcBef>
              <a:spcAft>
                <a:spcPts val="0"/>
              </a:spcAft>
              <a:buClr>
                <a:schemeClr val="dk1"/>
              </a:buClr>
              <a:buSzPts val="2400"/>
              <a:buFont typeface="Arial"/>
              <a:buChar char="•"/>
            </a:pPr>
            <a:r>
              <a:rPr lang="en-US" sz="2400"/>
              <a:t>Host Unit: Space Launch Delta 45 (SLD45)</a:t>
            </a:r>
            <a:endParaRPr/>
          </a:p>
          <a:p>
            <a:pPr indent="-342900" lvl="0" marL="342900" rtl="0" algn="l">
              <a:spcBef>
                <a:spcPts val="480"/>
              </a:spcBef>
              <a:spcAft>
                <a:spcPts val="0"/>
              </a:spcAft>
              <a:buClr>
                <a:schemeClr val="dk1"/>
              </a:buClr>
              <a:buSzPts val="2400"/>
              <a:buFont typeface="Arial"/>
              <a:buChar char="•"/>
            </a:pPr>
            <a:r>
              <a:rPr lang="en-US" sz="2400"/>
              <a:t>Wings: AFRC 920</a:t>
            </a:r>
            <a:r>
              <a:rPr baseline="30000" lang="en-US" sz="2400"/>
              <a:t>th</a:t>
            </a:r>
            <a:r>
              <a:rPr lang="en-US" sz="2400"/>
              <a:t> Rescue Wing</a:t>
            </a:r>
            <a:endParaRPr/>
          </a:p>
          <a:p>
            <a:pPr indent="-342900" lvl="0" marL="342900" rtl="0" algn="l">
              <a:spcBef>
                <a:spcPts val="480"/>
              </a:spcBef>
              <a:spcAft>
                <a:spcPts val="0"/>
              </a:spcAft>
              <a:buClr>
                <a:schemeClr val="dk1"/>
              </a:buClr>
              <a:buSzPts val="2400"/>
              <a:buFont typeface="Arial"/>
              <a:buChar char="•"/>
            </a:pPr>
            <a:r>
              <a:rPr lang="en-US" sz="2400"/>
              <a:t>Major Tenants: NASA, NOTU, NRO, Aerospace Fuels Laboratory, Military Sealift Command, Military Surface Deployment and Distribution Command, United Launch Alliance, SpaceX, Blue Origin, Relativity Space and Stoke Space</a:t>
            </a:r>
            <a:endParaRPr/>
          </a:p>
          <a:p>
            <a:pPr indent="-342900" lvl="0" marL="342900" rtl="0" algn="l">
              <a:spcBef>
                <a:spcPts val="480"/>
              </a:spcBef>
              <a:spcAft>
                <a:spcPts val="0"/>
              </a:spcAft>
              <a:buClr>
                <a:schemeClr val="dk1"/>
              </a:buClr>
              <a:buSzPts val="2400"/>
              <a:buFont typeface="Arial"/>
              <a:buChar char="•"/>
            </a:pPr>
            <a:r>
              <a:rPr lang="en-US" sz="2400"/>
              <a:t>Mission: Processing and launching of gov’t and commercial satellites from CCSFS.  SLD45 is the final authority for all launches on the Eastern Range </a:t>
            </a:r>
            <a:endParaRPr/>
          </a:p>
          <a:p>
            <a:pPr indent="-342900" lvl="0" marL="342900" rtl="0" algn="l">
              <a:spcBef>
                <a:spcPts val="480"/>
              </a:spcBef>
              <a:spcAft>
                <a:spcPts val="0"/>
              </a:spcAft>
              <a:buClr>
                <a:schemeClr val="dk1"/>
              </a:buClr>
              <a:buSzPts val="2400"/>
              <a:buFont typeface="Arial"/>
              <a:buChar char="•"/>
            </a:pPr>
            <a:r>
              <a:rPr lang="en-US" sz="2400"/>
              <a:t>Size: 15,800 acres </a:t>
            </a:r>
            <a:endParaRPr/>
          </a:p>
          <a:p>
            <a:pPr indent="-342900" lvl="0" marL="342900" rtl="0" algn="l">
              <a:spcBef>
                <a:spcPts val="480"/>
              </a:spcBef>
              <a:spcAft>
                <a:spcPts val="0"/>
              </a:spcAft>
              <a:buClr>
                <a:schemeClr val="dk1"/>
              </a:buClr>
              <a:buSzPts val="2400"/>
              <a:buFont typeface="Arial"/>
              <a:buChar char="•"/>
            </a:pPr>
            <a:r>
              <a:rPr lang="en-US" sz="2400"/>
              <a:t>Runway(s): 1 (Runway: 10,000 feet long)</a:t>
            </a:r>
            <a:endParaRPr/>
          </a:p>
        </p:txBody>
      </p:sp>
      <p:sp>
        <p:nvSpPr>
          <p:cNvPr id="185" name="Google Shape;185;p16"/>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Installation Facts – (APAFR)</a:t>
            </a:r>
            <a:endParaRPr/>
          </a:p>
        </p:txBody>
      </p:sp>
      <p:sp>
        <p:nvSpPr>
          <p:cNvPr id="191" name="Google Shape;191;p17"/>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MAJCOM: Air Combat Command</a:t>
            </a:r>
            <a:endParaRPr/>
          </a:p>
          <a:p>
            <a:pPr indent="-342900" lvl="0" marL="342900" rtl="0" algn="l">
              <a:spcBef>
                <a:spcPts val="480"/>
              </a:spcBef>
              <a:spcAft>
                <a:spcPts val="0"/>
              </a:spcAft>
              <a:buClr>
                <a:schemeClr val="dk1"/>
              </a:buClr>
              <a:buSzPts val="2400"/>
              <a:buFont typeface="Arial"/>
              <a:buChar char="•"/>
            </a:pPr>
            <a:r>
              <a:rPr lang="en-US" sz="2400"/>
              <a:t>Host Unit: Moody Air Force Base </a:t>
            </a:r>
            <a:endParaRPr/>
          </a:p>
          <a:p>
            <a:pPr indent="-342900" lvl="0" marL="342900" rtl="0" algn="l">
              <a:spcBef>
                <a:spcPts val="480"/>
              </a:spcBef>
              <a:spcAft>
                <a:spcPts val="0"/>
              </a:spcAft>
              <a:buClr>
                <a:schemeClr val="dk1"/>
              </a:buClr>
              <a:buSzPts val="2400"/>
              <a:buFont typeface="Arial"/>
              <a:buChar char="•"/>
            </a:pPr>
            <a:r>
              <a:rPr lang="en-US" sz="2400"/>
              <a:t>Wings: 23 WG</a:t>
            </a:r>
            <a:endParaRPr/>
          </a:p>
          <a:p>
            <a:pPr indent="-342900" lvl="0" marL="342900" rtl="0" algn="l">
              <a:spcBef>
                <a:spcPts val="480"/>
              </a:spcBef>
              <a:spcAft>
                <a:spcPts val="0"/>
              </a:spcAft>
              <a:buClr>
                <a:schemeClr val="dk1"/>
              </a:buClr>
              <a:buSzPts val="2400"/>
              <a:buFont typeface="Arial"/>
              <a:buChar char="•"/>
            </a:pPr>
            <a:r>
              <a:rPr lang="en-US" sz="2400"/>
              <a:t>Major Tenants: Florida National Guard</a:t>
            </a:r>
            <a:endParaRPr/>
          </a:p>
          <a:p>
            <a:pPr indent="-342900" lvl="0" marL="342900" rtl="0" algn="l">
              <a:spcBef>
                <a:spcPts val="480"/>
              </a:spcBef>
              <a:spcAft>
                <a:spcPts val="0"/>
              </a:spcAft>
              <a:buClr>
                <a:schemeClr val="dk1"/>
              </a:buClr>
              <a:buSzPts val="2400"/>
              <a:buFont typeface="Arial"/>
              <a:buChar char="•"/>
            </a:pPr>
            <a:r>
              <a:rPr lang="en-US" sz="2400"/>
              <a:t>Mission: Provide a sustainable world class training complex focused on advanced, realistic and relevant training for joint, interagency and multinational partners excelling in air ground integration and Agile Combat Employment </a:t>
            </a:r>
            <a:endParaRPr/>
          </a:p>
          <a:p>
            <a:pPr indent="-342900" lvl="0" marL="342900" rtl="0" algn="l">
              <a:spcBef>
                <a:spcPts val="480"/>
              </a:spcBef>
              <a:spcAft>
                <a:spcPts val="0"/>
              </a:spcAft>
              <a:buClr>
                <a:schemeClr val="dk1"/>
              </a:buClr>
              <a:buSzPts val="2400"/>
              <a:buFont typeface="Arial"/>
              <a:buChar char="•"/>
            </a:pPr>
            <a:r>
              <a:rPr lang="en-US" sz="2400"/>
              <a:t>Size: 106,074 acres </a:t>
            </a:r>
            <a:endParaRPr/>
          </a:p>
          <a:p>
            <a:pPr indent="-342900" lvl="0" marL="342900" rtl="0" algn="l">
              <a:spcBef>
                <a:spcPts val="480"/>
              </a:spcBef>
              <a:spcAft>
                <a:spcPts val="0"/>
              </a:spcAft>
              <a:buClr>
                <a:schemeClr val="dk1"/>
              </a:buClr>
              <a:buSzPts val="2400"/>
              <a:buFont typeface="Arial"/>
              <a:buChar char="•"/>
            </a:pPr>
            <a:r>
              <a:rPr lang="en-US" sz="2400"/>
              <a:t>Runway(s): 1 (Runway: 8,000 feet long)</a:t>
            </a:r>
            <a:endParaRPr/>
          </a:p>
        </p:txBody>
      </p:sp>
      <p:sp>
        <p:nvSpPr>
          <p:cNvPr id="192" name="Google Shape;192;p17"/>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8"/>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Base Access – PSFB</a:t>
            </a:r>
            <a:endParaRPr/>
          </a:p>
        </p:txBody>
      </p:sp>
      <p:sp>
        <p:nvSpPr>
          <p:cNvPr id="198" name="Google Shape;198;p18"/>
          <p:cNvSpPr txBox="1"/>
          <p:nvPr>
            <p:ph idx="1" type="body"/>
          </p:nvPr>
        </p:nvSpPr>
        <p:spPr>
          <a:xfrm>
            <a:off x="304800" y="1216024"/>
            <a:ext cx="8534400" cy="42603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Gates: PSFB East Gate</a:t>
            </a:r>
            <a:endParaRPr/>
          </a:p>
          <a:p>
            <a:pPr indent="-342900" lvl="0" marL="342900" rtl="0" algn="l">
              <a:spcBef>
                <a:spcPts val="480"/>
              </a:spcBef>
              <a:spcAft>
                <a:spcPts val="0"/>
              </a:spcAft>
              <a:buClr>
                <a:schemeClr val="dk1"/>
              </a:buClr>
              <a:buSzPts val="2400"/>
              <a:buFont typeface="Arial"/>
              <a:buChar char="•"/>
            </a:pPr>
            <a:r>
              <a:rPr lang="en-US" sz="2400"/>
              <a:t>Operating Hours: 24 / 7</a:t>
            </a:r>
            <a:endParaRPr/>
          </a:p>
          <a:p>
            <a:pPr indent="-342900" lvl="0" marL="342900" rtl="0" algn="l">
              <a:spcBef>
                <a:spcPts val="480"/>
              </a:spcBef>
              <a:spcAft>
                <a:spcPts val="0"/>
              </a:spcAft>
              <a:buClr>
                <a:schemeClr val="dk1"/>
              </a:buClr>
              <a:buSzPts val="2400"/>
              <a:buFont typeface="Arial"/>
              <a:buChar char="•"/>
            </a:pPr>
            <a:r>
              <a:rPr lang="en-US" sz="2400"/>
              <a:t>Essential Activities: Authorized DoD ID card holders can escort passengers in their vehicle. EVERY passenger 18+ must show a REAL ID–compliant ID at the gate. This ensures 100% verification of all personnel entering the installation. All individuals entering Patrick SFB must be U.S. citizens and meet federal access standards</a:t>
            </a:r>
            <a:endParaRPr/>
          </a:p>
          <a:p>
            <a:pPr indent="-342900" lvl="0" marL="342900" rtl="0" algn="l">
              <a:spcBef>
                <a:spcPts val="480"/>
              </a:spcBef>
              <a:spcAft>
                <a:spcPts val="0"/>
              </a:spcAft>
              <a:buClr>
                <a:schemeClr val="dk1"/>
              </a:buClr>
              <a:buSzPts val="2400"/>
              <a:buFont typeface="Arial"/>
              <a:buChar char="•"/>
            </a:pPr>
            <a:r>
              <a:rPr lang="en-US" sz="2400"/>
              <a:t>Visitor Center: 0730-1630 (321) 494-0427</a:t>
            </a:r>
            <a:endParaRPr/>
          </a:p>
          <a:p>
            <a:pPr indent="-165100" lvl="0" marL="342900" rtl="0" algn="l">
              <a:spcBef>
                <a:spcPts val="560"/>
              </a:spcBef>
              <a:spcAft>
                <a:spcPts val="0"/>
              </a:spcAft>
              <a:buClr>
                <a:schemeClr val="dk1"/>
              </a:buClr>
              <a:buSzPts val="2800"/>
              <a:buFont typeface="Arial"/>
              <a:buNone/>
            </a:pPr>
            <a:r>
              <a:t/>
            </a:r>
            <a:endParaRPr/>
          </a:p>
        </p:txBody>
      </p:sp>
      <p:sp>
        <p:nvSpPr>
          <p:cNvPr id="199" name="Google Shape;199;p18"/>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Base Access – CCSFS</a:t>
            </a:r>
            <a:endParaRPr/>
          </a:p>
        </p:txBody>
      </p:sp>
      <p:sp>
        <p:nvSpPr>
          <p:cNvPr id="205" name="Google Shape;205;p19"/>
          <p:cNvSpPr txBox="1"/>
          <p:nvPr>
            <p:ph idx="1" type="body"/>
          </p:nvPr>
        </p:nvSpPr>
        <p:spPr>
          <a:xfrm>
            <a:off x="304800" y="1216024"/>
            <a:ext cx="8534400" cy="42603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Gates: CCSFS Main Gate</a:t>
            </a:r>
            <a:endParaRPr/>
          </a:p>
          <a:p>
            <a:pPr indent="-342900" lvl="0" marL="342900" rtl="0" algn="l">
              <a:spcBef>
                <a:spcPts val="480"/>
              </a:spcBef>
              <a:spcAft>
                <a:spcPts val="0"/>
              </a:spcAft>
              <a:buClr>
                <a:schemeClr val="dk1"/>
              </a:buClr>
              <a:buSzPts val="2400"/>
              <a:buFont typeface="Arial"/>
              <a:buChar char="•"/>
            </a:pPr>
            <a:r>
              <a:rPr lang="en-US" sz="2400"/>
              <a:t>Operating Hours: 24 / 7</a:t>
            </a:r>
            <a:endParaRPr/>
          </a:p>
          <a:p>
            <a:pPr indent="-342900" lvl="0" marL="342900" rtl="0" algn="l">
              <a:spcBef>
                <a:spcPts val="480"/>
              </a:spcBef>
              <a:spcAft>
                <a:spcPts val="0"/>
              </a:spcAft>
              <a:buClr>
                <a:schemeClr val="dk1"/>
              </a:buClr>
              <a:buSzPts val="2400"/>
              <a:buFont typeface="Arial"/>
              <a:buChar char="•"/>
            </a:pPr>
            <a:r>
              <a:rPr lang="en-US" sz="2400"/>
              <a:t>Essential Activities: Authorized DoD ID card holders CANNOT escort passengers in their vehicle. EVERY passenger 18+ must show a compliant ID at the gate. This ensures 100% verification of all personnel entering the installation. All individuals entering CCSFS must be U.S. citizens and meet federal access standards</a:t>
            </a:r>
            <a:endParaRPr/>
          </a:p>
          <a:p>
            <a:pPr indent="-342900" lvl="0" marL="342900" rtl="0" algn="l">
              <a:spcBef>
                <a:spcPts val="480"/>
              </a:spcBef>
              <a:spcAft>
                <a:spcPts val="0"/>
              </a:spcAft>
              <a:buClr>
                <a:schemeClr val="dk1"/>
              </a:buClr>
              <a:buSzPts val="2400"/>
              <a:buFont typeface="Arial"/>
              <a:buChar char="•"/>
            </a:pPr>
            <a:r>
              <a:rPr lang="en-US" sz="2400"/>
              <a:t>Visitor Center: 0730-1630 (321) 853-5261</a:t>
            </a:r>
            <a:endParaRPr/>
          </a:p>
          <a:p>
            <a:pPr indent="-165100" lvl="0" marL="342900" rtl="0" algn="l">
              <a:spcBef>
                <a:spcPts val="560"/>
              </a:spcBef>
              <a:spcAft>
                <a:spcPts val="0"/>
              </a:spcAft>
              <a:buClr>
                <a:schemeClr val="dk1"/>
              </a:buClr>
              <a:buSzPts val="2800"/>
              <a:buFont typeface="Arial"/>
              <a:buNone/>
            </a:pPr>
            <a:r>
              <a:t/>
            </a:r>
            <a:endParaRPr/>
          </a:p>
        </p:txBody>
      </p:sp>
      <p:sp>
        <p:nvSpPr>
          <p:cNvPr id="206" name="Google Shape;206;p19"/>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Base Access – APAFR</a:t>
            </a:r>
            <a:endParaRPr/>
          </a:p>
        </p:txBody>
      </p:sp>
      <p:sp>
        <p:nvSpPr>
          <p:cNvPr id="212" name="Google Shape;212;p20"/>
          <p:cNvSpPr txBox="1"/>
          <p:nvPr>
            <p:ph idx="1" type="body"/>
          </p:nvPr>
        </p:nvSpPr>
        <p:spPr>
          <a:xfrm>
            <a:off x="304800" y="1216024"/>
            <a:ext cx="8534400" cy="42603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Gates: APAFR Park Entry Gate 29 – Code Required</a:t>
            </a:r>
            <a:endParaRPr/>
          </a:p>
          <a:p>
            <a:pPr indent="-342900" lvl="0" marL="342900" rtl="0" algn="l">
              <a:spcBef>
                <a:spcPts val="480"/>
              </a:spcBef>
              <a:spcAft>
                <a:spcPts val="0"/>
              </a:spcAft>
              <a:buClr>
                <a:schemeClr val="dk1"/>
              </a:buClr>
              <a:buSzPts val="2400"/>
              <a:buFont typeface="Arial"/>
              <a:buChar char="•"/>
            </a:pPr>
            <a:r>
              <a:rPr lang="en-US" sz="2400"/>
              <a:t>Operating Hours: 24 / 7 </a:t>
            </a:r>
            <a:endParaRPr/>
          </a:p>
          <a:p>
            <a:pPr indent="-342900" lvl="0" marL="342900" rtl="0" algn="l">
              <a:spcBef>
                <a:spcPts val="480"/>
              </a:spcBef>
              <a:spcAft>
                <a:spcPts val="0"/>
              </a:spcAft>
              <a:buClr>
                <a:schemeClr val="dk1"/>
              </a:buClr>
              <a:buSzPts val="2400"/>
              <a:buFont typeface="Arial"/>
              <a:buChar char="•"/>
            </a:pPr>
            <a:r>
              <a:rPr lang="en-US" sz="2400"/>
              <a:t>Essential Activities: There is no active guard on duty at APAFR.  All visitors must have a valid reason to obtain access.  Access is granted by calling Production Control.</a:t>
            </a:r>
            <a:endParaRPr/>
          </a:p>
          <a:p>
            <a:pPr indent="-342900" lvl="0" marL="342900" rtl="0" algn="l">
              <a:spcBef>
                <a:spcPts val="480"/>
              </a:spcBef>
              <a:spcAft>
                <a:spcPts val="0"/>
              </a:spcAft>
              <a:buClr>
                <a:schemeClr val="dk1"/>
              </a:buClr>
              <a:buSzPts val="2400"/>
              <a:buFont typeface="Arial"/>
              <a:buChar char="•"/>
            </a:pPr>
            <a:r>
              <a:rPr lang="en-US" sz="2400"/>
              <a:t>Production Control: 863-452-3100 call for access code </a:t>
            </a:r>
            <a:endParaRPr/>
          </a:p>
          <a:p>
            <a:pPr indent="-165100" lvl="0" marL="342900" rtl="0" algn="l">
              <a:spcBef>
                <a:spcPts val="560"/>
              </a:spcBef>
              <a:spcAft>
                <a:spcPts val="0"/>
              </a:spcAft>
              <a:buClr>
                <a:schemeClr val="dk1"/>
              </a:buClr>
              <a:buSzPts val="2800"/>
              <a:buFont typeface="Arial"/>
              <a:buNone/>
            </a:pPr>
            <a:r>
              <a:t/>
            </a:r>
            <a:endParaRPr/>
          </a:p>
        </p:txBody>
      </p:sp>
      <p:sp>
        <p:nvSpPr>
          <p:cNvPr id="213" name="Google Shape;213;p20"/>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Spaceport of the Future</a:t>
            </a:r>
            <a:endParaRPr/>
          </a:p>
        </p:txBody>
      </p:sp>
      <p:sp>
        <p:nvSpPr>
          <p:cNvPr id="219" name="Google Shape;219;p21"/>
          <p:cNvSpPr txBox="1"/>
          <p:nvPr>
            <p:ph idx="1" type="body"/>
          </p:nvPr>
        </p:nvSpPr>
        <p:spPr>
          <a:xfrm>
            <a:off x="304800" y="1216024"/>
            <a:ext cx="8534400" cy="5303839"/>
          </a:xfrm>
          <a:prstGeom prst="rect">
            <a:avLst/>
          </a:prstGeom>
          <a:noFill/>
          <a:ln>
            <a:noFill/>
          </a:ln>
        </p:spPr>
        <p:txBody>
          <a:bodyPr anchorCtr="0" anchor="t" bIns="45700" lIns="91425" spcFirstLastPara="1" rIns="91425" wrap="square" tIns="45700">
            <a:noAutofit/>
          </a:bodyPr>
          <a:lstStyle/>
          <a:p>
            <a:pPr indent="-342900" lvl="1" marL="342900" rtl="0" algn="l">
              <a:spcBef>
                <a:spcPts val="0"/>
              </a:spcBef>
              <a:spcAft>
                <a:spcPts val="0"/>
              </a:spcAft>
              <a:buClr>
                <a:schemeClr val="dk1"/>
              </a:buClr>
              <a:buSzPts val="2200"/>
              <a:buFont typeface="Arial"/>
              <a:buChar char="•"/>
            </a:pPr>
            <a:r>
              <a:rPr lang="en-US" sz="2200"/>
              <a:t>The U.S. Space Force’s Range of the Future 2028 Strategic Intent identified the requirement to increase launch posture over the next 10 years. Infrastructure must be improved to meet this new requirement.</a:t>
            </a:r>
            <a:endParaRPr sz="2200"/>
          </a:p>
          <a:p>
            <a:pPr indent="-342900" lvl="0" marL="342900" rtl="0" algn="l">
              <a:spcBef>
                <a:spcPts val="440"/>
              </a:spcBef>
              <a:spcAft>
                <a:spcPts val="0"/>
              </a:spcAft>
              <a:buClr>
                <a:schemeClr val="dk1"/>
              </a:buClr>
              <a:buSzPts val="2200"/>
              <a:buFont typeface="Arial"/>
              <a:buChar char="•"/>
            </a:pPr>
            <a:r>
              <a:rPr lang="en-US" sz="2200"/>
              <a:t>Primary Goals:</a:t>
            </a:r>
            <a:endParaRPr/>
          </a:p>
          <a:p>
            <a:pPr indent="-285750" lvl="1" marL="742950" rtl="0" algn="l">
              <a:spcBef>
                <a:spcPts val="440"/>
              </a:spcBef>
              <a:spcAft>
                <a:spcPts val="0"/>
              </a:spcAft>
              <a:buClr>
                <a:schemeClr val="dk1"/>
              </a:buClr>
              <a:buSzPts val="2200"/>
              <a:buFont typeface="Arial"/>
              <a:buChar char="•"/>
            </a:pPr>
            <a:r>
              <a:rPr lang="en-US" sz="2200"/>
              <a:t>Range must be able to support launching EVERY day.</a:t>
            </a:r>
            <a:endParaRPr/>
          </a:p>
          <a:p>
            <a:pPr indent="-285750" lvl="1" marL="742950" rtl="0" algn="l">
              <a:spcBef>
                <a:spcPts val="440"/>
              </a:spcBef>
              <a:spcAft>
                <a:spcPts val="0"/>
              </a:spcAft>
              <a:buClr>
                <a:schemeClr val="dk1"/>
              </a:buClr>
              <a:buSzPts val="2200"/>
              <a:buFont typeface="Arial"/>
              <a:buChar char="•"/>
            </a:pPr>
            <a:r>
              <a:rPr lang="en-US" sz="2200"/>
              <a:t>Range must be able to support multiple launches per day.</a:t>
            </a:r>
            <a:endParaRPr/>
          </a:p>
          <a:p>
            <a:pPr indent="-285750" lvl="1" marL="742950" rtl="0" algn="l">
              <a:spcBef>
                <a:spcPts val="440"/>
              </a:spcBef>
              <a:spcAft>
                <a:spcPts val="0"/>
              </a:spcAft>
              <a:buClr>
                <a:schemeClr val="dk1"/>
              </a:buClr>
              <a:buSzPts val="2200"/>
              <a:buFont typeface="Arial"/>
              <a:buChar char="•"/>
            </a:pPr>
            <a:r>
              <a:rPr lang="en-US" sz="2200"/>
              <a:t>Range must eliminate all critical day restrictions.</a:t>
            </a:r>
            <a:endParaRPr/>
          </a:p>
          <a:p>
            <a:pPr indent="-285750" lvl="1" marL="742950" rtl="0" algn="l">
              <a:spcBef>
                <a:spcPts val="440"/>
              </a:spcBef>
              <a:spcAft>
                <a:spcPts val="0"/>
              </a:spcAft>
              <a:buClr>
                <a:schemeClr val="dk1"/>
              </a:buClr>
              <a:buSzPts val="2200"/>
              <a:buFont typeface="Arial"/>
              <a:buChar char="•"/>
            </a:pPr>
            <a:r>
              <a:rPr lang="en-US" sz="2200"/>
              <a:t>Establish infrastructure redundancy and resiliency.</a:t>
            </a:r>
            <a:endParaRPr/>
          </a:p>
          <a:p>
            <a:pPr indent="-285750" lvl="1" marL="742950" rtl="0" algn="l">
              <a:spcBef>
                <a:spcPts val="440"/>
              </a:spcBef>
              <a:spcAft>
                <a:spcPts val="0"/>
              </a:spcAft>
              <a:buClr>
                <a:schemeClr val="dk1"/>
              </a:buClr>
              <a:buSzPts val="2200"/>
              <a:buFont typeface="Arial"/>
              <a:buChar char="•"/>
            </a:pPr>
            <a:r>
              <a:rPr lang="en-US" sz="2200"/>
              <a:t>Reduce personnel impacts associated with launch and landing activities.</a:t>
            </a:r>
            <a:endParaRPr/>
          </a:p>
          <a:p>
            <a:pPr indent="-285750" lvl="1" marL="742950" rtl="0" algn="l">
              <a:spcBef>
                <a:spcPts val="440"/>
              </a:spcBef>
              <a:spcAft>
                <a:spcPts val="0"/>
              </a:spcAft>
              <a:buClr>
                <a:schemeClr val="dk1"/>
              </a:buClr>
              <a:buSzPts val="2200"/>
              <a:buFont typeface="Arial"/>
              <a:buChar char="•"/>
            </a:pPr>
            <a:r>
              <a:rPr lang="en-US" sz="2200"/>
              <a:t>Quick execution projects by completing environmental planning upfront.</a:t>
            </a:r>
            <a:endParaRPr/>
          </a:p>
        </p:txBody>
      </p:sp>
      <p:sp>
        <p:nvSpPr>
          <p:cNvPr id="220" name="Google Shape;220;p21"/>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Spaceport of the Future</a:t>
            </a:r>
            <a:endParaRPr/>
          </a:p>
        </p:txBody>
      </p:sp>
      <p:sp>
        <p:nvSpPr>
          <p:cNvPr id="226" name="Google Shape;226;p22"/>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pic>
        <p:nvPicPr>
          <p:cNvPr descr="Map&#10;&#10;AI-generated content may be incorrect." id="227" name="Google Shape;227;p22"/>
          <p:cNvPicPr preferRelativeResize="0"/>
          <p:nvPr>
            <p:ph idx="1" type="body"/>
          </p:nvPr>
        </p:nvPicPr>
        <p:blipFill rotWithShape="1">
          <a:blip r:embed="rId3">
            <a:alphaModFix/>
          </a:blip>
          <a:srcRect b="309" l="6383" r="9690" t="11513"/>
          <a:stretch/>
        </p:blipFill>
        <p:spPr>
          <a:xfrm>
            <a:off x="381837" y="1215851"/>
            <a:ext cx="8370277" cy="530401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Spaceport of the Future</a:t>
            </a:r>
            <a:endParaRPr/>
          </a:p>
        </p:txBody>
      </p:sp>
      <p:sp>
        <p:nvSpPr>
          <p:cNvPr id="233" name="Google Shape;233;p23"/>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pic>
        <p:nvPicPr>
          <p:cNvPr descr="Graphical user interface, diagram&#10;&#10;AI-generated content may be incorrect." id="234" name="Google Shape;234;p23"/>
          <p:cNvPicPr preferRelativeResize="0"/>
          <p:nvPr>
            <p:ph idx="1" type="body"/>
          </p:nvPr>
        </p:nvPicPr>
        <p:blipFill rotWithShape="1">
          <a:blip r:embed="rId3">
            <a:alphaModFix/>
          </a:blip>
          <a:srcRect b="308" l="6226" r="9689" t="11807"/>
          <a:stretch/>
        </p:blipFill>
        <p:spPr>
          <a:xfrm>
            <a:off x="371789" y="1225900"/>
            <a:ext cx="8400422" cy="52939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4"/>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Environmental Program Areas</a:t>
            </a:r>
            <a:endParaRPr/>
          </a:p>
        </p:txBody>
      </p:sp>
      <p:sp>
        <p:nvSpPr>
          <p:cNvPr id="240" name="Google Shape;240;p24"/>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Hazardous Waste/Hazardous Materials</a:t>
            </a:r>
            <a:endParaRPr/>
          </a:p>
          <a:p>
            <a:pPr indent="-342900" lvl="0" marL="342900" rtl="0" algn="l">
              <a:spcBef>
                <a:spcPts val="480"/>
              </a:spcBef>
              <a:spcAft>
                <a:spcPts val="0"/>
              </a:spcAft>
              <a:buClr>
                <a:schemeClr val="dk1"/>
              </a:buClr>
              <a:buSzPts val="2400"/>
              <a:buFont typeface="Arial"/>
              <a:buChar char="•"/>
            </a:pPr>
            <a:r>
              <a:rPr lang="en-US" sz="2400"/>
              <a:t>Env Sampling, Analysis &amp; Monitoring</a:t>
            </a:r>
            <a:endParaRPr/>
          </a:p>
          <a:p>
            <a:pPr indent="-342900" lvl="0" marL="342900" rtl="0" algn="l">
              <a:spcBef>
                <a:spcPts val="480"/>
              </a:spcBef>
              <a:spcAft>
                <a:spcPts val="0"/>
              </a:spcAft>
              <a:buClr>
                <a:schemeClr val="dk1"/>
              </a:buClr>
              <a:buSzPts val="2400"/>
              <a:buFont typeface="Arial"/>
              <a:buChar char="•"/>
            </a:pPr>
            <a:r>
              <a:rPr lang="en-US" sz="2400"/>
              <a:t>Air Quality</a:t>
            </a:r>
            <a:endParaRPr/>
          </a:p>
          <a:p>
            <a:pPr indent="-342900" lvl="0" marL="342900" rtl="0" algn="l">
              <a:spcBef>
                <a:spcPts val="480"/>
              </a:spcBef>
              <a:spcAft>
                <a:spcPts val="0"/>
              </a:spcAft>
              <a:buClr>
                <a:schemeClr val="dk1"/>
              </a:buClr>
              <a:buSzPts val="2400"/>
              <a:buFont typeface="Arial"/>
              <a:buChar char="•"/>
            </a:pPr>
            <a:r>
              <a:rPr lang="en-US" sz="2400"/>
              <a:t>Wastewater/Stormwater</a:t>
            </a:r>
            <a:endParaRPr/>
          </a:p>
          <a:p>
            <a:pPr indent="-342900" lvl="0" marL="342900" rtl="0" algn="l">
              <a:spcBef>
                <a:spcPts val="480"/>
              </a:spcBef>
              <a:spcAft>
                <a:spcPts val="0"/>
              </a:spcAft>
              <a:buClr>
                <a:schemeClr val="dk1"/>
              </a:buClr>
              <a:buSzPts val="2400"/>
              <a:buFont typeface="Arial"/>
              <a:buChar char="•"/>
            </a:pPr>
            <a:r>
              <a:rPr lang="en-US" sz="2400"/>
              <a:t>Solid Waste</a:t>
            </a:r>
            <a:endParaRPr/>
          </a:p>
          <a:p>
            <a:pPr indent="-342900" lvl="0" marL="342900" rtl="0" algn="l">
              <a:spcBef>
                <a:spcPts val="480"/>
              </a:spcBef>
              <a:spcAft>
                <a:spcPts val="0"/>
              </a:spcAft>
              <a:buClr>
                <a:schemeClr val="dk1"/>
              </a:buClr>
              <a:buSzPts val="2400"/>
              <a:buFont typeface="Arial"/>
              <a:buChar char="•"/>
            </a:pPr>
            <a:r>
              <a:rPr lang="en-US" sz="2400"/>
              <a:t>Environmental Management System</a:t>
            </a:r>
            <a:endParaRPr/>
          </a:p>
          <a:p>
            <a:pPr indent="-342900" lvl="0" marL="342900" rtl="0" algn="l">
              <a:spcBef>
                <a:spcPts val="480"/>
              </a:spcBef>
              <a:spcAft>
                <a:spcPts val="0"/>
              </a:spcAft>
              <a:buClr>
                <a:schemeClr val="dk1"/>
              </a:buClr>
              <a:buSzPts val="2400"/>
              <a:buFont typeface="Arial"/>
              <a:buChar char="•"/>
            </a:pPr>
            <a:r>
              <a:rPr lang="en-US" sz="2400"/>
              <a:t>Petroleum, Oil and Lubricants</a:t>
            </a:r>
            <a:endParaRPr/>
          </a:p>
          <a:p>
            <a:pPr indent="-342900" lvl="0" marL="342900" rtl="0" algn="l">
              <a:spcBef>
                <a:spcPts val="480"/>
              </a:spcBef>
              <a:spcAft>
                <a:spcPts val="0"/>
              </a:spcAft>
              <a:buClr>
                <a:schemeClr val="dk1"/>
              </a:buClr>
              <a:buSzPts val="2400"/>
              <a:buFont typeface="Arial"/>
              <a:buChar char="•"/>
            </a:pPr>
            <a:r>
              <a:rPr lang="en-US" sz="2400"/>
              <a:t>Toxics</a:t>
            </a:r>
            <a:endParaRPr/>
          </a:p>
          <a:p>
            <a:pPr indent="-342900" lvl="0" marL="342900" rtl="0" algn="l">
              <a:spcBef>
                <a:spcPts val="480"/>
              </a:spcBef>
              <a:spcAft>
                <a:spcPts val="0"/>
              </a:spcAft>
              <a:buClr>
                <a:schemeClr val="dk1"/>
              </a:buClr>
              <a:buSzPts val="2400"/>
              <a:buFont typeface="Arial"/>
              <a:buChar char="•"/>
            </a:pPr>
            <a:r>
              <a:rPr lang="en-US" sz="2400"/>
              <a:t>Public Notifications</a:t>
            </a:r>
            <a:endParaRPr/>
          </a:p>
          <a:p>
            <a:pPr indent="-342900" lvl="0" marL="342900" rtl="0" algn="l">
              <a:spcBef>
                <a:spcPts val="480"/>
              </a:spcBef>
              <a:spcAft>
                <a:spcPts val="0"/>
              </a:spcAft>
              <a:buClr>
                <a:schemeClr val="dk1"/>
              </a:buClr>
              <a:buSzPts val="2400"/>
              <a:buFont typeface="Arial"/>
              <a:buChar char="•"/>
            </a:pPr>
            <a:r>
              <a:rPr lang="en-US" sz="2400"/>
              <a:t>Plans/Permits</a:t>
            </a:r>
            <a:endParaRPr/>
          </a:p>
          <a:p>
            <a:pPr indent="-342900" lvl="0" marL="342900" rtl="0" algn="l">
              <a:spcBef>
                <a:spcPts val="480"/>
              </a:spcBef>
              <a:spcAft>
                <a:spcPts val="0"/>
              </a:spcAft>
              <a:buClr>
                <a:schemeClr val="dk1"/>
              </a:buClr>
              <a:buSzPts val="2400"/>
              <a:buFont typeface="Arial"/>
              <a:buChar char="•"/>
            </a:pPr>
            <a:r>
              <a:rPr lang="en-US" sz="2400"/>
              <a:t>Review Taskers</a:t>
            </a:r>
            <a:endParaRPr/>
          </a:p>
          <a:p>
            <a:pPr indent="-342900" lvl="0" marL="342900" rtl="0" algn="l">
              <a:spcBef>
                <a:spcPts val="480"/>
              </a:spcBef>
              <a:spcAft>
                <a:spcPts val="0"/>
              </a:spcAft>
              <a:buClr>
                <a:schemeClr val="dk1"/>
              </a:buClr>
              <a:buSzPts val="2400"/>
              <a:buFont typeface="Arial"/>
              <a:buChar char="•"/>
            </a:pPr>
            <a:r>
              <a:rPr lang="en-US" sz="2400"/>
              <a:t>NEPA</a:t>
            </a:r>
            <a:endParaRPr/>
          </a:p>
          <a:p>
            <a:pPr indent="-165100" lvl="0" marL="342900" rtl="0" algn="l">
              <a:spcBef>
                <a:spcPts val="560"/>
              </a:spcBef>
              <a:spcAft>
                <a:spcPts val="0"/>
              </a:spcAft>
              <a:buClr>
                <a:schemeClr val="dk1"/>
              </a:buClr>
              <a:buSzPts val="2800"/>
              <a:buFont typeface="Arial"/>
              <a:buNone/>
            </a:pPr>
            <a:r>
              <a:t/>
            </a:r>
            <a:endParaRPr/>
          </a:p>
        </p:txBody>
      </p:sp>
      <p:sp>
        <p:nvSpPr>
          <p:cNvPr id="241" name="Google Shape;241;p24"/>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5"/>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Hazardous Waste</a:t>
            </a:r>
            <a:endParaRPr/>
          </a:p>
        </p:txBody>
      </p:sp>
      <p:sp>
        <p:nvSpPr>
          <p:cNvPr id="247" name="Google Shape;247;p25"/>
          <p:cNvSpPr txBox="1"/>
          <p:nvPr>
            <p:ph idx="1" type="body"/>
          </p:nvPr>
        </p:nvSpPr>
        <p:spPr>
          <a:xfrm>
            <a:off x="304800" y="1216024"/>
            <a:ext cx="8534400" cy="421008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US" sz="2400"/>
              <a:t>				TSDF:		HWAS:</a:t>
            </a:r>
            <a:endParaRPr/>
          </a:p>
          <a:p>
            <a:pPr indent="-285750" lvl="1" marL="742950" rtl="0" algn="l">
              <a:spcBef>
                <a:spcPts val="480"/>
              </a:spcBef>
              <a:spcAft>
                <a:spcPts val="0"/>
              </a:spcAft>
              <a:buClr>
                <a:schemeClr val="dk1"/>
              </a:buClr>
              <a:buSzPts val="2400"/>
              <a:buFont typeface="Arial"/>
              <a:buChar char="•"/>
            </a:pPr>
            <a:r>
              <a:rPr lang="en-US"/>
              <a:t>PSFB (LQG) 	 	2		11</a:t>
            </a:r>
            <a:endParaRPr/>
          </a:p>
          <a:p>
            <a:pPr indent="-285750" lvl="1" marL="742950" rtl="0" algn="l">
              <a:spcBef>
                <a:spcPts val="480"/>
              </a:spcBef>
              <a:spcAft>
                <a:spcPts val="0"/>
              </a:spcAft>
              <a:buClr>
                <a:schemeClr val="dk1"/>
              </a:buClr>
              <a:buSzPts val="2400"/>
              <a:buFont typeface="Arial"/>
              <a:buChar char="•"/>
            </a:pPr>
            <a:r>
              <a:rPr lang="en-US"/>
              <a:t>CCSFS (LQG)	 	1 		15</a:t>
            </a:r>
            <a:endParaRPr/>
          </a:p>
          <a:p>
            <a:pPr indent="-285750" lvl="1" marL="742950" rtl="0" algn="l">
              <a:spcBef>
                <a:spcPts val="480"/>
              </a:spcBef>
              <a:spcAft>
                <a:spcPts val="0"/>
              </a:spcAft>
              <a:buClr>
                <a:schemeClr val="dk1"/>
              </a:buClr>
              <a:buSzPts val="2400"/>
              <a:buFont typeface="Arial"/>
              <a:buChar char="•"/>
            </a:pPr>
            <a:r>
              <a:rPr lang="en-US"/>
              <a:t>APAFR (SQG) 	1		1</a:t>
            </a:r>
            <a:endParaRPr/>
          </a:p>
          <a:p>
            <a:pPr indent="-133350" lvl="1" marL="742950" rtl="0" algn="l">
              <a:spcBef>
                <a:spcPts val="480"/>
              </a:spcBef>
              <a:spcAft>
                <a:spcPts val="0"/>
              </a:spcAft>
              <a:buClr>
                <a:schemeClr val="dk1"/>
              </a:buClr>
              <a:buSzPts val="2400"/>
              <a:buFont typeface="Arial"/>
              <a:buNone/>
            </a:pPr>
            <a:r>
              <a:t/>
            </a:r>
            <a:endParaRPr/>
          </a:p>
          <a:p>
            <a:pPr indent="0" lvl="7" marL="2686050" rtl="0" algn="l">
              <a:spcBef>
                <a:spcPts val="480"/>
              </a:spcBef>
              <a:spcAft>
                <a:spcPts val="0"/>
              </a:spcAft>
              <a:buClr>
                <a:schemeClr val="dk1"/>
              </a:buClr>
              <a:buSzPts val="2000"/>
              <a:buFont typeface="Arial"/>
              <a:buNone/>
            </a:pPr>
            <a:r>
              <a:rPr lang="en-US"/>
              <a:t> 	</a:t>
            </a:r>
            <a:r>
              <a:rPr b="1" lang="en-US" sz="2400"/>
              <a:t>HM Shops:	IAP/HWAP:</a:t>
            </a:r>
            <a:endParaRPr/>
          </a:p>
          <a:p>
            <a:pPr indent="-285750" lvl="1" marL="742950" rtl="0" algn="l">
              <a:spcBef>
                <a:spcPts val="480"/>
              </a:spcBef>
              <a:spcAft>
                <a:spcPts val="0"/>
              </a:spcAft>
              <a:buClr>
                <a:schemeClr val="dk1"/>
              </a:buClr>
              <a:buSzPts val="2400"/>
              <a:buFont typeface="Arial"/>
              <a:buChar char="•"/>
            </a:pPr>
            <a:r>
              <a:rPr lang="en-US"/>
              <a:t>PSFB (LQG)    	136		53</a:t>
            </a:r>
            <a:endParaRPr/>
          </a:p>
          <a:p>
            <a:pPr indent="-285750" lvl="1" marL="742950" rtl="0" algn="l">
              <a:spcBef>
                <a:spcPts val="480"/>
              </a:spcBef>
              <a:spcAft>
                <a:spcPts val="0"/>
              </a:spcAft>
              <a:buClr>
                <a:schemeClr val="dk1"/>
              </a:buClr>
              <a:buSzPts val="2400"/>
              <a:buFont typeface="Arial"/>
              <a:buChar char="•"/>
            </a:pPr>
            <a:r>
              <a:rPr lang="en-US"/>
              <a:t>CCSFS (LQG)  	96		31</a:t>
            </a:r>
            <a:endParaRPr/>
          </a:p>
          <a:p>
            <a:pPr indent="-285750" lvl="1" marL="742950" rtl="0" algn="l">
              <a:spcBef>
                <a:spcPts val="480"/>
              </a:spcBef>
              <a:spcAft>
                <a:spcPts val="0"/>
              </a:spcAft>
              <a:buClr>
                <a:schemeClr val="dk1"/>
              </a:buClr>
              <a:buSzPts val="2400"/>
              <a:buFont typeface="Arial"/>
              <a:buChar char="•"/>
            </a:pPr>
            <a:r>
              <a:rPr lang="en-US"/>
              <a:t>APAFR (SQG)  	11		3</a:t>
            </a:r>
            <a:endParaRPr/>
          </a:p>
          <a:p>
            <a:pPr indent="-190500" lvl="1" marL="342900" rtl="0" algn="l">
              <a:spcBef>
                <a:spcPts val="480"/>
              </a:spcBef>
              <a:spcAft>
                <a:spcPts val="0"/>
              </a:spcAft>
              <a:buClr>
                <a:schemeClr val="dk1"/>
              </a:buClr>
              <a:buSzPts val="2400"/>
              <a:buFont typeface="Arial"/>
              <a:buNone/>
            </a:pPr>
            <a:r>
              <a:t/>
            </a:r>
            <a:endParaRPr/>
          </a:p>
        </p:txBody>
      </p:sp>
      <p:sp>
        <p:nvSpPr>
          <p:cNvPr id="248" name="Google Shape;248;p25"/>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Env Sampling, Analysis &amp; Monitoring</a:t>
            </a:r>
            <a:endParaRPr/>
          </a:p>
        </p:txBody>
      </p:sp>
      <p:sp>
        <p:nvSpPr>
          <p:cNvPr id="254" name="Google Shape;254;p26"/>
          <p:cNvSpPr txBox="1"/>
          <p:nvPr>
            <p:ph idx="1" type="body"/>
          </p:nvPr>
        </p:nvSpPr>
        <p:spPr>
          <a:xfrm>
            <a:off x="304800" y="1216025"/>
            <a:ext cx="8534400" cy="5375694"/>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Installation Sampling requirements have all been captured in the ESAM Plan</a:t>
            </a:r>
            <a:endParaRPr/>
          </a:p>
          <a:p>
            <a:pPr indent="-342900" lvl="2" marL="742950" rtl="0" algn="l">
              <a:spcBef>
                <a:spcPts val="480"/>
              </a:spcBef>
              <a:spcAft>
                <a:spcPts val="0"/>
              </a:spcAft>
              <a:buClr>
                <a:schemeClr val="dk1"/>
              </a:buClr>
              <a:buSzPts val="2400"/>
              <a:buFont typeface="Arial"/>
              <a:buChar char="•"/>
            </a:pPr>
            <a:r>
              <a:rPr b="1" lang="en-US" sz="2400">
                <a:solidFill>
                  <a:schemeClr val="dk1"/>
                </a:solidFill>
                <a:latin typeface="Arial"/>
                <a:ea typeface="Arial"/>
                <a:cs typeface="Arial"/>
                <a:sym typeface="Arial"/>
              </a:rPr>
              <a:t>Landfill, Wastewater, Stormwater, EOD	</a:t>
            </a:r>
            <a:endParaRPr/>
          </a:p>
          <a:p>
            <a:pPr indent="-342900" lvl="1" marL="342900" rtl="0" algn="l">
              <a:spcBef>
                <a:spcPts val="480"/>
              </a:spcBef>
              <a:spcAft>
                <a:spcPts val="0"/>
              </a:spcAft>
              <a:buClr>
                <a:schemeClr val="dk1"/>
              </a:buClr>
              <a:buSzPts val="2400"/>
              <a:buFont typeface="Arial"/>
              <a:buChar char="•"/>
            </a:pPr>
            <a:r>
              <a:rPr lang="en-US">
                <a:solidFill>
                  <a:schemeClr val="dk1"/>
                </a:solidFill>
                <a:latin typeface="Arial"/>
                <a:ea typeface="Arial"/>
                <a:cs typeface="Arial"/>
                <a:sym typeface="Arial"/>
              </a:rPr>
              <a:t>Unique Considerations</a:t>
            </a:r>
            <a:endParaRPr/>
          </a:p>
          <a:p>
            <a:pPr indent="-342900" lvl="2" marL="742950" rtl="0" algn="l">
              <a:spcBef>
                <a:spcPts val="480"/>
              </a:spcBef>
              <a:spcAft>
                <a:spcPts val="0"/>
              </a:spcAft>
              <a:buClr>
                <a:schemeClr val="dk1"/>
              </a:buClr>
              <a:buSzPts val="2400"/>
              <a:buFont typeface="Arial"/>
              <a:buChar char="•"/>
            </a:pPr>
            <a:r>
              <a:rPr b="1" lang="en-US" sz="2400">
                <a:solidFill>
                  <a:schemeClr val="dk1"/>
                </a:solidFill>
                <a:latin typeface="Arial"/>
                <a:ea typeface="Arial"/>
                <a:cs typeface="Arial"/>
                <a:sym typeface="Arial"/>
              </a:rPr>
              <a:t>Planning and scheduling are important due to launches</a:t>
            </a:r>
            <a:endParaRPr/>
          </a:p>
          <a:p>
            <a:pPr indent="-342900" lvl="2" marL="742950" rtl="0" algn="l">
              <a:spcBef>
                <a:spcPts val="480"/>
              </a:spcBef>
              <a:spcAft>
                <a:spcPts val="0"/>
              </a:spcAft>
              <a:buClr>
                <a:schemeClr val="dk1"/>
              </a:buClr>
              <a:buSzPts val="2400"/>
              <a:buFont typeface="Arial"/>
              <a:buChar char="•"/>
            </a:pPr>
            <a:r>
              <a:rPr b="1" lang="en-US" sz="2400">
                <a:solidFill>
                  <a:schemeClr val="dk1"/>
                </a:solidFill>
                <a:latin typeface="Arial"/>
                <a:ea typeface="Arial"/>
                <a:cs typeface="Arial"/>
                <a:sym typeface="Arial"/>
              </a:rPr>
              <a:t>Will have to contact EOD and CLOIS to gain access to the landfill and EOD range</a:t>
            </a:r>
            <a:endParaRPr sz="2000"/>
          </a:p>
          <a:p>
            <a:pPr indent="-342900" lvl="0" marL="342900" rtl="0" algn="l">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PWQ/TRP process is local to SLD 45</a:t>
            </a:r>
            <a:endParaRPr/>
          </a:p>
          <a:p>
            <a:pPr indent="-342900" lvl="2" marL="742950" rtl="0" algn="l">
              <a:spcBef>
                <a:spcPts val="480"/>
              </a:spcBef>
              <a:spcAft>
                <a:spcPts val="0"/>
              </a:spcAft>
              <a:buClr>
                <a:schemeClr val="dk1"/>
              </a:buClr>
              <a:buSzPts val="2400"/>
              <a:buFont typeface="Arial"/>
              <a:buChar char="•"/>
            </a:pPr>
            <a:r>
              <a:rPr b="1" lang="en-US" sz="2400">
                <a:solidFill>
                  <a:schemeClr val="dk1"/>
                </a:solidFill>
                <a:latin typeface="Arial"/>
                <a:ea typeface="Arial"/>
                <a:cs typeface="Arial"/>
                <a:sym typeface="Arial"/>
              </a:rPr>
              <a:t>Strict adherence to time frame to prevent mission impact</a:t>
            </a:r>
            <a:endParaRPr/>
          </a:p>
          <a:p>
            <a:pPr indent="-342900" lvl="2" marL="742950" rtl="0" algn="l">
              <a:spcBef>
                <a:spcPts val="480"/>
              </a:spcBef>
              <a:spcAft>
                <a:spcPts val="0"/>
              </a:spcAft>
              <a:buClr>
                <a:schemeClr val="dk1"/>
              </a:buClr>
              <a:buSzPts val="2400"/>
              <a:buFont typeface="Arial"/>
              <a:buChar char="•"/>
            </a:pPr>
            <a:r>
              <a:rPr b="1" lang="en-US" sz="2400">
                <a:solidFill>
                  <a:schemeClr val="dk1"/>
                </a:solidFill>
                <a:latin typeface="Arial"/>
                <a:ea typeface="Arial"/>
                <a:cs typeface="Arial"/>
                <a:sym typeface="Arial"/>
              </a:rPr>
              <a:t>Complete review of all chemical profiles every 5 years</a:t>
            </a:r>
            <a:endParaRPr/>
          </a:p>
        </p:txBody>
      </p:sp>
      <p:sp>
        <p:nvSpPr>
          <p:cNvPr id="255" name="Google Shape;255;p26"/>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7"/>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Air Quality</a:t>
            </a:r>
            <a:endParaRPr strike="sngStrike">
              <a:solidFill>
                <a:srgbClr val="FF0000"/>
              </a:solidFill>
            </a:endParaRPr>
          </a:p>
        </p:txBody>
      </p:sp>
      <p:sp>
        <p:nvSpPr>
          <p:cNvPr id="261" name="Google Shape;261;p27"/>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262" name="Google Shape;262;p27"/>
          <p:cNvSpPr txBox="1"/>
          <p:nvPr>
            <p:ph idx="1" type="body"/>
          </p:nvPr>
        </p:nvSpPr>
        <p:spPr>
          <a:xfrm>
            <a:off x="304800" y="1216024"/>
            <a:ext cx="8534400" cy="5064195"/>
          </a:xfrm>
          <a:prstGeom prst="rect">
            <a:avLst/>
          </a:prstGeom>
          <a:noFill/>
          <a:ln>
            <a:noFill/>
          </a:ln>
        </p:spPr>
        <p:txBody>
          <a:bodyPr anchorCtr="0" anchor="t" bIns="45700" lIns="91425" spcFirstLastPara="1" rIns="91425" wrap="square" tIns="45700">
            <a:noAutofit/>
          </a:bodyPr>
          <a:lstStyle/>
          <a:p>
            <a:pPr indent="-274320" lvl="1" marL="274320" rtl="0" algn="l">
              <a:lnSpc>
                <a:spcPct val="85000"/>
              </a:lnSpc>
              <a:spcBef>
                <a:spcPts val="0"/>
              </a:spcBef>
              <a:spcAft>
                <a:spcPts val="0"/>
              </a:spcAft>
              <a:buClr>
                <a:schemeClr val="dk1"/>
              </a:buClr>
              <a:buSzPts val="2400"/>
              <a:buFont typeface="Arial"/>
              <a:buChar char="•"/>
            </a:pPr>
            <a:r>
              <a:rPr lang="en-US"/>
              <a:t>Currently operating Air General Permit – Stationary Generators</a:t>
            </a:r>
            <a:endParaRPr/>
          </a:p>
          <a:p>
            <a:pPr indent="-274320" lvl="1" marL="274320" rtl="0" algn="l">
              <a:lnSpc>
                <a:spcPct val="85000"/>
              </a:lnSpc>
              <a:spcBef>
                <a:spcPts val="480"/>
              </a:spcBef>
              <a:spcAft>
                <a:spcPts val="0"/>
              </a:spcAft>
              <a:buClr>
                <a:schemeClr val="dk1"/>
              </a:buClr>
              <a:buSzPts val="2400"/>
              <a:buFont typeface="Arial"/>
              <a:buChar char="•"/>
            </a:pPr>
            <a:r>
              <a:rPr lang="en-US"/>
              <a:t>Multiple FDEP exemptions</a:t>
            </a:r>
            <a:endParaRPr/>
          </a:p>
          <a:p>
            <a:pPr indent="-274320" lvl="1" marL="274320" rtl="0" algn="l">
              <a:lnSpc>
                <a:spcPct val="85000"/>
              </a:lnSpc>
              <a:spcBef>
                <a:spcPts val="480"/>
              </a:spcBef>
              <a:spcAft>
                <a:spcPts val="0"/>
              </a:spcAft>
              <a:buClr>
                <a:schemeClr val="dk1"/>
              </a:buClr>
              <a:buSzPts val="2400"/>
              <a:buFont typeface="Arial"/>
              <a:buChar char="•"/>
            </a:pPr>
            <a:r>
              <a:rPr lang="en-US"/>
              <a:t>AEI completed in APIMS </a:t>
            </a:r>
            <a:endParaRPr/>
          </a:p>
          <a:p>
            <a:pPr indent="-274320" lvl="1" marL="274320" rtl="0" algn="l">
              <a:lnSpc>
                <a:spcPct val="85000"/>
              </a:lnSpc>
              <a:spcBef>
                <a:spcPts val="480"/>
              </a:spcBef>
              <a:spcAft>
                <a:spcPts val="0"/>
              </a:spcAft>
              <a:buClr>
                <a:schemeClr val="dk1"/>
              </a:buClr>
              <a:buSzPts val="2400"/>
              <a:buFont typeface="Arial"/>
              <a:buChar char="•"/>
            </a:pPr>
            <a:r>
              <a:rPr lang="en-US"/>
              <a:t>Semi-annual Monitoring Report – RICE NESHAP</a:t>
            </a:r>
            <a:endParaRPr/>
          </a:p>
          <a:p>
            <a:pPr indent="-274320" lvl="1" marL="274320" rtl="0" algn="l">
              <a:lnSpc>
                <a:spcPct val="85000"/>
              </a:lnSpc>
              <a:spcBef>
                <a:spcPts val="480"/>
              </a:spcBef>
              <a:spcAft>
                <a:spcPts val="0"/>
              </a:spcAft>
              <a:buClr>
                <a:schemeClr val="dk1"/>
              </a:buClr>
              <a:buSzPts val="2400"/>
              <a:buFont typeface="Arial"/>
              <a:buChar char="•"/>
            </a:pPr>
            <a:r>
              <a:rPr lang="en-US"/>
              <a:t>Trending toward Title V permit </a:t>
            </a:r>
            <a:endParaRPr/>
          </a:p>
          <a:p>
            <a:pPr indent="-121920" lvl="1" marL="274320" rtl="0" algn="l">
              <a:lnSpc>
                <a:spcPct val="85000"/>
              </a:lnSpc>
              <a:spcBef>
                <a:spcPts val="480"/>
              </a:spcBef>
              <a:spcAft>
                <a:spcPts val="0"/>
              </a:spcAft>
              <a:buClr>
                <a:schemeClr val="dk1"/>
              </a:buClr>
              <a:buSzPts val="2400"/>
              <a:buFont typeface="Arial"/>
              <a:buNone/>
            </a:pPr>
            <a:r>
              <a:t/>
            </a:r>
            <a:endParaRPr b="0"/>
          </a:p>
          <a:p>
            <a:pPr indent="-121920" lvl="1" marL="274320" rtl="0" algn="l">
              <a:lnSpc>
                <a:spcPct val="85000"/>
              </a:lnSpc>
              <a:spcBef>
                <a:spcPts val="480"/>
              </a:spcBef>
              <a:spcAft>
                <a:spcPts val="0"/>
              </a:spcAft>
              <a:buClr>
                <a:schemeClr val="dk1"/>
              </a:buClr>
              <a:buSzPts val="2400"/>
              <a:buFont typeface="Arial"/>
              <a:buNone/>
            </a:pPr>
            <a:r>
              <a:t/>
            </a:r>
            <a:endParaRPr b="0"/>
          </a:p>
          <a:p>
            <a:pPr indent="0" lvl="0" marL="460375" rtl="0" algn="l">
              <a:lnSpc>
                <a:spcPct val="80000"/>
              </a:lnSpc>
              <a:spcBef>
                <a:spcPts val="600"/>
              </a:spcBef>
              <a:spcAft>
                <a:spcPts val="0"/>
              </a:spcAft>
              <a:buClr>
                <a:schemeClr val="dk1"/>
              </a:buClr>
              <a:buSzPts val="2400"/>
              <a:buFont typeface="Arial"/>
              <a:buNone/>
            </a:pPr>
            <a:r>
              <a:t/>
            </a:r>
            <a:endParaRPr b="0"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Wastewater &amp; Stormwater</a:t>
            </a:r>
            <a:endParaRPr>
              <a:solidFill>
                <a:srgbClr val="FF0000"/>
              </a:solidFill>
            </a:endParaRPr>
          </a:p>
        </p:txBody>
      </p:sp>
      <p:sp>
        <p:nvSpPr>
          <p:cNvPr id="268" name="Google Shape;268;p28"/>
          <p:cNvSpPr txBox="1"/>
          <p:nvPr>
            <p:ph idx="1" type="body"/>
          </p:nvPr>
        </p:nvSpPr>
        <p:spPr>
          <a:xfrm>
            <a:off x="304800" y="1216025"/>
            <a:ext cx="8534400" cy="52339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MS4 Stormwater Permit </a:t>
            </a:r>
            <a:endParaRPr/>
          </a:p>
          <a:p>
            <a:pPr indent="-230188" lvl="0" marL="576263" rtl="0" algn="l">
              <a:spcBef>
                <a:spcPts val="0"/>
              </a:spcBef>
              <a:spcAft>
                <a:spcPts val="0"/>
              </a:spcAft>
              <a:buClr>
                <a:schemeClr val="dk1"/>
              </a:buClr>
              <a:buSzPts val="2400"/>
              <a:buFont typeface="Arial"/>
              <a:buChar char="•"/>
            </a:pPr>
            <a:r>
              <a:rPr lang="en-US" sz="2400"/>
              <a:t> PSFB – Base has (35) total outfalls</a:t>
            </a:r>
            <a:endParaRPr b="0" sz="2400"/>
          </a:p>
          <a:p>
            <a:pPr indent="-342900" lvl="0" marL="342900" rtl="0" algn="l">
              <a:spcBef>
                <a:spcPts val="0"/>
              </a:spcBef>
              <a:spcAft>
                <a:spcPts val="0"/>
              </a:spcAft>
              <a:buClr>
                <a:schemeClr val="dk1"/>
              </a:buClr>
              <a:buSzPts val="2400"/>
              <a:buFont typeface="Arial"/>
              <a:buChar char="•"/>
            </a:pPr>
            <a:r>
              <a:rPr lang="en-US" sz="2400"/>
              <a:t>MSGP Stormwater Permit</a:t>
            </a:r>
            <a:endParaRPr/>
          </a:p>
          <a:p>
            <a:pPr indent="-230188" lvl="1" marL="576263" rtl="0" algn="l">
              <a:spcBef>
                <a:spcPts val="0"/>
              </a:spcBef>
              <a:spcAft>
                <a:spcPts val="0"/>
              </a:spcAft>
              <a:buClr>
                <a:schemeClr val="dk1"/>
              </a:buClr>
              <a:buSzPts val="2400"/>
              <a:buFont typeface="Arial"/>
              <a:buChar char="•"/>
            </a:pPr>
            <a:r>
              <a:rPr lang="en-US"/>
              <a:t>CCSFS – (Sector Q and S) Wharves (4 qty) and Skid Strip; 20 outfalls</a:t>
            </a:r>
            <a:endParaRPr/>
          </a:p>
          <a:p>
            <a:pPr indent="-230188" lvl="1" marL="576263" rtl="0" algn="l">
              <a:spcBef>
                <a:spcPts val="0"/>
              </a:spcBef>
              <a:spcAft>
                <a:spcPts val="0"/>
              </a:spcAft>
              <a:buClr>
                <a:schemeClr val="dk1"/>
              </a:buClr>
              <a:buSzPts val="2400"/>
              <a:buFont typeface="Arial"/>
              <a:buChar char="•"/>
            </a:pPr>
            <a:r>
              <a:rPr lang="en-US"/>
              <a:t>PSFB – (Sector N, Q, and S) Marina (2 qty), Runway, and MRF; 21 outfalls, </a:t>
            </a:r>
            <a:endParaRPr/>
          </a:p>
          <a:p>
            <a:pPr indent="-230188" lvl="1" marL="576263" rtl="0" algn="l">
              <a:spcBef>
                <a:spcPts val="0"/>
              </a:spcBef>
              <a:spcAft>
                <a:spcPts val="0"/>
              </a:spcAft>
              <a:buClr>
                <a:schemeClr val="dk1"/>
              </a:buClr>
              <a:buSzPts val="2400"/>
              <a:buFont typeface="Arial"/>
              <a:buChar char="•"/>
            </a:pPr>
            <a:r>
              <a:rPr lang="en-US"/>
              <a:t>APAFR – (Sector S), Runway and Laydown Yard </a:t>
            </a:r>
            <a:endParaRPr/>
          </a:p>
          <a:p>
            <a:pPr indent="-342900" lvl="0" marL="342900" rtl="0" algn="l">
              <a:spcBef>
                <a:spcPts val="0"/>
              </a:spcBef>
              <a:spcAft>
                <a:spcPts val="0"/>
              </a:spcAft>
              <a:buClr>
                <a:schemeClr val="dk1"/>
              </a:buClr>
              <a:buSzPts val="2400"/>
              <a:buFont typeface="Arial"/>
              <a:buChar char="•"/>
            </a:pPr>
            <a:r>
              <a:rPr lang="en-US" sz="2400"/>
              <a:t>ERP Stormwater Permit</a:t>
            </a:r>
            <a:endParaRPr/>
          </a:p>
          <a:p>
            <a:pPr indent="-230188" lvl="1" marL="576263" rtl="0" algn="l">
              <a:spcBef>
                <a:spcPts val="0"/>
              </a:spcBef>
              <a:spcAft>
                <a:spcPts val="0"/>
              </a:spcAft>
              <a:buClr>
                <a:schemeClr val="dk1"/>
              </a:buClr>
              <a:buSzPts val="2400"/>
              <a:buFont typeface="Arial"/>
              <a:buChar char="•"/>
            </a:pPr>
            <a:r>
              <a:rPr lang="en-US"/>
              <a:t>CCSFS – 171</a:t>
            </a:r>
            <a:endParaRPr/>
          </a:p>
          <a:p>
            <a:pPr indent="-230188" lvl="1" marL="576263" rtl="0" algn="l">
              <a:spcBef>
                <a:spcPts val="0"/>
              </a:spcBef>
              <a:spcAft>
                <a:spcPts val="0"/>
              </a:spcAft>
              <a:buClr>
                <a:schemeClr val="dk1"/>
              </a:buClr>
              <a:buSzPts val="2400"/>
              <a:buFont typeface="Arial"/>
              <a:buChar char="•"/>
            </a:pPr>
            <a:r>
              <a:rPr lang="en-US"/>
              <a:t>PSFB – 108 </a:t>
            </a:r>
            <a:endParaRPr/>
          </a:p>
          <a:p>
            <a:pPr indent="-342900" lvl="0" marL="342900" rtl="0" algn="l">
              <a:spcBef>
                <a:spcPts val="0"/>
              </a:spcBef>
              <a:spcAft>
                <a:spcPts val="0"/>
              </a:spcAft>
              <a:buClr>
                <a:schemeClr val="dk1"/>
              </a:buClr>
              <a:buSzPts val="2400"/>
              <a:buFont typeface="Arial"/>
              <a:buChar char="•"/>
            </a:pPr>
            <a:r>
              <a:rPr lang="en-US" sz="2400"/>
              <a:t>Wastewater Permit</a:t>
            </a:r>
            <a:endParaRPr/>
          </a:p>
          <a:p>
            <a:pPr indent="-230188" lvl="1" marL="576263" rtl="0" algn="l">
              <a:spcBef>
                <a:spcPts val="0"/>
              </a:spcBef>
              <a:spcAft>
                <a:spcPts val="0"/>
              </a:spcAft>
              <a:buClr>
                <a:schemeClr val="dk1"/>
              </a:buClr>
              <a:buSzPts val="2400"/>
              <a:buFont typeface="Arial"/>
              <a:buChar char="•"/>
            </a:pPr>
            <a:r>
              <a:rPr lang="en-US"/>
              <a:t>CCFSS - 1</a:t>
            </a:r>
            <a:endParaRPr/>
          </a:p>
          <a:p>
            <a:pPr indent="-165100" lvl="0" marL="342900" rtl="0" algn="l">
              <a:spcBef>
                <a:spcPts val="560"/>
              </a:spcBef>
              <a:spcAft>
                <a:spcPts val="0"/>
              </a:spcAft>
              <a:buClr>
                <a:schemeClr val="dk1"/>
              </a:buClr>
              <a:buSzPts val="2800"/>
              <a:buFont typeface="Arial"/>
              <a:buNone/>
            </a:pPr>
            <a:r>
              <a:t/>
            </a:r>
            <a:endParaRPr/>
          </a:p>
        </p:txBody>
      </p:sp>
      <p:sp>
        <p:nvSpPr>
          <p:cNvPr id="269" name="Google Shape;269;p28"/>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Solid Waste</a:t>
            </a:r>
            <a:endParaRPr/>
          </a:p>
        </p:txBody>
      </p:sp>
      <p:sp>
        <p:nvSpPr>
          <p:cNvPr id="275" name="Google Shape;275;p29"/>
          <p:cNvSpPr txBox="1"/>
          <p:nvPr>
            <p:ph idx="1" type="body"/>
          </p:nvPr>
        </p:nvSpPr>
        <p:spPr>
          <a:xfrm>
            <a:off x="304800" y="1216025"/>
            <a:ext cx="8534400" cy="492913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latin typeface="Arial"/>
                <a:ea typeface="Arial"/>
                <a:cs typeface="Arial"/>
                <a:sym typeface="Arial"/>
              </a:rPr>
              <a:t>Solid Waste Program</a:t>
            </a:r>
            <a:endParaRPr/>
          </a:p>
          <a:p>
            <a:pPr indent="-230188" lvl="0" marL="576263" rtl="0" algn="l">
              <a:spcBef>
                <a:spcPts val="0"/>
              </a:spcBef>
              <a:spcAft>
                <a:spcPts val="0"/>
              </a:spcAft>
              <a:buClr>
                <a:schemeClr val="dk1"/>
              </a:buClr>
              <a:buSzPts val="2400"/>
              <a:buFont typeface="Arial"/>
              <a:buChar char="•"/>
            </a:pPr>
            <a:r>
              <a:rPr lang="en-US" sz="2400"/>
              <a:t>Consolidated permit consisting of 3 landfills</a:t>
            </a:r>
            <a:endParaRPr/>
          </a:p>
          <a:p>
            <a:pPr indent="-230188" lvl="2" marL="798513" rtl="0" algn="l">
              <a:spcBef>
                <a:spcPts val="0"/>
              </a:spcBef>
              <a:spcAft>
                <a:spcPts val="0"/>
              </a:spcAft>
              <a:buClr>
                <a:schemeClr val="dk1"/>
              </a:buClr>
              <a:buSzPts val="2400"/>
              <a:buFont typeface="Arial"/>
              <a:buChar char="•"/>
            </a:pPr>
            <a:r>
              <a:rPr b="1" lang="en-US" sz="2400"/>
              <a:t>C&amp;D, Asbestos and Closed Class 1 </a:t>
            </a:r>
            <a:endParaRPr/>
          </a:p>
          <a:p>
            <a:pPr indent="-230188" lvl="2" marL="798513" rtl="0" algn="l">
              <a:spcBef>
                <a:spcPts val="0"/>
              </a:spcBef>
              <a:spcAft>
                <a:spcPts val="0"/>
              </a:spcAft>
              <a:buClr>
                <a:schemeClr val="dk1"/>
              </a:buClr>
              <a:buSzPts val="2400"/>
              <a:buFont typeface="Arial"/>
              <a:buChar char="•"/>
            </a:pPr>
            <a:r>
              <a:rPr b="1" lang="en-US" sz="2400"/>
              <a:t>Landfills are not accepting waste</a:t>
            </a:r>
            <a:endParaRPr/>
          </a:p>
          <a:p>
            <a:pPr indent="-230188" lvl="2" marL="798513" rtl="0" algn="l">
              <a:spcBef>
                <a:spcPts val="0"/>
              </a:spcBef>
              <a:spcAft>
                <a:spcPts val="0"/>
              </a:spcAft>
              <a:buClr>
                <a:schemeClr val="dk1"/>
              </a:buClr>
              <a:buSzPts val="2400"/>
              <a:buFont typeface="Arial"/>
              <a:buChar char="•"/>
            </a:pPr>
            <a:r>
              <a:rPr b="1" lang="en-US" sz="2400"/>
              <a:t>Monitoring groundwater, surface water &amp; gas – semi annual </a:t>
            </a:r>
            <a:endParaRPr/>
          </a:p>
          <a:p>
            <a:pPr indent="-342900" lvl="0" marL="342900" rtl="0" algn="l">
              <a:spcBef>
                <a:spcPts val="480"/>
              </a:spcBef>
              <a:spcAft>
                <a:spcPts val="0"/>
              </a:spcAft>
              <a:buClr>
                <a:schemeClr val="dk1"/>
              </a:buClr>
              <a:buSzPts val="2400"/>
              <a:buFont typeface="Arial"/>
              <a:buChar char="•"/>
            </a:pPr>
            <a:r>
              <a:rPr lang="en-US" sz="2400">
                <a:latin typeface="Arial"/>
                <a:ea typeface="Arial"/>
                <a:cs typeface="Arial"/>
                <a:sym typeface="Arial"/>
              </a:rPr>
              <a:t>Recycling  Program</a:t>
            </a:r>
            <a:endParaRPr/>
          </a:p>
          <a:p>
            <a:pPr indent="-230188" lvl="2" marL="576263" rtl="0" algn="l">
              <a:spcBef>
                <a:spcPts val="0"/>
              </a:spcBef>
              <a:spcAft>
                <a:spcPts val="0"/>
              </a:spcAft>
              <a:buClr>
                <a:schemeClr val="dk1"/>
              </a:buClr>
              <a:buSzPts val="2400"/>
              <a:buFont typeface="Arial"/>
              <a:buChar char="•"/>
            </a:pPr>
            <a:r>
              <a:rPr b="1" lang="en-US" sz="2400"/>
              <a:t>Oil/Rag recycling managed by F2F as depicted in PWS</a:t>
            </a:r>
            <a:endParaRPr/>
          </a:p>
          <a:p>
            <a:pPr indent="0" lvl="3" marL="1030288" rtl="0" algn="l">
              <a:spcBef>
                <a:spcPts val="0"/>
              </a:spcBef>
              <a:spcAft>
                <a:spcPts val="0"/>
              </a:spcAft>
              <a:buClr>
                <a:schemeClr val="dk1"/>
              </a:buClr>
              <a:buSzPts val="2400"/>
              <a:buFont typeface="Arial"/>
              <a:buNone/>
            </a:pPr>
            <a:r>
              <a:t/>
            </a:r>
            <a:endParaRPr b="1" sz="2400"/>
          </a:p>
          <a:p>
            <a:pPr indent="-165100" lvl="0" marL="342900" rtl="0" algn="l">
              <a:spcBef>
                <a:spcPts val="560"/>
              </a:spcBef>
              <a:spcAft>
                <a:spcPts val="0"/>
              </a:spcAft>
              <a:buClr>
                <a:schemeClr val="dk1"/>
              </a:buClr>
              <a:buSzPts val="2800"/>
              <a:buFont typeface="Arial"/>
              <a:buNone/>
            </a:pPr>
            <a:r>
              <a:t/>
            </a:r>
            <a:endParaRPr/>
          </a:p>
        </p:txBody>
      </p:sp>
      <p:sp>
        <p:nvSpPr>
          <p:cNvPr id="276" name="Google Shape;276;p29"/>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0"/>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Petroleum, Oil and Lubricants</a:t>
            </a:r>
            <a:endParaRPr/>
          </a:p>
        </p:txBody>
      </p:sp>
      <p:sp>
        <p:nvSpPr>
          <p:cNvPr id="282" name="Google Shape;282;p30"/>
          <p:cNvSpPr txBox="1"/>
          <p:nvPr>
            <p:ph idx="1" type="body"/>
          </p:nvPr>
        </p:nvSpPr>
        <p:spPr>
          <a:xfrm>
            <a:off x="304800" y="1216025"/>
            <a:ext cx="8534400" cy="4752696"/>
          </a:xfrm>
          <a:prstGeom prst="rect">
            <a:avLst/>
          </a:prstGeom>
          <a:noFill/>
          <a:ln>
            <a:noFill/>
          </a:ln>
        </p:spPr>
        <p:txBody>
          <a:bodyPr anchorCtr="0" anchor="t" bIns="45700" lIns="91425" spcFirstLastPara="1" rIns="91425" wrap="square" tIns="45700">
            <a:noAutofit/>
          </a:bodyPr>
          <a:lstStyle/>
          <a:p>
            <a:pPr indent="-342900" lvl="0" marL="346075" rtl="0" algn="l">
              <a:spcBef>
                <a:spcPts val="0"/>
              </a:spcBef>
              <a:spcAft>
                <a:spcPts val="0"/>
              </a:spcAft>
              <a:buClr>
                <a:schemeClr val="dk1"/>
              </a:buClr>
              <a:buSzPts val="2400"/>
              <a:buFont typeface="Arial"/>
              <a:buChar char="•"/>
            </a:pPr>
            <a:r>
              <a:rPr lang="en-US" sz="2400">
                <a:latin typeface="Arial"/>
                <a:ea typeface="Arial"/>
                <a:cs typeface="Arial"/>
                <a:sym typeface="Arial"/>
              </a:rPr>
              <a:t>Spill Plan</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SPCC – APAFR, PSFB/MTA and CCSFS/JDMTA with satellite locations</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FRP – PSFB only</a:t>
            </a:r>
            <a:endParaRPr/>
          </a:p>
          <a:p>
            <a:pPr indent="0" lvl="1" marL="336550" rtl="0" algn="l">
              <a:spcBef>
                <a:spcPts val="0"/>
              </a:spcBef>
              <a:spcAft>
                <a:spcPts val="0"/>
              </a:spcAft>
              <a:buClr>
                <a:schemeClr val="dk1"/>
              </a:buClr>
              <a:buSzPts val="2400"/>
              <a:buFont typeface="Arial"/>
              <a:buNone/>
            </a:pPr>
            <a:r>
              <a:t/>
            </a:r>
            <a:endParaRPr>
              <a:latin typeface="Arial"/>
              <a:ea typeface="Arial"/>
              <a:cs typeface="Arial"/>
              <a:sym typeface="Arial"/>
            </a:endParaRPr>
          </a:p>
          <a:p>
            <a:pPr indent="-342900" lvl="0" marL="346075" rtl="0" algn="l">
              <a:spcBef>
                <a:spcPts val="0"/>
              </a:spcBef>
              <a:spcAft>
                <a:spcPts val="0"/>
              </a:spcAft>
              <a:buClr>
                <a:schemeClr val="dk1"/>
              </a:buClr>
              <a:buSzPts val="2400"/>
              <a:buFont typeface="Arial"/>
              <a:buChar char="•"/>
            </a:pPr>
            <a:r>
              <a:rPr lang="en-US" sz="2400">
                <a:latin typeface="Arial"/>
                <a:ea typeface="Arial"/>
                <a:cs typeface="Arial"/>
                <a:sym typeface="Arial"/>
              </a:rPr>
              <a:t>Tanks </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PSFB – 85 ASTs / 4 USTs</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CCSFS – 100 ASTs (includes satellite sites)</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MTA – 1 AST </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JDMTA – 5 ASTs</a:t>
            </a:r>
            <a:endParaRPr/>
          </a:p>
          <a:p>
            <a:pPr indent="-346075" lvl="1" marL="682625" rtl="0" algn="l">
              <a:spcBef>
                <a:spcPts val="0"/>
              </a:spcBef>
              <a:spcAft>
                <a:spcPts val="0"/>
              </a:spcAft>
              <a:buClr>
                <a:schemeClr val="dk1"/>
              </a:buClr>
              <a:buSzPts val="2400"/>
              <a:buFont typeface="Arial"/>
              <a:buChar char="•"/>
            </a:pPr>
            <a:r>
              <a:rPr lang="en-US">
                <a:latin typeface="Arial"/>
                <a:ea typeface="Arial"/>
                <a:cs typeface="Arial"/>
                <a:sym typeface="Arial"/>
              </a:rPr>
              <a:t>APAFR – 6 ASTs</a:t>
            </a:r>
            <a:endParaRPr/>
          </a:p>
          <a:p>
            <a:pPr indent="0" lvl="0" marL="0" rtl="0" algn="l">
              <a:spcBef>
                <a:spcPts val="560"/>
              </a:spcBef>
              <a:spcAft>
                <a:spcPts val="0"/>
              </a:spcAft>
              <a:buClr>
                <a:schemeClr val="dk1"/>
              </a:buClr>
              <a:buSzPts val="2800"/>
              <a:buFont typeface="Arial"/>
              <a:buNone/>
            </a:pPr>
            <a:r>
              <a:t/>
            </a:r>
            <a:endParaRPr/>
          </a:p>
          <a:p>
            <a:pPr indent="-165100" lvl="0" marL="342900" rtl="0" algn="l">
              <a:spcBef>
                <a:spcPts val="560"/>
              </a:spcBef>
              <a:spcAft>
                <a:spcPts val="0"/>
              </a:spcAft>
              <a:buClr>
                <a:schemeClr val="dk1"/>
              </a:buClr>
              <a:buSzPts val="2800"/>
              <a:buFont typeface="Arial"/>
              <a:buNone/>
            </a:pPr>
            <a:r>
              <a:t/>
            </a:r>
            <a:endParaRPr/>
          </a:p>
        </p:txBody>
      </p:sp>
      <p:sp>
        <p:nvSpPr>
          <p:cNvPr id="283" name="Google Shape;283;p30"/>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1"/>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Toxics</a:t>
            </a:r>
            <a:endParaRPr/>
          </a:p>
        </p:txBody>
      </p:sp>
      <p:sp>
        <p:nvSpPr>
          <p:cNvPr id="289" name="Google Shape;289;p31"/>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Optional Task that will not be exercised in the BY but may in the OY’s</a:t>
            </a:r>
            <a:endParaRPr/>
          </a:p>
          <a:p>
            <a:pPr indent="-285750" lvl="1" marL="630238" rtl="0" algn="l">
              <a:spcBef>
                <a:spcPts val="480"/>
              </a:spcBef>
              <a:spcAft>
                <a:spcPts val="0"/>
              </a:spcAft>
              <a:buClr>
                <a:schemeClr val="dk1"/>
              </a:buClr>
              <a:buSzPts val="2400"/>
              <a:buFont typeface="Arial"/>
              <a:buChar char="•"/>
            </a:pPr>
            <a:r>
              <a:rPr lang="en-US"/>
              <a:t>Plans review (design review)</a:t>
            </a:r>
            <a:endParaRPr/>
          </a:p>
          <a:p>
            <a:pPr indent="-285750" lvl="1" marL="630238" rtl="0" algn="l">
              <a:spcBef>
                <a:spcPts val="480"/>
              </a:spcBef>
              <a:spcAft>
                <a:spcPts val="0"/>
              </a:spcAft>
              <a:buClr>
                <a:schemeClr val="dk1"/>
              </a:buClr>
              <a:buSzPts val="2400"/>
              <a:buFont typeface="Arial"/>
              <a:buChar char="•"/>
            </a:pPr>
            <a:r>
              <a:rPr lang="en-US"/>
              <a:t>Records research </a:t>
            </a:r>
            <a:endParaRPr/>
          </a:p>
          <a:p>
            <a:pPr indent="-285750" lvl="1" marL="630238" rtl="0" algn="l">
              <a:spcBef>
                <a:spcPts val="480"/>
              </a:spcBef>
              <a:spcAft>
                <a:spcPts val="0"/>
              </a:spcAft>
              <a:buClr>
                <a:schemeClr val="dk1"/>
              </a:buClr>
              <a:buSzPts val="2400"/>
              <a:buFont typeface="Arial"/>
              <a:buChar char="•"/>
            </a:pPr>
            <a:r>
              <a:rPr lang="en-US"/>
              <a:t>Data management</a:t>
            </a:r>
            <a:endParaRPr/>
          </a:p>
          <a:p>
            <a:pPr indent="-285750" lvl="1" marL="630238" rtl="0" algn="l">
              <a:spcBef>
                <a:spcPts val="480"/>
              </a:spcBef>
              <a:spcAft>
                <a:spcPts val="0"/>
              </a:spcAft>
              <a:buClr>
                <a:schemeClr val="dk1"/>
              </a:buClr>
              <a:buSzPts val="2400"/>
              <a:buFont typeface="Arial"/>
              <a:buChar char="•"/>
            </a:pPr>
            <a:r>
              <a:rPr lang="en-US"/>
              <a:t>Visual confirmation - No sampling </a:t>
            </a:r>
            <a:endParaRPr/>
          </a:p>
          <a:p>
            <a:pPr indent="-133350" lvl="1" marL="742950" rtl="0" algn="l">
              <a:spcBef>
                <a:spcPts val="480"/>
              </a:spcBef>
              <a:spcAft>
                <a:spcPts val="0"/>
              </a:spcAft>
              <a:buClr>
                <a:schemeClr val="dk1"/>
              </a:buClr>
              <a:buSzPts val="2400"/>
              <a:buFont typeface="Arial"/>
              <a:buNone/>
            </a:pPr>
            <a:r>
              <a:t/>
            </a:r>
            <a:endParaRPr/>
          </a:p>
        </p:txBody>
      </p:sp>
      <p:sp>
        <p:nvSpPr>
          <p:cNvPr id="290" name="Google Shape;290;p31"/>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Public Notification</a:t>
            </a:r>
            <a:endParaRPr/>
          </a:p>
        </p:txBody>
      </p:sp>
      <p:sp>
        <p:nvSpPr>
          <p:cNvPr id="296" name="Google Shape;296;p32"/>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Arial"/>
              <a:buChar char="•"/>
            </a:pPr>
            <a:r>
              <a:rPr lang="en-US"/>
              <a:t>Public Notices are permit driven </a:t>
            </a:r>
            <a:endParaRPr/>
          </a:p>
          <a:p>
            <a:pPr indent="-285750" lvl="1" marL="630238" rtl="0" algn="l">
              <a:spcBef>
                <a:spcPts val="480"/>
              </a:spcBef>
              <a:spcAft>
                <a:spcPts val="0"/>
              </a:spcAft>
              <a:buClr>
                <a:schemeClr val="dk1"/>
              </a:buClr>
              <a:buSzPts val="2400"/>
              <a:buFont typeface="Arial"/>
              <a:buChar char="•"/>
            </a:pPr>
            <a:r>
              <a:rPr lang="en-US"/>
              <a:t>Needed for permit compliance </a:t>
            </a:r>
            <a:endParaRPr/>
          </a:p>
          <a:p>
            <a:pPr indent="-285750" lvl="1" marL="630238" rtl="0" algn="l">
              <a:spcBef>
                <a:spcPts val="480"/>
              </a:spcBef>
              <a:spcAft>
                <a:spcPts val="0"/>
              </a:spcAft>
              <a:buClr>
                <a:schemeClr val="dk1"/>
              </a:buClr>
              <a:buSzPts val="2400"/>
              <a:buFont typeface="Arial"/>
              <a:buChar char="•"/>
            </a:pPr>
            <a:r>
              <a:rPr lang="en-US"/>
              <a:t>New, Modifications, and renewals </a:t>
            </a:r>
            <a:endParaRPr/>
          </a:p>
        </p:txBody>
      </p:sp>
      <p:sp>
        <p:nvSpPr>
          <p:cNvPr id="297" name="Google Shape;297;p32"/>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Plans/Permits</a:t>
            </a:r>
            <a:endParaRPr/>
          </a:p>
        </p:txBody>
      </p:sp>
      <p:sp>
        <p:nvSpPr>
          <p:cNvPr id="304" name="Google Shape;304;p33"/>
          <p:cNvSpPr txBox="1"/>
          <p:nvPr>
            <p:ph idx="1" type="body"/>
          </p:nvPr>
        </p:nvSpPr>
        <p:spPr>
          <a:xfrm>
            <a:off x="304800" y="1216025"/>
            <a:ext cx="8534400" cy="545804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US" sz="2400"/>
              <a:t>Plans</a:t>
            </a:r>
            <a:endParaRPr/>
          </a:p>
          <a:p>
            <a:pPr indent="-285750" lvl="1" marL="285750" rtl="0" algn="l">
              <a:spcBef>
                <a:spcPts val="480"/>
              </a:spcBef>
              <a:spcAft>
                <a:spcPts val="0"/>
              </a:spcAft>
              <a:buClr>
                <a:schemeClr val="dk1"/>
              </a:buClr>
              <a:buSzPts val="2400"/>
              <a:buFont typeface="Arial"/>
              <a:buChar char="•"/>
            </a:pPr>
            <a:r>
              <a:rPr lang="en-US"/>
              <a:t>CCSFS – 2 (SWPPP, SPCC)</a:t>
            </a:r>
            <a:endParaRPr/>
          </a:p>
          <a:p>
            <a:pPr indent="-285750" lvl="1" marL="285750" rtl="0" algn="l">
              <a:spcBef>
                <a:spcPts val="480"/>
              </a:spcBef>
              <a:spcAft>
                <a:spcPts val="0"/>
              </a:spcAft>
              <a:buClr>
                <a:schemeClr val="dk1"/>
              </a:buClr>
              <a:buSzPts val="2400"/>
              <a:buFont typeface="Arial"/>
              <a:buChar char="•"/>
            </a:pPr>
            <a:r>
              <a:rPr lang="en-US"/>
              <a:t>PSFB – 6 (SWMP, SWPPP, SPCC, FRP, ISWMP and HWMP) </a:t>
            </a:r>
            <a:endParaRPr/>
          </a:p>
          <a:p>
            <a:pPr indent="-285750" lvl="1" marL="285750" rtl="0" algn="l">
              <a:spcBef>
                <a:spcPts val="480"/>
              </a:spcBef>
              <a:spcAft>
                <a:spcPts val="0"/>
              </a:spcAft>
              <a:buClr>
                <a:schemeClr val="dk1"/>
              </a:buClr>
              <a:buSzPts val="2400"/>
              <a:buFont typeface="Arial"/>
              <a:buChar char="•"/>
            </a:pPr>
            <a:r>
              <a:rPr lang="en-US"/>
              <a:t>APAFR – 4 (HWMP, SWPPP, ISWMP, SPCC)</a:t>
            </a:r>
            <a:endParaRPr/>
          </a:p>
          <a:p>
            <a:pPr indent="0" lvl="0" marL="0" rtl="0" algn="l">
              <a:spcBef>
                <a:spcPts val="480"/>
              </a:spcBef>
              <a:spcAft>
                <a:spcPts val="0"/>
              </a:spcAft>
              <a:buClr>
                <a:schemeClr val="dk1"/>
              </a:buClr>
              <a:buSzPts val="2400"/>
              <a:buFont typeface="Arial"/>
              <a:buNone/>
            </a:pPr>
            <a:r>
              <a:rPr lang="en-US" sz="2400"/>
              <a:t> Permits</a:t>
            </a:r>
            <a:endParaRPr/>
          </a:p>
          <a:p>
            <a:pPr indent="-285750" lvl="1" marL="285750" rtl="0" algn="l">
              <a:spcBef>
                <a:spcPts val="480"/>
              </a:spcBef>
              <a:spcAft>
                <a:spcPts val="0"/>
              </a:spcAft>
              <a:buClr>
                <a:schemeClr val="dk1"/>
              </a:buClr>
              <a:buSzPts val="2400"/>
              <a:buFont typeface="Arial"/>
              <a:buChar char="•"/>
            </a:pPr>
            <a:r>
              <a:rPr lang="en-US"/>
              <a:t>CCSFS – 5 (RCRA C &amp; D, MSGP, Air General, and Wastewater)</a:t>
            </a:r>
            <a:endParaRPr/>
          </a:p>
          <a:p>
            <a:pPr indent="-285750" lvl="1" marL="285750" rtl="0" algn="l">
              <a:spcBef>
                <a:spcPts val="480"/>
              </a:spcBef>
              <a:spcAft>
                <a:spcPts val="0"/>
              </a:spcAft>
              <a:buClr>
                <a:schemeClr val="dk1"/>
              </a:buClr>
              <a:buSzPts val="2400"/>
              <a:buFont typeface="Arial"/>
              <a:buChar char="•"/>
            </a:pPr>
            <a:r>
              <a:rPr lang="en-US"/>
              <a:t>PSFB – 3 (MS4, MSGP, RCRA) </a:t>
            </a:r>
            <a:endParaRPr/>
          </a:p>
          <a:p>
            <a:pPr indent="-285750" lvl="1" marL="285750" rtl="0" algn="l">
              <a:spcBef>
                <a:spcPts val="480"/>
              </a:spcBef>
              <a:spcAft>
                <a:spcPts val="0"/>
              </a:spcAft>
              <a:buClr>
                <a:schemeClr val="dk1"/>
              </a:buClr>
              <a:buSzPts val="2400"/>
              <a:buFont typeface="Arial"/>
              <a:buChar char="•"/>
            </a:pPr>
            <a:r>
              <a:rPr lang="en-US"/>
              <a:t>APAFR – 1 (MSGP)</a:t>
            </a:r>
            <a:endParaRPr/>
          </a:p>
          <a:p>
            <a:pPr indent="0" lvl="1" marL="52388" rtl="0" algn="l">
              <a:spcBef>
                <a:spcPts val="480"/>
              </a:spcBef>
              <a:spcAft>
                <a:spcPts val="0"/>
              </a:spcAft>
              <a:buClr>
                <a:schemeClr val="dk1"/>
              </a:buClr>
              <a:buSzPts val="2400"/>
              <a:buFont typeface="Arial"/>
              <a:buNone/>
            </a:pPr>
            <a:r>
              <a:rPr lang="en-US"/>
              <a:t>Exemptions </a:t>
            </a:r>
            <a:endParaRPr/>
          </a:p>
          <a:p>
            <a:pPr indent="-285750" lvl="1" marL="285750" rtl="0" algn="l">
              <a:spcBef>
                <a:spcPts val="480"/>
              </a:spcBef>
              <a:spcAft>
                <a:spcPts val="0"/>
              </a:spcAft>
              <a:buClr>
                <a:schemeClr val="dk1"/>
              </a:buClr>
              <a:buSzPts val="2400"/>
              <a:buFont typeface="Arial"/>
              <a:buChar char="•"/>
            </a:pPr>
            <a:r>
              <a:rPr lang="en-US"/>
              <a:t>Clean Air Act, Stormwater No Exposure, Clean Water Act</a:t>
            </a:r>
            <a:endParaRPr/>
          </a:p>
          <a:p>
            <a:pPr indent="0" lvl="1" marL="576263" rtl="0" algn="l">
              <a:spcBef>
                <a:spcPts val="0"/>
              </a:spcBef>
              <a:spcAft>
                <a:spcPts val="0"/>
              </a:spcAft>
              <a:buClr>
                <a:schemeClr val="dk1"/>
              </a:buClr>
              <a:buSzPts val="1800"/>
              <a:buFont typeface="Arial"/>
              <a:buNone/>
            </a:pPr>
            <a:r>
              <a:t/>
            </a:r>
            <a:endParaRPr b="0" sz="1800"/>
          </a:p>
          <a:p>
            <a:pPr indent="0" lvl="0" marL="0" rtl="0" algn="l">
              <a:spcBef>
                <a:spcPts val="560"/>
              </a:spcBef>
              <a:spcAft>
                <a:spcPts val="0"/>
              </a:spcAft>
              <a:buClr>
                <a:schemeClr val="dk1"/>
              </a:buClr>
              <a:buSzPts val="2800"/>
              <a:buFont typeface="Arial"/>
              <a:buNone/>
            </a:pPr>
            <a:r>
              <a:t/>
            </a:r>
            <a:endParaRPr/>
          </a:p>
          <a:p>
            <a:pPr indent="0" lvl="0" marL="0" rtl="0" algn="l">
              <a:spcBef>
                <a:spcPts val="560"/>
              </a:spcBef>
              <a:spcAft>
                <a:spcPts val="0"/>
              </a:spcAft>
              <a:buClr>
                <a:schemeClr val="dk1"/>
              </a:buClr>
              <a:buSzPts val="2800"/>
              <a:buFont typeface="Arial"/>
              <a:buNone/>
            </a:pPr>
            <a:r>
              <a:t/>
            </a:r>
            <a:endParaRPr/>
          </a:p>
        </p:txBody>
      </p:sp>
      <p:sp>
        <p:nvSpPr>
          <p:cNvPr id="305" name="Google Shape;305;p33"/>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Review Taskers</a:t>
            </a:r>
            <a:endParaRPr/>
          </a:p>
        </p:txBody>
      </p:sp>
      <p:sp>
        <p:nvSpPr>
          <p:cNvPr id="311" name="Google Shape;311;p34"/>
          <p:cNvSpPr txBox="1"/>
          <p:nvPr>
            <p:ph idx="1" type="body"/>
          </p:nvPr>
        </p:nvSpPr>
        <p:spPr>
          <a:xfrm>
            <a:off x="304800" y="1216025"/>
            <a:ext cx="8534400" cy="502712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Day to Day requirements (103 &amp; 332)</a:t>
            </a:r>
            <a:endParaRPr/>
          </a:p>
          <a:p>
            <a:pPr indent="-342900" lvl="0" marL="342900" rtl="0" algn="l">
              <a:spcBef>
                <a:spcPts val="480"/>
              </a:spcBef>
              <a:spcAft>
                <a:spcPts val="0"/>
              </a:spcAft>
              <a:buClr>
                <a:schemeClr val="dk1"/>
              </a:buClr>
              <a:buSzPts val="2400"/>
              <a:buFont typeface="Arial"/>
              <a:buChar char="•"/>
            </a:pPr>
            <a:r>
              <a:rPr lang="en-US" sz="2400"/>
              <a:t>Environmental Baseline Survey Support</a:t>
            </a:r>
            <a:endParaRPr/>
          </a:p>
          <a:p>
            <a:pPr indent="-342900" lvl="0" marL="342900" rtl="0" algn="l">
              <a:spcBef>
                <a:spcPts val="480"/>
              </a:spcBef>
              <a:spcAft>
                <a:spcPts val="0"/>
              </a:spcAft>
              <a:buClr>
                <a:schemeClr val="dk1"/>
              </a:buClr>
              <a:buSzPts val="2400"/>
              <a:buFont typeface="Arial"/>
              <a:buChar char="•"/>
            </a:pPr>
            <a:r>
              <a:rPr lang="en-US" sz="2400"/>
              <a:t>Responsible for 100% review of 30,60,90 and 100 percent design review evaluation and commenting to ensure compliance with DAF and regulatory compliance. </a:t>
            </a:r>
            <a:endParaRPr/>
          </a:p>
          <a:p>
            <a:pPr indent="-342900" lvl="0" marL="342900" rtl="0" algn="l">
              <a:spcBef>
                <a:spcPts val="480"/>
              </a:spcBef>
              <a:spcAft>
                <a:spcPts val="0"/>
              </a:spcAft>
              <a:buClr>
                <a:schemeClr val="dk1"/>
              </a:buClr>
              <a:buSzPts val="2400"/>
              <a:buFont typeface="Arial"/>
              <a:buChar char="•"/>
            </a:pPr>
            <a:r>
              <a:rPr lang="en-US" sz="2400"/>
              <a:t>Environmental Protection Plans</a:t>
            </a:r>
            <a:endParaRPr/>
          </a:p>
          <a:p>
            <a:pPr indent="-342900" lvl="0" marL="342900" rtl="0" algn="l">
              <a:spcBef>
                <a:spcPts val="480"/>
              </a:spcBef>
              <a:spcAft>
                <a:spcPts val="0"/>
              </a:spcAft>
              <a:buClr>
                <a:schemeClr val="dk1"/>
              </a:buClr>
              <a:buSzPts val="2400"/>
              <a:buFont typeface="Arial"/>
              <a:buChar char="•"/>
            </a:pPr>
            <a:r>
              <a:rPr lang="en-US" sz="2400"/>
              <a:t>Construction Submittals (Dewatering, Stormwater, Solid Waste, etc.)</a:t>
            </a:r>
            <a:endParaRPr/>
          </a:p>
          <a:p>
            <a:pPr indent="-285750" lvl="1" marL="630238" rtl="0" algn="l">
              <a:spcBef>
                <a:spcPts val="480"/>
              </a:spcBef>
              <a:spcAft>
                <a:spcPts val="0"/>
              </a:spcAft>
              <a:buClr>
                <a:schemeClr val="dk1"/>
              </a:buClr>
              <a:buSzPts val="2400"/>
              <a:buFont typeface="Arial"/>
              <a:buChar char="•"/>
            </a:pPr>
            <a:r>
              <a:rPr lang="en-US"/>
              <a:t>Contractor is expected to provide qualitative comments which can be implemented by design teams. </a:t>
            </a:r>
            <a:endParaRPr/>
          </a:p>
        </p:txBody>
      </p:sp>
      <p:sp>
        <p:nvSpPr>
          <p:cNvPr id="312" name="Google Shape;312;p34"/>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NEPA</a:t>
            </a:r>
            <a:endParaRPr/>
          </a:p>
        </p:txBody>
      </p:sp>
      <p:sp>
        <p:nvSpPr>
          <p:cNvPr id="319" name="Google Shape;319;p35"/>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Provide comprehensive evaluation and review of respective program areas in NEPA documents (AF Form 813s, EA, EIS)</a:t>
            </a:r>
            <a:endParaRPr/>
          </a:p>
          <a:p>
            <a:pPr indent="-342900" lvl="0" marL="342900" rtl="0" algn="l">
              <a:spcBef>
                <a:spcPts val="480"/>
              </a:spcBef>
              <a:spcAft>
                <a:spcPts val="0"/>
              </a:spcAft>
              <a:buClr>
                <a:schemeClr val="dk1"/>
              </a:buClr>
              <a:buSzPts val="2400"/>
              <a:buFont typeface="Arial"/>
              <a:buChar char="•"/>
            </a:pPr>
            <a:r>
              <a:rPr lang="en-US" sz="2400"/>
              <a:t>ACAM – Air Conformity Applicability Model </a:t>
            </a:r>
            <a:endParaRPr/>
          </a:p>
        </p:txBody>
      </p:sp>
      <p:sp>
        <p:nvSpPr>
          <p:cNvPr id="320" name="Google Shape;320;p35"/>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Map of Patrick ISS Locations</a:t>
            </a:r>
            <a:endParaRPr/>
          </a:p>
        </p:txBody>
      </p:sp>
      <p:sp>
        <p:nvSpPr>
          <p:cNvPr id="326" name="Google Shape;326;p36"/>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pic>
        <p:nvPicPr>
          <p:cNvPr descr="Map&#10;&#10;AI-generated content may be incorrect." id="327" name="Google Shape;327;p36"/>
          <p:cNvPicPr preferRelativeResize="0"/>
          <p:nvPr>
            <p:ph idx="1" type="body"/>
          </p:nvPr>
        </p:nvPicPr>
        <p:blipFill rotWithShape="1">
          <a:blip r:embed="rId3">
            <a:alphaModFix/>
          </a:blip>
          <a:srcRect b="0" l="0" r="0" t="0"/>
          <a:stretch/>
        </p:blipFill>
        <p:spPr>
          <a:xfrm rot="-5400000">
            <a:off x="1954405" y="-517492"/>
            <a:ext cx="5536642" cy="88425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7"/>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Data Management Systems</a:t>
            </a:r>
            <a:endParaRPr/>
          </a:p>
        </p:txBody>
      </p:sp>
      <p:sp>
        <p:nvSpPr>
          <p:cNvPr id="333" name="Google Shape;333;p37"/>
          <p:cNvSpPr txBox="1"/>
          <p:nvPr>
            <p:ph idx="1" type="body"/>
          </p:nvPr>
        </p:nvSpPr>
        <p:spPr>
          <a:xfrm>
            <a:off x="304800" y="1216025"/>
            <a:ext cx="8534400" cy="521630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APIMS (Air, Power, Refrigerants, STAR, WET)</a:t>
            </a:r>
            <a:endParaRPr/>
          </a:p>
          <a:p>
            <a:pPr indent="-342900" lvl="0" marL="342900" rtl="0" algn="l">
              <a:spcBef>
                <a:spcPts val="480"/>
              </a:spcBef>
              <a:spcAft>
                <a:spcPts val="0"/>
              </a:spcAft>
              <a:buClr>
                <a:schemeClr val="dk1"/>
              </a:buClr>
              <a:buSzPts val="2400"/>
              <a:buFont typeface="Arial"/>
              <a:buChar char="•"/>
            </a:pPr>
            <a:r>
              <a:rPr lang="en-US" sz="2400"/>
              <a:t>EESOH-MIS</a:t>
            </a:r>
            <a:endParaRPr/>
          </a:p>
          <a:p>
            <a:pPr indent="-342900" lvl="0" marL="342900" rtl="0" algn="l">
              <a:spcBef>
                <a:spcPts val="480"/>
              </a:spcBef>
              <a:spcAft>
                <a:spcPts val="0"/>
              </a:spcAft>
              <a:buClr>
                <a:schemeClr val="dk1"/>
              </a:buClr>
              <a:buSzPts val="2400"/>
              <a:buFont typeface="Arial"/>
              <a:buChar char="•"/>
            </a:pPr>
            <a:r>
              <a:rPr lang="en-US" sz="2400"/>
              <a:t>eDASH (EASIER, EAP, MICT, RAIT, TEMP)</a:t>
            </a:r>
            <a:endParaRPr/>
          </a:p>
          <a:p>
            <a:pPr indent="-342900" lvl="0" marL="342900" rtl="0" algn="l">
              <a:spcBef>
                <a:spcPts val="480"/>
              </a:spcBef>
              <a:spcAft>
                <a:spcPts val="0"/>
              </a:spcAft>
              <a:buClr>
                <a:schemeClr val="dk1"/>
              </a:buClr>
              <a:buSzPts val="2400"/>
              <a:buFont typeface="Arial"/>
              <a:buChar char="•"/>
            </a:pPr>
            <a:r>
              <a:rPr lang="en-US" sz="2400"/>
              <a:t>TEACH</a:t>
            </a:r>
            <a:endParaRPr/>
          </a:p>
          <a:p>
            <a:pPr indent="-342900" lvl="0" marL="342900" rtl="0" algn="l">
              <a:spcBef>
                <a:spcPts val="480"/>
              </a:spcBef>
              <a:spcAft>
                <a:spcPts val="0"/>
              </a:spcAft>
              <a:buClr>
                <a:schemeClr val="dk1"/>
              </a:buClr>
              <a:buSzPts val="2400"/>
              <a:buFont typeface="Arial"/>
              <a:buChar char="•"/>
            </a:pPr>
            <a:r>
              <a:rPr lang="en-US" sz="2400"/>
              <a:t>ACAM</a:t>
            </a:r>
            <a:endParaRPr/>
          </a:p>
          <a:p>
            <a:pPr indent="-342900" lvl="0" marL="342900" rtl="0" algn="l">
              <a:spcBef>
                <a:spcPts val="480"/>
              </a:spcBef>
              <a:spcAft>
                <a:spcPts val="0"/>
              </a:spcAft>
              <a:buClr>
                <a:schemeClr val="dk1"/>
              </a:buClr>
              <a:buSzPts val="2400"/>
              <a:buFont typeface="Arial"/>
              <a:buChar char="•"/>
            </a:pPr>
            <a:r>
              <a:rPr lang="en-US" sz="2400"/>
              <a:t>FDEP Business Portal (EzDMR)</a:t>
            </a:r>
            <a:endParaRPr/>
          </a:p>
          <a:p>
            <a:pPr indent="-342900" lvl="0" marL="342900" rtl="0" algn="l">
              <a:spcBef>
                <a:spcPts val="480"/>
              </a:spcBef>
              <a:spcAft>
                <a:spcPts val="0"/>
              </a:spcAft>
              <a:buClr>
                <a:schemeClr val="dk1"/>
              </a:buClr>
              <a:buSzPts val="2400"/>
              <a:buFont typeface="Arial"/>
              <a:buChar char="•"/>
            </a:pPr>
            <a:r>
              <a:rPr lang="en-US" sz="2400"/>
              <a:t>RCRA Info  </a:t>
            </a:r>
            <a:endParaRPr/>
          </a:p>
          <a:p>
            <a:pPr indent="-342900" lvl="0" marL="342900" rtl="0" algn="l">
              <a:spcBef>
                <a:spcPts val="480"/>
              </a:spcBef>
              <a:spcAft>
                <a:spcPts val="0"/>
              </a:spcAft>
              <a:buClr>
                <a:schemeClr val="dk1"/>
              </a:buClr>
              <a:buSzPts val="2400"/>
              <a:buFont typeface="Arial"/>
              <a:buChar char="•"/>
            </a:pPr>
            <a:r>
              <a:rPr lang="en-US" sz="2400"/>
              <a:t>EPCRA – E-plan</a:t>
            </a:r>
            <a:endParaRPr/>
          </a:p>
          <a:p>
            <a:pPr indent="-215900" lvl="0" marL="342900" rtl="0" algn="l">
              <a:spcBef>
                <a:spcPts val="400"/>
              </a:spcBef>
              <a:spcAft>
                <a:spcPts val="0"/>
              </a:spcAft>
              <a:buClr>
                <a:schemeClr val="dk1"/>
              </a:buClr>
              <a:buSzPts val="2000"/>
              <a:buFont typeface="Arial"/>
              <a:buNone/>
            </a:pPr>
            <a:r>
              <a:t/>
            </a:r>
            <a:endParaRPr sz="2000"/>
          </a:p>
          <a:p>
            <a:pPr indent="0" lvl="0" marL="0" rtl="0" algn="l">
              <a:spcBef>
                <a:spcPts val="560"/>
              </a:spcBef>
              <a:spcAft>
                <a:spcPts val="0"/>
              </a:spcAft>
              <a:buClr>
                <a:schemeClr val="dk1"/>
              </a:buClr>
              <a:buSzPts val="2800"/>
              <a:buFont typeface="Arial"/>
              <a:buNone/>
            </a:pPr>
            <a:r>
              <a:t/>
            </a:r>
            <a:endParaRPr/>
          </a:p>
        </p:txBody>
      </p:sp>
      <p:sp>
        <p:nvSpPr>
          <p:cNvPr id="334" name="Google Shape;334;p37"/>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Unique Considerations</a:t>
            </a:r>
            <a:endParaRPr/>
          </a:p>
        </p:txBody>
      </p:sp>
      <p:sp>
        <p:nvSpPr>
          <p:cNvPr id="340" name="Google Shape;340;p38"/>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341" name="Google Shape;341;p38"/>
          <p:cNvSpPr txBox="1"/>
          <p:nvPr>
            <p:ph idx="1" type="body"/>
          </p:nvPr>
        </p:nvSpPr>
        <p:spPr>
          <a:xfrm>
            <a:off x="304800" y="1216025"/>
            <a:ext cx="8534400" cy="522681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Building Space Port of the Future</a:t>
            </a:r>
            <a:endParaRPr/>
          </a:p>
          <a:p>
            <a:pPr indent="-342900" lvl="0" marL="342900" rtl="0" algn="l">
              <a:spcBef>
                <a:spcPts val="480"/>
              </a:spcBef>
              <a:spcAft>
                <a:spcPts val="0"/>
              </a:spcAft>
              <a:buClr>
                <a:schemeClr val="dk1"/>
              </a:buClr>
              <a:buSzPts val="2400"/>
              <a:buFont typeface="Arial"/>
              <a:buChar char="•"/>
            </a:pPr>
            <a:r>
              <a:rPr lang="en-US" sz="2400"/>
              <a:t>CCSFS Wastewater Permit compliance</a:t>
            </a:r>
            <a:endParaRPr/>
          </a:p>
          <a:p>
            <a:pPr indent="-342900" lvl="0" marL="342900" rtl="0" algn="l">
              <a:spcBef>
                <a:spcPts val="480"/>
              </a:spcBef>
              <a:spcAft>
                <a:spcPts val="0"/>
              </a:spcAft>
              <a:buClr>
                <a:schemeClr val="dk1"/>
              </a:buClr>
              <a:buSzPts val="2400"/>
              <a:buFont typeface="Arial"/>
              <a:buChar char="•"/>
            </a:pPr>
            <a:r>
              <a:rPr lang="en-US" sz="2400"/>
              <a:t>Total Maximum Daily Load (TMDL) compliance </a:t>
            </a:r>
            <a:endParaRPr/>
          </a:p>
          <a:p>
            <a:pPr indent="-342900" lvl="0" marL="342900" rtl="0" algn="l">
              <a:spcBef>
                <a:spcPts val="480"/>
              </a:spcBef>
              <a:spcAft>
                <a:spcPts val="0"/>
              </a:spcAft>
              <a:buClr>
                <a:schemeClr val="dk1"/>
              </a:buClr>
              <a:buSzPts val="2400"/>
              <a:buFont typeface="Arial"/>
              <a:buChar char="•"/>
            </a:pPr>
            <a:r>
              <a:rPr lang="en-US" sz="2400"/>
              <a:t>OB/OD Permit requirements / SWMU Sites</a:t>
            </a:r>
            <a:endParaRPr/>
          </a:p>
          <a:p>
            <a:pPr indent="-342900" lvl="0" marL="342900" rtl="0" algn="l">
              <a:spcBef>
                <a:spcPts val="480"/>
              </a:spcBef>
              <a:spcAft>
                <a:spcPts val="0"/>
              </a:spcAft>
              <a:buClr>
                <a:schemeClr val="dk1"/>
              </a:buClr>
              <a:buSzPts val="2400"/>
              <a:buFont typeface="Arial"/>
              <a:buChar char="•"/>
            </a:pPr>
            <a:r>
              <a:rPr lang="en-US" sz="2400"/>
              <a:t>Stormwater permit compliance (proximity to waters of the US)</a:t>
            </a:r>
            <a:endParaRPr/>
          </a:p>
          <a:p>
            <a:pPr indent="-165100" lvl="0" marL="342900" rtl="0" algn="l">
              <a:spcBef>
                <a:spcPts val="560"/>
              </a:spcBef>
              <a:spcAft>
                <a:spcPts val="0"/>
              </a:spcAft>
              <a:buClr>
                <a:schemeClr val="dk1"/>
              </a:buClr>
              <a:buSzPts val="2800"/>
              <a:buFont typeface="Arial"/>
              <a:buNone/>
            </a:pPr>
            <a:r>
              <a:t/>
            </a:r>
            <a:endParaRPr/>
          </a:p>
          <a:p>
            <a:pPr indent="-165100" lvl="0" marL="342900" rtl="0" algn="l">
              <a:spcBef>
                <a:spcPts val="560"/>
              </a:spcBef>
              <a:spcAft>
                <a:spcPts val="0"/>
              </a:spcAft>
              <a:buClr>
                <a:schemeClr val="dk1"/>
              </a:buClr>
              <a:buSzPts val="2800"/>
              <a:buFont typeface="Arial"/>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9"/>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Site Tour - PSFB</a:t>
            </a:r>
            <a:endParaRPr/>
          </a:p>
        </p:txBody>
      </p:sp>
      <p:sp>
        <p:nvSpPr>
          <p:cNvPr id="347" name="Google Shape;347;p39"/>
          <p:cNvSpPr txBox="1"/>
          <p:nvPr>
            <p:ph idx="1" type="body"/>
          </p:nvPr>
        </p:nvSpPr>
        <p:spPr>
          <a:xfrm>
            <a:off x="304800" y="1216025"/>
            <a:ext cx="8534400" cy="53038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TSDF (Space Force and AFTAC)</a:t>
            </a:r>
            <a:endParaRPr/>
          </a:p>
          <a:p>
            <a:pPr indent="-342900" lvl="0" marL="342900" rtl="0" algn="l">
              <a:spcBef>
                <a:spcPts val="480"/>
              </a:spcBef>
              <a:spcAft>
                <a:spcPts val="0"/>
              </a:spcAft>
              <a:buClr>
                <a:schemeClr val="dk1"/>
              </a:buClr>
              <a:buSzPts val="2400"/>
              <a:buFont typeface="Arial"/>
              <a:buChar char="•"/>
            </a:pPr>
            <a:r>
              <a:rPr lang="en-US" sz="2400"/>
              <a:t>Stormwater Sampling – Outdoor Recreation (FAC 345), Manatee Cove Marina, Material Recycling Facility (FAC 631), Fuel Storage(FAC 676) (Visual Sample Only)</a:t>
            </a:r>
            <a:endParaRPr/>
          </a:p>
          <a:p>
            <a:pPr indent="-342900" lvl="0" marL="342900" rtl="0" algn="l">
              <a:spcBef>
                <a:spcPts val="480"/>
              </a:spcBef>
              <a:spcAft>
                <a:spcPts val="0"/>
              </a:spcAft>
              <a:buClr>
                <a:schemeClr val="dk1"/>
              </a:buClr>
              <a:buSzPts val="2400"/>
              <a:buFont typeface="Arial"/>
              <a:buChar char="•"/>
            </a:pPr>
            <a:r>
              <a:rPr lang="en-US" sz="2400"/>
              <a:t>CEIE Office/Conf room</a:t>
            </a:r>
            <a:endParaRPr/>
          </a:p>
          <a:p>
            <a:pPr indent="-190500" lvl="0" marL="342900" rtl="0" algn="l">
              <a:spcBef>
                <a:spcPts val="480"/>
              </a:spcBef>
              <a:spcAft>
                <a:spcPts val="0"/>
              </a:spcAft>
              <a:buClr>
                <a:schemeClr val="dk1"/>
              </a:buClr>
              <a:buSzPts val="2400"/>
              <a:buFont typeface="Arial"/>
              <a:buNone/>
            </a:pPr>
            <a:r>
              <a:t/>
            </a:r>
            <a:endParaRPr sz="2400"/>
          </a:p>
          <a:p>
            <a:pPr indent="0" lvl="0" marL="0" rtl="0" algn="l">
              <a:spcBef>
                <a:spcPts val="480"/>
              </a:spcBef>
              <a:spcAft>
                <a:spcPts val="0"/>
              </a:spcAft>
              <a:buClr>
                <a:schemeClr val="dk1"/>
              </a:buClr>
              <a:buSzPts val="2400"/>
              <a:buFont typeface="Arial"/>
              <a:buNone/>
            </a:pPr>
            <a:r>
              <a:t/>
            </a:r>
            <a:endParaRPr sz="2400"/>
          </a:p>
          <a:p>
            <a:pPr indent="0" lvl="0" marL="0" rtl="0" algn="l">
              <a:spcBef>
                <a:spcPts val="400"/>
              </a:spcBef>
              <a:spcAft>
                <a:spcPts val="0"/>
              </a:spcAft>
              <a:buClr>
                <a:schemeClr val="dk1"/>
              </a:buClr>
              <a:buSzPts val="2000"/>
              <a:buFont typeface="Arial"/>
              <a:buNone/>
            </a:pPr>
            <a:r>
              <a:t/>
            </a:r>
            <a:endParaRPr sz="2000"/>
          </a:p>
          <a:p>
            <a:pPr indent="-215900" lvl="0" marL="342900" rtl="0" algn="l">
              <a:spcBef>
                <a:spcPts val="400"/>
              </a:spcBef>
              <a:spcAft>
                <a:spcPts val="0"/>
              </a:spcAft>
              <a:buClr>
                <a:schemeClr val="dk1"/>
              </a:buClr>
              <a:buSzPts val="2000"/>
              <a:buFont typeface="Arial"/>
              <a:buNone/>
            </a:pPr>
            <a:r>
              <a:t/>
            </a:r>
            <a:endParaRPr sz="2000"/>
          </a:p>
        </p:txBody>
      </p:sp>
      <p:sp>
        <p:nvSpPr>
          <p:cNvPr id="348" name="Google Shape;348;p39"/>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Site Tour - CCSFS</a:t>
            </a:r>
            <a:endParaRPr/>
          </a:p>
        </p:txBody>
      </p:sp>
      <p:sp>
        <p:nvSpPr>
          <p:cNvPr id="354" name="Google Shape;354;p40"/>
          <p:cNvSpPr txBox="1"/>
          <p:nvPr>
            <p:ph idx="1" type="body"/>
          </p:nvPr>
        </p:nvSpPr>
        <p:spPr>
          <a:xfrm>
            <a:off x="304800" y="11906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Arial"/>
              <a:buChar char="•"/>
            </a:pPr>
            <a:r>
              <a:rPr lang="en-US" sz="2400"/>
              <a:t>TSDF</a:t>
            </a:r>
            <a:endParaRPr/>
          </a:p>
          <a:p>
            <a:pPr indent="-342900" lvl="0" marL="342900" rtl="0" algn="l">
              <a:spcBef>
                <a:spcPts val="480"/>
              </a:spcBef>
              <a:spcAft>
                <a:spcPts val="0"/>
              </a:spcAft>
              <a:buClr>
                <a:schemeClr val="dk1"/>
              </a:buClr>
              <a:buSzPts val="2400"/>
              <a:buFont typeface="Arial"/>
              <a:buChar char="•"/>
            </a:pPr>
            <a:r>
              <a:rPr lang="en-US" sz="2400"/>
              <a:t>EOD Thermal Treatment Unit / Waste Site</a:t>
            </a:r>
            <a:endParaRPr/>
          </a:p>
          <a:p>
            <a:pPr indent="-342900" lvl="0" marL="342900" rtl="0" algn="l">
              <a:spcBef>
                <a:spcPts val="480"/>
              </a:spcBef>
              <a:spcAft>
                <a:spcPts val="0"/>
              </a:spcAft>
              <a:buClr>
                <a:schemeClr val="dk1"/>
              </a:buClr>
              <a:buSzPts val="2400"/>
              <a:buFont typeface="Arial"/>
              <a:buChar char="•"/>
            </a:pPr>
            <a:r>
              <a:rPr lang="en-US" sz="2400"/>
              <a:t>Stormwater Sampling – Air Force Wharf, Poseidon Wharf, Trident Wharf</a:t>
            </a:r>
            <a:endParaRPr/>
          </a:p>
          <a:p>
            <a:pPr indent="-342900" lvl="0" marL="342900" rtl="0" algn="l">
              <a:spcBef>
                <a:spcPts val="480"/>
              </a:spcBef>
              <a:spcAft>
                <a:spcPts val="0"/>
              </a:spcAft>
              <a:buClr>
                <a:schemeClr val="dk1"/>
              </a:buClr>
              <a:buSzPts val="2400"/>
              <a:buFont typeface="Arial"/>
              <a:buChar char="•"/>
            </a:pPr>
            <a:r>
              <a:rPr lang="en-US" sz="2400"/>
              <a:t>WWTP, Trident Pretreatment </a:t>
            </a:r>
            <a:endParaRPr/>
          </a:p>
          <a:p>
            <a:pPr indent="-342900" lvl="0" marL="342900" rtl="0" algn="l">
              <a:spcBef>
                <a:spcPts val="480"/>
              </a:spcBef>
              <a:spcAft>
                <a:spcPts val="0"/>
              </a:spcAft>
              <a:buClr>
                <a:schemeClr val="dk1"/>
              </a:buClr>
              <a:buSzPts val="2400"/>
              <a:buFont typeface="Arial"/>
              <a:buChar char="•"/>
            </a:pPr>
            <a:r>
              <a:rPr lang="en-US" sz="2400"/>
              <a:t>Landfill monitoring and surface water wells</a:t>
            </a:r>
            <a:endParaRPr/>
          </a:p>
          <a:p>
            <a:pPr indent="-342900" lvl="0" marL="342900" rtl="0" algn="l">
              <a:spcBef>
                <a:spcPts val="480"/>
              </a:spcBef>
              <a:spcAft>
                <a:spcPts val="0"/>
              </a:spcAft>
              <a:buClr>
                <a:schemeClr val="dk1"/>
              </a:buClr>
              <a:buSzPts val="2400"/>
              <a:buFont typeface="Arial"/>
              <a:buChar char="•"/>
            </a:pPr>
            <a:r>
              <a:rPr lang="en-US" sz="2400"/>
              <a:t>CLOIS HAZMART @ Logistics </a:t>
            </a:r>
            <a:endParaRPr/>
          </a:p>
          <a:p>
            <a:pPr indent="-215900" lvl="0" marL="342900" rtl="0" algn="l">
              <a:spcBef>
                <a:spcPts val="400"/>
              </a:spcBef>
              <a:spcAft>
                <a:spcPts val="0"/>
              </a:spcAft>
              <a:buClr>
                <a:schemeClr val="dk1"/>
              </a:buClr>
              <a:buSzPts val="2000"/>
              <a:buFont typeface="Arial"/>
              <a:buNone/>
            </a:pPr>
            <a:r>
              <a:t/>
            </a:r>
            <a:endParaRPr sz="2000"/>
          </a:p>
        </p:txBody>
      </p:sp>
      <p:sp>
        <p:nvSpPr>
          <p:cNvPr id="355" name="Google Shape;355;p40"/>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356" name="Google Shape;356;p40"/>
          <p:cNvSpPr txBox="1"/>
          <p:nvPr/>
        </p:nvSpPr>
        <p:spPr>
          <a:xfrm>
            <a:off x="6435638" y="4284942"/>
            <a:ext cx="2708362" cy="2246769"/>
          </a:xfrm>
          <a:prstGeom prst="rect">
            <a:avLst/>
          </a:prstGeom>
          <a:noFill/>
          <a:ln cap="flat" cmpd="sng" w="9525">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rgbClr val="00B0F0"/>
              </a:buClr>
              <a:buSzPts val="2000"/>
              <a:buFont typeface="Arial"/>
              <a:buNone/>
            </a:pPr>
            <a:r>
              <a:rPr b="0" i="0" lang="en-US" sz="2000" u="none" cap="none" strike="noStrike">
                <a:solidFill>
                  <a:srgbClr val="00B0F0"/>
                </a:solidFill>
                <a:latin typeface="Arial"/>
                <a:ea typeface="Arial"/>
                <a:cs typeface="Arial"/>
                <a:sym typeface="Arial"/>
              </a:rPr>
              <a:t>[Please provide access to any GFE /current contractor equipment and the process of how they are used during the site tour.]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938676" y="76200"/>
            <a:ext cx="7272817"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Site Tour – Avon Park</a:t>
            </a:r>
            <a:endParaRPr/>
          </a:p>
        </p:txBody>
      </p:sp>
      <p:sp>
        <p:nvSpPr>
          <p:cNvPr id="362" name="Google Shape;362;p41"/>
          <p:cNvSpPr txBox="1"/>
          <p:nvPr>
            <p:ph idx="1" type="body"/>
          </p:nvPr>
        </p:nvSpPr>
        <p:spPr>
          <a:xfrm>
            <a:off x="304800" y="1216025"/>
            <a:ext cx="8534400" cy="3587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Arial"/>
              <a:buChar char="•"/>
            </a:pPr>
            <a:r>
              <a:rPr lang="en-US"/>
              <a:t>90-day HWAP</a:t>
            </a:r>
            <a:endParaRPr/>
          </a:p>
          <a:p>
            <a:pPr indent="-342900" lvl="0" marL="342900" rtl="0" algn="l">
              <a:spcBef>
                <a:spcPts val="560"/>
              </a:spcBef>
              <a:spcAft>
                <a:spcPts val="0"/>
              </a:spcAft>
              <a:buClr>
                <a:schemeClr val="dk1"/>
              </a:buClr>
              <a:buSzPts val="2800"/>
              <a:buFont typeface="Arial"/>
              <a:buChar char="•"/>
            </a:pPr>
            <a:r>
              <a:rPr lang="en-US"/>
              <a:t>3 MSGP Sample locations</a:t>
            </a:r>
            <a:endParaRPr/>
          </a:p>
          <a:p>
            <a:pPr indent="-342900" lvl="0" marL="342900" rtl="0" algn="l">
              <a:spcBef>
                <a:spcPts val="560"/>
              </a:spcBef>
              <a:spcAft>
                <a:spcPts val="0"/>
              </a:spcAft>
              <a:buClr>
                <a:schemeClr val="dk1"/>
              </a:buClr>
              <a:buSzPts val="2800"/>
              <a:buFont typeface="Arial"/>
              <a:buChar char="•"/>
            </a:pPr>
            <a:r>
              <a:rPr lang="en-US"/>
              <a:t>CEIE Office/Conf room</a:t>
            </a:r>
            <a:endParaRPr/>
          </a:p>
        </p:txBody>
      </p:sp>
      <p:sp>
        <p:nvSpPr>
          <p:cNvPr id="363" name="Google Shape;363;p41"/>
          <p:cNvSpPr txBox="1"/>
          <p:nvPr>
            <p:ph idx="12" type="sldNum"/>
          </p:nvPr>
        </p:nvSpPr>
        <p:spPr>
          <a:xfrm>
            <a:off x="8075850" y="6519863"/>
            <a:ext cx="1068149" cy="33813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fld id="{00000000-1234-1234-1234-123412341234}" type="slidenum">
              <a:rPr lang="en-US"/>
              <a:t>‹#›</a:t>
            </a:fld>
            <a:endParaRPr/>
          </a:p>
        </p:txBody>
      </p:sp>
      <p:sp>
        <p:nvSpPr>
          <p:cNvPr id="364" name="Google Shape;364;p41"/>
          <p:cNvSpPr txBox="1"/>
          <p:nvPr/>
        </p:nvSpPr>
        <p:spPr>
          <a:xfrm>
            <a:off x="5684270" y="1393182"/>
            <a:ext cx="2708362" cy="2246769"/>
          </a:xfrm>
          <a:prstGeom prst="rect">
            <a:avLst/>
          </a:prstGeom>
          <a:noFill/>
          <a:ln cap="flat" cmpd="sng" w="9525">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rgbClr val="00B0F0"/>
              </a:buClr>
              <a:buSzPts val="2000"/>
              <a:buFont typeface="Arial"/>
              <a:buNone/>
            </a:pPr>
            <a:r>
              <a:rPr b="0" i="0" lang="en-US" sz="2000" u="none" cap="none" strike="noStrike">
                <a:solidFill>
                  <a:srgbClr val="00B0F0"/>
                </a:solidFill>
                <a:latin typeface="Arial"/>
                <a:ea typeface="Arial"/>
                <a:cs typeface="Arial"/>
                <a:sym typeface="Arial"/>
              </a:rPr>
              <a:t>[Please provide access to any GFE /current contractor equipment and the process of how they are used during the site tour.]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2013-07-08T14:37:18Z</dcterms:created>
  <dc:creator>andersam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ContentTypeId">
    <vt:lpwstr>0x010100975140640B73BB4A8334388222215378</vt:lpwstr>
  </property>
  <property fmtid="{D5CDD505-2E9C-101B-9397-08002B2CF9AE}" pid="4" name="_dlc_DocIdItemGuid">
    <vt:lpwstr>b0a0cbed-473b-4c38-b210-5b395b1cdcd3</vt:lpwstr>
  </property>
</Properties>
</file>