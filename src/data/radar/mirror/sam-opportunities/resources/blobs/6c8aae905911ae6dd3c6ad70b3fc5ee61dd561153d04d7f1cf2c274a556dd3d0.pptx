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1067" r:id="rId2"/>
    <p:sldId id="1489" r:id="rId3"/>
    <p:sldId id="1610" r:id="rId4"/>
    <p:sldId id="1578" r:id="rId5"/>
    <p:sldId id="1607" r:id="rId6"/>
    <p:sldId id="1486" r:id="rId7"/>
    <p:sldId id="1586" r:id="rId8"/>
    <p:sldId id="1584" r:id="rId9"/>
    <p:sldId id="1596" r:id="rId10"/>
    <p:sldId id="1611" r:id="rId11"/>
    <p:sldId id="1049" r:id="rId12"/>
    <p:sldId id="1565" r:id="rId13"/>
    <p:sldId id="1567" r:id="rId14"/>
    <p:sldId id="1570" r:id="rId15"/>
    <p:sldId id="1598" r:id="rId16"/>
    <p:sldId id="15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BF806-4846-4AF7-8A7F-61E637707C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97BBD-B529-4CA8-825A-0DF93BC7C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endParaRPr lang="en-US"/>
          </a:p>
          <a:p>
            <a:pPr lvl="1"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C90A-46E3-4F6E-95A0-391D41793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82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F5D5-17C7-A3D4-88AA-9F966DF7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85FAEEDC-BDC2-6349-8397-C772D8DE2E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2720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24EA5F-1E32-4A30-AC83-0065DF355FD1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2720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3662494-F52F-C7FA-E6E5-432D72A465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A05D37E-0BE3-2AF8-F604-921D08308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defTabSz="914948" eaLnBrk="1" hangingPunct="1">
              <a:spcBef>
                <a:spcPct val="0"/>
              </a:spcBef>
              <a:defRPr/>
            </a:pP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839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29F9-1086-4CF7-6D64-2A644051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A3765866-2EC4-4EA8-B91B-7F8A6B55BE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2720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24EA5F-1E32-4A30-AC83-0065DF355FD1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2720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1B7BAEC8-5B86-843E-B8B4-D7A2CCDD1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6400" y="698500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E9B8247-EF4D-CCF6-6660-F6CD29601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defTabSz="914948" eaLnBrk="1" hangingPunct="1">
              <a:spcBef>
                <a:spcPct val="0"/>
              </a:spcBef>
              <a:defRPr/>
            </a:pP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366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720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9B4697-907C-41F1-82E1-9310D0222D8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2720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229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AC03-A841-98C3-4898-28852778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0FA9F-9248-77BB-F388-E6F4B3D1E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2DBEA-E837-C948-6A28-613805E86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538" y="4422459"/>
            <a:ext cx="5978770" cy="4188778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en-US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C0759-2AC3-1EC1-4179-394A2709E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C90A-46E3-4F6E-95A0-391D41793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618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F29E-B84B-D0AF-ADB3-FFAAA274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90925-1E42-1913-12AE-172AA7CD8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EEE1A-3BC9-9443-B087-2098DB1C3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950" y="4421981"/>
            <a:ext cx="5676900" cy="418877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C1ECB-229D-A050-0396-06E92FA72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C90A-46E3-4F6E-95A0-391D41793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0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C90A-46E3-4F6E-95A0-391D41793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950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CC17-4DCD-2716-E489-8F3BAFE2B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8276D-3A35-E158-CEF1-DBF1D2C24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96CC2-6C7B-26D6-CCA0-D2CF9A675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7BB99-6C0E-18AD-B938-69DF469CA6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C90A-46E3-4F6E-95A0-391D41793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887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BB0A-3A9C-6F21-D751-0E440FC3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9A4A2-E351-890E-5EC5-CF99485F8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D0B4E-DDDB-B5E1-B485-0DD3115DB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81F92-D4D1-1DEA-044D-581230549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C90A-46E3-4F6E-95A0-391D41793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148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7C29-2EC1-9049-4D3D-0085801A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2EAA9-9801-709F-39DC-E9DB47663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5494C-3A53-B22F-9AB5-BBDA6717D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278D2-2109-6648-FA2E-1E54F6720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C90A-46E3-4F6E-95A0-391D41793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633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508000" y="6451600"/>
            <a:ext cx="11176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693333" y="1233489"/>
            <a:ext cx="873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 i="1">
                <a:solidFill>
                  <a:srgbClr val="000000"/>
                </a:solidFill>
                <a:latin typeface="Century Schoolbook" pitchFamily="18" charset="0"/>
              </a:rPr>
              <a:t>I n t e g r i t y  -  S e r v i c e  -  E x c e l l e n c e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508000" y="1231900"/>
            <a:ext cx="11176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2900595" y="500063"/>
            <a:ext cx="632307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3600" b="1" i="1">
                <a:solidFill>
                  <a:srgbClr val="000000"/>
                </a:solidFill>
              </a:rPr>
              <a:t>Headquarters U.S. Air Force</a:t>
            </a:r>
          </a:p>
        </p:txBody>
      </p:sp>
      <p:sp>
        <p:nvSpPr>
          <p:cNvPr id="50191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368301" y="1962150"/>
            <a:ext cx="11315700" cy="1600200"/>
          </a:xfrm>
        </p:spPr>
        <p:txBody>
          <a:bodyPr/>
          <a:lstStyle>
            <a:lvl1pPr>
              <a:defRPr sz="440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8B3FFA-99AC-4324-BD10-92BBEB903BFC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64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0668000" y="6561137"/>
            <a:ext cx="1524000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4CF4F-2ECB-4C54-9552-FB58A436033C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69B36-1A05-1AC5-7740-09993DB67019}"/>
              </a:ext>
            </a:extLst>
          </p:cNvPr>
          <p:cNvSpPr txBox="1"/>
          <p:nvPr userDrawn="1"/>
        </p:nvSpPr>
        <p:spPr>
          <a:xfrm>
            <a:off x="4099984" y="6446192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Unclassified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409418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EF84F-E84D-4D5C-90AD-DD20F5FFBEC7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32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300" y="1504950"/>
            <a:ext cx="5496984" cy="4743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8485" y="1504950"/>
            <a:ext cx="5496983" cy="4743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2B2E2-0FEA-4F72-89A8-11A3A8E946C8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06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83460-22CE-41FC-80F8-C340C03D4962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7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C7D82-2055-4339-8CC9-F29A7C5867A4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05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DD686-7489-48DA-B652-1BB4DD80DFD4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58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18B27-62F7-4C1A-A37F-3A413F07B3CC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332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8B0B0-C180-4A75-9CAD-EA9C5D5F863B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84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483F6-0877-46A1-B7C0-D21571CD92A6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73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00584" y="76200"/>
            <a:ext cx="2842683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8301" y="76200"/>
            <a:ext cx="8329084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As of: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F53EA-732D-479B-AB95-4E99C6C16B68}" type="slidenum">
              <a:rPr lang="en-US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024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52400" y="1188720"/>
            <a:ext cx="11887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14313" marR="0" lvl="0" indent="-214313" algn="l" defTabSz="6858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516731" marR="0" lvl="1" indent="-211931" algn="l" defTabSz="6858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770335" marR="0" lvl="2" indent="-167879" algn="l" defTabSz="6858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200150" marR="0" lvl="3" indent="-171450" algn="l" defTabSz="6858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151C77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1543050" marR="0" lvl="4" indent="-17145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3D640D-72E6-4829-A7D4-A1A47D4DF32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5C41DF-CEDF-44F4-B67C-89222A189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2" y="91439"/>
            <a:ext cx="927463" cy="913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18A6B1-52FA-4DEB-933C-33D8ED0F76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422" y="91437"/>
            <a:ext cx="925411" cy="91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2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10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24625"/>
            <a:ext cx="162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969696"/>
                </a:solidFill>
              </a:defRPr>
            </a:lvl1pPr>
          </a:lstStyle>
          <a:p>
            <a:pPr eaLnBrk="0" hangingPunct="0">
              <a:defRPr/>
            </a:pPr>
            <a:r>
              <a:rPr lang="en-US"/>
              <a:t>As of: </a:t>
            </a:r>
          </a:p>
        </p:txBody>
      </p:sp>
      <p:sp>
        <p:nvSpPr>
          <p:cNvPr id="49156" name="Rectangle 102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51067" y="6524625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eaLnBrk="0" hangingPunct="0">
              <a:defRPr/>
            </a:pPr>
            <a:fld id="{B5E6CACA-09AB-49BC-8429-8308382B75D4}" type="slidenum">
              <a:rPr lang="en-US">
                <a:solidFill>
                  <a:srgbClr val="FFFFFF">
                    <a:lumMod val="50000"/>
                  </a:srgbClr>
                </a:solidFill>
              </a:rPr>
              <a:pPr eaLnBrk="0" hangingPunct="0">
                <a:defRPr/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29" name="Rectangle 1030"/>
          <p:cNvSpPr>
            <a:spLocks noGrp="1" noChangeArrowheads="1"/>
          </p:cNvSpPr>
          <p:nvPr>
            <p:ph type="title"/>
          </p:nvPr>
        </p:nvSpPr>
        <p:spPr bwMode="auto">
          <a:xfrm>
            <a:off x="1727200" y="49213"/>
            <a:ext cx="1030085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9163" name="Line 1035"/>
          <p:cNvSpPr>
            <a:spLocks noChangeShapeType="1"/>
          </p:cNvSpPr>
          <p:nvPr/>
        </p:nvSpPr>
        <p:spPr bwMode="auto">
          <a:xfrm>
            <a:off x="508000" y="6451600"/>
            <a:ext cx="11176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9164" name="Line 1036"/>
          <p:cNvSpPr>
            <a:spLocks noChangeShapeType="1"/>
          </p:cNvSpPr>
          <p:nvPr/>
        </p:nvSpPr>
        <p:spPr bwMode="auto">
          <a:xfrm>
            <a:off x="508000" y="1257300"/>
            <a:ext cx="11176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033" name="Rectangle 104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8301" y="1504950"/>
            <a:ext cx="11197167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0"/>
            <a:r>
              <a:rPr lang="en-US"/>
              <a:t>2nd Bullet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BE5C351-E288-43EB-8C5B-FB5063EB744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1" y="38296"/>
            <a:ext cx="1301945" cy="119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3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600" b="1" i="1">
          <a:solidFill>
            <a:srgbClr val="151C77"/>
          </a:solidFill>
          <a:latin typeface="Arial" charset="0"/>
        </a:defRPr>
      </a:lvl9pPr>
    </p:titleStyle>
    <p:bodyStyle>
      <a:lvl1pPr marL="285750" indent="-285750" algn="l" rtl="0" eaLnBrk="0" fontAlgn="base" hangingPunct="0">
        <a:spcBef>
          <a:spcPct val="50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8975" indent="-282575" algn="l" rtl="0" eaLnBrk="0" fontAlgn="base" hangingPunct="0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027113" indent="-223838" algn="l" rtl="0" eaLnBrk="0" fontAlgn="base" hangingPunct="0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5000"/>
        </a:spcBef>
        <a:spcAft>
          <a:spcPct val="0"/>
        </a:spcAft>
        <a:buClr>
          <a:srgbClr val="151C77"/>
        </a:buClr>
        <a:buSzPct val="80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4CF4F-2ECB-4C54-9552-FB58A436033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Rectangle 13"/>
          <p:cNvSpPr txBox="1">
            <a:spLocks noChangeArrowheads="1"/>
          </p:cNvSpPr>
          <p:nvPr/>
        </p:nvSpPr>
        <p:spPr bwMode="auto">
          <a:xfrm>
            <a:off x="9031289" y="332582"/>
            <a:ext cx="2528887" cy="78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0" cap="none" spc="0" normalizeH="0" baseline="0" noProof="0">
                <a:ln>
                  <a:noFill/>
                </a:ln>
                <a:solidFill>
                  <a:srgbClr val="151C77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Agenda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idx="4294967295"/>
          </p:nvPr>
        </p:nvSpPr>
        <p:spPr>
          <a:xfrm>
            <a:off x="474835" y="1592901"/>
            <a:ext cx="11085341" cy="2693349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dirty="0"/>
              <a:t>On 4 March 2026, the following slides were provided as informational hand-outs at the Europe TRI-Services Regional Summit hosted by the Society of American Military Engineers </a:t>
            </a:r>
          </a:p>
          <a:p>
            <a:pPr marL="0" indent="0" algn="ctr">
              <a:buNone/>
            </a:pPr>
            <a:endParaRPr lang="en-US" altLang="en-US" dirty="0"/>
          </a:p>
          <a:p>
            <a:r>
              <a:rPr lang="en-US" altLang="en-US" dirty="0"/>
              <a:t>Türkiye &amp; Spain BOS Program Overview</a:t>
            </a:r>
          </a:p>
          <a:p>
            <a:r>
              <a:rPr lang="en-US" altLang="en-US" dirty="0"/>
              <a:t>Requirement History</a:t>
            </a:r>
          </a:p>
          <a:p>
            <a:r>
              <a:rPr lang="en-US" altLang="en-US" dirty="0"/>
              <a:t>Hyper Inflation in Türkiye</a:t>
            </a:r>
          </a:p>
          <a:p>
            <a:r>
              <a:rPr lang="en-US" altLang="en-US" dirty="0"/>
              <a:t>Acquisition Strategy Decisions</a:t>
            </a:r>
          </a:p>
          <a:p>
            <a:r>
              <a:rPr lang="en-US" altLang="en-US" dirty="0"/>
              <a:t>Notional CLIN Structure</a:t>
            </a:r>
          </a:p>
        </p:txBody>
      </p:sp>
    </p:spTree>
    <p:extLst>
      <p:ext uri="{BB962C8B-B14F-4D97-AF65-F5344CB8AC3E}">
        <p14:creationId xmlns:p14="http://schemas.microsoft.com/office/powerpoint/2010/main" val="198431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95691-2803-F5D5-F63E-54310ADC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BEBE0C5-CE41-41D5-1F4D-30684DA61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7013" y="143026"/>
            <a:ext cx="9204249" cy="853820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cs typeface="Arial"/>
              </a:rPr>
              <a:t>Türkiye BOS Requirements </a:t>
            </a:r>
            <a:endParaRPr lang="en-US" altLang="en-US" dirty="0"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B8C122-052D-6D44-F928-D005A18DB1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3DA79-347D-4596-B7F3-05C0494CD74C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2D2DB9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2D2DB9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8437" name="Text Box 3">
            <a:extLst>
              <a:ext uri="{FF2B5EF4-FFF2-40B4-BE49-F238E27FC236}">
                <a16:creationId xmlns:a16="http://schemas.microsoft.com/office/drawing/2014/main" id="{9E03D018-A690-0650-5D44-1A7FCC1E9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6080" y="4572020"/>
            <a:ext cx="1799333" cy="307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07" tIns="45204" rIns="90407" bIns="45204">
            <a:spAutoFit/>
          </a:bodyPr>
          <a:lstStyle>
            <a:lvl1pPr eaLnBrk="0" hangingPunct="0">
              <a:spcBef>
                <a:spcPct val="50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5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5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5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6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D95E2A45-72D3-1DD1-45EB-C33E81274F54}"/>
              </a:ext>
            </a:extLst>
          </p:cNvPr>
          <p:cNvSpPr txBox="1">
            <a:spLocks/>
          </p:cNvSpPr>
          <p:nvPr/>
        </p:nvSpPr>
        <p:spPr>
          <a:xfrm>
            <a:off x="4386767" y="153525"/>
            <a:ext cx="2896810" cy="476250"/>
          </a:xfrm>
          <a:prstGeom prst="rect">
            <a:avLst/>
          </a:prstGeom>
        </p:spPr>
        <p:txBody>
          <a:bodyPr lIns="96416" tIns="48209" rIns="96416" bIns="48209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162718-5308-4317-2970-5860F5CBD68E}"/>
              </a:ext>
            </a:extLst>
          </p:cNvPr>
          <p:cNvCxnSpPr>
            <a:cxnSpLocks/>
          </p:cNvCxnSpPr>
          <p:nvPr/>
        </p:nvCxnSpPr>
        <p:spPr bwMode="auto">
          <a:xfrm>
            <a:off x="5835171" y="1229230"/>
            <a:ext cx="0" cy="520145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108293-4D14-C777-B72F-3C3F4A384453}"/>
              </a:ext>
            </a:extLst>
          </p:cNvPr>
          <p:cNvSpPr txBox="1"/>
          <p:nvPr/>
        </p:nvSpPr>
        <p:spPr>
          <a:xfrm>
            <a:off x="428258" y="1297475"/>
            <a:ext cx="540691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3017" indent="-285750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BOS Service Summary Türkiye: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AE92DA0-6D3F-E030-D567-752B0282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39" y="1782493"/>
            <a:ext cx="4670963" cy="430916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4FC2D90-0F70-5B71-6C7B-F58ACCE016AD}"/>
              </a:ext>
            </a:extLst>
          </p:cNvPr>
          <p:cNvSpPr txBox="1"/>
          <p:nvPr/>
        </p:nvSpPr>
        <p:spPr>
          <a:xfrm>
            <a:off x="6023355" y="1229864"/>
            <a:ext cx="41783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Customer: 39</a:t>
            </a:r>
            <a:r>
              <a:rPr kumimoji="0" lang="en-US" sz="1800" b="1" i="0" u="none" strike="noStrike" kern="1200" cap="none" spc="-5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</a:t>
            </a: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Air Base Wing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700528-BD72-3175-1DA3-E435DE32F0AB}"/>
              </a:ext>
            </a:extLst>
          </p:cNvPr>
          <p:cNvGrpSpPr/>
          <p:nvPr/>
        </p:nvGrpSpPr>
        <p:grpSpPr>
          <a:xfrm>
            <a:off x="299504" y="6076119"/>
            <a:ext cx="11383220" cy="369332"/>
            <a:chOff x="520701" y="6089115"/>
            <a:chExt cx="11383220" cy="3693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C08172-1A7A-5251-86CB-2002808BB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868" y="6145333"/>
              <a:ext cx="11120053" cy="27243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EB0DEF-6C9D-2394-BC13-845B3F4FC6E5}"/>
                </a:ext>
              </a:extLst>
            </p:cNvPr>
            <p:cNvSpPr txBox="1"/>
            <p:nvPr/>
          </p:nvSpPr>
          <p:spPr>
            <a:xfrm>
              <a:off x="520701" y="6089115"/>
              <a:ext cx="11140562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The BOS requirements mirror the USAF Wing-level organic functional areas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6491100-64C9-1A27-C41E-1B76A7C21EB5}"/>
              </a:ext>
            </a:extLst>
          </p:cNvPr>
          <p:cNvGrpSpPr/>
          <p:nvPr/>
        </p:nvGrpSpPr>
        <p:grpSpPr>
          <a:xfrm>
            <a:off x="6842062" y="1518573"/>
            <a:ext cx="4005807" cy="2639542"/>
            <a:chOff x="504372" y="1899507"/>
            <a:chExt cx="4005807" cy="26395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95CEBD-25F0-141F-1ECE-C4591FDC8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4372" y="2084173"/>
              <a:ext cx="4005807" cy="245487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C15592-0B28-7EA4-034F-DA0D8611D446}"/>
                </a:ext>
              </a:extLst>
            </p:cNvPr>
            <p:cNvSpPr txBox="1"/>
            <p:nvPr/>
          </p:nvSpPr>
          <p:spPr>
            <a:xfrm>
              <a:off x="1334529" y="1899507"/>
              <a:ext cx="21912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i="1" u="none" strike="noStrike" baseline="0" dirty="0">
                  <a:solidFill>
                    <a:srgbClr val="151C77"/>
                  </a:solidFill>
                  <a:latin typeface="Arial" panose="020B0604020202020204" pitchFamily="34" charset="0"/>
                </a:rPr>
                <a:t>39 ABW Footprint</a:t>
              </a:r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1FA0AB9-3718-1B5F-9E7F-D7622EC3B47C}"/>
              </a:ext>
            </a:extLst>
          </p:cNvPr>
          <p:cNvSpPr txBox="1"/>
          <p:nvPr/>
        </p:nvSpPr>
        <p:spPr>
          <a:xfrm>
            <a:off x="6774042" y="4467439"/>
            <a:ext cx="381522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Base: </a:t>
            </a:r>
            <a:endParaRPr lang="en-US" sz="1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3.3K Acres/</a:t>
            </a:r>
            <a:r>
              <a:rPr lang="en-US" sz="1400" b="1" i="0" u="none" strike="noStrike" baseline="0" dirty="0">
                <a:latin typeface="Arial" panose="020B0604020202020204" pitchFamily="34" charset="0"/>
              </a:rPr>
              <a:t>770 Main Base Facilities</a:t>
            </a:r>
            <a:endParaRPr lang="en-US" dirty="0"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932 Housing Units/9 Dormitories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1537 Active Duty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30 US Civilians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364 Local National (contract employees)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240 NATO Service Members</a:t>
            </a:r>
          </a:p>
          <a:p>
            <a:endParaRPr lang="en-US" sz="1800" b="0" i="0" u="none" strike="noStrike" baseline="0" dirty="0">
              <a:solidFill>
                <a:srgbClr val="151C7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168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5D1C-AC3B-00D9-D9A8-9B795745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137E6C-9258-7163-853C-E82B586D3C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3DA79-347D-4596-B7F3-05C0494CD74C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2D2DB9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2D2DB9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8437" name="Text Box 3">
            <a:extLst>
              <a:ext uri="{FF2B5EF4-FFF2-40B4-BE49-F238E27FC236}">
                <a16:creationId xmlns:a16="http://schemas.microsoft.com/office/drawing/2014/main" id="{2160E80F-F052-FD83-33E7-2B5C08F82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6080" y="4572020"/>
            <a:ext cx="1799333" cy="307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07" tIns="45204" rIns="90407" bIns="45204">
            <a:spAutoFit/>
          </a:bodyPr>
          <a:lstStyle>
            <a:lvl1pPr eaLnBrk="0" hangingPunct="0">
              <a:spcBef>
                <a:spcPct val="50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5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5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5000"/>
              </a:spcBef>
              <a:buClr>
                <a:srgbClr val="151C77"/>
              </a:buClr>
              <a:buSzPct val="80000"/>
              <a:buFont typeface="Wingdings" pitchFamily="2" charset="2"/>
              <a:buChar char="n"/>
              <a:defRPr sz="21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21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6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B986540-DB13-64DA-EC1C-6D0757E48D9C}"/>
              </a:ext>
            </a:extLst>
          </p:cNvPr>
          <p:cNvSpPr txBox="1">
            <a:spLocks/>
          </p:cNvSpPr>
          <p:nvPr/>
        </p:nvSpPr>
        <p:spPr>
          <a:xfrm>
            <a:off x="4386767" y="153525"/>
            <a:ext cx="2896810" cy="476250"/>
          </a:xfrm>
          <a:prstGeom prst="rect">
            <a:avLst/>
          </a:prstGeom>
        </p:spPr>
        <p:txBody>
          <a:bodyPr lIns="96416" tIns="48209" rIns="96416" bIns="48209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78EC46-735A-32A8-6B58-1E5254BD9D1A}"/>
              </a:ext>
            </a:extLst>
          </p:cNvPr>
          <p:cNvCxnSpPr>
            <a:cxnSpLocks/>
          </p:cNvCxnSpPr>
          <p:nvPr/>
        </p:nvCxnSpPr>
        <p:spPr bwMode="auto">
          <a:xfrm>
            <a:off x="5835171" y="1229230"/>
            <a:ext cx="0" cy="520145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9270FC-2DC1-6982-3DF0-A7039BDCC3B0}"/>
              </a:ext>
            </a:extLst>
          </p:cNvPr>
          <p:cNvSpPr txBox="1"/>
          <p:nvPr/>
        </p:nvSpPr>
        <p:spPr>
          <a:xfrm>
            <a:off x="47188" y="1229063"/>
            <a:ext cx="540691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3017" indent="-285750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BOS Service Summary Spain: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2EF6738-1F0D-DC9B-12C0-CB0CE1CB1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97" y="1816872"/>
            <a:ext cx="5647548" cy="402617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5E0C3FF-5DF7-B748-C735-009AC989A5AF}"/>
              </a:ext>
            </a:extLst>
          </p:cNvPr>
          <p:cNvGrpSpPr/>
          <p:nvPr/>
        </p:nvGrpSpPr>
        <p:grpSpPr>
          <a:xfrm>
            <a:off x="299503" y="6076119"/>
            <a:ext cx="11435291" cy="369332"/>
            <a:chOff x="520701" y="6089115"/>
            <a:chExt cx="11383220" cy="3693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D2AFA3-A001-209F-1038-006CB59A3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868" y="6145333"/>
              <a:ext cx="11120053" cy="27243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779B0C-FACD-8AAA-B6D3-D8B3016A4EE7}"/>
                </a:ext>
              </a:extLst>
            </p:cNvPr>
            <p:cNvSpPr txBox="1"/>
            <p:nvPr/>
          </p:nvSpPr>
          <p:spPr>
            <a:xfrm>
              <a:off x="520701" y="6089115"/>
              <a:ext cx="11140562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The BOS requirements mirror the USAF Wing-level organic functional areas</a:t>
              </a:r>
            </a:p>
          </p:txBody>
        </p:sp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09CA39F1-A3A1-0EAE-C17C-97ED6A12B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7200" y="49213"/>
            <a:ext cx="10301288" cy="1143000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cs typeface="Arial"/>
              </a:rPr>
              <a:t>Spain BOS Requirements </a:t>
            </a:r>
            <a:endParaRPr lang="en-US" altLang="en-US" dirty="0"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B9B57-785B-0559-68A9-49C812AB345C}"/>
              </a:ext>
            </a:extLst>
          </p:cNvPr>
          <p:cNvSpPr txBox="1"/>
          <p:nvPr/>
        </p:nvSpPr>
        <p:spPr>
          <a:xfrm>
            <a:off x="6023354" y="1229864"/>
            <a:ext cx="534748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Customer: 496</a:t>
            </a:r>
            <a:r>
              <a:rPr kumimoji="0" lang="en-US" sz="1800" b="1" i="0" u="none" strike="noStrike" kern="1200" cap="none" spc="-5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</a:t>
            </a: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Air Base Group – Moron AB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CE6CC9-E3E5-07AD-5044-3DB09DCAF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920" y="1816872"/>
            <a:ext cx="2392437" cy="1866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02A762-BC30-2D2D-22CA-DCAC3472F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374" y="1862441"/>
            <a:ext cx="2169627" cy="18210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D6654F-EC70-3885-C0D6-DC338865E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920" y="3594316"/>
            <a:ext cx="2249486" cy="16823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90576A-904E-57E9-A983-4CD9A9A30D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7806" y="3687951"/>
            <a:ext cx="3087818" cy="158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E32F-6DC9-D742-8202-6AA99D52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2221-1D93-16AA-E601-7ACAF9AB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777" y="86482"/>
            <a:ext cx="9678678" cy="1143000"/>
          </a:xfrm>
        </p:spPr>
        <p:txBody>
          <a:bodyPr/>
          <a:lstStyle/>
          <a:p>
            <a:r>
              <a:rPr lang="en-US" sz="3200" dirty="0" err="1">
                <a:cs typeface="Arial"/>
              </a:rPr>
              <a:t>Turkieye</a:t>
            </a:r>
            <a:r>
              <a:rPr lang="en-US" sz="3200" dirty="0">
                <a:cs typeface="Arial"/>
              </a:rPr>
              <a:t> Spain BOS Contract History</a:t>
            </a:r>
            <a:endParaRPr lang="en-US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48C1C4A-6795-2BCA-EFB8-171DF9ADD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297443"/>
              </p:ext>
            </p:extLst>
          </p:nvPr>
        </p:nvGraphicFramePr>
        <p:xfrm>
          <a:off x="627185" y="2276760"/>
          <a:ext cx="8164390" cy="1778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41098">
                  <a:extLst>
                    <a:ext uri="{9D8B030D-6E8A-4147-A177-3AD203B41FA5}">
                      <a16:colId xmlns:a16="http://schemas.microsoft.com/office/drawing/2014/main" val="3133608035"/>
                    </a:ext>
                  </a:extLst>
                </a:gridCol>
                <a:gridCol w="2041098">
                  <a:extLst>
                    <a:ext uri="{9D8B030D-6E8A-4147-A177-3AD203B41FA5}">
                      <a16:colId xmlns:a16="http://schemas.microsoft.com/office/drawing/2014/main" val="1645396121"/>
                    </a:ext>
                  </a:extLst>
                </a:gridCol>
                <a:gridCol w="2034319">
                  <a:extLst>
                    <a:ext uri="{9D8B030D-6E8A-4147-A177-3AD203B41FA5}">
                      <a16:colId xmlns:a16="http://schemas.microsoft.com/office/drawing/2014/main" val="4951043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263495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84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FA5613-10-C-5400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TSBMC-I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Vinnell</a:t>
                      </a:r>
                      <a:r>
                        <a:rPr lang="en-US" sz="1400" dirty="0"/>
                        <a:t> Brown &amp;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Sep 2010 – Jan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85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FA5641-15-C-0001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TSBMC-II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Vectrus Systems Corp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Jan 2015– May 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45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FA5641-20-D-0009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UA-BOS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Kellog Brown &amp; Root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May 2021 - Present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3044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BC61C7-050F-CDD7-6F68-25181865C259}"/>
              </a:ext>
            </a:extLst>
          </p:cNvPr>
          <p:cNvSpPr txBox="1"/>
          <p:nvPr/>
        </p:nvSpPr>
        <p:spPr>
          <a:xfrm>
            <a:off x="231409" y="1291456"/>
            <a:ext cx="1152390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Türkiye BOS Contract Initiated 1958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Arial" charset="0"/>
              </a:rPr>
              <a:t>Spain/Moron AB BOS Contract Initiated 1971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2010 - First Acquisition that combined Türkiye BMC and Spain BMC into single contract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D281F41-1638-F56B-2493-E3A532FA1A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68000" y="6561137"/>
            <a:ext cx="1524000" cy="304800"/>
          </a:xfrm>
        </p:spPr>
        <p:txBody>
          <a:bodyPr/>
          <a:lstStyle/>
          <a:p>
            <a:pPr>
              <a:defRPr/>
            </a:pPr>
            <a:fld id="{E8C4CF4F-2ECB-4C54-9552-FB58A436033C}" type="slidenum">
              <a:rPr lang="en-US">
                <a:solidFill>
                  <a:srgbClr val="FFFFFF">
                    <a:lumMod val="50000"/>
                  </a:srgbClr>
                </a:solidFill>
                <a:cs typeface="+mn-cs"/>
              </a:rPr>
              <a:pPr>
                <a:defRPr/>
              </a:pPr>
              <a:t>4</a:t>
            </a:fld>
            <a:endParaRPr lang="en-US">
              <a:solidFill>
                <a:srgbClr val="808080"/>
              </a:solidFill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DC967-20C3-38BF-6F9A-11E7A2B3E8D4}"/>
              </a:ext>
            </a:extLst>
          </p:cNvPr>
          <p:cNvSpPr txBox="1"/>
          <p:nvPr/>
        </p:nvSpPr>
        <p:spPr>
          <a:xfrm>
            <a:off x="334047" y="4289272"/>
            <a:ext cx="1152390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Union Labor Agreements: Providers required to manage local national workforce IAW Host Nation Labor Laws and Collective Labor Agreements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77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712C-1FA5-EE80-DBAF-65BAC687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4967E-B26B-B9FA-47E8-9A038ECBD4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4CF4F-2ECB-4C54-9552-FB58A436033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26584A-32D6-E790-D3B5-98D1BCB7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60" y="1509525"/>
            <a:ext cx="11197167" cy="474345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56671410-2B17-6095-9B47-5EF8032E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775" y="67050"/>
            <a:ext cx="10300855" cy="1143000"/>
          </a:xfrm>
        </p:spPr>
        <p:txBody>
          <a:bodyPr/>
          <a:lstStyle/>
          <a:p>
            <a:r>
              <a:rPr lang="en-US" dirty="0"/>
              <a:t>Turkish Labor Inflation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1537292-B3CF-E0D8-162A-D3774982F572}"/>
              </a:ext>
            </a:extLst>
          </p:cNvPr>
          <p:cNvSpPr txBox="1">
            <a:spLocks/>
          </p:cNvSpPr>
          <p:nvPr/>
        </p:nvSpPr>
        <p:spPr bwMode="auto">
          <a:xfrm>
            <a:off x="5819390" y="1855766"/>
            <a:ext cx="5781290" cy="3955348"/>
          </a:xfrm>
          <a:prstGeom prst="rect">
            <a:avLst/>
          </a:prstGeom>
          <a:ln w="25400" cap="flat" cmpd="sng" algn="ctr">
            <a:solidFill>
              <a:schemeClr val="accent6"/>
            </a:solidFill>
            <a:prstDash val="solid"/>
            <a:miter lim="800000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66"/>
              </a:buClr>
              <a:buSzPct val="80000"/>
              <a:buFont typeface="Wingdings" pitchFamily="2" charset="2"/>
              <a:buChar char="n"/>
              <a:defRPr sz="20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8975" indent="-282575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66"/>
              </a:buClr>
              <a:buSzPct val="80000"/>
              <a:buFont typeface="Wingdings" pitchFamily="2" charset="2"/>
              <a:buChar char="n"/>
              <a:defRPr sz="20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27113" indent="-223838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66"/>
              </a:buClr>
              <a:buSzPct val="80000"/>
              <a:buFont typeface="Wingdings" pitchFamily="2" charset="2"/>
              <a:buChar char="n"/>
              <a:defRPr sz="18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66"/>
              </a:buClr>
              <a:buSzPct val="80000"/>
              <a:buFont typeface="Wingdings" pitchFamily="2" charset="2"/>
              <a:buChar char="n"/>
              <a:defRPr sz="1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" pitchFamily="2" charset="2"/>
              <a:buChar char="n"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solidFill>
                <a:schemeClr val="tx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CC020B-2527-D899-2039-5DE676D238EC}"/>
              </a:ext>
            </a:extLst>
          </p:cNvPr>
          <p:cNvGrpSpPr/>
          <p:nvPr/>
        </p:nvGrpSpPr>
        <p:grpSpPr>
          <a:xfrm>
            <a:off x="513101" y="1443022"/>
            <a:ext cx="11095565" cy="4349042"/>
            <a:chOff x="513101" y="1443022"/>
            <a:chExt cx="11095565" cy="434904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C80259-C076-A1CE-2E3F-647FD80C3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5838" y="3490540"/>
              <a:ext cx="5774842" cy="2274005"/>
            </a:xfrm>
            <a:prstGeom prst="rect">
              <a:avLst/>
            </a:prstGeom>
          </p:spPr>
        </p:pic>
        <p:sp>
          <p:nvSpPr>
            <p:cNvPr id="11" name="Text Placeholder 2">
              <a:extLst>
                <a:ext uri="{FF2B5EF4-FFF2-40B4-BE49-F238E27FC236}">
                  <a16:creationId xmlns:a16="http://schemas.microsoft.com/office/drawing/2014/main" id="{854CE5FD-9E54-C742-86E3-421DC87877D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827377" y="1452547"/>
              <a:ext cx="5781289" cy="405881"/>
            </a:xfrm>
            <a:prstGeom prst="rect">
              <a:avLst/>
            </a:prstGeom>
            <a:ln w="25400" cap="flat" cmpd="sng" algn="ctr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>
              <a:lvl1pPr marL="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20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20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18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tabLst/>
                <a:defRPr/>
              </a:pPr>
              <a:r>
                <a:rPr lang="en-US" sz="1800" kern="0" dirty="0">
                  <a:solidFill>
                    <a:srgbClr val="000000"/>
                  </a:solidFill>
                  <a:latin typeface="Arial"/>
                </a:rPr>
                <a:t>Hyper Inflation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Text Placeholder 2">
              <a:extLst>
                <a:ext uri="{FF2B5EF4-FFF2-40B4-BE49-F238E27FC236}">
                  <a16:creationId xmlns:a16="http://schemas.microsoft.com/office/drawing/2014/main" id="{1DBD3C55-0A62-5ACB-928D-BFFA59AD2BD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16370" y="1443022"/>
              <a:ext cx="5309468" cy="405881"/>
            </a:xfrm>
            <a:prstGeom prst="rect">
              <a:avLst/>
            </a:prstGeom>
            <a:ln w="25400" cap="flat" cmpd="sng" algn="ctr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>
              <a:lvl1pPr marL="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20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20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18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None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Turkish CLA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Content Placeholder 3">
              <a:extLst>
                <a:ext uri="{FF2B5EF4-FFF2-40B4-BE49-F238E27FC236}">
                  <a16:creationId xmlns:a16="http://schemas.microsoft.com/office/drawing/2014/main" id="{68E3D478-5D96-131C-A98D-74B9FFB75F2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13101" y="1836716"/>
              <a:ext cx="5309468" cy="3955348"/>
            </a:xfrm>
            <a:prstGeom prst="rect">
              <a:avLst/>
            </a:prstGeom>
            <a:ln w="25400" cap="flat" cmpd="sng" algn="ctr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5750" indent="-28575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Char char="n"/>
                <a:defRPr sz="20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8975" indent="-282575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Char char="n"/>
                <a:defRPr sz="20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027113" indent="-223838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Char char="n"/>
                <a:defRPr sz="18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rgbClr val="000066"/>
                </a:buClr>
                <a:buSzPct val="80000"/>
                <a:buFont typeface="Wingdings" pitchFamily="2" charset="2"/>
                <a:buChar char="n"/>
                <a:defRPr sz="1600" b="1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99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Parties: Service Provider &amp; Türk Harb-</a:t>
              </a:r>
              <a:r>
                <a:rPr lang="en-US" sz="1600" dirty="0" err="1">
                  <a:solidFill>
                    <a:schemeClr val="tx1"/>
                  </a:solidFill>
                </a:rPr>
                <a:t>İş</a:t>
              </a:r>
              <a:r>
                <a:rPr lang="en-US" sz="1600" dirty="0">
                  <a:solidFill>
                    <a:schemeClr val="tx1"/>
                  </a:solidFill>
                </a:rPr>
                <a:t> Union</a:t>
              </a:r>
            </a:p>
            <a:p>
              <a:pPr marL="0" lvl="1" indent="0">
                <a:buNone/>
              </a:pPr>
              <a:r>
                <a:rPr lang="fr-FR" sz="1600" dirty="0">
                  <a:solidFill>
                    <a:schemeClr val="tx1"/>
                  </a:solidFill>
                </a:rPr>
                <a:t>Establishes Labor Categories &amp; </a:t>
              </a:r>
              <a:r>
                <a:rPr lang="fr-FR" sz="1600" dirty="0" err="1">
                  <a:solidFill>
                    <a:schemeClr val="tx1"/>
                  </a:solidFill>
                </a:rPr>
                <a:t>Skill</a:t>
              </a:r>
              <a:r>
                <a:rPr lang="fr-FR" sz="1600" dirty="0">
                  <a:solidFill>
                    <a:schemeClr val="tx1"/>
                  </a:solidFill>
                </a:rPr>
                <a:t> Levels</a:t>
              </a:r>
            </a:p>
            <a:p>
              <a:pPr marL="400050" lvl="1" indent="-171450">
                <a:buFont typeface="Arial" panose="020B0604020202020204" pitchFamily="34" charset="0"/>
                <a:buChar char="•"/>
              </a:pPr>
              <a:r>
                <a:rPr lang="fr-FR" sz="1200" dirty="0">
                  <a:solidFill>
                    <a:schemeClr val="tx1"/>
                  </a:solidFill>
                </a:rPr>
                <a:t>Sets Wage Rates &amp; Fringe </a:t>
              </a:r>
              <a:r>
                <a:rPr lang="fr-FR" sz="1200" dirty="0" err="1">
                  <a:solidFill>
                    <a:schemeClr val="tx1"/>
                  </a:solidFill>
                </a:rPr>
                <a:t>Benefit</a:t>
              </a:r>
              <a:r>
                <a:rPr lang="fr-FR" sz="1200" dirty="0">
                  <a:solidFill>
                    <a:schemeClr val="tx1"/>
                  </a:solidFill>
                </a:rPr>
                <a:t> Rates for Job type &amp; </a:t>
              </a:r>
              <a:r>
                <a:rPr lang="fr-FR" sz="1200" dirty="0" err="1">
                  <a:solidFill>
                    <a:schemeClr val="tx1"/>
                  </a:solidFill>
                </a:rPr>
                <a:t>skill</a:t>
              </a:r>
              <a:r>
                <a:rPr lang="fr-FR" sz="1200" dirty="0">
                  <a:solidFill>
                    <a:schemeClr val="tx1"/>
                  </a:solidFill>
                </a:rPr>
                <a:t> </a:t>
              </a:r>
              <a:r>
                <a:rPr lang="fr-FR" sz="1200" dirty="0" err="1">
                  <a:solidFill>
                    <a:schemeClr val="tx1"/>
                  </a:solidFill>
                </a:rPr>
                <a:t>level</a:t>
              </a:r>
              <a:endParaRPr lang="fr-FR" sz="1200" dirty="0">
                <a:solidFill>
                  <a:schemeClr val="tx1"/>
                </a:solidFill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Workforce Reduction Barriers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Prohibitions on Subcontracting/Temp workers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Severance Payments</a:t>
              </a:r>
            </a:p>
            <a:p>
              <a:pPr marL="0" lvl="1" indent="0">
                <a:spcBef>
                  <a:spcPct val="50000"/>
                </a:spcBef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Automatic Cost Escalation</a:t>
              </a:r>
            </a:p>
            <a:p>
              <a:pPr marL="400050" lvl="1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Semiannual increases each Apr/Oct tied to Turkish inflation</a:t>
              </a:r>
            </a:p>
            <a:p>
              <a:pPr marL="404813" lvl="1" indent="-179388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/>
                  </a:solidFill>
                </a:rPr>
                <a:t>Turkish Statistics Agency sets semiannual rates</a:t>
              </a:r>
            </a:p>
            <a:p>
              <a:pPr marL="404813" lvl="1" indent="-179388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/>
                  </a:solidFill>
                </a:rPr>
                <a:t>Applies to all wages and all benefit packages</a:t>
              </a:r>
            </a:p>
            <a:p>
              <a:pPr marL="404813" lvl="1" indent="-179388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/>
                  </a:solidFill>
                </a:rPr>
                <a:t>No cost ceiling enabling FAR based EPA caps ineffective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A1EC36-6156-3232-6B41-17A643101EDC}"/>
              </a:ext>
            </a:extLst>
          </p:cNvPr>
          <p:cNvSpPr txBox="1"/>
          <p:nvPr/>
        </p:nvSpPr>
        <p:spPr>
          <a:xfrm>
            <a:off x="5935235" y="1836716"/>
            <a:ext cx="5532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Over the life of the current contract, Turkish hyper-inflation resulted in an ~800% cumulative increase in Turkish Lira-denominated Direct Labor</a:t>
            </a:r>
            <a:r>
              <a:rPr lang="en-US" sz="2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388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75B0-DEBC-8698-4984-57F066C7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B4410-FB20-A7DA-6B94-D139F86FF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4CF4F-2ECB-4C54-9552-FB58A436033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92183C-BF9C-6179-E219-79E342C0B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04" y="1329139"/>
            <a:ext cx="11569567" cy="4989468"/>
          </a:xfrm>
        </p:spPr>
        <p:txBody>
          <a:bodyPr/>
          <a:lstStyle/>
          <a:p>
            <a:pPr marL="342900" lvl="2" indent="-225425" eaLnBrk="1" hangingPunct="1">
              <a:defRPr/>
            </a:pPr>
            <a:r>
              <a:rPr lang="en-US" b="0" dirty="0"/>
              <a:t>Contractually separate BOS requirements in Türkiye from BOS requirements at Morón AB</a:t>
            </a:r>
          </a:p>
          <a:p>
            <a:pPr marL="690562" lvl="3" indent="0" eaLnBrk="1" hangingPunct="1">
              <a:buNone/>
              <a:defRPr/>
            </a:pPr>
            <a:endParaRPr lang="en-US" b="0" dirty="0"/>
          </a:p>
          <a:p>
            <a:pPr marL="342900" lvl="2" indent="-225425" eaLnBrk="1" hangingPunct="1">
              <a:defRPr/>
            </a:pPr>
            <a:r>
              <a:rPr lang="en-US" b="0" dirty="0"/>
              <a:t>Remove Services from Türkiye BOS- Transfer to 39</a:t>
            </a:r>
            <a:r>
              <a:rPr lang="en-US" b="0" baseline="30000" dirty="0"/>
              <a:t>th</a:t>
            </a:r>
            <a:r>
              <a:rPr lang="en-US" b="0" dirty="0"/>
              <a:t> ABW </a:t>
            </a:r>
            <a:r>
              <a:rPr lang="en-US" b="0"/>
              <a:t>Incirlik for Local Award</a:t>
            </a:r>
            <a:endParaRPr lang="en-US" sz="2800" dirty="0"/>
          </a:p>
          <a:p>
            <a:pPr marL="915987" lvl="3" indent="-225425" eaLnBrk="1" hangingPunct="1">
              <a:defRPr/>
            </a:pPr>
            <a:r>
              <a:rPr lang="en-US" b="0" dirty="0"/>
              <a:t>Full Food Service</a:t>
            </a:r>
          </a:p>
          <a:p>
            <a:pPr marL="915987" lvl="3" indent="-225425" eaLnBrk="1" hangingPunct="1">
              <a:defRPr/>
            </a:pPr>
            <a:r>
              <a:rPr lang="en-US" b="0" dirty="0"/>
              <a:t>Grounds Maintenance</a:t>
            </a:r>
          </a:p>
          <a:p>
            <a:pPr marL="915987" lvl="3" indent="-225425" eaLnBrk="1" hangingPunct="1">
              <a:defRPr/>
            </a:pPr>
            <a:r>
              <a:rPr lang="en-US" b="0" dirty="0"/>
              <a:t>Golf Course Maintenance &amp; Operations</a:t>
            </a:r>
          </a:p>
          <a:p>
            <a:pPr marL="915987" lvl="3" indent="-225425" eaLnBrk="1" hangingPunct="1">
              <a:defRPr/>
            </a:pPr>
            <a:r>
              <a:rPr lang="en-US" b="0" dirty="0"/>
              <a:t>Custodial</a:t>
            </a:r>
          </a:p>
          <a:p>
            <a:pPr marL="915987" lvl="3" indent="-225425" eaLnBrk="1" hangingPunct="1">
              <a:defRPr/>
            </a:pPr>
            <a:r>
              <a:rPr lang="en-US" b="0" dirty="0"/>
              <a:t>Ankara Refuse</a:t>
            </a:r>
          </a:p>
          <a:p>
            <a:pPr marL="915987" lvl="3" indent="-225425" eaLnBrk="1" hangingPunct="1">
              <a:defRPr/>
            </a:pPr>
            <a:r>
              <a:rPr lang="en-US" sz="1800" b="0" dirty="0"/>
              <a:t>Executed during current contract (</a:t>
            </a:r>
            <a:r>
              <a:rPr lang="en-US" sz="1800" b="0" i="1" dirty="0"/>
              <a:t>Est Summer 2027</a:t>
            </a:r>
            <a:r>
              <a:rPr lang="en-US" sz="1800" b="0" dirty="0"/>
              <a:t>)</a:t>
            </a:r>
          </a:p>
          <a:p>
            <a:pPr marL="690562" lvl="3" indent="0" eaLnBrk="1" hangingPunct="1">
              <a:buNone/>
              <a:defRPr/>
            </a:pPr>
            <a:endParaRPr lang="en-US" sz="1800" b="0" dirty="0"/>
          </a:p>
          <a:p>
            <a:pPr marL="342900" lvl="2" indent="-225425" eaLnBrk="1" hangingPunct="1">
              <a:defRPr/>
            </a:pPr>
            <a:r>
              <a:rPr lang="en-US" b="0" dirty="0"/>
              <a:t>Unique Economic Price Adjustment Clause to manage Turkish Hyper Inflation</a:t>
            </a:r>
          </a:p>
          <a:p>
            <a:pPr marL="915987" lvl="3" indent="-225425" eaLnBrk="1" hangingPunct="1">
              <a:defRPr/>
            </a:pPr>
            <a:r>
              <a:rPr lang="en-US" sz="1800" b="0" dirty="0"/>
              <a:t>Currency &amp; Labor Adjustment Clause</a:t>
            </a:r>
          </a:p>
          <a:p>
            <a:pPr marL="342900" lvl="2" indent="-225425" eaLnBrk="1" hangingPunct="1">
              <a:defRPr/>
            </a:pPr>
            <a:endParaRPr lang="en-US" sz="1800" dirty="0"/>
          </a:p>
          <a:p>
            <a:endParaRPr lang="en-US" sz="1800" i="1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DA733-9C1B-D0A9-8C74-33144B9A7465}"/>
              </a:ext>
            </a:extLst>
          </p:cNvPr>
          <p:cNvSpPr txBox="1"/>
          <p:nvPr/>
        </p:nvSpPr>
        <p:spPr>
          <a:xfrm>
            <a:off x="1895476" y="357184"/>
            <a:ext cx="9714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Acquisition Decisions impacting the T-S BOS Requirement</a:t>
            </a:r>
          </a:p>
        </p:txBody>
      </p:sp>
    </p:spTree>
    <p:extLst>
      <p:ext uri="{BB962C8B-B14F-4D97-AF65-F5344CB8AC3E}">
        <p14:creationId xmlns:p14="http://schemas.microsoft.com/office/powerpoint/2010/main" val="2629664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4CF4F-2ECB-4C54-9552-FB58A436033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BEF88C-2DD3-43C4-8B20-BD234DF1E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97" y="1504950"/>
            <a:ext cx="12020205" cy="4743450"/>
          </a:xfrm>
        </p:spPr>
        <p:txBody>
          <a:bodyPr/>
          <a:lstStyle/>
          <a:p>
            <a:pPr lvl="1"/>
            <a:r>
              <a:rPr lang="en-US" dirty="0"/>
              <a:t>Türkiye BOS: Maximum 5.5-Year Contract Duration </a:t>
            </a:r>
            <a:r>
              <a:rPr lang="en-US" i="1" dirty="0"/>
              <a:t>(including 52.217-8 “6-month extension)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lvl="1"/>
            <a:r>
              <a:rPr lang="en-US" dirty="0"/>
              <a:t>Spain BOS: Maximum 7.5-Year Contract Duration (including 52.217-8 “6-month extension)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B82DAC-45FA-C219-93AC-FA5EE4889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032088"/>
              </p:ext>
            </p:extLst>
          </p:nvPr>
        </p:nvGraphicFramePr>
        <p:xfrm>
          <a:off x="585131" y="3653504"/>
          <a:ext cx="10564014" cy="73435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465027">
                  <a:extLst>
                    <a:ext uri="{9D8B030D-6E8A-4147-A177-3AD203B41FA5}">
                      <a16:colId xmlns:a16="http://schemas.microsoft.com/office/drawing/2014/main" val="3436667670"/>
                    </a:ext>
                  </a:extLst>
                </a:gridCol>
                <a:gridCol w="1264023">
                  <a:extLst>
                    <a:ext uri="{9D8B030D-6E8A-4147-A177-3AD203B41FA5}">
                      <a16:colId xmlns:a16="http://schemas.microsoft.com/office/drawing/2014/main" val="2899326441"/>
                    </a:ext>
                  </a:extLst>
                </a:gridCol>
                <a:gridCol w="1232455">
                  <a:extLst>
                    <a:ext uri="{9D8B030D-6E8A-4147-A177-3AD203B41FA5}">
                      <a16:colId xmlns:a16="http://schemas.microsoft.com/office/drawing/2014/main" val="4086518960"/>
                    </a:ext>
                  </a:extLst>
                </a:gridCol>
                <a:gridCol w="1412589">
                  <a:extLst>
                    <a:ext uri="{9D8B030D-6E8A-4147-A177-3AD203B41FA5}">
                      <a16:colId xmlns:a16="http://schemas.microsoft.com/office/drawing/2014/main" val="1017031362"/>
                    </a:ext>
                  </a:extLst>
                </a:gridCol>
                <a:gridCol w="1228414">
                  <a:extLst>
                    <a:ext uri="{9D8B030D-6E8A-4147-A177-3AD203B41FA5}">
                      <a16:colId xmlns:a16="http://schemas.microsoft.com/office/drawing/2014/main" val="2392447898"/>
                    </a:ext>
                  </a:extLst>
                </a:gridCol>
                <a:gridCol w="1320502">
                  <a:extLst>
                    <a:ext uri="{9D8B030D-6E8A-4147-A177-3AD203B41FA5}">
                      <a16:colId xmlns:a16="http://schemas.microsoft.com/office/drawing/2014/main" val="627881405"/>
                    </a:ext>
                  </a:extLst>
                </a:gridCol>
                <a:gridCol w="1320502">
                  <a:extLst>
                    <a:ext uri="{9D8B030D-6E8A-4147-A177-3AD203B41FA5}">
                      <a16:colId xmlns:a16="http://schemas.microsoft.com/office/drawing/2014/main" val="3895779874"/>
                    </a:ext>
                  </a:extLst>
                </a:gridCol>
                <a:gridCol w="1320502">
                  <a:extLst>
                    <a:ext uri="{9D8B030D-6E8A-4147-A177-3AD203B41FA5}">
                      <a16:colId xmlns:a16="http://schemas.microsoft.com/office/drawing/2014/main" val="4100336300"/>
                    </a:ext>
                  </a:extLst>
                </a:gridCol>
              </a:tblGrid>
              <a:tr h="318579">
                <a:tc>
                  <a:txBody>
                    <a:bodyPr/>
                    <a:lstStyle/>
                    <a:p>
                      <a:r>
                        <a:rPr lang="en-US" sz="1400"/>
                        <a:t>60-day Mob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Base 1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Option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957495"/>
                  </a:ext>
                </a:extLst>
              </a:tr>
              <a:tr h="415771">
                <a:tc>
                  <a:txBody>
                    <a:bodyPr/>
                    <a:lstStyle/>
                    <a:p>
                      <a:pPr defTabSz="971550">
                        <a:tabLst/>
                      </a:pPr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 27 – Jan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28 – Jan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29 – Jan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30 – Jan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31-Jan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32 – Jan 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33– Jan 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34– Jan 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3255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F04F9F-D2A3-8361-ABA5-881075221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253223"/>
              </p:ext>
            </p:extLst>
          </p:nvPr>
        </p:nvGraphicFramePr>
        <p:xfrm>
          <a:off x="581504" y="2064234"/>
          <a:ext cx="7467166" cy="782614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45743">
                  <a:extLst>
                    <a:ext uri="{9D8B030D-6E8A-4147-A177-3AD203B41FA5}">
                      <a16:colId xmlns:a16="http://schemas.microsoft.com/office/drawing/2014/main" val="3436667670"/>
                    </a:ext>
                  </a:extLst>
                </a:gridCol>
                <a:gridCol w="1208410">
                  <a:extLst>
                    <a:ext uri="{9D8B030D-6E8A-4147-A177-3AD203B41FA5}">
                      <a16:colId xmlns:a16="http://schemas.microsoft.com/office/drawing/2014/main" val="2899326441"/>
                    </a:ext>
                  </a:extLst>
                </a:gridCol>
                <a:gridCol w="1236732">
                  <a:extLst>
                    <a:ext uri="{9D8B030D-6E8A-4147-A177-3AD203B41FA5}">
                      <a16:colId xmlns:a16="http://schemas.microsoft.com/office/drawing/2014/main" val="4086518960"/>
                    </a:ext>
                  </a:extLst>
                </a:gridCol>
                <a:gridCol w="1236732">
                  <a:extLst>
                    <a:ext uri="{9D8B030D-6E8A-4147-A177-3AD203B41FA5}">
                      <a16:colId xmlns:a16="http://schemas.microsoft.com/office/drawing/2014/main" val="1017031362"/>
                    </a:ext>
                  </a:extLst>
                </a:gridCol>
                <a:gridCol w="1114433">
                  <a:extLst>
                    <a:ext uri="{9D8B030D-6E8A-4147-A177-3AD203B41FA5}">
                      <a16:colId xmlns:a16="http://schemas.microsoft.com/office/drawing/2014/main" val="2392447898"/>
                    </a:ext>
                  </a:extLst>
                </a:gridCol>
                <a:gridCol w="1425116">
                  <a:extLst>
                    <a:ext uri="{9D8B030D-6E8A-4147-A177-3AD203B41FA5}">
                      <a16:colId xmlns:a16="http://schemas.microsoft.com/office/drawing/2014/main" val="627881405"/>
                    </a:ext>
                  </a:extLst>
                </a:gridCol>
              </a:tblGrid>
              <a:tr h="366843">
                <a:tc>
                  <a:txBody>
                    <a:bodyPr/>
                    <a:lstStyle/>
                    <a:p>
                      <a:r>
                        <a:rPr lang="en-US" sz="1400"/>
                        <a:t>60-day Mob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Base 1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Base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Base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Option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Option 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957495"/>
                  </a:ext>
                </a:extLst>
              </a:tr>
              <a:tr h="415771">
                <a:tc>
                  <a:txBody>
                    <a:bodyPr/>
                    <a:lstStyle/>
                    <a:p>
                      <a:pPr defTabSz="971550">
                        <a:tabLst/>
                      </a:pPr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 27 – Jan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28 – Jan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29 – Jan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30 – Jan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31-Jan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 32 – Jan 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32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DA936A-13ED-D76F-DC32-6E22A5CB1D7C}"/>
              </a:ext>
            </a:extLst>
          </p:cNvPr>
          <p:cNvSpPr txBox="1"/>
          <p:nvPr/>
        </p:nvSpPr>
        <p:spPr>
          <a:xfrm>
            <a:off x="2513720" y="357184"/>
            <a:ext cx="909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Projected Contract Duration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44AC45-7360-A73F-1194-982B15FC5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71629"/>
              </p:ext>
            </p:extLst>
          </p:nvPr>
        </p:nvGraphicFramePr>
        <p:xfrm>
          <a:off x="8039145" y="2054709"/>
          <a:ext cx="829027" cy="782613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829027">
                  <a:extLst>
                    <a:ext uri="{9D8B030D-6E8A-4147-A177-3AD203B41FA5}">
                      <a16:colId xmlns:a16="http://schemas.microsoft.com/office/drawing/2014/main" val="3516662642"/>
                    </a:ext>
                  </a:extLst>
                </a:gridCol>
              </a:tblGrid>
              <a:tr h="372219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6-mos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944767"/>
                  </a:ext>
                </a:extLst>
              </a:tr>
              <a:tr h="410394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52.217-8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365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ADC63D-B47E-1854-9057-768C7E2D2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444844"/>
              </p:ext>
            </p:extLst>
          </p:nvPr>
        </p:nvGraphicFramePr>
        <p:xfrm>
          <a:off x="11162776" y="3626226"/>
          <a:ext cx="829027" cy="73435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829027">
                  <a:extLst>
                    <a:ext uri="{9D8B030D-6E8A-4147-A177-3AD203B41FA5}">
                      <a16:colId xmlns:a16="http://schemas.microsoft.com/office/drawing/2014/main" val="3516662642"/>
                    </a:ext>
                  </a:extLst>
                </a:gridCol>
              </a:tblGrid>
              <a:tr h="349265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6-mos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944767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52.217-8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36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77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49C6-7BAB-7E33-B1F0-98D97DC9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D8E932-1DF9-EFB8-7A9C-556D356EF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4CF4F-2ECB-4C54-9552-FB58A436033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744523-50D4-D95D-6834-FFCB8F663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84" y="1347537"/>
            <a:ext cx="11547475" cy="4900863"/>
          </a:xfrm>
        </p:spPr>
        <p:txBody>
          <a:bodyPr/>
          <a:lstStyle/>
          <a:p>
            <a:r>
              <a:rPr lang="en-US" dirty="0"/>
              <a:t>RFP issues O/A 1 May 2026</a:t>
            </a:r>
          </a:p>
          <a:p>
            <a:r>
              <a:rPr lang="en-US" dirty="0"/>
              <a:t>Source Selection Strategy &amp; Tradeoff Approach: Best-Value Tradeoff</a:t>
            </a:r>
            <a:endParaRPr lang="en-US" sz="1800" b="0" dirty="0"/>
          </a:p>
          <a:p>
            <a:pPr marL="285750" lvl="1">
              <a:tabLst>
                <a:tab pos="285750" algn="l"/>
              </a:tabLst>
            </a:pPr>
            <a:r>
              <a:rPr lang="en-US" dirty="0">
                <a:ea typeface="+mn-ea"/>
                <a:cs typeface="+mn-cs"/>
              </a:rPr>
              <a:t>Evaluation Factors &amp; Relative Importance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9EB011-73FE-9332-11A2-C070D25AC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80731"/>
              </p:ext>
            </p:extLst>
          </p:nvPr>
        </p:nvGraphicFramePr>
        <p:xfrm>
          <a:off x="324758" y="2543366"/>
          <a:ext cx="11105242" cy="2509204"/>
        </p:xfrm>
        <a:graphic>
          <a:graphicData uri="http://schemas.openxmlformats.org/drawingml/2006/table">
            <a:tbl>
              <a:tblPr/>
              <a:tblGrid>
                <a:gridCol w="2151216">
                  <a:extLst>
                    <a:ext uri="{9D8B030D-6E8A-4147-A177-3AD203B41FA5}">
                      <a16:colId xmlns:a16="http://schemas.microsoft.com/office/drawing/2014/main" val="921716421"/>
                    </a:ext>
                  </a:extLst>
                </a:gridCol>
                <a:gridCol w="3952268">
                  <a:extLst>
                    <a:ext uri="{9D8B030D-6E8A-4147-A177-3AD203B41FA5}">
                      <a16:colId xmlns:a16="http://schemas.microsoft.com/office/drawing/2014/main" val="325499014"/>
                    </a:ext>
                  </a:extLst>
                </a:gridCol>
                <a:gridCol w="5001758">
                  <a:extLst>
                    <a:ext uri="{9D8B030D-6E8A-4147-A177-3AD203B41FA5}">
                      <a16:colId xmlns:a16="http://schemas.microsoft.com/office/drawing/2014/main" val="588636416"/>
                    </a:ext>
                  </a:extLst>
                </a:gridCol>
              </a:tblGrid>
              <a:tr h="4007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Factor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Rating Method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Relative Importance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4774"/>
                  </a:ext>
                </a:extLst>
              </a:tr>
              <a:tr h="681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Factor I: Technical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Subjective (Adjectival/Color)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Significantly More Important than Price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90086"/>
                  </a:ext>
                </a:extLst>
              </a:tr>
              <a:tr h="8312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Factor II: Past Performance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Acceptable / Unacceptable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Must be "Acceptable" to be considered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70317"/>
                  </a:ext>
                </a:extLst>
              </a:tr>
              <a:tr h="5955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Factor III: Price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Fair &amp; Reasonable, Balanced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Equal to all non-price factors combined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030158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F977D368-D0B1-DB4F-6064-EFA06C56B7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3152" y="228289"/>
            <a:ext cx="10301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Source Selection Strategy &amp; Tradeoff Approach</a:t>
            </a:r>
            <a:endParaRPr lang="en-US" sz="3200" b="1" i="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095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3304-ED5F-6B5A-87CB-27857358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68869F-21E8-634E-C213-4FEB87364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33" y="1331052"/>
            <a:ext cx="11197167" cy="567044"/>
          </a:xfrm>
        </p:spPr>
        <p:txBody>
          <a:bodyPr/>
          <a:lstStyle/>
          <a:p>
            <a:r>
              <a:rPr lang="en-US" sz="1800" dirty="0"/>
              <a:t>Draft Technical Evaluation Factors: Subjective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633027-8681-D581-A989-5E75245EB5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4CF4F-2ECB-4C54-9552-FB58A436033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323C8-352E-B43B-60B4-BD8EEA61549D}"/>
              </a:ext>
            </a:extLst>
          </p:cNvPr>
          <p:cNvSpPr txBox="1"/>
          <p:nvPr/>
        </p:nvSpPr>
        <p:spPr>
          <a:xfrm>
            <a:off x="-447403" y="6505959"/>
            <a:ext cx="51606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Source Selection Information – See FAR 2.101 &amp; 3.104 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4E3C98F4-97FB-10A0-7A60-4D67BD53C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3152" y="228289"/>
            <a:ext cx="10301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Source Selection Strategy &amp; Tradeoff Approach</a:t>
            </a:r>
            <a:endParaRPr lang="en-US" sz="3200" b="1" i="1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193474-638F-F5A2-EBD9-F74C97947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144789"/>
              </p:ext>
            </p:extLst>
          </p:nvPr>
        </p:nvGraphicFramePr>
        <p:xfrm>
          <a:off x="395827" y="1898096"/>
          <a:ext cx="10191962" cy="3093558"/>
        </p:xfrm>
        <a:graphic>
          <a:graphicData uri="http://schemas.openxmlformats.org/drawingml/2006/table">
            <a:tbl>
              <a:tblPr/>
              <a:tblGrid>
                <a:gridCol w="3303637">
                  <a:extLst>
                    <a:ext uri="{9D8B030D-6E8A-4147-A177-3AD203B41FA5}">
                      <a16:colId xmlns:a16="http://schemas.microsoft.com/office/drawing/2014/main" val="921716421"/>
                    </a:ext>
                  </a:extLst>
                </a:gridCol>
                <a:gridCol w="6888325">
                  <a:extLst>
                    <a:ext uri="{9D8B030D-6E8A-4147-A177-3AD203B41FA5}">
                      <a16:colId xmlns:a16="http://schemas.microsoft.com/office/drawing/2014/main" val="325499014"/>
                    </a:ext>
                  </a:extLst>
                </a:gridCol>
              </a:tblGrid>
              <a:tr h="574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Eval Area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Evaluation Factors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4774"/>
                  </a:ext>
                </a:extLst>
              </a:tr>
              <a:tr h="13275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Program Leadership/Staffing   &amp; Continuity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Realism &amp; Efficiency of Staffing plan &amp; Basis of Estimate (Fully burdened Price per FTE) 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FTEs per function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phase-in plan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Personnel Continuity Plan: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plan for specific strategies to recruit, retain, and backfill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Pass/Fail for Union Labor Management Plan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90086"/>
                  </a:ext>
                </a:extLst>
              </a:tr>
              <a:tr h="11915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 Performance Oversight &amp; Technology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Proposed Key Performance Indicators &amp; dashboard mock-ups that will be delivered post-award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Technical Innovations that provide verifiable savings or efficiencies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70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792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DCA8-1DF1-85C3-67C0-A7735F9B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28B966-66BB-CC6A-43E8-A8ECEBEE7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33" y="1331052"/>
            <a:ext cx="11197167" cy="567044"/>
          </a:xfrm>
        </p:spPr>
        <p:txBody>
          <a:bodyPr/>
          <a:lstStyle/>
          <a:p>
            <a:r>
              <a:rPr lang="en-US" sz="1800" dirty="0"/>
              <a:t>Draft Evaluation Factor: Past Performance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4C009-90C1-EA18-DAEC-1AE18BB7F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4CF4F-2ECB-4C54-9552-FB58A436033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552195F1-5DEE-7547-EF23-1F3AD6FF3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3152" y="228289"/>
            <a:ext cx="10301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Source Selection Strategy &amp; Tradeoff Approach</a:t>
            </a:r>
            <a:endParaRPr lang="en-US" sz="3200" b="1" i="1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0C67B8-A393-10C3-2D96-81F59372E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87708"/>
              </p:ext>
            </p:extLst>
          </p:nvPr>
        </p:nvGraphicFramePr>
        <p:xfrm>
          <a:off x="442695" y="2169066"/>
          <a:ext cx="11111130" cy="3457816"/>
        </p:xfrm>
        <a:graphic>
          <a:graphicData uri="http://schemas.openxmlformats.org/drawingml/2006/table">
            <a:tbl>
              <a:tblPr/>
              <a:tblGrid>
                <a:gridCol w="3115128">
                  <a:extLst>
                    <a:ext uri="{9D8B030D-6E8A-4147-A177-3AD203B41FA5}">
                      <a16:colId xmlns:a16="http://schemas.microsoft.com/office/drawing/2014/main" val="921716421"/>
                    </a:ext>
                  </a:extLst>
                </a:gridCol>
                <a:gridCol w="7996002">
                  <a:extLst>
                    <a:ext uri="{9D8B030D-6E8A-4147-A177-3AD203B41FA5}">
                      <a16:colId xmlns:a16="http://schemas.microsoft.com/office/drawing/2014/main" val="325499014"/>
                    </a:ext>
                  </a:extLst>
                </a:gridCol>
              </a:tblGrid>
              <a:tr h="406457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Recency/Relevancy Threshold</a:t>
                      </a: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Minimum Requirement (for both Spain and Türkiye)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4774"/>
                  </a:ext>
                </a:extLst>
              </a:tr>
              <a:tr h="8472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Recency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Offeror must provide min 2 max 5 contract references demonstrating experience as a prime contractor within the last 3 years from RFP date with at least 1 contract that is ongoing at the time of proposal submission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90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Relevancy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Must demonstrate experience on efforts of similar size, scope, and complexity including: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Managing a comprehensive portfolio of OCONUS Civil Engineer &amp; Logistics functions, including at minimum facility maintenance, repair, operations, and engineering services for multiple facilities. Operations and maintenance of a diverse vehicle and equipment fleet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Managing a multi-function OCONUS BOS-type contract employing a total direct employee workforce of at least 200 personnel</a:t>
                      </a:r>
                    </a:p>
                    <a:p>
                      <a:pPr marL="285750" indent="-2857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Experience may be as a prime contractor with US Government or commercial entities of similar scale and complexity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70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55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651B-4A48-9105-684E-784970ED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825" y="1674098"/>
            <a:ext cx="7143750" cy="859552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Notional CLIN Structures Provided Below</a:t>
            </a:r>
            <a:br>
              <a:rPr lang="en-US" dirty="0"/>
            </a:br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00961-9221-FE28-58FC-35ECBB988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C4CF4F-2ECB-4C54-9552-FB58A436033C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>
                <a:defRPr/>
              </a:pPr>
              <a:t>11</a:t>
            </a:fld>
            <a:endParaRPr 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495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2E4F1-7BE5-DF44-5FF8-91699BB132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3DA79-347D-4596-B7F3-05C0494CD74C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680F2196-96E3-FC68-D1C5-EDA2F9B7356C}"/>
              </a:ext>
            </a:extLst>
          </p:cNvPr>
          <p:cNvGraphicFramePr>
            <a:graphicFrameLocks/>
          </p:cNvGraphicFramePr>
          <p:nvPr/>
        </p:nvGraphicFramePr>
        <p:xfrm>
          <a:off x="556210" y="2147525"/>
          <a:ext cx="10106705" cy="305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1735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4591088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435971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2937911">
                  <a:extLst>
                    <a:ext uri="{9D8B030D-6E8A-4147-A177-3AD203B41FA5}">
                      <a16:colId xmlns:a16="http://schemas.microsoft.com/office/drawing/2014/main" val="3151186432"/>
                    </a:ext>
                  </a:extLst>
                </a:gridCol>
              </a:tblGrid>
              <a:tr h="540593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398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Integrated Base Operating Support Management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923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X002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Reimbursable Travel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  <a:tr h="3544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X003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Independent Job Orders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62270957"/>
                  </a:ext>
                </a:extLst>
              </a:tr>
              <a:tr h="3012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Independent Job Orders 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Lot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CPFF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4533685"/>
                  </a:ext>
                </a:extLst>
              </a:tr>
              <a:tr h="2923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Over &amp; Above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268718"/>
                  </a:ext>
                </a:extLst>
              </a:tr>
              <a:tr h="2835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X006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Mobilization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2617111"/>
                  </a:ext>
                </a:extLst>
              </a:tr>
              <a:tr h="2658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Labor Adjustment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Lot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9464543"/>
                  </a:ext>
                </a:extLst>
              </a:tr>
              <a:tr h="3278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X008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Severance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Lot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75454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19B379-8D88-FC1B-317C-DCDC2EAFEA3D}"/>
              </a:ext>
            </a:extLst>
          </p:cNvPr>
          <p:cNvSpPr txBox="1"/>
          <p:nvPr/>
        </p:nvSpPr>
        <p:spPr>
          <a:xfrm>
            <a:off x="520198" y="1362616"/>
            <a:ext cx="505777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General/Applicable to both contracts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2F679D86-F3F8-F253-5794-D6AADC22F65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691339" y="80572"/>
            <a:ext cx="786144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5pPr>
            <a:lvl6pPr marL="45671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6pPr>
            <a:lvl7pPr marL="913423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7pPr>
            <a:lvl8pPr marL="137013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8pPr>
            <a:lvl9pPr marL="1826844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9pPr>
          </a:lstStyle>
          <a:p>
            <a:br>
              <a:rPr lang="en-US" altLang="en-US" sz="3200" dirty="0"/>
            </a:br>
            <a:r>
              <a:rPr lang="en-US" altLang="en-US" sz="3200" dirty="0"/>
              <a:t>Notional CLIN Structure</a:t>
            </a:r>
            <a:br>
              <a:rPr lang="en-US" altLang="en-US" sz="3200" dirty="0"/>
            </a:br>
            <a:r>
              <a:rPr lang="en-US" alt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574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1C153-F004-ACA5-543B-0526A7DED8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3DA79-347D-4596-B7F3-05C0494CD74C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99F597F-50F0-C3FF-5860-3C47BD9A9A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0767" y="1557068"/>
          <a:ext cx="10314037" cy="354505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00348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959424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645362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1508903">
                  <a:extLst>
                    <a:ext uri="{9D8B030D-6E8A-4147-A177-3AD203B41FA5}">
                      <a16:colId xmlns:a16="http://schemas.microsoft.com/office/drawing/2014/main" val="2672823734"/>
                    </a:ext>
                  </a:extLst>
                </a:gridCol>
              </a:tblGrid>
              <a:tr h="277984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469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Civil Engineer Installation Management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X302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Permanent Party Housing Management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X303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Furnishing Management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62270957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X304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Comprehensive Environmental Management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74552921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X305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Engineering, Construction, Project, Construction and Portfolio Management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8461270"/>
                  </a:ext>
                </a:extLst>
              </a:tr>
              <a:tr h="266474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X306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Energy and Utilities 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78714242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X307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Facilities Operations Management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84899153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X308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Facility &amp; Infrastructure Preventive and Corrective Maintenance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74620945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X309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Utility Systems Operations &amp; Maintenance Labor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7851760"/>
                  </a:ext>
                </a:extLst>
              </a:tr>
              <a:tr h="251437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Contractor Escort Services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12931784"/>
                  </a:ext>
                </a:extLst>
              </a:tr>
              <a:tr h="239232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Integrated Pest Management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4125855"/>
                  </a:ext>
                </a:extLst>
              </a:tr>
              <a:tr h="251437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Fire and Emergency Services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Month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FFP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16900974"/>
                  </a:ext>
                </a:extLst>
              </a:tr>
              <a:tr h="251437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X313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Reimbursable Material &amp; Equipment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Lot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CR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02353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7D592DB-9A00-0097-DCAB-EB5CCA19FD18}"/>
              </a:ext>
            </a:extLst>
          </p:cNvPr>
          <p:cNvSpPr txBox="1"/>
          <p:nvPr/>
        </p:nvSpPr>
        <p:spPr>
          <a:xfrm>
            <a:off x="519112" y="945776"/>
            <a:ext cx="5057775" cy="661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</a:b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3 – Civil Engineering 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4AECA50-7F52-579F-A06C-8533268E252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09036" y="80572"/>
            <a:ext cx="7143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5pPr>
            <a:lvl6pPr marL="45671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6pPr>
            <a:lvl7pPr marL="913423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7pPr>
            <a:lvl8pPr marL="137013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8pPr>
            <a:lvl9pPr marL="1826844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9pPr>
          </a:lstStyle>
          <a:p>
            <a:br>
              <a:rPr lang="en-US" altLang="en-US" sz="3200" dirty="0"/>
            </a:br>
            <a:r>
              <a:rPr lang="en-US" altLang="en-US" sz="3200" dirty="0"/>
              <a:t>Notional CLIN Structure Türkiye	</a:t>
            </a:r>
            <a:br>
              <a:rPr lang="en-US" altLang="en-US" sz="3200" dirty="0"/>
            </a:br>
            <a:r>
              <a:rPr lang="en-US" altLang="en-US" sz="3200" dirty="0"/>
              <a:t> 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5FFF89C6-5AEE-FB1A-0275-F770C7CFB1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7160860"/>
              </p:ext>
            </p:extLst>
          </p:nvPr>
        </p:nvGraphicFramePr>
        <p:xfrm>
          <a:off x="519111" y="5417623"/>
          <a:ext cx="10314037" cy="10222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7196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941677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647182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1507982">
                  <a:extLst>
                    <a:ext uri="{9D8B030D-6E8A-4147-A177-3AD203B41FA5}">
                      <a16:colId xmlns:a16="http://schemas.microsoft.com/office/drawing/2014/main" val="3078922820"/>
                    </a:ext>
                  </a:extLst>
                </a:gridCol>
              </a:tblGrid>
              <a:tr h="252421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813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X501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Mail Distribution for USMILGP-T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52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dirty="0"/>
                        <a:t>X502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Sports/Recreations/Intramural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Month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  <a:tr h="1654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X503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Reimbursable Material &amp; Equipment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dirty="0">
                          <a:latin typeface="Arial"/>
                        </a:rPr>
                        <a:t>CR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444494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932C45E-0EE5-6E78-0633-B8A112776071}"/>
              </a:ext>
            </a:extLst>
          </p:cNvPr>
          <p:cNvSpPr txBox="1"/>
          <p:nvPr/>
        </p:nvSpPr>
        <p:spPr>
          <a:xfrm>
            <a:off x="519111" y="5133507"/>
            <a:ext cx="5057775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5 – Force Support Services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8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EAB8-728F-D78C-8616-662DFA25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6A9B7-8418-EA9A-7783-608CE4FC00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3DA79-347D-4596-B7F3-05C0494CD74C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ED6E95FE-7506-4BE2-A06D-16915F9AD4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0586" y="1700916"/>
          <a:ext cx="10197547" cy="17431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6792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683810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507742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1819203">
                  <a:extLst>
                    <a:ext uri="{9D8B030D-6E8A-4147-A177-3AD203B41FA5}">
                      <a16:colId xmlns:a16="http://schemas.microsoft.com/office/drawing/2014/main" val="1203227113"/>
                    </a:ext>
                  </a:extLst>
                </a:gridCol>
              </a:tblGrid>
              <a:tr h="249020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 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490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X601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Supply and Materiel Management Services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490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X602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Vehicle Fleet Management and Maintenance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  <a:tr h="2490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X603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Traffic Management Services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62270957"/>
                  </a:ext>
                </a:extLst>
              </a:tr>
              <a:tr h="2490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X604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Ground Transportation - Passenger Movement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2617111"/>
                  </a:ext>
                </a:extLst>
              </a:tr>
              <a:tr h="2490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X605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USMILGP-T Supply and Equipment Clearance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84899153"/>
                  </a:ext>
                </a:extLst>
              </a:tr>
              <a:tr h="2490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X606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Reimbursable Material &amp; Equipment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CR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16939200"/>
                  </a:ext>
                </a:extLst>
              </a:tr>
            </a:tbl>
          </a:graphicData>
        </a:graphic>
      </p:graphicFrame>
      <p:sp>
        <p:nvSpPr>
          <p:cNvPr id="10" name="Title 2">
            <a:extLst>
              <a:ext uri="{FF2B5EF4-FFF2-40B4-BE49-F238E27FC236}">
                <a16:creationId xmlns:a16="http://schemas.microsoft.com/office/drawing/2014/main" id="{CBC40455-0586-BC40-FEA9-E0485B5662E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09036" y="80572"/>
            <a:ext cx="7143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5pPr>
            <a:lvl6pPr marL="45671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6pPr>
            <a:lvl7pPr marL="913423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7pPr>
            <a:lvl8pPr marL="137013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8pPr>
            <a:lvl9pPr marL="1826844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9pPr>
          </a:lstStyle>
          <a:p>
            <a:br>
              <a:rPr lang="en-US" altLang="en-US" sz="3200" dirty="0"/>
            </a:br>
            <a:r>
              <a:rPr lang="en-US" altLang="en-US" sz="3200" dirty="0"/>
              <a:t>Notional CLIN Structure Türkiye</a:t>
            </a:r>
            <a:br>
              <a:rPr lang="en-US" altLang="en-US" sz="3200" dirty="0"/>
            </a:br>
            <a:r>
              <a:rPr lang="en-US" altLang="en-US" sz="3200" dirty="0"/>
              <a:t> </a:t>
            </a: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2E6AA592-3418-F21D-B069-7723B48DEC44}"/>
              </a:ext>
            </a:extLst>
          </p:cNvPr>
          <p:cNvGraphicFramePr>
            <a:graphicFrameLocks/>
          </p:cNvGraphicFramePr>
          <p:nvPr/>
        </p:nvGraphicFramePr>
        <p:xfrm>
          <a:off x="611419" y="3941202"/>
          <a:ext cx="10186712" cy="9987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5530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723524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1747437">
                  <a:extLst>
                    <a:ext uri="{9D8B030D-6E8A-4147-A177-3AD203B41FA5}">
                      <a16:colId xmlns:a16="http://schemas.microsoft.com/office/drawing/2014/main" val="1867437174"/>
                    </a:ext>
                  </a:extLst>
                </a:gridCol>
              </a:tblGrid>
              <a:tr h="278701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X801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Medical Maintenance Operations Mgt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X802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Patriot Village Support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X803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Reimbursable Material &amp; Equipment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622709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32EAA3-8F17-D618-75BA-2A116A96EAD9}"/>
              </a:ext>
            </a:extLst>
          </p:cNvPr>
          <p:cNvSpPr txBox="1"/>
          <p:nvPr/>
        </p:nvSpPr>
        <p:spPr>
          <a:xfrm>
            <a:off x="600587" y="3608594"/>
            <a:ext cx="9593928" cy="330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8 - Medical Maintenance Operation Management Services (MMOMS) - Incirlik Only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69E52-87E6-DE54-7CC0-2C7B38510615}"/>
              </a:ext>
            </a:extLst>
          </p:cNvPr>
          <p:cNvSpPr txBox="1"/>
          <p:nvPr/>
        </p:nvSpPr>
        <p:spPr>
          <a:xfrm>
            <a:off x="610448" y="5113927"/>
            <a:ext cx="6811482" cy="330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9 - Türkiye Administration Services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82EC2A2-CCA2-E0BE-90D5-0213D020D500}"/>
              </a:ext>
            </a:extLst>
          </p:cNvPr>
          <p:cNvGraphicFramePr>
            <a:graphicFrameLocks/>
          </p:cNvGraphicFramePr>
          <p:nvPr/>
        </p:nvGraphicFramePr>
        <p:xfrm>
          <a:off x="611421" y="5450625"/>
          <a:ext cx="10197549" cy="720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6792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759583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548882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1702292">
                  <a:extLst>
                    <a:ext uri="{9D8B030D-6E8A-4147-A177-3AD203B41FA5}">
                      <a16:colId xmlns:a16="http://schemas.microsoft.com/office/drawing/2014/main" val="2051518280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X901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Türkiye Personnel Services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X902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Reimbursable Material &amp; Equipment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Lot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C5C8D4B-5B01-58A2-59BB-60F4B3887A1E}"/>
              </a:ext>
            </a:extLst>
          </p:cNvPr>
          <p:cNvSpPr txBox="1"/>
          <p:nvPr/>
        </p:nvSpPr>
        <p:spPr>
          <a:xfrm>
            <a:off x="485400" y="1345131"/>
            <a:ext cx="6413427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6 – Logistic Support Services</a:t>
            </a:r>
          </a:p>
        </p:txBody>
      </p:sp>
    </p:spTree>
    <p:extLst>
      <p:ext uri="{BB962C8B-B14F-4D97-AF65-F5344CB8AC3E}">
        <p14:creationId xmlns:p14="http://schemas.microsoft.com/office/powerpoint/2010/main" val="3410913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DDB63-788D-142A-2A5D-DAAB677A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A7B36-038F-7A2E-05F6-980C23500F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3DA79-347D-4596-B7F3-05C0494CD74C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77E87931-3A17-EEAF-6C92-66AB413326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3347" y="1645043"/>
          <a:ext cx="10225548" cy="37013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0050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908296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631245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1495957">
                  <a:extLst>
                    <a:ext uri="{9D8B030D-6E8A-4147-A177-3AD203B41FA5}">
                      <a16:colId xmlns:a16="http://schemas.microsoft.com/office/drawing/2014/main" val="2672823734"/>
                    </a:ext>
                  </a:extLst>
                </a:gridCol>
              </a:tblGrid>
              <a:tr h="277984">
                <a:tc>
                  <a:txBody>
                    <a:bodyPr/>
                    <a:lstStyle/>
                    <a:p>
                      <a:r>
                        <a:rPr lang="en-US" sz="9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952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Civil Engineer Installation Management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X302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Permanent Party Housing Management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X303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Furnishing Management</a:t>
                      </a:r>
                      <a:endParaRPr lang="en-US" sz="1100" b="0" i="0" u="none" strike="noStrike" noProof="0">
                        <a:latin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62270957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X304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Comprehensive Environmental Management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74552921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X305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Engineering, Construction, Project, Construction and Portfolio Management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8461270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X306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Energy and Utilities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84899153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X307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Facilities Operations Management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74620945"/>
                  </a:ext>
                </a:extLst>
              </a:tr>
              <a:tr h="3623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X308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Facility &amp; Infrastructure Preventive and Corrective Maintenance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96261423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X309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Utility Systems Operations &amp; Maintenance Labor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7851760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X310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Custodial/Grounds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01644031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X311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Integrated Pest Management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93578598"/>
                  </a:ext>
                </a:extLst>
              </a:tr>
              <a:tr h="251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X312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Fire and Emergency Services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49653188"/>
                  </a:ext>
                </a:extLst>
              </a:tr>
              <a:tr h="251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X313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Reimbursable Material &amp; Equipment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CR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6839833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D2A04A6-D842-9B8F-A542-B29948530A4D}"/>
              </a:ext>
            </a:extLst>
          </p:cNvPr>
          <p:cNvSpPr txBox="1"/>
          <p:nvPr/>
        </p:nvSpPr>
        <p:spPr>
          <a:xfrm>
            <a:off x="545694" y="947125"/>
            <a:ext cx="5057775" cy="661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</a:b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3 – Civil Engineering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A91F3D88-76B9-94C7-A615-8B8F11778D9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762125" y="80572"/>
            <a:ext cx="979066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5pPr>
            <a:lvl6pPr marL="45671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6pPr>
            <a:lvl7pPr marL="913423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7pPr>
            <a:lvl8pPr marL="137013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8pPr>
            <a:lvl9pPr marL="1826844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9pPr>
          </a:lstStyle>
          <a:p>
            <a:br>
              <a:rPr lang="en-US" altLang="en-US" sz="3200" dirty="0"/>
            </a:br>
            <a:r>
              <a:rPr lang="en-US" altLang="en-US" sz="3200" dirty="0"/>
              <a:t>Notional CLIN Structure Spain</a:t>
            </a:r>
            <a:br>
              <a:rPr lang="en-US" altLang="en-US" sz="3200" dirty="0"/>
            </a:br>
            <a:r>
              <a:rPr lang="en-US" altLang="en-US" sz="3200" dirty="0"/>
              <a:t>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07DACC3-6E09-120B-91D4-BDCB7E915804}"/>
              </a:ext>
            </a:extLst>
          </p:cNvPr>
          <p:cNvGraphicFramePr>
            <a:graphicFrameLocks/>
          </p:cNvGraphicFramePr>
          <p:nvPr/>
        </p:nvGraphicFramePr>
        <p:xfrm>
          <a:off x="487009" y="5631780"/>
          <a:ext cx="10281886" cy="7581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608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945908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1415345">
                  <a:extLst>
                    <a:ext uri="{9D8B030D-6E8A-4147-A177-3AD203B41FA5}">
                      <a16:colId xmlns:a16="http://schemas.microsoft.com/office/drawing/2014/main" val="3078922820"/>
                    </a:ext>
                  </a:extLst>
                </a:gridCol>
              </a:tblGrid>
              <a:tr h="252721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527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X401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Communications and Information Technology Support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527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X402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Reimbursable Material &amp; Equipment</a:t>
                      </a:r>
                      <a:endParaRPr lang="en-US" sz="1100" b="0" i="0" u="none" strike="noStrike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CR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44449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1595DE-3933-C067-D67A-B5B8E9ECCF33}"/>
              </a:ext>
            </a:extLst>
          </p:cNvPr>
          <p:cNvSpPr txBox="1"/>
          <p:nvPr/>
        </p:nvSpPr>
        <p:spPr>
          <a:xfrm>
            <a:off x="487010" y="5015571"/>
            <a:ext cx="4659122" cy="661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</a:b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4 – Communications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819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6D0A5-97F1-22BA-4852-E8253E8D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4DCF2-F31E-EA9F-576E-6B7148933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3DA79-347D-4596-B7F3-05C0494CD74C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66C72DF0-62AA-1F93-7C5D-9A681764A55E}"/>
              </a:ext>
            </a:extLst>
          </p:cNvPr>
          <p:cNvGraphicFramePr>
            <a:graphicFrameLocks/>
          </p:cNvGraphicFramePr>
          <p:nvPr/>
        </p:nvGraphicFramePr>
        <p:xfrm>
          <a:off x="487325" y="4434662"/>
          <a:ext cx="11168032" cy="14561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0392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4948858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3006657">
                  <a:extLst>
                    <a:ext uri="{9D8B030D-6E8A-4147-A177-3AD203B41FA5}">
                      <a16:colId xmlns:a16="http://schemas.microsoft.com/office/drawing/2014/main" val="462854408"/>
                    </a:ext>
                  </a:extLst>
                </a:gridCol>
              </a:tblGrid>
              <a:tr h="358849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X101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Transient Alert and Airfield Support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 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13543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X319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War Reserve Materiel (WRM) Asset Maintenance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X320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Reimbursable Material &amp; Equipment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Lot</a:t>
                      </a:r>
                      <a:endParaRPr lang="en-US" sz="1100">
                        <a:latin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CR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</a:tbl>
          </a:graphicData>
        </a:graphic>
      </p:graphicFrame>
      <p:sp>
        <p:nvSpPr>
          <p:cNvPr id="12" name="Title 2">
            <a:extLst>
              <a:ext uri="{FF2B5EF4-FFF2-40B4-BE49-F238E27FC236}">
                <a16:creationId xmlns:a16="http://schemas.microsoft.com/office/drawing/2014/main" id="{C2342D13-3112-DBCA-1B17-1104F48814E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09036" y="80572"/>
            <a:ext cx="7143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5pPr>
            <a:lvl6pPr marL="45671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6pPr>
            <a:lvl7pPr marL="913423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7pPr>
            <a:lvl8pPr marL="1370130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8pPr>
            <a:lvl9pPr marL="1826844" algn="r" rtl="0" eaLnBrk="0" fontAlgn="base" hangingPunct="0">
              <a:spcBef>
                <a:spcPct val="0"/>
              </a:spcBef>
              <a:spcAft>
                <a:spcPct val="0"/>
              </a:spcAft>
              <a:defRPr sz="3600" b="1" i="1">
                <a:solidFill>
                  <a:srgbClr val="151C77"/>
                </a:solidFill>
                <a:latin typeface="Arial" charset="0"/>
              </a:defRPr>
            </a:lvl9pPr>
          </a:lstStyle>
          <a:p>
            <a:br>
              <a:rPr lang="en-US" altLang="en-US" sz="3200" dirty="0"/>
            </a:br>
            <a:r>
              <a:rPr lang="en-US" altLang="en-US" sz="3200" dirty="0"/>
              <a:t>Notional CLIN Structure Spain</a:t>
            </a:r>
            <a:br>
              <a:rPr lang="en-US" altLang="en-US" sz="3200" dirty="0"/>
            </a:br>
            <a:r>
              <a:rPr lang="en-US" altLang="en-US" sz="3200" dirty="0"/>
              <a:t> </a:t>
            </a: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234F9684-FADA-78D9-8E24-E447FD2025C4}"/>
              </a:ext>
            </a:extLst>
          </p:cNvPr>
          <p:cNvGraphicFramePr>
            <a:graphicFrameLocks/>
          </p:cNvGraphicFramePr>
          <p:nvPr/>
        </p:nvGraphicFramePr>
        <p:xfrm>
          <a:off x="491151" y="1793195"/>
          <a:ext cx="11161644" cy="9715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8994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125005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3004095">
                  <a:extLst>
                    <a:ext uri="{9D8B030D-6E8A-4147-A177-3AD203B41FA5}">
                      <a16:colId xmlns:a16="http://schemas.microsoft.com/office/drawing/2014/main" val="4096912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X501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Food Services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X502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latin typeface="Arial"/>
                        </a:rPr>
                        <a:t>Sports / Recreation / Intramural / Library / Publicity Support</a:t>
                      </a:r>
                      <a:endParaRPr lang="en-US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FFP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669279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X503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</a:rPr>
                        <a:t>Reimbursable Material &amp; Equipment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Lot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Arial"/>
                        </a:rPr>
                        <a:t>CR</a:t>
                      </a:r>
                      <a:endParaRPr lang="en-US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48617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516F37-1086-B297-2002-CE16E85F96E6}"/>
              </a:ext>
            </a:extLst>
          </p:cNvPr>
          <p:cNvSpPr txBox="1"/>
          <p:nvPr/>
        </p:nvSpPr>
        <p:spPr>
          <a:xfrm>
            <a:off x="491151" y="1412984"/>
            <a:ext cx="5057775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5 – Force Support 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BFFAD6-08C9-1FBC-5F7A-82D7FA249199}"/>
              </a:ext>
            </a:extLst>
          </p:cNvPr>
          <p:cNvSpPr txBox="1"/>
          <p:nvPr/>
        </p:nvSpPr>
        <p:spPr>
          <a:xfrm>
            <a:off x="491151" y="4079208"/>
            <a:ext cx="6096000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10 – USAFE Operations (WRM &amp; Transient Alert)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1E021357-9200-55FB-9CBB-013F4557E2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1151" y="3231318"/>
          <a:ext cx="11164206" cy="6515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9291">
                  <a:extLst>
                    <a:ext uri="{9D8B030D-6E8A-4147-A177-3AD203B41FA5}">
                      <a16:colId xmlns:a16="http://schemas.microsoft.com/office/drawing/2014/main" val="577886300"/>
                    </a:ext>
                  </a:extLst>
                </a:gridCol>
                <a:gridCol w="5124708">
                  <a:extLst>
                    <a:ext uri="{9D8B030D-6E8A-4147-A177-3AD203B41FA5}">
                      <a16:colId xmlns:a16="http://schemas.microsoft.com/office/drawing/2014/main" val="4156396780"/>
                    </a:ext>
                  </a:extLst>
                </a:gridCol>
                <a:gridCol w="1734062">
                  <a:extLst>
                    <a:ext uri="{9D8B030D-6E8A-4147-A177-3AD203B41FA5}">
                      <a16:colId xmlns:a16="http://schemas.microsoft.com/office/drawing/2014/main" val="955552031"/>
                    </a:ext>
                  </a:extLst>
                </a:gridCol>
                <a:gridCol w="3006145">
                  <a:extLst>
                    <a:ext uri="{9D8B030D-6E8A-4147-A177-3AD203B41FA5}">
                      <a16:colId xmlns:a16="http://schemas.microsoft.com/office/drawing/2014/main" val="281959342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lang="en-US" sz="1100"/>
                        <a:t>CLIN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Unit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261827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X701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Ambulance and Emergency Medical Services</a:t>
                      </a:r>
                      <a:endParaRPr lang="en-US" sz="11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/>
                        <a:t>Month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FFP</a:t>
                      </a:r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66365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A0C2057-6199-B2F1-384B-BE3FE6F8AD4D}"/>
              </a:ext>
            </a:extLst>
          </p:cNvPr>
          <p:cNvSpPr txBox="1"/>
          <p:nvPr/>
        </p:nvSpPr>
        <p:spPr>
          <a:xfrm>
            <a:off x="491152" y="2900333"/>
            <a:ext cx="6812946" cy="330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Chapter 7 - Ambulance and Medical Support Services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56302"/>
      </p:ext>
    </p:extLst>
  </p:cSld>
  <p:clrMapOvr>
    <a:masterClrMapping/>
  </p:clrMapOvr>
</p:sld>
</file>

<file path=ppt/theme/theme1.xml><?xml version="1.0" encoding="utf-8"?>
<a:theme xmlns:a="http://schemas.openxmlformats.org/drawingml/2006/main" name="21_USAF(Unclas)">
  <a:themeElements>
    <a:clrScheme name="USAF(Unclas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USAF(Unclas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SAF(Unclas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AF(Unclas)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AF(Unclas)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adc8ff-f4a3-4a14-9c0d-84b4985de0d2}" enabled="1" method="Privileged" siteId="{8331b18d-2d87-48ef-a35f-ac8818ebf9b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1463</Words>
  <Application>Microsoft Office PowerPoint</Application>
  <PresentationFormat>Widescreen</PresentationFormat>
  <Paragraphs>469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Century Schoolbook</vt:lpstr>
      <vt:lpstr>Times New Roman</vt:lpstr>
      <vt:lpstr>Wingdings</vt:lpstr>
      <vt:lpstr>21_USAF(Unclas)</vt:lpstr>
      <vt:lpstr>PowerPoint Presentation</vt:lpstr>
      <vt:lpstr>Türkiye BOS Requirements </vt:lpstr>
      <vt:lpstr>Spain BOS Requirements </vt:lpstr>
      <vt:lpstr>Turkieye Spain BOS Contract History</vt:lpstr>
      <vt:lpstr>Turkish Labor Inflation</vt:lpstr>
      <vt:lpstr>PowerPoint Presentation</vt:lpstr>
      <vt:lpstr>PowerPoint Presentation</vt:lpstr>
      <vt:lpstr>Source Selection Strategy &amp; Tradeoff Approach</vt:lpstr>
      <vt:lpstr>Source Selection Strategy &amp; Tradeoff Approach</vt:lpstr>
      <vt:lpstr>Source Selection Strategy &amp; Tradeoff Approach</vt:lpstr>
      <vt:lpstr> Notional CLIN Structures Provided Below Conclusion</vt:lpstr>
      <vt:lpstr> Notional CLIN Structure  </vt:lpstr>
      <vt:lpstr> Notional CLIN Structure Türkiye   </vt:lpstr>
      <vt:lpstr> Notional CLIN Structure Türkiye  </vt:lpstr>
      <vt:lpstr> Notional CLIN Structure Spain  </vt:lpstr>
      <vt:lpstr> Notional CLIN Structure Spain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MCLAURIN, JOHN S CIV USAF AFICC 764 ESS/PKA</dc:creator>
  <cp:lastModifiedBy>MCLAURIN, JOHN S CIV USAF AFICC 764 ESS/PKA</cp:lastModifiedBy>
  <cp:revision>6</cp:revision>
  <dcterms:created xsi:type="dcterms:W3CDTF">2026-02-04T12:47:57Z</dcterms:created>
  <dcterms:modified xsi:type="dcterms:W3CDTF">2026-03-02T11:26:00Z</dcterms:modified>
</cp:coreProperties>
</file>