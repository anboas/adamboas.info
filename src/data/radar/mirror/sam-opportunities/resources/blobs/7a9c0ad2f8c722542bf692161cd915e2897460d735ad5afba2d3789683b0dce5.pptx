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theme/theme3.xml" ContentType="application/vnd.openxmlformats-officedocument.theme+xml"/>
  <Override PartName="/ppt/slideLayouts/slideLayout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9" r:id="rId4"/>
    <p:sldMasterId id="2147483730" r:id="rId5"/>
    <p:sldMasterId id="2147483727" r:id="rId6"/>
    <p:sldMasterId id="2147483725" r:id="rId7"/>
  </p:sldMasterIdLst>
  <p:notesMasterIdLst>
    <p:notesMasterId r:id="rId23"/>
  </p:notesMasterIdLst>
  <p:handoutMasterIdLst>
    <p:handoutMasterId r:id="rId24"/>
  </p:handoutMasterIdLst>
  <p:sldIdLst>
    <p:sldId id="454" r:id="rId8"/>
    <p:sldId id="480" r:id="rId9"/>
    <p:sldId id="512" r:id="rId10"/>
    <p:sldId id="540" r:id="rId11"/>
    <p:sldId id="541" r:id="rId12"/>
    <p:sldId id="537" r:id="rId13"/>
    <p:sldId id="538" r:id="rId14"/>
    <p:sldId id="536" r:id="rId15"/>
    <p:sldId id="535" r:id="rId16"/>
    <p:sldId id="516" r:id="rId17"/>
    <p:sldId id="529" r:id="rId18"/>
    <p:sldId id="524" r:id="rId19"/>
    <p:sldId id="525" r:id="rId20"/>
    <p:sldId id="526" r:id="rId21"/>
    <p:sldId id="527" r:id="rId22"/>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6600CC"/>
    <a:srgbClr val="FFFF00"/>
    <a:srgbClr val="006600"/>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205" autoAdjust="0"/>
    <p:restoredTop sz="94590" autoAdjust="0"/>
  </p:normalViewPr>
  <p:slideViewPr>
    <p:cSldViewPr>
      <p:cViewPr varScale="1">
        <p:scale>
          <a:sx n="110" d="100"/>
          <a:sy n="110" d="100"/>
        </p:scale>
        <p:origin x="1266" y="102"/>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4.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handoutMaster" Target="handoutMasters/handoutMaster1.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3.xml"/><Relationship Id="rId19" Type="http://schemas.openxmlformats.org/officeDocument/2006/relationships/slide" Target="slides/slide12.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6725"/>
          </a:xfrm>
          <a:prstGeom prst="rect">
            <a:avLst/>
          </a:prstGeom>
        </p:spPr>
        <p:txBody>
          <a:bodyPr vert="horz" lIns="91440" tIns="45720" rIns="91440" bIns="45720" rtlCol="0"/>
          <a:lstStyle>
            <a:lvl1pPr algn="r">
              <a:defRPr sz="1200"/>
            </a:lvl1pPr>
          </a:lstStyle>
          <a:p>
            <a:fld id="{3758E99F-C48A-4CC9-A7E5-8745441DF98A}" type="datetimeFigureOut">
              <a:rPr lang="en-US" smtClean="0"/>
              <a:t>1/24/2020</a:t>
            </a:fld>
            <a:endParaRPr lang="en-US"/>
          </a:p>
        </p:txBody>
      </p:sp>
      <p:sp>
        <p:nvSpPr>
          <p:cNvPr id="4" name="Footer Placeholder 3"/>
          <p:cNvSpPr>
            <a:spLocks noGrp="1"/>
          </p:cNvSpPr>
          <p:nvPr>
            <p:ph type="ftr" sz="quarter" idx="2"/>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6725"/>
          </a:xfrm>
          <a:prstGeom prst="rect">
            <a:avLst/>
          </a:prstGeom>
        </p:spPr>
        <p:txBody>
          <a:bodyPr vert="horz" lIns="91440" tIns="45720" rIns="91440" bIns="45720" rtlCol="0" anchor="b"/>
          <a:lstStyle>
            <a:lvl1pPr algn="r">
              <a:defRPr sz="1200"/>
            </a:lvl1pPr>
          </a:lstStyle>
          <a:p>
            <a:fld id="{FC96F18F-AA4E-4C5C-8349-C9773A981DFA}" type="slidenum">
              <a:rPr lang="en-US" smtClean="0"/>
              <a:t>‹#›</a:t>
            </a:fld>
            <a:endParaRPr lang="en-US"/>
          </a:p>
        </p:txBody>
      </p:sp>
    </p:spTree>
    <p:extLst>
      <p:ext uri="{BB962C8B-B14F-4D97-AF65-F5344CB8AC3E}">
        <p14:creationId xmlns:p14="http://schemas.microsoft.com/office/powerpoint/2010/main" val="34036907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2736" tIns="46368" rIns="92736" bIns="46368" rtlCol="0"/>
          <a:lstStyle>
            <a:lvl1pPr algn="l">
              <a:defRPr sz="1200"/>
            </a:lvl1pPr>
          </a:lstStyle>
          <a:p>
            <a:endParaRPr lang="en-US" dirty="0"/>
          </a:p>
        </p:txBody>
      </p:sp>
      <p:sp>
        <p:nvSpPr>
          <p:cNvPr id="3" name="Date Placeholder 2"/>
          <p:cNvSpPr>
            <a:spLocks noGrp="1"/>
          </p:cNvSpPr>
          <p:nvPr>
            <p:ph type="dt" idx="1"/>
          </p:nvPr>
        </p:nvSpPr>
        <p:spPr>
          <a:xfrm>
            <a:off x="3970940" y="0"/>
            <a:ext cx="3037840" cy="464820"/>
          </a:xfrm>
          <a:prstGeom prst="rect">
            <a:avLst/>
          </a:prstGeom>
        </p:spPr>
        <p:txBody>
          <a:bodyPr vert="horz" lIns="92736" tIns="46368" rIns="92736" bIns="46368" rtlCol="0"/>
          <a:lstStyle>
            <a:lvl1pPr algn="r">
              <a:defRPr sz="1200"/>
            </a:lvl1pPr>
          </a:lstStyle>
          <a:p>
            <a:fld id="{47802B59-CA50-4283-8B53-B06FA28FE7F4}" type="datetimeFigureOut">
              <a:rPr lang="en-US" smtClean="0"/>
              <a:pPr/>
              <a:t>1/24/2020</a:t>
            </a:fld>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2736" tIns="46368" rIns="92736" bIns="46368" rtlCol="0" anchor="ctr"/>
          <a:lstStyle/>
          <a:p>
            <a:endParaRPr lang="en-US" dirty="0"/>
          </a:p>
        </p:txBody>
      </p:sp>
      <p:sp>
        <p:nvSpPr>
          <p:cNvPr id="5" name="Notes Placeholder 4"/>
          <p:cNvSpPr>
            <a:spLocks noGrp="1"/>
          </p:cNvSpPr>
          <p:nvPr>
            <p:ph type="body" sz="quarter" idx="3"/>
          </p:nvPr>
        </p:nvSpPr>
        <p:spPr>
          <a:xfrm>
            <a:off x="701040" y="4415792"/>
            <a:ext cx="5608320" cy="4183380"/>
          </a:xfrm>
          <a:prstGeom prst="rect">
            <a:avLst/>
          </a:prstGeom>
        </p:spPr>
        <p:txBody>
          <a:bodyPr vert="horz" lIns="92736" tIns="46368" rIns="92736" bIns="46368"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29968"/>
            <a:ext cx="3037840" cy="464820"/>
          </a:xfrm>
          <a:prstGeom prst="rect">
            <a:avLst/>
          </a:prstGeom>
        </p:spPr>
        <p:txBody>
          <a:bodyPr vert="horz" lIns="92736" tIns="46368" rIns="92736" bIns="46368"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40" y="8829968"/>
            <a:ext cx="3037840" cy="464820"/>
          </a:xfrm>
          <a:prstGeom prst="rect">
            <a:avLst/>
          </a:prstGeom>
        </p:spPr>
        <p:txBody>
          <a:bodyPr vert="horz" lIns="92736" tIns="46368" rIns="92736" bIns="46368" rtlCol="0" anchor="b"/>
          <a:lstStyle>
            <a:lvl1pPr algn="r">
              <a:defRPr sz="1200"/>
            </a:lvl1pPr>
          </a:lstStyle>
          <a:p>
            <a:fld id="{6C574044-705B-4BA9-9528-EF24541C28D0}" type="slidenum">
              <a:rPr lang="en-US" smtClean="0"/>
              <a:pPr/>
              <a:t>‹#›</a:t>
            </a:fld>
            <a:endParaRPr lang="en-US" dirty="0"/>
          </a:p>
        </p:txBody>
      </p:sp>
    </p:spTree>
    <p:extLst>
      <p:ext uri="{BB962C8B-B14F-4D97-AF65-F5344CB8AC3E}">
        <p14:creationId xmlns:p14="http://schemas.microsoft.com/office/powerpoint/2010/main" val="27251290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C574044-705B-4BA9-9528-EF24541C28D0}" type="slidenum">
              <a:rPr lang="en-US" smtClean="0"/>
              <a:pPr/>
              <a:t>1</a:t>
            </a:fld>
            <a:endParaRPr lang="en-US" dirty="0"/>
          </a:p>
        </p:txBody>
      </p:sp>
    </p:spTree>
    <p:extLst>
      <p:ext uri="{BB962C8B-B14F-4D97-AF65-F5344CB8AC3E}">
        <p14:creationId xmlns:p14="http://schemas.microsoft.com/office/powerpoint/2010/main" val="66659145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 Id="rId5" Type="http://schemas.openxmlformats.org/officeDocument/2006/relationships/image" Target="../media/image9.gif"/><Relationship Id="rId4"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Slide Number Placeholder 3"/>
          <p:cNvSpPr>
            <a:spLocks noGrp="1"/>
          </p:cNvSpPr>
          <p:nvPr>
            <p:ph type="sldNum" sz="quarter" idx="12"/>
          </p:nvPr>
        </p:nvSpPr>
        <p:spPr>
          <a:xfrm>
            <a:off x="8494776" y="6462611"/>
            <a:ext cx="612648" cy="365125"/>
          </a:xfrm>
          <a:prstGeom prst="rect">
            <a:avLst/>
          </a:prstGeom>
        </p:spPr>
        <p:txBody>
          <a:bodyPr/>
          <a:lstStyle/>
          <a:p>
            <a:fld id="{89F2C004-2715-FE49-B628-06E74F704CD7}" type="slidenum">
              <a:rPr lang="en-US" smtClean="0">
                <a:solidFill>
                  <a:prstClr val="white"/>
                </a:solidFill>
              </a:rPr>
              <a:pPr/>
              <a:t>‹#›</a:t>
            </a:fld>
            <a:endParaRPr lang="en-US" dirty="0">
              <a:solidFill>
                <a:prstClr val="white"/>
              </a:solidFill>
            </a:endParaRPr>
          </a:p>
        </p:txBody>
      </p:sp>
      <p:grpSp>
        <p:nvGrpSpPr>
          <p:cNvPr id="3" name="Group 2"/>
          <p:cNvGrpSpPr/>
          <p:nvPr userDrawn="1"/>
        </p:nvGrpSpPr>
        <p:grpSpPr>
          <a:xfrm>
            <a:off x="144954" y="79430"/>
            <a:ext cx="8084889" cy="903338"/>
            <a:chOff x="144954" y="71442"/>
            <a:chExt cx="8084889" cy="903338"/>
          </a:xfrm>
        </p:grpSpPr>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4954" y="71442"/>
              <a:ext cx="699323" cy="903338"/>
            </a:xfrm>
            <a:prstGeom prst="rect">
              <a:avLst/>
            </a:prstGeom>
          </p:spPr>
        </p:pic>
        <p:pic>
          <p:nvPicPr>
            <p:cNvPr id="5" name="Picture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604681" y="105626"/>
              <a:ext cx="625162" cy="735484"/>
            </a:xfrm>
            <a:prstGeom prst="rect">
              <a:avLst/>
            </a:prstGeom>
            <a:effectLst>
              <a:outerShdw blurRad="50800" dist="38100" dir="2700000" algn="tl" rotWithShape="0">
                <a:prstClr val="black">
                  <a:alpha val="40000"/>
                </a:prstClr>
              </a:outerShdw>
            </a:effectLst>
          </p:spPr>
        </p:pic>
      </p:grpSp>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246878" y="105766"/>
            <a:ext cx="784898" cy="784898"/>
          </a:xfrm>
          <a:prstGeom prst="rect">
            <a:avLst/>
          </a:prstGeom>
        </p:spPr>
      </p:pic>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pic>
        <p:nvPicPr>
          <p:cNvPr id="5" name="Picture 4" descr="PPTCoverBkgrd1b.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ctrTitle"/>
          </p:nvPr>
        </p:nvSpPr>
        <p:spPr>
          <a:xfrm>
            <a:off x="719984" y="2371726"/>
            <a:ext cx="7772400" cy="1470025"/>
          </a:xfrm>
          <a:prstGeom prst="rect">
            <a:avLst/>
          </a:prstGeom>
        </p:spPr>
        <p:txBody>
          <a:bodyPr/>
          <a:lstStyle>
            <a:lvl1pPr>
              <a:defRPr sz="3200">
                <a:solidFill>
                  <a:schemeClr val="tx1"/>
                </a:solidFill>
                <a:effectLst/>
                <a:latin typeface="Arial" pitchFamily="34" charset="0"/>
                <a:cs typeface="Arial" pitchFamily="34" charset="0"/>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solidFill>
                <a:latin typeface="Arial"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pic>
        <p:nvPicPr>
          <p:cNvPr id="8" name="Picture 7" descr="US ARMY Black and Gold.png"/>
          <p:cNvPicPr>
            <a:picLocks noChangeAspect="1"/>
          </p:cNvPicPr>
          <p:nvPr userDrawn="1"/>
        </p:nvPicPr>
        <p:blipFill>
          <a:blip r:embed="rId3" cstate="print"/>
          <a:stretch>
            <a:fillRect/>
          </a:stretch>
        </p:blipFill>
        <p:spPr>
          <a:xfrm>
            <a:off x="304800" y="717686"/>
            <a:ext cx="801518" cy="1000410"/>
          </a:xfrm>
          <a:prstGeom prst="rect">
            <a:avLst/>
          </a:prstGeom>
        </p:spPr>
      </p:pic>
      <p:pic>
        <p:nvPicPr>
          <p:cNvPr id="7" name="Picture 6" descr="AMC_Logo.png"/>
          <p:cNvPicPr>
            <a:picLocks noChangeAspect="1"/>
          </p:cNvPicPr>
          <p:nvPr userDrawn="1"/>
        </p:nvPicPr>
        <p:blipFill>
          <a:blip r:embed="rId4" cstate="print"/>
          <a:stretch>
            <a:fillRect/>
          </a:stretch>
        </p:blipFill>
        <p:spPr>
          <a:xfrm>
            <a:off x="7304395" y="732607"/>
            <a:ext cx="713442" cy="839838"/>
          </a:xfrm>
          <a:prstGeom prst="rect">
            <a:avLst/>
          </a:prstGeom>
          <a:effectLst>
            <a:outerShdw blurRad="50800" dist="38100" dir="2700000" algn="tl" rotWithShape="0">
              <a:prstClr val="black">
                <a:alpha val="40000"/>
              </a:prstClr>
            </a:outerShdw>
          </a:effectLst>
        </p:spPr>
      </p:pic>
      <p:sp>
        <p:nvSpPr>
          <p:cNvPr id="9" name="Footer Placeholder 16"/>
          <p:cNvSpPr txBox="1">
            <a:spLocks/>
          </p:cNvSpPr>
          <p:nvPr userDrawn="1"/>
        </p:nvSpPr>
        <p:spPr>
          <a:xfrm>
            <a:off x="-17930" y="-3890"/>
            <a:ext cx="9144000" cy="231776"/>
          </a:xfrm>
          <a:prstGeom prst="rect">
            <a:avLst/>
          </a:prstGeom>
        </p:spPr>
        <p:txBody>
          <a:bodyPr/>
          <a:lstStyle/>
          <a:p>
            <a:pPr algn="ctr">
              <a:defRPr/>
            </a:pPr>
            <a:r>
              <a:rPr lang="en-US" sz="1000" b="1" dirty="0" smtClean="0">
                <a:solidFill>
                  <a:srgbClr val="000000"/>
                </a:solidFill>
                <a:latin typeface="Arial" pitchFamily="34" charset="0"/>
                <a:ea typeface="MS PGothic" pitchFamily="34" charset="-128"/>
                <a:cs typeface="Arial" pitchFamily="34" charset="0"/>
              </a:rPr>
              <a:t>UNCLASSIFIED//FOUO</a:t>
            </a:r>
            <a:endParaRPr lang="en-US" sz="1000" b="1" dirty="0">
              <a:solidFill>
                <a:srgbClr val="000000"/>
              </a:solidFill>
              <a:latin typeface="Arial" pitchFamily="34" charset="0"/>
              <a:ea typeface="MS PGothic" pitchFamily="34" charset="-128"/>
              <a:cs typeface="Arial" pitchFamily="34" charset="0"/>
            </a:endParaRPr>
          </a:p>
        </p:txBody>
      </p:sp>
      <p:sp>
        <p:nvSpPr>
          <p:cNvPr id="10" name="Footer Placeholder 16"/>
          <p:cNvSpPr txBox="1">
            <a:spLocks/>
          </p:cNvSpPr>
          <p:nvPr userDrawn="1"/>
        </p:nvSpPr>
        <p:spPr>
          <a:xfrm>
            <a:off x="0" y="6629400"/>
            <a:ext cx="1721687" cy="184151"/>
          </a:xfrm>
          <a:prstGeom prst="rect">
            <a:avLst/>
          </a:prstGeom>
        </p:spPr>
        <p:txBody>
          <a:bodyPr/>
          <a:lstStyle/>
          <a:p>
            <a:pPr algn="l">
              <a:defRPr/>
            </a:pPr>
            <a:r>
              <a:rPr lang="en-US" sz="1000" b="1" dirty="0" smtClean="0">
                <a:solidFill>
                  <a:srgbClr val="000000"/>
                </a:solidFill>
                <a:latin typeface="Arial" pitchFamily="34" charset="0"/>
                <a:ea typeface="MS PGothic" pitchFamily="34" charset="-128"/>
                <a:cs typeface="Arial" pitchFamily="34" charset="0"/>
              </a:rPr>
              <a:t>UNCLASSIFIED//FOUO</a:t>
            </a:r>
            <a:endParaRPr lang="en-US" sz="1000" b="1" dirty="0">
              <a:solidFill>
                <a:srgbClr val="000000"/>
              </a:solidFill>
              <a:latin typeface="Arial" pitchFamily="34" charset="0"/>
              <a:ea typeface="MS PGothic" pitchFamily="34" charset="-128"/>
              <a:cs typeface="Arial" pitchFamily="34" charset="0"/>
            </a:endParaRPr>
          </a:p>
        </p:txBody>
      </p:sp>
      <p:pic>
        <p:nvPicPr>
          <p:cNvPr id="4" name="Picture 3"/>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8109888" y="729150"/>
            <a:ext cx="793014" cy="794850"/>
          </a:xfrm>
          <a:prstGeom prst="rect">
            <a:avLst/>
          </a:prstGeom>
        </p:spPr>
      </p:pic>
    </p:spTree>
    <p:extLst>
      <p:ext uri="{BB962C8B-B14F-4D97-AF65-F5344CB8AC3E}">
        <p14:creationId xmlns:p14="http://schemas.microsoft.com/office/powerpoint/2010/main" val="1159183650"/>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Slide Number Placeholder 3"/>
          <p:cNvSpPr>
            <a:spLocks noGrp="1"/>
          </p:cNvSpPr>
          <p:nvPr>
            <p:ph type="sldNum" sz="quarter" idx="12"/>
          </p:nvPr>
        </p:nvSpPr>
        <p:spPr>
          <a:xfrm>
            <a:off x="8494776" y="6462611"/>
            <a:ext cx="612648" cy="365125"/>
          </a:xfrm>
          <a:prstGeom prst="rect">
            <a:avLst/>
          </a:prstGeom>
        </p:spPr>
        <p:txBody>
          <a:bodyPr/>
          <a:lstStyle/>
          <a:p>
            <a:fld id="{89F2C004-2715-FE49-B628-06E74F704CD7}" type="slidenum">
              <a:rPr lang="en-US" smtClean="0">
                <a:solidFill>
                  <a:prstClr val="white"/>
                </a:solidFill>
              </a:rPr>
              <a:pPr/>
              <a:t>‹#›</a:t>
            </a:fld>
            <a:endParaRPr lang="en-US" dirty="0">
              <a:solidFill>
                <a:prstClr val="white"/>
              </a:solidFill>
            </a:endParaRPr>
          </a:p>
        </p:txBody>
      </p:sp>
    </p:spTree>
    <p:extLst>
      <p:ext uri="{BB962C8B-B14F-4D97-AF65-F5344CB8AC3E}">
        <p14:creationId xmlns:p14="http://schemas.microsoft.com/office/powerpoint/2010/main" val="1716754312"/>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28650" y="1825625"/>
            <a:ext cx="7886700" cy="4351338"/>
          </a:xfrm>
          <a:prstGeom prst="rect">
            <a:avLst/>
          </a:prstGeom>
        </p:spPr>
        <p:txBody>
          <a:bodyPr/>
          <a:lstStyle>
            <a:lvl1pPr>
              <a:defRPr/>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2" name="TextBox 11"/>
          <p:cNvSpPr txBox="1"/>
          <p:nvPr userDrawn="1"/>
        </p:nvSpPr>
        <p:spPr>
          <a:xfrm>
            <a:off x="4026452" y="17826"/>
            <a:ext cx="1125931" cy="246221"/>
          </a:xfrm>
          <a:prstGeom prst="rect">
            <a:avLst/>
          </a:prstGeom>
          <a:noFill/>
        </p:spPr>
        <p:txBody>
          <a:bodyPr wrap="square" rtlCol="0">
            <a:spAutoFit/>
          </a:bodyPr>
          <a:lstStyle/>
          <a:p>
            <a:pPr algn="ctr"/>
            <a:r>
              <a:rPr lang="en-US" sz="1000" dirty="0" smtClean="0">
                <a:solidFill>
                  <a:schemeClr val="bg1"/>
                </a:solidFill>
                <a:latin typeface="Franklin Gothic Book" panose="020B0503020102020204" pitchFamily="34" charset="0"/>
              </a:rPr>
              <a:t>UNCLASSIFIED</a:t>
            </a:r>
            <a:endParaRPr lang="en-US" sz="1000" dirty="0">
              <a:solidFill>
                <a:schemeClr val="bg1"/>
              </a:solidFill>
              <a:latin typeface="Franklin Gothic Book" panose="020B0503020102020204" pitchFamily="34" charset="0"/>
            </a:endParaRPr>
          </a:p>
        </p:txBody>
      </p:sp>
      <p:sp>
        <p:nvSpPr>
          <p:cNvPr id="11" name="Date Placeholder 4"/>
          <p:cNvSpPr>
            <a:spLocks noGrp="1"/>
          </p:cNvSpPr>
          <p:nvPr>
            <p:ph type="dt" sz="half" idx="10"/>
          </p:nvPr>
        </p:nvSpPr>
        <p:spPr>
          <a:xfrm>
            <a:off x="11487" y="6467184"/>
            <a:ext cx="2057400" cy="365125"/>
          </a:xfrm>
          <a:prstGeom prst="rect">
            <a:avLst/>
          </a:prstGeom>
        </p:spPr>
        <p:txBody>
          <a:bodyPr anchor="b"/>
          <a:lstStyle>
            <a:lvl1pPr>
              <a:defRPr sz="1100" b="1">
                <a:latin typeface="Franklin Gothic Book" panose="020B0503020102020204" pitchFamily="34" charset="0"/>
              </a:defRPr>
            </a:lvl1pPr>
          </a:lstStyle>
          <a:p>
            <a:endParaRPr lang="en-US" dirty="0"/>
          </a:p>
        </p:txBody>
      </p:sp>
      <p:sp>
        <p:nvSpPr>
          <p:cNvPr id="13" name="Footer Placeholder 5"/>
          <p:cNvSpPr>
            <a:spLocks noGrp="1"/>
          </p:cNvSpPr>
          <p:nvPr>
            <p:ph type="ftr" sz="quarter" idx="11"/>
          </p:nvPr>
        </p:nvSpPr>
        <p:spPr>
          <a:xfrm>
            <a:off x="3028950" y="6467184"/>
            <a:ext cx="3086100" cy="365125"/>
          </a:xfrm>
          <a:prstGeom prst="rect">
            <a:avLst/>
          </a:prstGeom>
        </p:spPr>
        <p:txBody>
          <a:bodyPr anchor="b"/>
          <a:lstStyle>
            <a:lvl1pPr algn="ctr">
              <a:defRPr sz="1100" b="1">
                <a:latin typeface="Franklin Gothic Book" panose="020B0503020102020204" pitchFamily="34" charset="0"/>
              </a:defRPr>
            </a:lvl1pPr>
          </a:lstStyle>
          <a:p>
            <a:endParaRPr lang="en-US" dirty="0"/>
          </a:p>
        </p:txBody>
      </p:sp>
      <p:sp>
        <p:nvSpPr>
          <p:cNvPr id="14" name="Slide Number Placeholder 6"/>
          <p:cNvSpPr>
            <a:spLocks noGrp="1"/>
          </p:cNvSpPr>
          <p:nvPr>
            <p:ph type="sldNum" sz="quarter" idx="12"/>
          </p:nvPr>
        </p:nvSpPr>
        <p:spPr>
          <a:xfrm>
            <a:off x="7065877" y="6451430"/>
            <a:ext cx="2057400" cy="365125"/>
          </a:xfrm>
          <a:prstGeom prst="rect">
            <a:avLst/>
          </a:prstGeom>
        </p:spPr>
        <p:txBody>
          <a:bodyPr anchor="b"/>
          <a:lstStyle>
            <a:lvl1pPr algn="r">
              <a:defRPr sz="1100" b="1">
                <a:latin typeface="Franklin Gothic Book" panose="020B0503020102020204" pitchFamily="34" charset="0"/>
              </a:defRPr>
            </a:lvl1pPr>
          </a:lstStyle>
          <a:p>
            <a:fld id="{9A10A7E2-7F46-414B-AFCE-C9BEAFC48089}" type="slidenum">
              <a:rPr lang="en-US" smtClean="0"/>
              <a:pPr/>
              <a:t>‹#›</a:t>
            </a:fld>
            <a:endParaRPr lang="en-US" dirty="0"/>
          </a:p>
        </p:txBody>
      </p:sp>
      <p:sp>
        <p:nvSpPr>
          <p:cNvPr id="15" name="Title 1"/>
          <p:cNvSpPr txBox="1">
            <a:spLocks/>
          </p:cNvSpPr>
          <p:nvPr userDrawn="1"/>
        </p:nvSpPr>
        <p:spPr>
          <a:xfrm>
            <a:off x="1628276" y="172563"/>
            <a:ext cx="3008376" cy="52164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400" dirty="0">
                <a:solidFill>
                  <a:prstClr val="white"/>
                </a:solidFill>
                <a:latin typeface="Franklin Gothic Medium Cond" panose="020B0606030402020204" pitchFamily="34" charset="0"/>
              </a:rPr>
              <a:t>U.S. Army Contracting </a:t>
            </a:r>
            <a:r>
              <a:rPr lang="en-US" sz="1400" dirty="0" smtClean="0">
                <a:solidFill>
                  <a:prstClr val="white"/>
                </a:solidFill>
                <a:latin typeface="Franklin Gothic Medium Cond" panose="020B0606030402020204" pitchFamily="34" charset="0"/>
              </a:rPr>
              <a:t>Command </a:t>
            </a:r>
          </a:p>
          <a:p>
            <a:r>
              <a:rPr lang="en-US" sz="1400" dirty="0" smtClean="0">
                <a:solidFill>
                  <a:prstClr val="white"/>
                </a:solidFill>
                <a:latin typeface="Franklin Gothic Medium Cond" panose="020B0606030402020204" pitchFamily="34" charset="0"/>
              </a:rPr>
              <a:t>Aberdeen </a:t>
            </a:r>
            <a:r>
              <a:rPr lang="en-US" sz="1400" dirty="0">
                <a:solidFill>
                  <a:prstClr val="white"/>
                </a:solidFill>
                <a:latin typeface="Franklin Gothic Medium Cond" panose="020B0606030402020204" pitchFamily="34" charset="0"/>
              </a:rPr>
              <a:t>Proving Ground</a:t>
            </a:r>
          </a:p>
        </p:txBody>
      </p:sp>
      <p:grpSp>
        <p:nvGrpSpPr>
          <p:cNvPr id="17" name="Group 16"/>
          <p:cNvGrpSpPr/>
          <p:nvPr userDrawn="1"/>
        </p:nvGrpSpPr>
        <p:grpSpPr>
          <a:xfrm>
            <a:off x="0" y="0"/>
            <a:ext cx="9144000" cy="1219200"/>
            <a:chOff x="0" y="0"/>
            <a:chExt cx="9144000" cy="1219200"/>
          </a:xfrm>
        </p:grpSpPr>
        <p:pic>
          <p:nvPicPr>
            <p:cNvPr id="19" name="Picture 1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1219200"/>
            </a:xfrm>
            <a:prstGeom prst="rect">
              <a:avLst/>
            </a:prstGeom>
          </p:spPr>
        </p:pic>
        <p:sp>
          <p:nvSpPr>
            <p:cNvPr id="20" name="TextBox 19"/>
            <p:cNvSpPr txBox="1"/>
            <p:nvPr userDrawn="1"/>
          </p:nvSpPr>
          <p:spPr>
            <a:xfrm>
              <a:off x="4026452" y="17826"/>
              <a:ext cx="1125931" cy="246221"/>
            </a:xfrm>
            <a:prstGeom prst="rect">
              <a:avLst/>
            </a:prstGeom>
            <a:noFill/>
          </p:spPr>
          <p:txBody>
            <a:bodyPr wrap="square" rtlCol="0">
              <a:spAutoFit/>
            </a:bodyPr>
            <a:lstStyle/>
            <a:p>
              <a:pPr algn="ctr"/>
              <a:r>
                <a:rPr lang="en-US" sz="1000" dirty="0" smtClean="0">
                  <a:solidFill>
                    <a:schemeClr val="bg1"/>
                  </a:solidFill>
                  <a:latin typeface="Franklin Gothic Book" panose="020B0503020102020204" pitchFamily="34" charset="0"/>
                </a:rPr>
                <a:t>UNCLASSIFIED</a:t>
              </a:r>
              <a:endParaRPr lang="en-US" sz="1000" dirty="0">
                <a:solidFill>
                  <a:schemeClr val="bg1"/>
                </a:solidFill>
                <a:latin typeface="Franklin Gothic Book" panose="020B0503020102020204" pitchFamily="34" charset="0"/>
              </a:endParaRPr>
            </a:p>
          </p:txBody>
        </p:sp>
      </p:grpSp>
      <p:sp>
        <p:nvSpPr>
          <p:cNvPr id="21" name="Title 1"/>
          <p:cNvSpPr txBox="1">
            <a:spLocks/>
          </p:cNvSpPr>
          <p:nvPr userDrawn="1"/>
        </p:nvSpPr>
        <p:spPr>
          <a:xfrm>
            <a:off x="1591331" y="229373"/>
            <a:ext cx="1881541" cy="52164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a:solidFill>
                  <a:schemeClr val="bg1"/>
                </a:solidFill>
                <a:latin typeface="Franklin Gothic Medium Cond" panose="020B0606030402020204" pitchFamily="34" charset="0"/>
              </a:rPr>
              <a:t>U.S. Army Contracting </a:t>
            </a:r>
            <a:r>
              <a:rPr lang="en-US" sz="1100" dirty="0" smtClean="0">
                <a:solidFill>
                  <a:schemeClr val="bg1"/>
                </a:solidFill>
                <a:latin typeface="Franklin Gothic Medium Cond" panose="020B0606030402020204" pitchFamily="34" charset="0"/>
              </a:rPr>
              <a:t>Command </a:t>
            </a:r>
          </a:p>
          <a:p>
            <a:r>
              <a:rPr lang="en-US" sz="1100" dirty="0" smtClean="0">
                <a:solidFill>
                  <a:schemeClr val="bg1"/>
                </a:solidFill>
                <a:latin typeface="Franklin Gothic Medium Cond" panose="020B0606030402020204" pitchFamily="34" charset="0"/>
              </a:rPr>
              <a:t>Aberdeen </a:t>
            </a:r>
            <a:r>
              <a:rPr lang="en-US" sz="1100" dirty="0">
                <a:solidFill>
                  <a:schemeClr val="bg1"/>
                </a:solidFill>
                <a:latin typeface="Franklin Gothic Medium Cond" panose="020B0606030402020204" pitchFamily="34" charset="0"/>
              </a:rPr>
              <a:t>Proving Ground</a:t>
            </a:r>
          </a:p>
        </p:txBody>
      </p:sp>
    </p:spTree>
    <p:extLst>
      <p:ext uri="{BB962C8B-B14F-4D97-AF65-F5344CB8AC3E}">
        <p14:creationId xmlns:p14="http://schemas.microsoft.com/office/powerpoint/2010/main" val="3251774892"/>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heme" Target="../theme/theme1.xml"/><Relationship Id="rId7"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jpeg"/><Relationship Id="rId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9.gif"/><Relationship Id="rId3" Type="http://schemas.openxmlformats.org/officeDocument/2006/relationships/theme" Target="../theme/theme2.xml"/><Relationship Id="rId7" Type="http://schemas.openxmlformats.org/officeDocument/2006/relationships/image" Target="../media/image4.png"/><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2.jpeg"/><Relationship Id="rId4" Type="http://schemas.openxmlformats.org/officeDocument/2006/relationships/image" Target="../media/image1.jpe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3.xml"/><Relationship Id="rId1" Type="http://schemas.openxmlformats.org/officeDocument/2006/relationships/slideLayout" Target="../slideLayouts/slideLayout5.xml"/><Relationship Id="rId6" Type="http://schemas.openxmlformats.org/officeDocument/2006/relationships/image" Target="../media/image9.gif"/><Relationship Id="rId5" Type="http://schemas.openxmlformats.org/officeDocument/2006/relationships/image" Target="../media/image4.png"/><Relationship Id="rId4" Type="http://schemas.openxmlformats.org/officeDocument/2006/relationships/image" Target="../media/image5.png"/></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alpha val="0"/>
          </a:schemeClr>
        </a:solidFill>
        <a:effectLst/>
      </p:bgPr>
    </p:bg>
    <p:spTree>
      <p:nvGrpSpPr>
        <p:cNvPr id="1" name=""/>
        <p:cNvGrpSpPr/>
        <p:nvPr/>
      </p:nvGrpSpPr>
      <p:grpSpPr>
        <a:xfrm>
          <a:off x="0" y="0"/>
          <a:ext cx="0" cy="0"/>
          <a:chOff x="0" y="0"/>
          <a:chExt cx="0" cy="0"/>
        </a:xfrm>
      </p:grpSpPr>
      <p:pic>
        <p:nvPicPr>
          <p:cNvPr id="8" name="Picture 7" descr="Metal Header.jpg"/>
          <p:cNvPicPr>
            <a:picLocks noChangeAspect="1"/>
          </p:cNvPicPr>
          <p:nvPr userDrawn="1"/>
        </p:nvPicPr>
        <p:blipFill>
          <a:blip r:embed="rId4" cstate="print"/>
          <a:stretch>
            <a:fillRect/>
          </a:stretch>
        </p:blipFill>
        <p:spPr>
          <a:xfrm>
            <a:off x="0" y="6443663"/>
            <a:ext cx="9144000" cy="414337"/>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pic>
      <p:pic>
        <p:nvPicPr>
          <p:cNvPr id="9" name="Picture 8" descr="Metal Header.jpg"/>
          <p:cNvPicPr>
            <a:picLocks noChangeAspect="1"/>
          </p:cNvPicPr>
          <p:nvPr userDrawn="1"/>
        </p:nvPicPr>
        <p:blipFill>
          <a:blip r:embed="rId5" cstate="print"/>
          <a:stretch>
            <a:fillRect/>
          </a:stretch>
        </p:blipFill>
        <p:spPr>
          <a:xfrm>
            <a:off x="0" y="159182"/>
            <a:ext cx="9144000" cy="536575"/>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pic>
      <p:sp>
        <p:nvSpPr>
          <p:cNvPr id="10" name="Footer Placeholder 16"/>
          <p:cNvSpPr txBox="1">
            <a:spLocks/>
          </p:cNvSpPr>
          <p:nvPr userDrawn="1"/>
        </p:nvSpPr>
        <p:spPr>
          <a:xfrm>
            <a:off x="-17930" y="-29528"/>
            <a:ext cx="9144000" cy="231776"/>
          </a:xfrm>
          <a:prstGeom prst="rect">
            <a:avLst/>
          </a:prstGeom>
        </p:spPr>
        <p:txBody>
          <a:bodyPr/>
          <a:lstStyle/>
          <a:p>
            <a:pPr algn="ctr">
              <a:defRPr/>
            </a:pPr>
            <a:r>
              <a:rPr lang="en-US" sz="1000" b="1" dirty="0" smtClean="0">
                <a:solidFill>
                  <a:srgbClr val="000000"/>
                </a:solidFill>
                <a:latin typeface="Arial" pitchFamily="34" charset="0"/>
                <a:ea typeface="MS PGothic" pitchFamily="34" charset="-128"/>
                <a:cs typeface="Arial" pitchFamily="34" charset="0"/>
              </a:rPr>
              <a:t>UNCLASSIFIED//FOUO</a:t>
            </a:r>
            <a:endParaRPr lang="en-US" sz="1000" b="1" dirty="0">
              <a:solidFill>
                <a:srgbClr val="000000"/>
              </a:solidFill>
              <a:latin typeface="Arial" pitchFamily="34" charset="0"/>
              <a:ea typeface="MS PGothic" pitchFamily="34" charset="-128"/>
              <a:cs typeface="Arial" pitchFamily="34" charset="0"/>
            </a:endParaRPr>
          </a:p>
        </p:txBody>
      </p:sp>
      <p:sp>
        <p:nvSpPr>
          <p:cNvPr id="11" name="Footer Placeholder 16"/>
          <p:cNvSpPr txBox="1">
            <a:spLocks/>
          </p:cNvSpPr>
          <p:nvPr userDrawn="1"/>
        </p:nvSpPr>
        <p:spPr>
          <a:xfrm>
            <a:off x="39624" y="6620256"/>
            <a:ext cx="1752600" cy="228600"/>
          </a:xfrm>
          <a:prstGeom prst="rect">
            <a:avLst/>
          </a:prstGeom>
        </p:spPr>
        <p:txBody>
          <a:bodyPr/>
          <a:lstStyle/>
          <a:p>
            <a:pPr algn="l">
              <a:defRPr/>
            </a:pPr>
            <a:r>
              <a:rPr lang="en-US" sz="1000" b="1" dirty="0" smtClean="0">
                <a:solidFill>
                  <a:prstClr val="white"/>
                </a:solidFill>
                <a:latin typeface="Arial" pitchFamily="34" charset="0"/>
                <a:ea typeface="MS PGothic" pitchFamily="34" charset="-128"/>
                <a:cs typeface="Arial" pitchFamily="34" charset="0"/>
              </a:rPr>
              <a:t>UNCLASSIFIED//FOUO</a:t>
            </a:r>
            <a:endParaRPr lang="en-US" sz="1000" b="1" dirty="0">
              <a:solidFill>
                <a:prstClr val="white"/>
              </a:solidFill>
              <a:latin typeface="Arial" pitchFamily="34" charset="0"/>
              <a:ea typeface="MS PGothic" pitchFamily="34" charset="-128"/>
              <a:cs typeface="Arial" pitchFamily="34" charset="0"/>
            </a:endParaRPr>
          </a:p>
        </p:txBody>
      </p:sp>
      <p:pic>
        <p:nvPicPr>
          <p:cNvPr id="21" name="Picture 20"/>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246878" y="105766"/>
            <a:ext cx="784898" cy="784898"/>
          </a:xfrm>
          <a:prstGeom prst="rect">
            <a:avLst/>
          </a:prstGeom>
        </p:spPr>
      </p:pic>
      <p:pic>
        <p:nvPicPr>
          <p:cNvPr id="22" name="Picture 21"/>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7604681" y="113614"/>
            <a:ext cx="625162" cy="735484"/>
          </a:xfrm>
          <a:prstGeom prst="rect">
            <a:avLst/>
          </a:prstGeom>
          <a:effectLst>
            <a:outerShdw blurRad="50800" dist="38100" dir="2700000" algn="tl" rotWithShape="0">
              <a:prstClr val="black">
                <a:alpha val="40000"/>
              </a:prstClr>
            </a:outerShdw>
          </a:effectLst>
        </p:spPr>
      </p:pic>
      <p:pic>
        <p:nvPicPr>
          <p:cNvPr id="23" name="Picture 22"/>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144954" y="79430"/>
            <a:ext cx="699323" cy="903338"/>
          </a:xfrm>
          <a:prstGeom prst="rect">
            <a:avLst/>
          </a:prstGeom>
        </p:spPr>
      </p:pic>
    </p:spTree>
  </p:cSld>
  <p:clrMap bg1="lt1" tx1="dk1" bg2="lt2" tx2="dk2" accent1="accent1" accent2="accent2" accent3="accent3" accent4="accent4" accent5="accent5" accent6="accent6" hlink="hlink" folHlink="folHlink"/>
  <p:sldLayoutIdLst>
    <p:sldLayoutId id="2147483710" r:id="rId1"/>
    <p:sldLayoutId id="2147483713" r:id="rId2"/>
  </p:sldLayoutIdLst>
  <p:timing>
    <p:tnLst>
      <p:par>
        <p:cTn id="1" dur="indefinite" restart="never" nodeType="tmRoot"/>
      </p:par>
    </p:tnLst>
  </p:timing>
  <p:hf hdr="0" ftr="0" dt="0"/>
  <p:txStyles>
    <p:titleStyle>
      <a:lvl1pPr algn="ctr" defTabSz="914400" rtl="0" eaLnBrk="1" latinLnBrk="0" hangingPunct="1">
        <a:spcBef>
          <a:spcPct val="0"/>
        </a:spcBef>
        <a:buNone/>
        <a:defRPr sz="2800" b="1" kern="1200" baseline="0">
          <a:solidFill>
            <a:schemeClr val="bg1"/>
          </a:solidFill>
          <a:latin typeface="Comic Sans MS" pitchFamily="66" charset="0"/>
          <a:ea typeface="+mj-ea"/>
          <a:cs typeface="+mj-cs"/>
        </a:defRPr>
      </a:lvl1pPr>
    </p:titleStyle>
    <p:bodyStyle>
      <a:lvl1pPr marL="342900" indent="-342900" algn="l" defTabSz="914400" rtl="0" eaLnBrk="1" latinLnBrk="0" hangingPunct="1">
        <a:spcBef>
          <a:spcPct val="20000"/>
        </a:spcBef>
        <a:buFontTx/>
        <a:buNone/>
        <a:defRPr sz="2000" kern="1200">
          <a:solidFill>
            <a:schemeClr val="tx1"/>
          </a:solidFill>
          <a:latin typeface="Comic Sans MS" pitchFamily="66" charset="0"/>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alpha val="0"/>
          </a:schemeClr>
        </a:solidFill>
        <a:effectLst/>
      </p:bgPr>
    </p:bg>
    <p:spTree>
      <p:nvGrpSpPr>
        <p:cNvPr id="1" name=""/>
        <p:cNvGrpSpPr/>
        <p:nvPr/>
      </p:nvGrpSpPr>
      <p:grpSpPr>
        <a:xfrm>
          <a:off x="0" y="0"/>
          <a:ext cx="0" cy="0"/>
          <a:chOff x="0" y="0"/>
          <a:chExt cx="0" cy="0"/>
        </a:xfrm>
      </p:grpSpPr>
      <p:pic>
        <p:nvPicPr>
          <p:cNvPr id="8" name="Picture 7" descr="Metal Header.jpg"/>
          <p:cNvPicPr>
            <a:picLocks noChangeAspect="1"/>
          </p:cNvPicPr>
          <p:nvPr userDrawn="1"/>
        </p:nvPicPr>
        <p:blipFill>
          <a:blip r:embed="rId4" cstate="print"/>
          <a:stretch>
            <a:fillRect/>
          </a:stretch>
        </p:blipFill>
        <p:spPr>
          <a:xfrm>
            <a:off x="0" y="6443663"/>
            <a:ext cx="9144000" cy="414337"/>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pic>
      <p:pic>
        <p:nvPicPr>
          <p:cNvPr id="9" name="Picture 8" descr="Metal Header.jpg"/>
          <p:cNvPicPr>
            <a:picLocks noChangeAspect="1"/>
          </p:cNvPicPr>
          <p:nvPr userDrawn="1"/>
        </p:nvPicPr>
        <p:blipFill>
          <a:blip r:embed="rId5" cstate="print"/>
          <a:stretch>
            <a:fillRect/>
          </a:stretch>
        </p:blipFill>
        <p:spPr>
          <a:xfrm>
            <a:off x="0" y="159182"/>
            <a:ext cx="9144000" cy="536575"/>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pic>
      <p:sp>
        <p:nvSpPr>
          <p:cNvPr id="10" name="Footer Placeholder 16"/>
          <p:cNvSpPr txBox="1">
            <a:spLocks/>
          </p:cNvSpPr>
          <p:nvPr userDrawn="1"/>
        </p:nvSpPr>
        <p:spPr>
          <a:xfrm>
            <a:off x="-17930" y="-29528"/>
            <a:ext cx="9144000" cy="231776"/>
          </a:xfrm>
          <a:prstGeom prst="rect">
            <a:avLst/>
          </a:prstGeom>
        </p:spPr>
        <p:txBody>
          <a:bodyPr/>
          <a:lstStyle/>
          <a:p>
            <a:pPr algn="ctr">
              <a:defRPr/>
            </a:pPr>
            <a:r>
              <a:rPr lang="en-US" sz="1000" b="1" dirty="0" smtClean="0">
                <a:solidFill>
                  <a:srgbClr val="000000"/>
                </a:solidFill>
                <a:latin typeface="Arial" pitchFamily="34" charset="0"/>
                <a:ea typeface="MS PGothic" pitchFamily="34" charset="-128"/>
                <a:cs typeface="Arial" pitchFamily="34" charset="0"/>
              </a:rPr>
              <a:t>UNCLASSIFIED//FOUO</a:t>
            </a:r>
            <a:endParaRPr lang="en-US" sz="1000" b="1" dirty="0">
              <a:solidFill>
                <a:srgbClr val="000000"/>
              </a:solidFill>
              <a:latin typeface="Arial" pitchFamily="34" charset="0"/>
              <a:ea typeface="MS PGothic" pitchFamily="34" charset="-128"/>
              <a:cs typeface="Arial" pitchFamily="34" charset="0"/>
            </a:endParaRPr>
          </a:p>
        </p:txBody>
      </p:sp>
      <p:sp>
        <p:nvSpPr>
          <p:cNvPr id="11" name="Footer Placeholder 16"/>
          <p:cNvSpPr txBox="1">
            <a:spLocks/>
          </p:cNvSpPr>
          <p:nvPr userDrawn="1"/>
        </p:nvSpPr>
        <p:spPr>
          <a:xfrm>
            <a:off x="39624" y="6620256"/>
            <a:ext cx="1752600" cy="228600"/>
          </a:xfrm>
          <a:prstGeom prst="rect">
            <a:avLst/>
          </a:prstGeom>
        </p:spPr>
        <p:txBody>
          <a:bodyPr/>
          <a:lstStyle/>
          <a:p>
            <a:pPr algn="l">
              <a:defRPr/>
            </a:pPr>
            <a:r>
              <a:rPr lang="en-US" sz="1000" b="1" dirty="0" smtClean="0">
                <a:solidFill>
                  <a:prstClr val="white"/>
                </a:solidFill>
                <a:latin typeface="Arial" pitchFamily="34" charset="0"/>
                <a:ea typeface="MS PGothic" pitchFamily="34" charset="-128"/>
                <a:cs typeface="Arial" pitchFamily="34" charset="0"/>
              </a:rPr>
              <a:t>UNCLASSIFIED//FOUO</a:t>
            </a:r>
            <a:endParaRPr lang="en-US" sz="1000" b="1" dirty="0">
              <a:solidFill>
                <a:prstClr val="white"/>
              </a:solidFill>
              <a:latin typeface="Arial" pitchFamily="34" charset="0"/>
              <a:ea typeface="MS PGothic" pitchFamily="34" charset="-128"/>
              <a:cs typeface="Arial" pitchFamily="34" charset="0"/>
            </a:endParaRPr>
          </a:p>
        </p:txBody>
      </p:sp>
      <p:grpSp>
        <p:nvGrpSpPr>
          <p:cNvPr id="12" name="Group 11"/>
          <p:cNvGrpSpPr/>
          <p:nvPr userDrawn="1"/>
        </p:nvGrpSpPr>
        <p:grpSpPr>
          <a:xfrm>
            <a:off x="144954" y="79430"/>
            <a:ext cx="8084889" cy="903338"/>
            <a:chOff x="144954" y="71442"/>
            <a:chExt cx="8084889" cy="903338"/>
          </a:xfrm>
        </p:grpSpPr>
        <p:pic>
          <p:nvPicPr>
            <p:cNvPr id="13" name="Picture 12"/>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44954" y="71442"/>
              <a:ext cx="699323" cy="903338"/>
            </a:xfrm>
            <a:prstGeom prst="rect">
              <a:avLst/>
            </a:prstGeom>
          </p:spPr>
        </p:pic>
        <p:pic>
          <p:nvPicPr>
            <p:cNvPr id="16" name="Picture 15"/>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7604681" y="105626"/>
              <a:ext cx="625162" cy="735484"/>
            </a:xfrm>
            <a:prstGeom prst="rect">
              <a:avLst/>
            </a:prstGeom>
            <a:effectLst>
              <a:outerShdw blurRad="50800" dist="38100" dir="2700000" algn="tl" rotWithShape="0">
                <a:prstClr val="black">
                  <a:alpha val="40000"/>
                </a:prstClr>
              </a:outerShdw>
            </a:effectLst>
          </p:spPr>
        </p:pic>
      </p:grpSp>
      <p:pic>
        <p:nvPicPr>
          <p:cNvPr id="2" name="Picture 1"/>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8284187" y="112981"/>
            <a:ext cx="723544" cy="725219"/>
          </a:xfrm>
          <a:prstGeom prst="rect">
            <a:avLst/>
          </a:prstGeom>
        </p:spPr>
      </p:pic>
    </p:spTree>
    <p:extLst>
      <p:ext uri="{BB962C8B-B14F-4D97-AF65-F5344CB8AC3E}">
        <p14:creationId xmlns:p14="http://schemas.microsoft.com/office/powerpoint/2010/main" val="1313682540"/>
      </p:ext>
    </p:extLst>
  </p:cSld>
  <p:clrMap bg1="lt1" tx1="dk1" bg2="lt2" tx2="dk2" accent1="accent1" accent2="accent2" accent3="accent3" accent4="accent4" accent5="accent5" accent6="accent6" hlink="hlink" folHlink="folHlink"/>
  <p:sldLayoutIdLst>
    <p:sldLayoutId id="2147483731" r:id="rId1"/>
    <p:sldLayoutId id="2147483733" r:id="rId2"/>
  </p:sldLayoutIdLst>
  <p:timing>
    <p:tnLst>
      <p:par>
        <p:cTn id="1" dur="indefinite" restart="never" nodeType="tmRoot"/>
      </p:par>
    </p:tnLst>
  </p:timing>
  <p:hf hdr="0" ftr="0" dt="0"/>
  <p:txStyles>
    <p:titleStyle>
      <a:lvl1pPr algn="ctr" defTabSz="914400" rtl="0" eaLnBrk="1" latinLnBrk="0" hangingPunct="1">
        <a:spcBef>
          <a:spcPct val="0"/>
        </a:spcBef>
        <a:buNone/>
        <a:defRPr sz="2800" b="1" kern="1200" baseline="0">
          <a:solidFill>
            <a:schemeClr val="bg1"/>
          </a:solidFill>
          <a:latin typeface="Comic Sans MS" pitchFamily="66" charset="0"/>
          <a:ea typeface="+mj-ea"/>
          <a:cs typeface="+mj-cs"/>
        </a:defRPr>
      </a:lvl1pPr>
    </p:titleStyle>
    <p:bodyStyle>
      <a:lvl1pPr marL="342900" indent="-342900" algn="l" defTabSz="914400" rtl="0" eaLnBrk="1" latinLnBrk="0" hangingPunct="1">
        <a:spcBef>
          <a:spcPct val="20000"/>
        </a:spcBef>
        <a:buFontTx/>
        <a:buNone/>
        <a:defRPr sz="2000" kern="1200">
          <a:solidFill>
            <a:schemeClr val="tx1"/>
          </a:solidFill>
          <a:latin typeface="Comic Sans MS" pitchFamily="66" charset="0"/>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2">
            <a:alpha val="0"/>
          </a:schemeClr>
        </a:solidFill>
        <a:effectLst/>
      </p:bgPr>
    </p:bg>
    <p:spTree>
      <p:nvGrpSpPr>
        <p:cNvPr id="1" name=""/>
        <p:cNvGrpSpPr/>
        <p:nvPr/>
      </p:nvGrpSpPr>
      <p:grpSpPr>
        <a:xfrm>
          <a:off x="0" y="0"/>
          <a:ext cx="0" cy="0"/>
          <a:chOff x="0" y="0"/>
          <a:chExt cx="0" cy="0"/>
        </a:xfrm>
      </p:grpSpPr>
      <p:sp>
        <p:nvSpPr>
          <p:cNvPr id="19" name="Rectangle 18"/>
          <p:cNvSpPr/>
          <p:nvPr userDrawn="1"/>
        </p:nvSpPr>
        <p:spPr>
          <a:xfrm>
            <a:off x="27334" y="6611779"/>
            <a:ext cx="1572866" cy="246221"/>
          </a:xfrm>
          <a:prstGeom prst="rect">
            <a:avLst/>
          </a:prstGeom>
        </p:spPr>
        <p:txBody>
          <a:bodyPr wrap="none">
            <a:spAutoFit/>
          </a:bodyPr>
          <a:lstStyle/>
          <a:p>
            <a:pPr>
              <a:defRPr/>
            </a:pPr>
            <a:r>
              <a:rPr lang="en-US" sz="1000" b="1" dirty="0" smtClean="0">
                <a:solidFill>
                  <a:srgbClr val="000000"/>
                </a:solidFill>
                <a:latin typeface="Arial" pitchFamily="34" charset="0"/>
                <a:ea typeface="MS PGothic" pitchFamily="34" charset="-128"/>
                <a:cs typeface="Arial" pitchFamily="34" charset="0"/>
              </a:rPr>
              <a:t>UNCLASSIFIED//FOUO</a:t>
            </a:r>
            <a:endParaRPr lang="en-US" sz="1000" b="1" dirty="0">
              <a:solidFill>
                <a:srgbClr val="000000"/>
              </a:solidFill>
              <a:latin typeface="Arial" pitchFamily="34" charset="0"/>
              <a:ea typeface="MS PGothic" pitchFamily="34" charset="-128"/>
              <a:cs typeface="Arial" pitchFamily="34" charset="0"/>
            </a:endParaRPr>
          </a:p>
        </p:txBody>
      </p:sp>
      <p:pic>
        <p:nvPicPr>
          <p:cNvPr id="20" name="Picture 19" descr="Metal Header.jpg"/>
          <p:cNvPicPr>
            <a:picLocks noChangeAspect="1"/>
          </p:cNvPicPr>
          <p:nvPr userDrawn="1"/>
        </p:nvPicPr>
        <p:blipFill>
          <a:blip r:embed="rId3" cstate="print"/>
          <a:stretch>
            <a:fillRect/>
          </a:stretch>
        </p:blipFill>
        <p:spPr>
          <a:xfrm>
            <a:off x="0" y="159182"/>
            <a:ext cx="9144000" cy="536575"/>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pic>
      <p:sp>
        <p:nvSpPr>
          <p:cNvPr id="21" name="Footer Placeholder 16"/>
          <p:cNvSpPr txBox="1">
            <a:spLocks/>
          </p:cNvSpPr>
          <p:nvPr userDrawn="1"/>
        </p:nvSpPr>
        <p:spPr>
          <a:xfrm>
            <a:off x="-17930" y="-29528"/>
            <a:ext cx="9144000" cy="231776"/>
          </a:xfrm>
          <a:prstGeom prst="rect">
            <a:avLst/>
          </a:prstGeom>
        </p:spPr>
        <p:txBody>
          <a:bodyPr/>
          <a:lstStyle/>
          <a:p>
            <a:pPr algn="ctr">
              <a:defRPr/>
            </a:pPr>
            <a:r>
              <a:rPr lang="en-US" sz="1000" b="1" dirty="0" smtClean="0">
                <a:solidFill>
                  <a:srgbClr val="000000"/>
                </a:solidFill>
                <a:latin typeface="Arial" pitchFamily="34" charset="0"/>
                <a:ea typeface="MS PGothic" pitchFamily="34" charset="-128"/>
                <a:cs typeface="Arial" pitchFamily="34" charset="0"/>
              </a:rPr>
              <a:t>UNCLASSIFIED//FOUO</a:t>
            </a:r>
            <a:endParaRPr lang="en-US" sz="1000" b="1" dirty="0">
              <a:solidFill>
                <a:srgbClr val="000000"/>
              </a:solidFill>
              <a:latin typeface="Arial" pitchFamily="34" charset="0"/>
              <a:ea typeface="MS PGothic" pitchFamily="34" charset="-128"/>
              <a:cs typeface="Arial" pitchFamily="34" charset="0"/>
            </a:endParaRPr>
          </a:p>
        </p:txBody>
      </p:sp>
      <p:grpSp>
        <p:nvGrpSpPr>
          <p:cNvPr id="8" name="Group 7"/>
          <p:cNvGrpSpPr/>
          <p:nvPr userDrawn="1"/>
        </p:nvGrpSpPr>
        <p:grpSpPr>
          <a:xfrm>
            <a:off x="144954" y="79430"/>
            <a:ext cx="8084889" cy="903338"/>
            <a:chOff x="144954" y="71442"/>
            <a:chExt cx="8084889" cy="903338"/>
          </a:xfrm>
        </p:grpSpPr>
        <p:pic>
          <p:nvPicPr>
            <p:cNvPr id="9" name="Picture 8"/>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44954" y="71442"/>
              <a:ext cx="699323" cy="903338"/>
            </a:xfrm>
            <a:prstGeom prst="rect">
              <a:avLst/>
            </a:prstGeom>
          </p:spPr>
        </p:pic>
        <p:pic>
          <p:nvPicPr>
            <p:cNvPr id="10" name="Picture 9"/>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7604681" y="105626"/>
              <a:ext cx="625162" cy="735484"/>
            </a:xfrm>
            <a:prstGeom prst="rect">
              <a:avLst/>
            </a:prstGeom>
            <a:effectLst>
              <a:outerShdw blurRad="50800" dist="38100" dir="2700000" algn="tl" rotWithShape="0">
                <a:prstClr val="black">
                  <a:alpha val="40000"/>
                </a:prstClr>
              </a:outerShdw>
            </a:effectLst>
          </p:spPr>
        </p:pic>
      </p:grpSp>
      <p:pic>
        <p:nvPicPr>
          <p:cNvPr id="2" name="Picture 1"/>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305800" y="113614"/>
            <a:ext cx="685800" cy="687388"/>
          </a:xfrm>
          <a:prstGeom prst="rect">
            <a:avLst/>
          </a:prstGeom>
        </p:spPr>
      </p:pic>
    </p:spTree>
  </p:cSld>
  <p:clrMap bg1="lt1" tx1="dk1" bg2="lt2" tx2="dk2" accent1="accent1" accent2="accent2" accent3="accent3" accent4="accent4" accent5="accent5" accent6="accent6" hlink="hlink" folHlink="folHlink"/>
  <p:sldLayoutIdLst>
    <p:sldLayoutId id="2147483728" r:id="rId1"/>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2">
            <a:alpha val="0"/>
          </a:schemeClr>
        </a:solidFill>
        <a:effectLst/>
      </p:bgPr>
    </p:bg>
    <p:spTree>
      <p:nvGrpSpPr>
        <p:cNvPr id="1" name=""/>
        <p:cNvGrpSpPr/>
        <p:nvPr/>
      </p:nvGrpSpPr>
      <p:grpSpPr>
        <a:xfrm>
          <a:off x="0" y="0"/>
          <a:ext cx="0" cy="0"/>
          <a:chOff x="0" y="0"/>
          <a:chExt cx="0" cy="0"/>
        </a:xfrm>
      </p:grpSpPr>
      <p:sp>
        <p:nvSpPr>
          <p:cNvPr id="8" name="Footer Placeholder 16"/>
          <p:cNvSpPr txBox="1">
            <a:spLocks/>
          </p:cNvSpPr>
          <p:nvPr userDrawn="1"/>
        </p:nvSpPr>
        <p:spPr>
          <a:xfrm>
            <a:off x="-1" y="0"/>
            <a:ext cx="9144000" cy="231776"/>
          </a:xfrm>
          <a:prstGeom prst="rect">
            <a:avLst/>
          </a:prstGeom>
        </p:spPr>
        <p:txBody>
          <a:bodyPr/>
          <a:lstStyle/>
          <a:p>
            <a:pPr algn="ctr">
              <a:defRPr/>
            </a:pPr>
            <a:r>
              <a:rPr lang="en-US" sz="1000" b="1" dirty="0" smtClean="0">
                <a:solidFill>
                  <a:schemeClr val="bg1"/>
                </a:solidFill>
                <a:latin typeface="Arial" pitchFamily="34" charset="0"/>
                <a:ea typeface="MS PGothic" pitchFamily="34" charset="-128"/>
                <a:cs typeface="Arial" pitchFamily="34" charset="0"/>
              </a:rPr>
              <a:t>UNCLASSIFIED//FOUO</a:t>
            </a:r>
            <a:endParaRPr lang="en-US" sz="1000" b="1" dirty="0">
              <a:solidFill>
                <a:schemeClr val="bg1"/>
              </a:solidFill>
              <a:latin typeface="Arial" pitchFamily="34" charset="0"/>
              <a:ea typeface="MS PGothic" pitchFamily="34" charset="-128"/>
              <a:cs typeface="Arial" pitchFamily="34" charset="0"/>
            </a:endParaRPr>
          </a:p>
        </p:txBody>
      </p:sp>
      <p:sp>
        <p:nvSpPr>
          <p:cNvPr id="19" name="Rectangle 18"/>
          <p:cNvSpPr/>
          <p:nvPr userDrawn="1"/>
        </p:nvSpPr>
        <p:spPr>
          <a:xfrm>
            <a:off x="76200" y="6611779"/>
            <a:ext cx="1572866" cy="246221"/>
          </a:xfrm>
          <a:prstGeom prst="rect">
            <a:avLst/>
          </a:prstGeom>
        </p:spPr>
        <p:txBody>
          <a:bodyPr wrap="none">
            <a:spAutoFit/>
          </a:bodyPr>
          <a:lstStyle/>
          <a:p>
            <a:pPr>
              <a:defRPr/>
            </a:pPr>
            <a:r>
              <a:rPr lang="en-US" sz="1000" b="1" dirty="0" smtClean="0">
                <a:solidFill>
                  <a:schemeClr val="bg1"/>
                </a:solidFill>
                <a:latin typeface="Arial" pitchFamily="34" charset="0"/>
                <a:ea typeface="MS PGothic" pitchFamily="34" charset="-128"/>
                <a:cs typeface="Arial" pitchFamily="34" charset="0"/>
              </a:rPr>
              <a:t>UNCLASSIFIED//FOUO</a:t>
            </a:r>
            <a:endParaRPr lang="en-US" sz="1000" b="1" dirty="0">
              <a:solidFill>
                <a:schemeClr val="bg1"/>
              </a:solidFill>
              <a:latin typeface="Arial" pitchFamily="34" charset="0"/>
              <a:ea typeface="MS PGothic" pitchFamily="34" charset="-128"/>
              <a:cs typeface="Arial" pitchFamily="34" charset="0"/>
            </a:endParaRPr>
          </a:p>
        </p:txBody>
      </p:sp>
    </p:spTree>
  </p:cSld>
  <p:clrMap bg1="lt1" tx1="dk1" bg2="lt2" tx2="dk2" accent1="accent1" accent2="accent2" accent3="accent3" accent4="accent4" accent5="accent5" accent6="accent6" hlink="hlink" folHlink="folHlink"/>
  <p:sldLayoutIdLst>
    <p:sldLayoutId id="2147483729" r:id="rId1"/>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hyperlink" Target="mailto:erin.k.weber.civ@mail.mil" TargetMode="Externa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hyperlink" Target="mailto:erin.k.weber.civ@mail.mil" TargetMode="Externa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hyperlink" Target="mailto:gwen.e.meadows.civ@mail.mil" TargetMode="Externa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hyperlink" Target="mailto:gwen.e.meadows.civ@mail.mil" TargetMode="Externa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hyperlink" Target="mailto:alexander.s.Obriwin.civ@mail.mil" TargetMode="Externa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hyperlink" Target="mailto:alexander.s.obriwin.civ@mail.mil" TargetMode="Externa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hyperlink" Target="mailto:peter.p.buckless.civ@mail.mil" TargetMode="Externa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hyperlink" Target="mailto:samantha.l.degele.civ@mail.mil" TargetMode="Externa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hyperlink" Target="mailto:lisa.j.yamakawa.civ@mail.mil" TargetMode="Externa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hyperlink" Target="mailto:lisa.j.yamakawa.civ@mail.mil" TargetMode="Externa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hyperlink" Target="mailto:theresa.s.quick.civ@mail.mil" TargetMode="Externa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hyperlink" Target="mailto:theresa.s.quick.civ@mail.mil" TargetMode="Externa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6271828"/>
            <a:ext cx="1752600" cy="369332"/>
          </a:xfrm>
          <a:prstGeom prst="rect">
            <a:avLst/>
          </a:prstGeom>
          <a:noFill/>
        </p:spPr>
        <p:txBody>
          <a:bodyPr wrap="square" rtlCol="0">
            <a:spAutoFit/>
          </a:bodyPr>
          <a:lstStyle/>
          <a:p>
            <a:endParaRPr lang="en-US" sz="900" dirty="0" smtClean="0">
              <a:latin typeface="Arial" pitchFamily="34" charset="0"/>
              <a:cs typeface="Arial" pitchFamily="34" charset="0"/>
            </a:endParaRPr>
          </a:p>
          <a:p>
            <a:r>
              <a:rPr lang="en-US" sz="900" dirty="0" smtClean="0">
                <a:latin typeface="Arial" pitchFamily="34" charset="0"/>
                <a:cs typeface="Arial" pitchFamily="34" charset="0"/>
              </a:rPr>
              <a:t>As of Date: </a:t>
            </a:r>
            <a:r>
              <a:rPr lang="en-US" sz="900" dirty="0" smtClean="0">
                <a:latin typeface="Arial" pitchFamily="34" charset="0"/>
                <a:cs typeface="Arial" pitchFamily="34" charset="0"/>
              </a:rPr>
              <a:t>24 January 2020</a:t>
            </a:r>
            <a:endParaRPr lang="en-US" sz="900" dirty="0">
              <a:latin typeface="Arial" pitchFamily="34" charset="0"/>
              <a:cs typeface="Arial" pitchFamily="34" charset="0"/>
            </a:endParaRPr>
          </a:p>
        </p:txBody>
      </p:sp>
      <p:sp>
        <p:nvSpPr>
          <p:cNvPr id="7" name="TextBox 6"/>
          <p:cNvSpPr txBox="1"/>
          <p:nvPr/>
        </p:nvSpPr>
        <p:spPr>
          <a:xfrm>
            <a:off x="-76200" y="3520953"/>
            <a:ext cx="9144000" cy="646331"/>
          </a:xfrm>
          <a:prstGeom prst="rect">
            <a:avLst/>
          </a:prstGeom>
          <a:noFill/>
        </p:spPr>
        <p:txBody>
          <a:bodyPr wrap="square" rtlCol="0">
            <a:spAutoFit/>
          </a:bodyPr>
          <a:lstStyle/>
          <a:p>
            <a:pPr algn="ctr"/>
            <a:r>
              <a:rPr lang="en-US" sz="3600" b="1" dirty="0" smtClean="0">
                <a:solidFill>
                  <a:srgbClr val="0000FF"/>
                </a:solidFill>
                <a:latin typeface="Arial" pitchFamily="34" charset="0"/>
                <a:cs typeface="Arial" pitchFamily="34" charset="0"/>
              </a:rPr>
              <a:t>ACC-APG Division D</a:t>
            </a:r>
            <a:endParaRPr lang="en-US" sz="3600" b="1" dirty="0">
              <a:solidFill>
                <a:srgbClr val="0000FF"/>
              </a:solidFill>
              <a:latin typeface="Arial" pitchFamily="34" charset="0"/>
              <a:cs typeface="Arial" pitchFamily="34" charset="0"/>
            </a:endParaRPr>
          </a:p>
        </p:txBody>
      </p:sp>
      <p:sp>
        <p:nvSpPr>
          <p:cNvPr id="11" name="Subtitle 8"/>
          <p:cNvSpPr>
            <a:spLocks noGrp="1"/>
          </p:cNvSpPr>
          <p:nvPr>
            <p:ph type="subTitle" idx="1"/>
          </p:nvPr>
        </p:nvSpPr>
        <p:spPr>
          <a:xfrm>
            <a:off x="17705" y="2197027"/>
            <a:ext cx="9126070" cy="876300"/>
          </a:xfrm>
        </p:spPr>
        <p:txBody>
          <a:bodyPr>
            <a:noAutofit/>
          </a:bodyPr>
          <a:lstStyle/>
          <a:p>
            <a:r>
              <a:rPr lang="en-US" sz="3200" b="1" dirty="0" smtClean="0"/>
              <a:t>ACC-APG </a:t>
            </a:r>
            <a:r>
              <a:rPr lang="en-US" sz="3200" b="1" dirty="0"/>
              <a:t>Competitive </a:t>
            </a:r>
            <a:r>
              <a:rPr lang="en-US" sz="3200" b="1" dirty="0" smtClean="0"/>
              <a:t>Industry </a:t>
            </a:r>
            <a:r>
              <a:rPr lang="en-US" sz="3200" b="1" dirty="0"/>
              <a:t>Updates</a:t>
            </a:r>
            <a:endParaRPr lang="en-US" sz="3200" b="1" dirty="0">
              <a:solidFill>
                <a:schemeClr val="tx1"/>
              </a:solidFill>
              <a:latin typeface="Arial" pitchFamily="34" charset="0"/>
              <a:cs typeface="Arial" pitchFamily="34" charset="0"/>
            </a:endParaRPr>
          </a:p>
        </p:txBody>
      </p:sp>
      <p:sp>
        <p:nvSpPr>
          <p:cNvPr id="12" name="TextBox 11"/>
          <p:cNvSpPr txBox="1"/>
          <p:nvPr/>
        </p:nvSpPr>
        <p:spPr>
          <a:xfrm>
            <a:off x="1524000" y="286158"/>
            <a:ext cx="5943600" cy="338554"/>
          </a:xfrm>
          <a:prstGeom prst="rect">
            <a:avLst/>
          </a:prstGeom>
          <a:noFill/>
          <a:effectLst/>
        </p:spPr>
        <p:txBody>
          <a:bodyPr wrap="square" rtlCol="0">
            <a:spAutoFit/>
          </a:bodyPr>
          <a:lstStyle/>
          <a:p>
            <a:pPr algn="ctr"/>
            <a:r>
              <a:rPr lang="en-US" sz="1600" b="1" i="1" dirty="0" smtClean="0">
                <a:solidFill>
                  <a:prstClr val="black"/>
                </a:solidFill>
                <a:latin typeface="Arial" pitchFamily="34" charset="0"/>
                <a:cs typeface="Arial" pitchFamily="34" charset="0"/>
              </a:rPr>
              <a:t>Army Contracting Command – Aberdeen Proving Ground</a:t>
            </a:r>
            <a:endParaRPr lang="en-US" sz="1600" b="1" i="1" dirty="0">
              <a:solidFill>
                <a:prstClr val="black"/>
              </a:solidFill>
              <a:latin typeface="Arial" pitchFamily="34" charset="0"/>
              <a:cs typeface="Arial" pitchFamily="34" charset="0"/>
            </a:endParaRPr>
          </a:p>
        </p:txBody>
      </p:sp>
    </p:spTree>
    <p:extLst>
      <p:ext uri="{BB962C8B-B14F-4D97-AF65-F5344CB8AC3E}">
        <p14:creationId xmlns:p14="http://schemas.microsoft.com/office/powerpoint/2010/main" val="225672745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2</a:t>
            </a:fld>
            <a:endParaRPr lang="en-US" sz="1000" dirty="0">
              <a:solidFill>
                <a:prstClr val="white"/>
              </a:solidFill>
            </a:endParaRPr>
          </a:p>
        </p:txBody>
      </p:sp>
      <p:sp>
        <p:nvSpPr>
          <p:cNvPr id="8" name="TextBox 8"/>
          <p:cNvSpPr txBox="1">
            <a:spLocks noChangeArrowheads="1"/>
          </p:cNvSpPr>
          <p:nvPr/>
        </p:nvSpPr>
        <p:spPr bwMode="auto">
          <a:xfrm>
            <a:off x="0" y="1066800"/>
            <a:ext cx="9144000" cy="338554"/>
          </a:xfrm>
          <a:prstGeom prst="rect">
            <a:avLst/>
          </a:prstGeom>
          <a:noFill/>
          <a:ln w="9525">
            <a:noFill/>
            <a:miter lim="800000"/>
            <a:headEnd/>
            <a:tailEnd/>
          </a:ln>
        </p:spPr>
        <p:txBody>
          <a:bodyPr wrap="square">
            <a:spAutoFit/>
          </a:bodyPr>
          <a:lstStyle/>
          <a:p>
            <a:pPr>
              <a:defRPr/>
            </a:pPr>
            <a:endParaRPr lang="en-US" sz="1600" b="1" dirty="0">
              <a:solidFill>
                <a:prstClr val="black"/>
              </a:solidFill>
              <a:latin typeface=" Arial"/>
            </a:endParaRPr>
          </a:p>
        </p:txBody>
      </p:sp>
      <p:sp>
        <p:nvSpPr>
          <p:cNvPr id="2" name="TextBox 1"/>
          <p:cNvSpPr txBox="1"/>
          <p:nvPr/>
        </p:nvSpPr>
        <p:spPr>
          <a:xfrm>
            <a:off x="838200" y="1722361"/>
            <a:ext cx="7620000" cy="2031325"/>
          </a:xfrm>
          <a:prstGeom prst="rect">
            <a:avLst/>
          </a:prstGeom>
          <a:noFill/>
        </p:spPr>
        <p:txBody>
          <a:bodyPr wrap="square" rtlCol="0">
            <a:spAutoFit/>
          </a:bodyPr>
          <a:lstStyle/>
          <a:p>
            <a:r>
              <a:rPr lang="en-US" dirty="0"/>
              <a:t>The following slides are for informational purposes ONLY. These are NOT formal solicitations / Requests for </a:t>
            </a:r>
            <a:r>
              <a:rPr lang="en-US" dirty="0" smtClean="0"/>
              <a:t>Proposals </a:t>
            </a:r>
            <a:r>
              <a:rPr lang="en-US" dirty="0"/>
              <a:t>(RFP) / Requests for Quotes (RFQ). Do NOT submit any formal proposals / quotes to this posting. All information contained in this posting is subject to change without notice. The Government will not respond and/or reimburse for any feedback, questions or documentation provided by Industry in response to this posting. </a:t>
            </a:r>
          </a:p>
          <a:p>
            <a:endParaRPr lang="en-US" dirty="0"/>
          </a:p>
        </p:txBody>
      </p:sp>
    </p:spTree>
    <p:extLst>
      <p:ext uri="{BB962C8B-B14F-4D97-AF65-F5344CB8AC3E}">
        <p14:creationId xmlns:p14="http://schemas.microsoft.com/office/powerpoint/2010/main" val="69418532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prstClr val="white"/>
                </a:solidFill>
                <a:latin typeface=" Arial"/>
              </a:rPr>
              <a:t>Aberdeen Test Center (ATC)</a:t>
            </a: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3</a:t>
            </a:fld>
            <a:endParaRPr lang="en-US" sz="1000" dirty="0">
              <a:solidFill>
                <a:prstClr val="white"/>
              </a:solidFill>
            </a:endParaRPr>
          </a:p>
        </p:txBody>
      </p:sp>
      <p:sp>
        <p:nvSpPr>
          <p:cNvPr id="8" name="TextBox 8"/>
          <p:cNvSpPr txBox="1">
            <a:spLocks noChangeArrowheads="1"/>
          </p:cNvSpPr>
          <p:nvPr/>
        </p:nvSpPr>
        <p:spPr bwMode="auto">
          <a:xfrm>
            <a:off x="0" y="1066800"/>
            <a:ext cx="9144000" cy="5324535"/>
          </a:xfrm>
          <a:prstGeom prst="rect">
            <a:avLst/>
          </a:prstGeom>
          <a:noFill/>
          <a:ln w="9525">
            <a:noFill/>
            <a:miter lim="800000"/>
            <a:headEnd/>
            <a:tailEnd/>
          </a:ln>
        </p:spPr>
        <p:txBody>
          <a:bodyPr wrap="square">
            <a:spAutoFit/>
          </a:bodyPr>
          <a:lstStyle/>
          <a:p>
            <a:pPr>
              <a:defRPr/>
            </a:pPr>
            <a:r>
              <a:rPr lang="en-US" u="sng" dirty="0" smtClean="0">
                <a:solidFill>
                  <a:prstClr val="black"/>
                </a:solidFill>
                <a:latin typeface=" Arial"/>
              </a:rPr>
              <a:t>Project Title</a:t>
            </a:r>
            <a:r>
              <a:rPr lang="en-US" dirty="0" smtClean="0">
                <a:solidFill>
                  <a:prstClr val="black"/>
                </a:solidFill>
                <a:latin typeface=" Arial"/>
              </a:rPr>
              <a:t>:  </a:t>
            </a:r>
            <a:r>
              <a:rPr lang="fr-FR" dirty="0" smtClean="0">
                <a:solidFill>
                  <a:prstClr val="black"/>
                </a:solidFill>
                <a:latin typeface=" Arial"/>
              </a:rPr>
              <a:t>Aberdeen Test Support Services (ATSS)</a:t>
            </a:r>
          </a:p>
          <a:p>
            <a:endParaRPr lang="en-US" u="sng" dirty="0" smtClean="0">
              <a:solidFill>
                <a:prstClr val="black"/>
              </a:solidFill>
              <a:latin typeface=" Arial"/>
            </a:endParaRPr>
          </a:p>
          <a:p>
            <a:r>
              <a:rPr lang="en-US" u="sng" dirty="0" smtClean="0">
                <a:solidFill>
                  <a:prstClr val="black"/>
                </a:solidFill>
                <a:latin typeface=" Arial"/>
              </a:rPr>
              <a:t>Project Summary</a:t>
            </a:r>
            <a:r>
              <a:rPr lang="en-US" dirty="0" smtClean="0">
                <a:solidFill>
                  <a:prstClr val="black"/>
                </a:solidFill>
              </a:rPr>
              <a:t>:  </a:t>
            </a:r>
            <a:r>
              <a:rPr lang="en-US" dirty="0" smtClean="0">
                <a:solidFill>
                  <a:prstClr val="black"/>
                </a:solidFill>
                <a:latin typeface=" Arial"/>
              </a:rPr>
              <a:t>Engineering and Technical Services in support of the Aberdeen Test Center</a:t>
            </a:r>
          </a:p>
          <a:p>
            <a:endParaRPr lang="en-US" dirty="0">
              <a:solidFill>
                <a:prstClr val="black"/>
              </a:solidFill>
              <a:latin typeface=" Arial"/>
            </a:endParaRPr>
          </a:p>
          <a:p>
            <a:pPr>
              <a:defRPr/>
            </a:pPr>
            <a:r>
              <a:rPr lang="en-US" u="sng" dirty="0" smtClean="0">
                <a:solidFill>
                  <a:prstClr val="black"/>
                </a:solidFill>
                <a:latin typeface=" Arial"/>
              </a:rPr>
              <a:t>Prior/Current Contract Information</a:t>
            </a:r>
            <a:r>
              <a:rPr lang="en-US" dirty="0" smtClean="0">
                <a:solidFill>
                  <a:prstClr val="black"/>
                </a:solidFill>
                <a:latin typeface=" Arial"/>
              </a:rPr>
              <a:t>:</a:t>
            </a:r>
          </a:p>
          <a:p>
            <a:pPr>
              <a:defRPr/>
            </a:pPr>
            <a:r>
              <a:rPr lang="en-US" dirty="0">
                <a:solidFill>
                  <a:prstClr val="black"/>
                </a:solidFill>
                <a:latin typeface=" Arial"/>
              </a:rPr>
              <a:t>	</a:t>
            </a:r>
            <a:r>
              <a:rPr lang="en-US" dirty="0" smtClean="0">
                <a:solidFill>
                  <a:prstClr val="black"/>
                </a:solidFill>
                <a:latin typeface=" Arial"/>
              </a:rPr>
              <a:t>Contract Number:  W91CRB-15-D-0018</a:t>
            </a:r>
          </a:p>
          <a:p>
            <a:pPr>
              <a:defRPr/>
            </a:pPr>
            <a:r>
              <a:rPr lang="en-US" dirty="0">
                <a:solidFill>
                  <a:prstClr val="black"/>
                </a:solidFill>
                <a:latin typeface=" Arial"/>
              </a:rPr>
              <a:t>	</a:t>
            </a:r>
            <a:r>
              <a:rPr lang="en-US" dirty="0" smtClean="0">
                <a:solidFill>
                  <a:prstClr val="black"/>
                </a:solidFill>
                <a:latin typeface=" Arial"/>
              </a:rPr>
              <a:t>Incumbent Contractor:  Jacobs Technology, </a:t>
            </a:r>
            <a:r>
              <a:rPr lang="en-US" dirty="0" err="1" smtClean="0">
                <a:solidFill>
                  <a:prstClr val="black"/>
                </a:solidFill>
                <a:latin typeface=" Arial"/>
              </a:rPr>
              <a:t>Inc</a:t>
            </a:r>
            <a:endParaRPr lang="en-US" dirty="0" smtClean="0">
              <a:solidFill>
                <a:prstClr val="black"/>
              </a:solidFill>
              <a:latin typeface=" Arial"/>
            </a:endParaRPr>
          </a:p>
          <a:p>
            <a:pPr>
              <a:defRPr/>
            </a:pPr>
            <a:endParaRPr lang="en-US" dirty="0">
              <a:solidFill>
                <a:prstClr val="black"/>
              </a:solidFill>
              <a:latin typeface=" Arial"/>
            </a:endParaRPr>
          </a:p>
          <a:p>
            <a:pPr>
              <a:defRPr/>
            </a:pPr>
            <a:r>
              <a:rPr lang="en-US" dirty="0" smtClean="0">
                <a:solidFill>
                  <a:prstClr val="black"/>
                </a:solidFill>
                <a:latin typeface=" Arial"/>
              </a:rPr>
              <a:t>Note: This opportunity is expected to be unrestricted</a:t>
            </a:r>
          </a:p>
          <a:p>
            <a:pPr>
              <a:defRPr/>
            </a:pPr>
            <a:endParaRPr lang="en-US" dirty="0" smtClean="0">
              <a:solidFill>
                <a:prstClr val="black"/>
              </a:solidFill>
              <a:latin typeface=" Arial"/>
            </a:endParaRPr>
          </a:p>
          <a:p>
            <a:pPr>
              <a:defRPr/>
            </a:pPr>
            <a:r>
              <a:rPr lang="en-US" u="sng" dirty="0" smtClean="0">
                <a:solidFill>
                  <a:prstClr val="black"/>
                </a:solidFill>
                <a:latin typeface=" Arial"/>
              </a:rPr>
              <a:t>Contract Type</a:t>
            </a:r>
            <a:r>
              <a:rPr lang="en-US" dirty="0" smtClean="0">
                <a:solidFill>
                  <a:prstClr val="black"/>
                </a:solidFill>
                <a:latin typeface=" Arial"/>
              </a:rPr>
              <a:t>:  CPFF with FFP CLINs</a:t>
            </a:r>
          </a:p>
          <a:p>
            <a:pPr>
              <a:defRPr/>
            </a:pPr>
            <a:r>
              <a:rPr lang="en-US" u="sng" dirty="0" smtClean="0">
                <a:solidFill>
                  <a:prstClr val="black"/>
                </a:solidFill>
                <a:latin typeface=" Arial"/>
              </a:rPr>
              <a:t>ROM</a:t>
            </a:r>
            <a:r>
              <a:rPr lang="en-US" dirty="0" smtClean="0">
                <a:solidFill>
                  <a:prstClr val="black"/>
                </a:solidFill>
                <a:latin typeface=" Arial"/>
              </a:rPr>
              <a:t>:  </a:t>
            </a:r>
            <a:r>
              <a:rPr lang="en-US" dirty="0">
                <a:solidFill>
                  <a:prstClr val="black"/>
                </a:solidFill>
                <a:latin typeface=" Arial"/>
              </a:rPr>
              <a:t>$586M</a:t>
            </a:r>
          </a:p>
          <a:p>
            <a:pPr>
              <a:defRPr/>
            </a:pPr>
            <a:r>
              <a:rPr lang="en-US" u="sng" dirty="0" smtClean="0">
                <a:solidFill>
                  <a:prstClr val="black"/>
                </a:solidFill>
                <a:latin typeface=" Arial"/>
              </a:rPr>
              <a:t>Period of Performance</a:t>
            </a:r>
            <a:r>
              <a:rPr lang="en-US" dirty="0" smtClean="0">
                <a:solidFill>
                  <a:prstClr val="black"/>
                </a:solidFill>
                <a:latin typeface=" Arial"/>
              </a:rPr>
              <a:t>:  5 year ordering period, 7 year </a:t>
            </a:r>
            <a:r>
              <a:rPr lang="en-US" dirty="0" err="1" smtClean="0">
                <a:solidFill>
                  <a:prstClr val="black"/>
                </a:solidFill>
                <a:latin typeface=" Arial"/>
              </a:rPr>
              <a:t>PoP</a:t>
            </a:r>
            <a:endParaRPr lang="en-US" dirty="0" smtClean="0">
              <a:solidFill>
                <a:prstClr val="black"/>
              </a:solidFill>
              <a:latin typeface=" Arial"/>
            </a:endParaRPr>
          </a:p>
          <a:p>
            <a:pPr>
              <a:defRPr/>
            </a:pPr>
            <a:r>
              <a:rPr lang="en-US" u="sng" dirty="0" smtClean="0">
                <a:solidFill>
                  <a:prstClr val="black"/>
                </a:solidFill>
                <a:latin typeface=" Arial"/>
              </a:rPr>
              <a:t>Estimated Solicitation Release Date</a:t>
            </a:r>
            <a:r>
              <a:rPr lang="en-US" dirty="0" smtClean="0">
                <a:solidFill>
                  <a:prstClr val="black"/>
                </a:solidFill>
                <a:latin typeface=" Arial"/>
              </a:rPr>
              <a:t>:  </a:t>
            </a:r>
            <a:r>
              <a:rPr lang="en-US" dirty="0">
                <a:latin typeface=" Arial"/>
              </a:rPr>
              <a:t>3</a:t>
            </a:r>
            <a:r>
              <a:rPr lang="en-US" dirty="0" smtClean="0">
                <a:latin typeface=" Arial"/>
              </a:rPr>
              <a:t>QFY20</a:t>
            </a:r>
          </a:p>
          <a:p>
            <a:pPr>
              <a:defRPr/>
            </a:pPr>
            <a:r>
              <a:rPr lang="en-US" u="sng" dirty="0" smtClean="0">
                <a:solidFill>
                  <a:prstClr val="black"/>
                </a:solidFill>
                <a:latin typeface=" Arial"/>
              </a:rPr>
              <a:t>Contracting Contact</a:t>
            </a:r>
            <a:r>
              <a:rPr lang="en-US" dirty="0" smtClean="0">
                <a:solidFill>
                  <a:prstClr val="black"/>
                </a:solidFill>
                <a:latin typeface=" Arial"/>
              </a:rPr>
              <a:t>:  ACC-APG, Erin Weber, KO, </a:t>
            </a:r>
            <a:r>
              <a:rPr lang="en-US" dirty="0" smtClean="0">
                <a:solidFill>
                  <a:prstClr val="black"/>
                </a:solidFill>
                <a:latin typeface=" Arial"/>
                <a:hlinkClick r:id="rId2"/>
              </a:rPr>
              <a:t>erin.k.weber.civ@mail.mil</a:t>
            </a:r>
            <a:endParaRPr lang="en-US" dirty="0" smtClean="0">
              <a:solidFill>
                <a:prstClr val="black"/>
              </a:solidFill>
              <a:latin typeface=" Arial"/>
            </a:endParaRPr>
          </a:p>
          <a:p>
            <a:pPr>
              <a:defRPr/>
            </a:pPr>
            <a:endParaRPr lang="en-US" dirty="0" smtClean="0">
              <a:solidFill>
                <a:prstClr val="black"/>
              </a:solidFill>
              <a:latin typeface=" Arial"/>
            </a:endParaRPr>
          </a:p>
          <a:p>
            <a:pPr>
              <a:defRPr/>
            </a:pPr>
            <a:endParaRPr lang="en-US" dirty="0">
              <a:solidFill>
                <a:prstClr val="black"/>
              </a:solidFill>
              <a:latin typeface=" Arial"/>
            </a:endParaRPr>
          </a:p>
          <a:p>
            <a:pPr>
              <a:defRPr/>
            </a:pPr>
            <a:r>
              <a:rPr lang="en-US" sz="1600" b="1" dirty="0" smtClean="0">
                <a:solidFill>
                  <a:prstClr val="black"/>
                </a:solidFill>
                <a:latin typeface=" Arial"/>
              </a:rPr>
              <a:t>*Subject to Cancellation</a:t>
            </a:r>
            <a:endParaRPr lang="en-US" sz="1600" b="1" dirty="0">
              <a:solidFill>
                <a:prstClr val="black"/>
              </a:solidFill>
              <a:latin typeface=" Arial"/>
            </a:endParaRPr>
          </a:p>
        </p:txBody>
      </p:sp>
    </p:spTree>
    <p:extLst>
      <p:ext uri="{BB962C8B-B14F-4D97-AF65-F5344CB8AC3E}">
        <p14:creationId xmlns:p14="http://schemas.microsoft.com/office/powerpoint/2010/main" val="208258611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prstClr val="white"/>
                </a:solidFill>
                <a:latin typeface=" Arial"/>
              </a:rPr>
              <a:t>Rocky Mountain Arsenal (RMA)</a:t>
            </a: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4</a:t>
            </a:fld>
            <a:endParaRPr lang="en-US" sz="1000" dirty="0">
              <a:solidFill>
                <a:prstClr val="white"/>
              </a:solidFill>
            </a:endParaRPr>
          </a:p>
        </p:txBody>
      </p:sp>
      <p:sp>
        <p:nvSpPr>
          <p:cNvPr id="8" name="TextBox 8"/>
          <p:cNvSpPr txBox="1">
            <a:spLocks noChangeArrowheads="1"/>
          </p:cNvSpPr>
          <p:nvPr/>
        </p:nvSpPr>
        <p:spPr bwMode="auto">
          <a:xfrm>
            <a:off x="0" y="1066800"/>
            <a:ext cx="9144000" cy="5324535"/>
          </a:xfrm>
          <a:prstGeom prst="rect">
            <a:avLst/>
          </a:prstGeom>
          <a:noFill/>
          <a:ln w="9525">
            <a:noFill/>
            <a:miter lim="800000"/>
            <a:headEnd/>
            <a:tailEnd/>
          </a:ln>
        </p:spPr>
        <p:txBody>
          <a:bodyPr wrap="square">
            <a:spAutoFit/>
          </a:bodyPr>
          <a:lstStyle/>
          <a:p>
            <a:pPr>
              <a:defRPr/>
            </a:pPr>
            <a:r>
              <a:rPr lang="en-US" u="sng" dirty="0" smtClean="0">
                <a:solidFill>
                  <a:prstClr val="black"/>
                </a:solidFill>
                <a:latin typeface=" Arial"/>
              </a:rPr>
              <a:t>Project Title</a:t>
            </a:r>
            <a:r>
              <a:rPr lang="en-US" dirty="0" smtClean="0">
                <a:solidFill>
                  <a:prstClr val="black"/>
                </a:solidFill>
                <a:latin typeface=" Arial"/>
              </a:rPr>
              <a:t>:  </a:t>
            </a:r>
            <a:r>
              <a:rPr lang="fr-FR" dirty="0" smtClean="0">
                <a:solidFill>
                  <a:prstClr val="black"/>
                </a:solidFill>
                <a:latin typeface=" Arial"/>
              </a:rPr>
              <a:t>Rocky Mountain Arsenal (RMA) Operations &amp; Maintenance (O&amp;M)</a:t>
            </a:r>
          </a:p>
          <a:p>
            <a:endParaRPr lang="en-US" u="sng" dirty="0" smtClean="0">
              <a:solidFill>
                <a:prstClr val="black"/>
              </a:solidFill>
              <a:latin typeface=" Arial"/>
            </a:endParaRPr>
          </a:p>
          <a:p>
            <a:r>
              <a:rPr lang="en-US" u="sng" dirty="0" smtClean="0">
                <a:solidFill>
                  <a:prstClr val="black"/>
                </a:solidFill>
                <a:latin typeface=" Arial"/>
              </a:rPr>
              <a:t>Project Summary</a:t>
            </a:r>
            <a:r>
              <a:rPr lang="en-US" dirty="0" smtClean="0">
                <a:solidFill>
                  <a:prstClr val="black"/>
                </a:solidFill>
              </a:rPr>
              <a:t>:  Operations and Maintenance of Groundwater Testing and Environmental Remediation Equipment at Rocky Mountain Arsenal</a:t>
            </a:r>
            <a:endParaRPr lang="en-US" dirty="0" smtClean="0">
              <a:solidFill>
                <a:prstClr val="black"/>
              </a:solidFill>
              <a:latin typeface=" Arial"/>
            </a:endParaRPr>
          </a:p>
          <a:p>
            <a:endParaRPr lang="en-US" dirty="0">
              <a:solidFill>
                <a:prstClr val="black"/>
              </a:solidFill>
              <a:latin typeface=" Arial"/>
            </a:endParaRPr>
          </a:p>
          <a:p>
            <a:pPr>
              <a:defRPr/>
            </a:pPr>
            <a:r>
              <a:rPr lang="en-US" u="sng" dirty="0" smtClean="0">
                <a:solidFill>
                  <a:prstClr val="black"/>
                </a:solidFill>
                <a:latin typeface=" Arial"/>
              </a:rPr>
              <a:t>Prior/Current Contract Information</a:t>
            </a:r>
            <a:r>
              <a:rPr lang="en-US" dirty="0" smtClean="0">
                <a:solidFill>
                  <a:prstClr val="black"/>
                </a:solidFill>
                <a:latin typeface=" Arial"/>
              </a:rPr>
              <a:t>:</a:t>
            </a:r>
          </a:p>
          <a:p>
            <a:pPr>
              <a:defRPr/>
            </a:pPr>
            <a:r>
              <a:rPr lang="en-US" dirty="0">
                <a:solidFill>
                  <a:prstClr val="black"/>
                </a:solidFill>
                <a:latin typeface=" Arial"/>
              </a:rPr>
              <a:t>	</a:t>
            </a:r>
            <a:r>
              <a:rPr lang="en-US" dirty="0" smtClean="0">
                <a:solidFill>
                  <a:prstClr val="black"/>
                </a:solidFill>
                <a:latin typeface=" Arial"/>
              </a:rPr>
              <a:t>Contract Number:  W91CPX0015RE01</a:t>
            </a:r>
          </a:p>
          <a:p>
            <a:pPr>
              <a:defRPr/>
            </a:pPr>
            <a:r>
              <a:rPr lang="en-US" dirty="0">
                <a:solidFill>
                  <a:prstClr val="black"/>
                </a:solidFill>
                <a:latin typeface=" Arial"/>
              </a:rPr>
              <a:t>	</a:t>
            </a:r>
            <a:r>
              <a:rPr lang="en-US" dirty="0" smtClean="0">
                <a:solidFill>
                  <a:prstClr val="black"/>
                </a:solidFill>
                <a:latin typeface=" Arial"/>
              </a:rPr>
              <a:t>Incumbent Contractor:  Navarro Research &amp; Engineering</a:t>
            </a:r>
          </a:p>
          <a:p>
            <a:pPr>
              <a:defRPr/>
            </a:pPr>
            <a:endParaRPr lang="en-US" dirty="0">
              <a:solidFill>
                <a:prstClr val="black"/>
              </a:solidFill>
              <a:latin typeface=" Arial"/>
            </a:endParaRPr>
          </a:p>
          <a:p>
            <a:pPr>
              <a:defRPr/>
            </a:pPr>
            <a:r>
              <a:rPr lang="en-US" dirty="0" smtClean="0">
                <a:solidFill>
                  <a:prstClr val="black"/>
                </a:solidFill>
                <a:latin typeface=" Arial"/>
              </a:rPr>
              <a:t>Note: This opportunity is expected to be set-aside for small businesses.</a:t>
            </a:r>
          </a:p>
          <a:p>
            <a:pPr>
              <a:defRPr/>
            </a:pPr>
            <a:endParaRPr lang="en-US" dirty="0" smtClean="0">
              <a:solidFill>
                <a:prstClr val="black"/>
              </a:solidFill>
              <a:latin typeface=" Arial"/>
            </a:endParaRPr>
          </a:p>
          <a:p>
            <a:pPr>
              <a:defRPr/>
            </a:pPr>
            <a:r>
              <a:rPr lang="en-US" u="sng" dirty="0" smtClean="0">
                <a:solidFill>
                  <a:prstClr val="black"/>
                </a:solidFill>
                <a:latin typeface=" Arial"/>
              </a:rPr>
              <a:t>Contract Type</a:t>
            </a:r>
            <a:r>
              <a:rPr lang="en-US" dirty="0" smtClean="0">
                <a:solidFill>
                  <a:prstClr val="black"/>
                </a:solidFill>
                <a:latin typeface=" Arial"/>
              </a:rPr>
              <a:t>:  CPIF with FFP and Cost CLINs</a:t>
            </a:r>
          </a:p>
          <a:p>
            <a:pPr>
              <a:defRPr/>
            </a:pPr>
            <a:r>
              <a:rPr lang="en-US" u="sng" dirty="0" smtClean="0">
                <a:solidFill>
                  <a:prstClr val="black"/>
                </a:solidFill>
                <a:latin typeface=" Arial"/>
              </a:rPr>
              <a:t>ROM</a:t>
            </a:r>
            <a:r>
              <a:rPr lang="en-US" dirty="0" smtClean="0">
                <a:solidFill>
                  <a:prstClr val="black"/>
                </a:solidFill>
                <a:latin typeface=" Arial"/>
              </a:rPr>
              <a:t>:  $135M</a:t>
            </a:r>
            <a:endParaRPr lang="en-US" dirty="0">
              <a:solidFill>
                <a:prstClr val="black"/>
              </a:solidFill>
              <a:latin typeface=" Arial"/>
            </a:endParaRPr>
          </a:p>
          <a:p>
            <a:pPr>
              <a:defRPr/>
            </a:pPr>
            <a:r>
              <a:rPr lang="en-US" u="sng" dirty="0" smtClean="0">
                <a:solidFill>
                  <a:prstClr val="black"/>
                </a:solidFill>
                <a:latin typeface=" Arial"/>
              </a:rPr>
              <a:t>Period of Performance</a:t>
            </a:r>
            <a:r>
              <a:rPr lang="en-US" dirty="0" smtClean="0">
                <a:solidFill>
                  <a:prstClr val="black"/>
                </a:solidFill>
                <a:latin typeface=" Arial"/>
              </a:rPr>
              <a:t>:  9 year ordering period</a:t>
            </a:r>
          </a:p>
          <a:p>
            <a:pPr>
              <a:defRPr/>
            </a:pPr>
            <a:r>
              <a:rPr lang="en-US" u="sng" dirty="0" smtClean="0">
                <a:solidFill>
                  <a:prstClr val="black"/>
                </a:solidFill>
                <a:latin typeface=" Arial"/>
              </a:rPr>
              <a:t>Estimated Solicitation Release Date</a:t>
            </a:r>
            <a:r>
              <a:rPr lang="en-US" smtClean="0">
                <a:solidFill>
                  <a:prstClr val="black"/>
                </a:solidFill>
                <a:latin typeface=" Arial"/>
              </a:rPr>
              <a:t>:  </a:t>
            </a:r>
            <a:r>
              <a:rPr lang="en-US" smtClean="0">
                <a:latin typeface=" Arial"/>
              </a:rPr>
              <a:t>3QFY20</a:t>
            </a:r>
            <a:endParaRPr lang="en-US" dirty="0" smtClean="0">
              <a:latin typeface=" Arial"/>
            </a:endParaRPr>
          </a:p>
          <a:p>
            <a:pPr>
              <a:defRPr/>
            </a:pPr>
            <a:r>
              <a:rPr lang="en-US" u="sng" dirty="0" smtClean="0">
                <a:solidFill>
                  <a:prstClr val="black"/>
                </a:solidFill>
                <a:latin typeface=" Arial"/>
              </a:rPr>
              <a:t>Contracting Contact</a:t>
            </a:r>
            <a:r>
              <a:rPr lang="en-US" dirty="0" smtClean="0">
                <a:solidFill>
                  <a:prstClr val="black"/>
                </a:solidFill>
                <a:latin typeface=" Arial"/>
              </a:rPr>
              <a:t>:  ACC-APG, Erin Weber, KO, </a:t>
            </a:r>
            <a:r>
              <a:rPr lang="en-US" dirty="0" smtClean="0">
                <a:solidFill>
                  <a:prstClr val="black"/>
                </a:solidFill>
                <a:latin typeface=" Arial"/>
                <a:hlinkClick r:id="rId2"/>
              </a:rPr>
              <a:t>erin.k.weber.civ@mail.mil</a:t>
            </a:r>
            <a:endParaRPr lang="en-US" dirty="0" smtClean="0">
              <a:solidFill>
                <a:prstClr val="black"/>
              </a:solidFill>
              <a:latin typeface=" Arial"/>
            </a:endParaRPr>
          </a:p>
          <a:p>
            <a:pPr>
              <a:defRPr/>
            </a:pPr>
            <a:endParaRPr lang="en-US" dirty="0" smtClean="0">
              <a:solidFill>
                <a:prstClr val="black"/>
              </a:solidFill>
              <a:latin typeface=" Arial"/>
            </a:endParaRPr>
          </a:p>
          <a:p>
            <a:pPr>
              <a:defRPr/>
            </a:pPr>
            <a:endParaRPr lang="en-US" dirty="0">
              <a:solidFill>
                <a:prstClr val="black"/>
              </a:solidFill>
              <a:latin typeface=" Arial"/>
            </a:endParaRPr>
          </a:p>
          <a:p>
            <a:pPr>
              <a:defRPr/>
            </a:pPr>
            <a:r>
              <a:rPr lang="en-US" sz="1600" b="1" dirty="0" smtClean="0">
                <a:solidFill>
                  <a:prstClr val="black"/>
                </a:solidFill>
                <a:latin typeface=" Arial"/>
              </a:rPr>
              <a:t>*Subject to Cancellation</a:t>
            </a:r>
            <a:endParaRPr lang="en-US" sz="1600" b="1" dirty="0">
              <a:solidFill>
                <a:prstClr val="black"/>
              </a:solidFill>
              <a:latin typeface=" Arial"/>
            </a:endParaRPr>
          </a:p>
        </p:txBody>
      </p:sp>
    </p:spTree>
    <p:extLst>
      <p:ext uri="{BB962C8B-B14F-4D97-AF65-F5344CB8AC3E}">
        <p14:creationId xmlns:p14="http://schemas.microsoft.com/office/powerpoint/2010/main" val="147720960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prstClr val="white"/>
                </a:solidFill>
                <a:latin typeface=" Arial"/>
              </a:rPr>
              <a:t>Army Test and Evaluation Command</a:t>
            </a: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5</a:t>
            </a:fld>
            <a:endParaRPr lang="en-US" sz="1000" dirty="0">
              <a:solidFill>
                <a:prstClr val="white"/>
              </a:solidFill>
            </a:endParaRPr>
          </a:p>
        </p:txBody>
      </p:sp>
      <p:sp>
        <p:nvSpPr>
          <p:cNvPr id="8" name="TextBox 8"/>
          <p:cNvSpPr txBox="1">
            <a:spLocks noChangeArrowheads="1"/>
          </p:cNvSpPr>
          <p:nvPr/>
        </p:nvSpPr>
        <p:spPr bwMode="auto">
          <a:xfrm>
            <a:off x="0" y="1066800"/>
            <a:ext cx="9144000" cy="5047536"/>
          </a:xfrm>
          <a:prstGeom prst="rect">
            <a:avLst/>
          </a:prstGeom>
          <a:noFill/>
          <a:ln w="9525">
            <a:noFill/>
            <a:miter lim="800000"/>
            <a:headEnd/>
            <a:tailEnd/>
          </a:ln>
        </p:spPr>
        <p:txBody>
          <a:bodyPr wrap="square">
            <a:spAutoFit/>
          </a:bodyPr>
          <a:lstStyle/>
          <a:p>
            <a:pPr>
              <a:defRPr/>
            </a:pPr>
            <a:r>
              <a:rPr lang="en-US" u="sng" dirty="0" smtClean="0">
                <a:solidFill>
                  <a:prstClr val="black"/>
                </a:solidFill>
                <a:latin typeface=" Arial"/>
              </a:rPr>
              <a:t>Project Title</a:t>
            </a:r>
            <a:r>
              <a:rPr lang="en-US" dirty="0" smtClean="0">
                <a:solidFill>
                  <a:prstClr val="black"/>
                </a:solidFill>
                <a:latin typeface=" Arial"/>
              </a:rPr>
              <a:t>:  </a:t>
            </a:r>
            <a:r>
              <a:rPr lang="fr-FR" dirty="0" smtClean="0">
                <a:solidFill>
                  <a:prstClr val="black"/>
                </a:solidFill>
                <a:latin typeface=" Arial"/>
              </a:rPr>
              <a:t>Information Technology Support Services</a:t>
            </a:r>
          </a:p>
          <a:p>
            <a:endParaRPr lang="en-US" u="sng" dirty="0" smtClean="0">
              <a:solidFill>
                <a:prstClr val="black"/>
              </a:solidFill>
              <a:latin typeface=" Arial"/>
            </a:endParaRPr>
          </a:p>
          <a:p>
            <a:r>
              <a:rPr lang="en-US" u="sng" dirty="0" smtClean="0">
                <a:solidFill>
                  <a:prstClr val="black"/>
                </a:solidFill>
                <a:latin typeface=" Arial"/>
              </a:rPr>
              <a:t>Project Summary</a:t>
            </a:r>
            <a:r>
              <a:rPr lang="en-US" dirty="0" smtClean="0">
                <a:solidFill>
                  <a:prstClr val="black"/>
                </a:solidFill>
              </a:rPr>
              <a:t>: </a:t>
            </a:r>
            <a:r>
              <a:rPr lang="fr-FR" dirty="0">
                <a:solidFill>
                  <a:prstClr val="black"/>
                </a:solidFill>
                <a:latin typeface=" Arial"/>
              </a:rPr>
              <a:t>Information Technology Support Services </a:t>
            </a:r>
            <a:r>
              <a:rPr lang="en-US" dirty="0" smtClean="0">
                <a:solidFill>
                  <a:prstClr val="black"/>
                </a:solidFill>
                <a:latin typeface=" Arial"/>
              </a:rPr>
              <a:t>in support of the Army Test and Evaluation Command</a:t>
            </a:r>
          </a:p>
          <a:p>
            <a:endParaRPr lang="en-US" dirty="0">
              <a:solidFill>
                <a:prstClr val="black"/>
              </a:solidFill>
              <a:latin typeface=" Arial"/>
            </a:endParaRPr>
          </a:p>
          <a:p>
            <a:pPr>
              <a:defRPr/>
            </a:pPr>
            <a:r>
              <a:rPr lang="en-US" u="sng" dirty="0" smtClean="0">
                <a:solidFill>
                  <a:prstClr val="black"/>
                </a:solidFill>
                <a:latin typeface=" Arial"/>
              </a:rPr>
              <a:t>Prior/Current Contract Information</a:t>
            </a:r>
            <a:r>
              <a:rPr lang="en-US" dirty="0" smtClean="0">
                <a:solidFill>
                  <a:prstClr val="black"/>
                </a:solidFill>
                <a:latin typeface=" Arial"/>
              </a:rPr>
              <a:t>:</a:t>
            </a:r>
          </a:p>
          <a:p>
            <a:pPr>
              <a:defRPr/>
            </a:pPr>
            <a:r>
              <a:rPr lang="en-US" dirty="0">
                <a:solidFill>
                  <a:prstClr val="black"/>
                </a:solidFill>
                <a:latin typeface=" Arial"/>
              </a:rPr>
              <a:t>	</a:t>
            </a:r>
            <a:r>
              <a:rPr lang="en-US" dirty="0" smtClean="0">
                <a:solidFill>
                  <a:prstClr val="black"/>
                </a:solidFill>
                <a:latin typeface=" Arial"/>
              </a:rPr>
              <a:t>Contract Number:  W91CRB-16-F-0009</a:t>
            </a:r>
          </a:p>
          <a:p>
            <a:pPr>
              <a:defRPr/>
            </a:pPr>
            <a:r>
              <a:rPr lang="en-US" dirty="0">
                <a:solidFill>
                  <a:prstClr val="black"/>
                </a:solidFill>
                <a:latin typeface=" Arial"/>
              </a:rPr>
              <a:t>	</a:t>
            </a:r>
            <a:r>
              <a:rPr lang="en-US" dirty="0" smtClean="0">
                <a:solidFill>
                  <a:prstClr val="black"/>
                </a:solidFill>
                <a:latin typeface=" Arial"/>
              </a:rPr>
              <a:t>Incumbent Contractor:  Advanced Alliant Solutions Team</a:t>
            </a:r>
          </a:p>
          <a:p>
            <a:pPr>
              <a:defRPr/>
            </a:pPr>
            <a:endParaRPr lang="en-US" dirty="0">
              <a:solidFill>
                <a:prstClr val="black"/>
              </a:solidFill>
              <a:latin typeface=" Arial"/>
            </a:endParaRPr>
          </a:p>
          <a:p>
            <a:pPr>
              <a:defRPr/>
            </a:pPr>
            <a:r>
              <a:rPr lang="en-US" dirty="0" smtClean="0">
                <a:solidFill>
                  <a:prstClr val="black"/>
                </a:solidFill>
                <a:latin typeface=" Arial"/>
              </a:rPr>
              <a:t>Note: This opportunity is expected to be a small business set-aside.</a:t>
            </a:r>
          </a:p>
          <a:p>
            <a:pPr>
              <a:defRPr/>
            </a:pPr>
            <a:endParaRPr lang="en-US" dirty="0" smtClean="0">
              <a:solidFill>
                <a:prstClr val="black"/>
              </a:solidFill>
              <a:latin typeface=" Arial"/>
            </a:endParaRPr>
          </a:p>
          <a:p>
            <a:pPr>
              <a:defRPr/>
            </a:pPr>
            <a:r>
              <a:rPr lang="en-US" u="sng" dirty="0" smtClean="0">
                <a:solidFill>
                  <a:prstClr val="black"/>
                </a:solidFill>
                <a:latin typeface=" Arial"/>
              </a:rPr>
              <a:t>Contract Type</a:t>
            </a:r>
            <a:r>
              <a:rPr lang="en-US" dirty="0" smtClean="0">
                <a:solidFill>
                  <a:prstClr val="black"/>
                </a:solidFill>
                <a:latin typeface=" Arial"/>
              </a:rPr>
              <a:t>:  CPFF with FFP CLINs</a:t>
            </a:r>
          </a:p>
          <a:p>
            <a:pPr>
              <a:defRPr/>
            </a:pPr>
            <a:r>
              <a:rPr lang="en-US" u="sng" dirty="0" smtClean="0">
                <a:solidFill>
                  <a:prstClr val="black"/>
                </a:solidFill>
                <a:latin typeface=" Arial"/>
              </a:rPr>
              <a:t>ROM</a:t>
            </a:r>
            <a:r>
              <a:rPr lang="en-US" dirty="0" smtClean="0">
                <a:solidFill>
                  <a:prstClr val="black"/>
                </a:solidFill>
                <a:latin typeface=" Arial"/>
              </a:rPr>
              <a:t>:  $89M</a:t>
            </a:r>
            <a:endParaRPr lang="en-US" dirty="0">
              <a:solidFill>
                <a:prstClr val="black"/>
              </a:solidFill>
              <a:latin typeface=" Arial"/>
            </a:endParaRPr>
          </a:p>
          <a:p>
            <a:pPr>
              <a:defRPr/>
            </a:pPr>
            <a:r>
              <a:rPr lang="en-US" u="sng" dirty="0" smtClean="0">
                <a:solidFill>
                  <a:prstClr val="black"/>
                </a:solidFill>
                <a:latin typeface=" Arial"/>
              </a:rPr>
              <a:t>Period of Performance</a:t>
            </a:r>
            <a:r>
              <a:rPr lang="en-US" dirty="0" smtClean="0">
                <a:solidFill>
                  <a:prstClr val="black"/>
                </a:solidFill>
                <a:latin typeface=" Arial"/>
              </a:rPr>
              <a:t>: </a:t>
            </a:r>
            <a:r>
              <a:rPr lang="en-US" dirty="0">
                <a:solidFill>
                  <a:prstClr val="black"/>
                </a:solidFill>
                <a:latin typeface=" Arial"/>
              </a:rPr>
              <a:t>5 year period of performance</a:t>
            </a:r>
          </a:p>
          <a:p>
            <a:pPr>
              <a:defRPr/>
            </a:pPr>
            <a:r>
              <a:rPr lang="en-US" u="sng" dirty="0" smtClean="0">
                <a:solidFill>
                  <a:prstClr val="black"/>
                </a:solidFill>
                <a:latin typeface=" Arial"/>
              </a:rPr>
              <a:t>Estimated Solicitation Release Date</a:t>
            </a:r>
            <a:r>
              <a:rPr lang="en-US" smtClean="0">
                <a:solidFill>
                  <a:prstClr val="black"/>
                </a:solidFill>
                <a:latin typeface=" Arial"/>
              </a:rPr>
              <a:t>: 3QFY20</a:t>
            </a:r>
            <a:endParaRPr lang="en-US" dirty="0" smtClean="0">
              <a:latin typeface=" Arial"/>
            </a:endParaRPr>
          </a:p>
          <a:p>
            <a:pPr>
              <a:defRPr/>
            </a:pPr>
            <a:r>
              <a:rPr lang="en-US" u="sng" dirty="0" smtClean="0">
                <a:solidFill>
                  <a:prstClr val="black"/>
                </a:solidFill>
                <a:latin typeface=" Arial"/>
              </a:rPr>
              <a:t>Contracting Contact</a:t>
            </a:r>
            <a:r>
              <a:rPr lang="en-US" dirty="0" smtClean="0">
                <a:solidFill>
                  <a:prstClr val="black"/>
                </a:solidFill>
                <a:latin typeface=" Arial"/>
              </a:rPr>
              <a:t>:  </a:t>
            </a:r>
            <a:r>
              <a:rPr lang="en-US" dirty="0">
                <a:solidFill>
                  <a:prstClr val="black"/>
                </a:solidFill>
                <a:latin typeface=" Arial"/>
              </a:rPr>
              <a:t>ACC-APG, </a:t>
            </a:r>
            <a:r>
              <a:rPr lang="en-US" dirty="0" smtClean="0">
                <a:solidFill>
                  <a:prstClr val="black"/>
                </a:solidFill>
                <a:latin typeface=" Arial"/>
              </a:rPr>
              <a:t>Tara Casey, KO, tara.l.casey.civ@mail.mil</a:t>
            </a:r>
          </a:p>
          <a:p>
            <a:pPr>
              <a:defRPr/>
            </a:pPr>
            <a:endParaRPr lang="en-US" dirty="0" smtClean="0">
              <a:solidFill>
                <a:prstClr val="black"/>
              </a:solidFill>
              <a:latin typeface=" Arial"/>
            </a:endParaRPr>
          </a:p>
          <a:p>
            <a:pPr>
              <a:defRPr/>
            </a:pPr>
            <a:r>
              <a:rPr lang="en-US" sz="1600" b="1" dirty="0" smtClean="0">
                <a:solidFill>
                  <a:prstClr val="black"/>
                </a:solidFill>
                <a:latin typeface=" Arial"/>
              </a:rPr>
              <a:t>*Subject to Cancellation</a:t>
            </a:r>
            <a:endParaRPr lang="en-US" sz="1600" b="1" dirty="0">
              <a:solidFill>
                <a:prstClr val="black"/>
              </a:solidFill>
              <a:latin typeface=" Arial"/>
            </a:endParaRPr>
          </a:p>
        </p:txBody>
      </p:sp>
    </p:spTree>
    <p:extLst>
      <p:ext uri="{BB962C8B-B14F-4D97-AF65-F5344CB8AC3E}">
        <p14:creationId xmlns:p14="http://schemas.microsoft.com/office/powerpoint/2010/main" val="114667065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prstClr val="white"/>
                </a:solidFill>
                <a:latin typeface=" Arial"/>
              </a:rPr>
              <a:t>Chief Staff of the Army, G-3/5/7</a:t>
            </a: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6</a:t>
            </a:fld>
            <a:endParaRPr lang="en-US" sz="1000" dirty="0">
              <a:solidFill>
                <a:prstClr val="white"/>
              </a:solidFill>
            </a:endParaRPr>
          </a:p>
        </p:txBody>
      </p:sp>
      <p:sp>
        <p:nvSpPr>
          <p:cNvPr id="8" name="TextBox 8"/>
          <p:cNvSpPr txBox="1">
            <a:spLocks noChangeArrowheads="1"/>
          </p:cNvSpPr>
          <p:nvPr/>
        </p:nvSpPr>
        <p:spPr bwMode="auto">
          <a:xfrm>
            <a:off x="0" y="1066800"/>
            <a:ext cx="9144000" cy="5324535"/>
          </a:xfrm>
          <a:prstGeom prst="rect">
            <a:avLst/>
          </a:prstGeom>
          <a:noFill/>
          <a:ln w="9525">
            <a:noFill/>
            <a:miter lim="800000"/>
            <a:headEnd/>
            <a:tailEnd/>
          </a:ln>
        </p:spPr>
        <p:txBody>
          <a:bodyPr wrap="square">
            <a:spAutoFit/>
          </a:bodyPr>
          <a:lstStyle/>
          <a:p>
            <a:pPr>
              <a:defRPr/>
            </a:pPr>
            <a:r>
              <a:rPr lang="en-US" u="sng" dirty="0" smtClean="0">
                <a:solidFill>
                  <a:prstClr val="black"/>
                </a:solidFill>
                <a:latin typeface=" Arial"/>
              </a:rPr>
              <a:t>Project Title</a:t>
            </a:r>
            <a:r>
              <a:rPr lang="en-US" dirty="0" smtClean="0">
                <a:solidFill>
                  <a:prstClr val="black"/>
                </a:solidFill>
                <a:latin typeface=" Arial"/>
              </a:rPr>
              <a:t>:  Web Application Development</a:t>
            </a:r>
          </a:p>
          <a:p>
            <a:r>
              <a:rPr lang="en-US" u="sng" dirty="0" smtClean="0">
                <a:solidFill>
                  <a:prstClr val="black"/>
                </a:solidFill>
                <a:latin typeface=" Arial"/>
              </a:rPr>
              <a:t>Project Summary</a:t>
            </a:r>
            <a:r>
              <a:rPr lang="en-US" dirty="0" smtClean="0">
                <a:solidFill>
                  <a:prstClr val="black"/>
                </a:solidFill>
                <a:latin typeface=" Arial"/>
              </a:rPr>
              <a:t>:  </a:t>
            </a:r>
            <a:r>
              <a:rPr lang="en-US" dirty="0">
                <a:latin typeface=" Arial"/>
              </a:rPr>
              <a:t>This is a non-personal services contract to provide </a:t>
            </a:r>
            <a:r>
              <a:rPr lang="en-US" dirty="0" smtClean="0">
                <a:latin typeface=" Arial"/>
              </a:rPr>
              <a:t>on-site </a:t>
            </a:r>
            <a:r>
              <a:rPr lang="en-US" dirty="0">
                <a:latin typeface=" Arial"/>
              </a:rPr>
              <a:t>Headquarters, Department of the Army (HQDA) G-3/5/7, Command and Control (C2), Business Application, Database and Web Maintenance Services. </a:t>
            </a:r>
          </a:p>
          <a:p>
            <a:endParaRPr lang="en-US" dirty="0">
              <a:solidFill>
                <a:prstClr val="black"/>
              </a:solidFill>
              <a:latin typeface=" Arial"/>
            </a:endParaRPr>
          </a:p>
          <a:p>
            <a:pPr>
              <a:defRPr/>
            </a:pPr>
            <a:r>
              <a:rPr lang="en-US" u="sng" dirty="0" smtClean="0">
                <a:solidFill>
                  <a:prstClr val="black"/>
                </a:solidFill>
                <a:latin typeface=" Arial"/>
              </a:rPr>
              <a:t>Prior/Current Contract Information</a:t>
            </a:r>
            <a:r>
              <a:rPr lang="en-US" dirty="0" smtClean="0">
                <a:solidFill>
                  <a:prstClr val="black"/>
                </a:solidFill>
                <a:latin typeface=" Arial"/>
              </a:rPr>
              <a:t>:</a:t>
            </a:r>
          </a:p>
          <a:p>
            <a:pPr>
              <a:defRPr/>
            </a:pPr>
            <a:r>
              <a:rPr lang="en-US" dirty="0">
                <a:solidFill>
                  <a:prstClr val="black"/>
                </a:solidFill>
                <a:latin typeface=" Arial"/>
              </a:rPr>
              <a:t>	</a:t>
            </a:r>
            <a:r>
              <a:rPr lang="en-US" dirty="0" smtClean="0">
                <a:solidFill>
                  <a:prstClr val="black"/>
                </a:solidFill>
                <a:latin typeface=" Arial"/>
              </a:rPr>
              <a:t>Contract Number:  W91CRB-13-D-0014</a:t>
            </a:r>
          </a:p>
          <a:p>
            <a:pPr>
              <a:defRPr/>
            </a:pPr>
            <a:r>
              <a:rPr lang="en-US" dirty="0" smtClean="0">
                <a:solidFill>
                  <a:prstClr val="black"/>
                </a:solidFill>
                <a:latin typeface=" Arial"/>
              </a:rPr>
              <a:t>	Incumbent Contractor:  SSB, Inc.</a:t>
            </a:r>
          </a:p>
          <a:p>
            <a:pPr>
              <a:defRPr/>
            </a:pPr>
            <a:r>
              <a:rPr lang="en-US" dirty="0" smtClean="0">
                <a:solidFill>
                  <a:prstClr val="black"/>
                </a:solidFill>
                <a:latin typeface=" Arial"/>
              </a:rPr>
              <a:t>	Solicitation </a:t>
            </a:r>
            <a:r>
              <a:rPr lang="en-US" dirty="0">
                <a:solidFill>
                  <a:prstClr val="black"/>
                </a:solidFill>
                <a:latin typeface=" Arial"/>
              </a:rPr>
              <a:t>Number:  W91CRB-18-R-0003</a:t>
            </a:r>
            <a:endParaRPr lang="en-US" dirty="0" smtClean="0">
              <a:solidFill>
                <a:prstClr val="black"/>
              </a:solidFill>
              <a:latin typeface=" Arial"/>
            </a:endParaRPr>
          </a:p>
          <a:p>
            <a:pPr>
              <a:defRPr/>
            </a:pPr>
            <a:endParaRPr lang="en-US" dirty="0">
              <a:solidFill>
                <a:prstClr val="black"/>
              </a:solidFill>
              <a:latin typeface=" Arial"/>
            </a:endParaRPr>
          </a:p>
          <a:p>
            <a:pPr>
              <a:defRPr/>
            </a:pPr>
            <a:r>
              <a:rPr lang="en-US" dirty="0" smtClean="0">
                <a:solidFill>
                  <a:prstClr val="black"/>
                </a:solidFill>
                <a:latin typeface=" Arial"/>
              </a:rPr>
              <a:t>Note: This opportunity will be posted on </a:t>
            </a:r>
            <a:r>
              <a:rPr lang="en-US" dirty="0" err="1" smtClean="0">
                <a:solidFill>
                  <a:prstClr val="black"/>
                </a:solidFill>
                <a:latin typeface=" Arial"/>
              </a:rPr>
              <a:t>FedBizOpps</a:t>
            </a:r>
            <a:r>
              <a:rPr lang="en-US" dirty="0" smtClean="0">
                <a:solidFill>
                  <a:prstClr val="black"/>
                </a:solidFill>
                <a:latin typeface=" Arial"/>
              </a:rPr>
              <a:t> as a small business set aside. </a:t>
            </a:r>
          </a:p>
          <a:p>
            <a:pPr>
              <a:defRPr/>
            </a:pPr>
            <a:endParaRPr lang="en-US" dirty="0" smtClean="0">
              <a:solidFill>
                <a:prstClr val="black"/>
              </a:solidFill>
              <a:latin typeface=" Arial"/>
            </a:endParaRPr>
          </a:p>
          <a:p>
            <a:pPr>
              <a:defRPr/>
            </a:pPr>
            <a:r>
              <a:rPr lang="en-US" u="sng" dirty="0" smtClean="0">
                <a:solidFill>
                  <a:prstClr val="black"/>
                </a:solidFill>
                <a:latin typeface=" Arial"/>
              </a:rPr>
              <a:t>Contract Type</a:t>
            </a:r>
            <a:r>
              <a:rPr lang="en-US" dirty="0" smtClean="0">
                <a:solidFill>
                  <a:prstClr val="black"/>
                </a:solidFill>
                <a:latin typeface=" Arial"/>
              </a:rPr>
              <a:t>:  CPFF</a:t>
            </a:r>
          </a:p>
          <a:p>
            <a:pPr>
              <a:defRPr/>
            </a:pPr>
            <a:r>
              <a:rPr lang="en-US" u="sng" dirty="0" smtClean="0">
                <a:solidFill>
                  <a:prstClr val="black"/>
                </a:solidFill>
                <a:latin typeface=" Arial"/>
              </a:rPr>
              <a:t>ROM</a:t>
            </a:r>
            <a:r>
              <a:rPr lang="en-US" dirty="0" smtClean="0">
                <a:solidFill>
                  <a:prstClr val="black"/>
                </a:solidFill>
                <a:latin typeface=" Arial"/>
              </a:rPr>
              <a:t>:  $30M</a:t>
            </a:r>
          </a:p>
          <a:p>
            <a:pPr>
              <a:defRPr/>
            </a:pPr>
            <a:r>
              <a:rPr lang="en-US" u="sng" dirty="0" smtClean="0">
                <a:solidFill>
                  <a:prstClr val="black"/>
                </a:solidFill>
                <a:latin typeface=" Arial"/>
              </a:rPr>
              <a:t>Period of Performance</a:t>
            </a:r>
            <a:r>
              <a:rPr lang="en-US" dirty="0" smtClean="0">
                <a:solidFill>
                  <a:prstClr val="black"/>
                </a:solidFill>
                <a:latin typeface=" Arial"/>
              </a:rPr>
              <a:t>:  5 year ordering period</a:t>
            </a:r>
          </a:p>
          <a:p>
            <a:pPr>
              <a:defRPr/>
            </a:pPr>
            <a:r>
              <a:rPr lang="en-US" u="sng" dirty="0" smtClean="0">
                <a:solidFill>
                  <a:prstClr val="black"/>
                </a:solidFill>
                <a:latin typeface=" Arial"/>
              </a:rPr>
              <a:t>Estimated Solicitation Release Date</a:t>
            </a:r>
            <a:r>
              <a:rPr lang="en-US" dirty="0" smtClean="0">
                <a:solidFill>
                  <a:prstClr val="black"/>
                </a:solidFill>
                <a:latin typeface=" Arial"/>
              </a:rPr>
              <a:t>:  2QFY20</a:t>
            </a:r>
          </a:p>
          <a:p>
            <a:pPr>
              <a:defRPr/>
            </a:pPr>
            <a:r>
              <a:rPr lang="en-US" u="sng" dirty="0" smtClean="0">
                <a:solidFill>
                  <a:prstClr val="black"/>
                </a:solidFill>
                <a:latin typeface=" Arial"/>
              </a:rPr>
              <a:t>Contracting Contact</a:t>
            </a:r>
            <a:r>
              <a:rPr lang="en-US" dirty="0" smtClean="0">
                <a:solidFill>
                  <a:prstClr val="black"/>
                </a:solidFill>
                <a:latin typeface=" Arial"/>
              </a:rPr>
              <a:t>:  ACC-APG</a:t>
            </a:r>
            <a:r>
              <a:rPr lang="en-US" dirty="0" smtClean="0">
                <a:latin typeface=" Arial"/>
              </a:rPr>
              <a:t>, Gwen Meadows, KO, </a:t>
            </a:r>
            <a:r>
              <a:rPr lang="en-US" dirty="0">
                <a:latin typeface=" Arial"/>
                <a:hlinkClick r:id="rId2"/>
              </a:rPr>
              <a:t>gwen.e.meadows.civ@mail.mil</a:t>
            </a:r>
            <a:r>
              <a:rPr lang="en-US" dirty="0">
                <a:latin typeface=" Arial"/>
              </a:rPr>
              <a:t> </a:t>
            </a:r>
            <a:endParaRPr lang="en-US" dirty="0">
              <a:solidFill>
                <a:prstClr val="black"/>
              </a:solidFill>
              <a:latin typeface=" Arial"/>
            </a:endParaRPr>
          </a:p>
          <a:p>
            <a:pPr>
              <a:defRPr/>
            </a:pPr>
            <a:endParaRPr lang="en-US" dirty="0">
              <a:solidFill>
                <a:prstClr val="black"/>
              </a:solidFill>
              <a:latin typeface=" Arial"/>
            </a:endParaRPr>
          </a:p>
          <a:p>
            <a:pPr>
              <a:defRPr/>
            </a:pPr>
            <a:r>
              <a:rPr lang="en-US" sz="1600" b="1" dirty="0" smtClean="0">
                <a:solidFill>
                  <a:prstClr val="black"/>
                </a:solidFill>
                <a:latin typeface=" Arial"/>
              </a:rPr>
              <a:t>*Subject to Cancellation</a:t>
            </a:r>
            <a:endParaRPr lang="en-US" sz="1600" b="1" dirty="0">
              <a:solidFill>
                <a:prstClr val="black"/>
              </a:solidFill>
              <a:latin typeface=" Arial"/>
            </a:endParaRPr>
          </a:p>
        </p:txBody>
      </p:sp>
    </p:spTree>
    <p:extLst>
      <p:ext uri="{BB962C8B-B14F-4D97-AF65-F5344CB8AC3E}">
        <p14:creationId xmlns:p14="http://schemas.microsoft.com/office/powerpoint/2010/main" val="87161502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schemeClr val="bg1"/>
                </a:solidFill>
                <a:latin typeface=" Arial"/>
              </a:rPr>
              <a:t>Chief Staff of the Army, G-3/5/7</a:t>
            </a:r>
            <a:endParaRPr lang="en-US" sz="2800" b="1" dirty="0">
              <a:solidFill>
                <a:schemeClr val="bg1"/>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schemeClr val="bg1"/>
                </a:solidFill>
              </a:rPr>
              <a:t>7</a:t>
            </a:fld>
            <a:endParaRPr lang="en-US" sz="1000" dirty="0">
              <a:solidFill>
                <a:schemeClr val="bg1"/>
              </a:solidFill>
            </a:endParaRPr>
          </a:p>
        </p:txBody>
      </p:sp>
      <p:sp>
        <p:nvSpPr>
          <p:cNvPr id="8" name="TextBox 8"/>
          <p:cNvSpPr txBox="1">
            <a:spLocks noChangeArrowheads="1"/>
          </p:cNvSpPr>
          <p:nvPr/>
        </p:nvSpPr>
        <p:spPr bwMode="auto">
          <a:xfrm>
            <a:off x="0" y="1066800"/>
            <a:ext cx="9144000" cy="5293757"/>
          </a:xfrm>
          <a:prstGeom prst="rect">
            <a:avLst/>
          </a:prstGeom>
          <a:noFill/>
          <a:ln w="9525">
            <a:noFill/>
            <a:miter lim="800000"/>
            <a:headEnd/>
            <a:tailEnd/>
          </a:ln>
        </p:spPr>
        <p:txBody>
          <a:bodyPr wrap="square">
            <a:spAutoFit/>
          </a:bodyPr>
          <a:lstStyle/>
          <a:p>
            <a:pPr>
              <a:defRPr/>
            </a:pPr>
            <a:r>
              <a:rPr lang="en-US" u="sng" dirty="0" smtClean="0">
                <a:latin typeface=" Arial"/>
              </a:rPr>
              <a:t>Project Title</a:t>
            </a:r>
            <a:r>
              <a:rPr lang="en-US" dirty="0" smtClean="0">
                <a:latin typeface=" Arial"/>
              </a:rPr>
              <a:t>:  </a:t>
            </a:r>
            <a:r>
              <a:rPr lang="fr-FR" dirty="0">
                <a:latin typeface=" Arial"/>
              </a:rPr>
              <a:t>Total </a:t>
            </a:r>
            <a:r>
              <a:rPr lang="fr-FR" dirty="0" err="1">
                <a:latin typeface=" Arial"/>
              </a:rPr>
              <a:t>Ammunition</a:t>
            </a:r>
            <a:r>
              <a:rPr lang="fr-FR" dirty="0">
                <a:latin typeface=" Arial"/>
              </a:rPr>
              <a:t> Management Information System </a:t>
            </a:r>
            <a:r>
              <a:rPr lang="en-US" dirty="0" smtClean="0">
                <a:latin typeface=" Arial"/>
              </a:rPr>
              <a:t>(TAMIS)</a:t>
            </a:r>
          </a:p>
          <a:p>
            <a:pPr>
              <a:defRPr/>
            </a:pPr>
            <a:endParaRPr lang="en-US" dirty="0" smtClean="0">
              <a:latin typeface=" Arial"/>
            </a:endParaRPr>
          </a:p>
          <a:p>
            <a:r>
              <a:rPr lang="en-US" u="sng" dirty="0" smtClean="0">
                <a:latin typeface=" Arial"/>
              </a:rPr>
              <a:t>Project Summary</a:t>
            </a:r>
            <a:r>
              <a:rPr lang="en-US" dirty="0" smtClean="0">
                <a:latin typeface=" Arial"/>
              </a:rPr>
              <a:t>:  </a:t>
            </a:r>
            <a:r>
              <a:rPr lang="en-US" dirty="0">
                <a:latin typeface=" Arial"/>
              </a:rPr>
              <a:t>Headquarters, Department of the Army (HQDA), G-3/5/7 Munitions Management </a:t>
            </a:r>
            <a:r>
              <a:rPr lang="en-US" dirty="0" smtClean="0">
                <a:latin typeface=" Arial"/>
              </a:rPr>
              <a:t>Office (</a:t>
            </a:r>
            <a:r>
              <a:rPr lang="en-US" dirty="0">
                <a:latin typeface=" Arial"/>
              </a:rPr>
              <a:t>DAMO-TRA) requires continued sustainment, software improvements, and </a:t>
            </a:r>
            <a:r>
              <a:rPr lang="en-US" dirty="0" smtClean="0">
                <a:latin typeface=" Arial"/>
              </a:rPr>
              <a:t>munitions management </a:t>
            </a:r>
            <a:r>
              <a:rPr lang="en-US" dirty="0">
                <a:latin typeface=" Arial"/>
              </a:rPr>
              <a:t>support for its Total Ammunition Management Information </a:t>
            </a:r>
            <a:r>
              <a:rPr lang="en-US" dirty="0" smtClean="0">
                <a:latin typeface=" Arial"/>
              </a:rPr>
              <a:t>System. </a:t>
            </a:r>
          </a:p>
          <a:p>
            <a:endParaRPr lang="en-US" u="sng" dirty="0" smtClean="0">
              <a:latin typeface=" Arial"/>
            </a:endParaRPr>
          </a:p>
          <a:p>
            <a:pPr>
              <a:defRPr/>
            </a:pPr>
            <a:r>
              <a:rPr lang="en-US" u="sng" dirty="0" smtClean="0">
                <a:latin typeface=" Arial"/>
              </a:rPr>
              <a:t>Prior/Current Contract Information</a:t>
            </a:r>
            <a:r>
              <a:rPr lang="en-US" dirty="0" smtClean="0">
                <a:latin typeface=" Arial"/>
              </a:rPr>
              <a:t>:</a:t>
            </a:r>
          </a:p>
          <a:p>
            <a:pPr>
              <a:defRPr/>
            </a:pPr>
            <a:r>
              <a:rPr lang="en-US" dirty="0">
                <a:latin typeface=" Arial"/>
              </a:rPr>
              <a:t>	</a:t>
            </a:r>
            <a:r>
              <a:rPr lang="en-US" dirty="0" smtClean="0">
                <a:latin typeface=" Arial"/>
              </a:rPr>
              <a:t>Contract Number:  W91CRB-14-F-0015</a:t>
            </a:r>
          </a:p>
          <a:p>
            <a:pPr>
              <a:defRPr/>
            </a:pPr>
            <a:r>
              <a:rPr lang="en-US" dirty="0" smtClean="0">
                <a:latin typeface=" Arial"/>
              </a:rPr>
              <a:t>	Incumbent Contractor:  HP Enterprise Services, LLC. </a:t>
            </a:r>
          </a:p>
          <a:p>
            <a:pPr>
              <a:defRPr/>
            </a:pPr>
            <a:r>
              <a:rPr lang="en-US" dirty="0" smtClean="0">
                <a:latin typeface=" Arial"/>
              </a:rPr>
              <a:t>	Solicitation </a:t>
            </a:r>
            <a:r>
              <a:rPr lang="en-US" dirty="0">
                <a:latin typeface=" Arial"/>
              </a:rPr>
              <a:t>Number:  </a:t>
            </a:r>
            <a:r>
              <a:rPr lang="en-US" dirty="0" smtClean="0">
                <a:latin typeface=" Arial"/>
              </a:rPr>
              <a:t>W91CRB-19-R-0007</a:t>
            </a:r>
          </a:p>
          <a:p>
            <a:pPr>
              <a:defRPr/>
            </a:pPr>
            <a:endParaRPr lang="en-US" dirty="0">
              <a:latin typeface=" Arial"/>
            </a:endParaRPr>
          </a:p>
          <a:p>
            <a:pPr>
              <a:defRPr/>
            </a:pPr>
            <a:r>
              <a:rPr lang="en-US" u="sng" dirty="0" smtClean="0">
                <a:latin typeface=" Arial"/>
              </a:rPr>
              <a:t>Contract Type</a:t>
            </a:r>
            <a:r>
              <a:rPr lang="en-US" dirty="0" smtClean="0">
                <a:latin typeface=" Arial"/>
              </a:rPr>
              <a:t>:  FFP</a:t>
            </a:r>
          </a:p>
          <a:p>
            <a:pPr>
              <a:defRPr/>
            </a:pPr>
            <a:r>
              <a:rPr lang="en-US" u="sng" dirty="0" smtClean="0">
                <a:latin typeface=" Arial"/>
              </a:rPr>
              <a:t>ROM</a:t>
            </a:r>
            <a:r>
              <a:rPr lang="en-US" dirty="0" smtClean="0">
                <a:latin typeface=" Arial"/>
              </a:rPr>
              <a:t>:  $21M</a:t>
            </a:r>
          </a:p>
          <a:p>
            <a:pPr>
              <a:defRPr/>
            </a:pPr>
            <a:r>
              <a:rPr lang="en-US" u="sng" dirty="0" smtClean="0">
                <a:latin typeface=" Arial"/>
              </a:rPr>
              <a:t>Period of Performance</a:t>
            </a:r>
            <a:r>
              <a:rPr lang="en-US" dirty="0" smtClean="0">
                <a:latin typeface=" Arial"/>
              </a:rPr>
              <a:t>:  5 year period of performance</a:t>
            </a:r>
          </a:p>
          <a:p>
            <a:pPr>
              <a:defRPr/>
            </a:pPr>
            <a:r>
              <a:rPr lang="en-US" u="sng" dirty="0" smtClean="0">
                <a:latin typeface=" Arial"/>
              </a:rPr>
              <a:t>Estimated Solicitation Release Date</a:t>
            </a:r>
            <a:r>
              <a:rPr lang="en-US" dirty="0" smtClean="0">
                <a:latin typeface=" Arial"/>
              </a:rPr>
              <a:t>:  2QFY20</a:t>
            </a:r>
          </a:p>
          <a:p>
            <a:pPr>
              <a:defRPr/>
            </a:pPr>
            <a:r>
              <a:rPr lang="en-US" u="sng" dirty="0" smtClean="0">
                <a:latin typeface=" Arial"/>
              </a:rPr>
              <a:t>Contracting Contact</a:t>
            </a:r>
            <a:r>
              <a:rPr lang="en-US" dirty="0" smtClean="0">
                <a:latin typeface=" Arial"/>
              </a:rPr>
              <a:t>:  ACC-APG, Gwen Meadows, </a:t>
            </a:r>
            <a:r>
              <a:rPr lang="en-US" dirty="0" smtClean="0">
                <a:latin typeface="Arial" panose="020B0604020202020204" pitchFamily="34" charset="0"/>
                <a:cs typeface="Arial" panose="020B0604020202020204" pitchFamily="34" charset="0"/>
              </a:rPr>
              <a:t>KO, </a:t>
            </a:r>
            <a:r>
              <a:rPr lang="en-US" dirty="0">
                <a:latin typeface="Arial" panose="020B0604020202020204" pitchFamily="34" charset="0"/>
                <a:cs typeface="Arial" panose="020B0604020202020204" pitchFamily="34" charset="0"/>
                <a:hlinkClick r:id="rId2"/>
              </a:rPr>
              <a:t>gwen.e.meadows.civ</a:t>
            </a:r>
            <a:r>
              <a:rPr lang="en-US" dirty="0" smtClean="0">
                <a:latin typeface="Arial" panose="020B0604020202020204" pitchFamily="34" charset="0"/>
                <a:cs typeface="Arial" panose="020B0604020202020204" pitchFamily="34" charset="0"/>
                <a:hlinkClick r:id="rId2"/>
              </a:rPr>
              <a:t>@mail.mil</a:t>
            </a:r>
            <a:r>
              <a:rPr lang="en-US" dirty="0" smtClean="0">
                <a:latin typeface="Arial" panose="020B0604020202020204" pitchFamily="34" charset="0"/>
                <a:cs typeface="Arial" panose="020B0604020202020204" pitchFamily="34" charset="0"/>
              </a:rPr>
              <a:t> </a:t>
            </a:r>
          </a:p>
          <a:p>
            <a:pPr>
              <a:defRPr/>
            </a:pPr>
            <a:endParaRPr lang="en-US" b="1" dirty="0" smtClean="0">
              <a:latin typeface="Arial" panose="020B0604020202020204" pitchFamily="34" charset="0"/>
              <a:cs typeface="Arial" panose="020B0604020202020204" pitchFamily="34" charset="0"/>
            </a:endParaRPr>
          </a:p>
          <a:p>
            <a:pPr>
              <a:defRPr/>
            </a:pPr>
            <a:r>
              <a:rPr lang="en-US" sz="1600" b="1" dirty="0" smtClean="0">
                <a:latin typeface=" Arial"/>
              </a:rPr>
              <a:t>*Subject to Cancellation</a:t>
            </a:r>
            <a:endParaRPr lang="en-US" sz="1600" b="1" dirty="0">
              <a:latin typeface=" Arial"/>
            </a:endParaRPr>
          </a:p>
        </p:txBody>
      </p:sp>
    </p:spTree>
    <p:extLst>
      <p:ext uri="{BB962C8B-B14F-4D97-AF65-F5344CB8AC3E}">
        <p14:creationId xmlns:p14="http://schemas.microsoft.com/office/powerpoint/2010/main" val="301533212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schemeClr val="bg1"/>
                </a:solidFill>
                <a:latin typeface=" Arial"/>
              </a:rPr>
              <a:t>Chief Staff of the Army, G-3/5/7</a:t>
            </a:r>
            <a:endParaRPr lang="en-US" sz="2800" b="1" dirty="0">
              <a:solidFill>
                <a:schemeClr val="bg1"/>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schemeClr val="bg1"/>
                </a:solidFill>
              </a:rPr>
              <a:t>8</a:t>
            </a:fld>
            <a:endParaRPr lang="en-US" sz="1000" dirty="0">
              <a:solidFill>
                <a:schemeClr val="bg1"/>
              </a:solidFill>
            </a:endParaRPr>
          </a:p>
        </p:txBody>
      </p:sp>
      <p:sp>
        <p:nvSpPr>
          <p:cNvPr id="5" name="TextBox 8"/>
          <p:cNvSpPr txBox="1">
            <a:spLocks noChangeArrowheads="1"/>
          </p:cNvSpPr>
          <p:nvPr/>
        </p:nvSpPr>
        <p:spPr bwMode="auto">
          <a:xfrm>
            <a:off x="0" y="1066800"/>
            <a:ext cx="9144000" cy="5463034"/>
          </a:xfrm>
          <a:prstGeom prst="rect">
            <a:avLst/>
          </a:prstGeom>
          <a:noFill/>
          <a:ln w="9525">
            <a:noFill/>
            <a:miter lim="800000"/>
            <a:headEnd/>
            <a:tailEnd/>
          </a:ln>
        </p:spPr>
        <p:txBody>
          <a:bodyPr wrap="square">
            <a:spAutoFit/>
          </a:bodyPr>
          <a:lstStyle/>
          <a:p>
            <a:pPr>
              <a:defRPr/>
            </a:pPr>
            <a:r>
              <a:rPr lang="en-US" u="sng" dirty="0" smtClean="0">
                <a:latin typeface=" Arial"/>
              </a:rPr>
              <a:t>Project Title</a:t>
            </a:r>
            <a:r>
              <a:rPr lang="en-US" dirty="0" smtClean="0">
                <a:latin typeface=" Arial"/>
              </a:rPr>
              <a:t>:  Army Training Models</a:t>
            </a:r>
          </a:p>
          <a:p>
            <a:pPr>
              <a:defRPr/>
            </a:pPr>
            <a:endParaRPr lang="en-US" dirty="0" smtClean="0">
              <a:latin typeface=" Arial"/>
            </a:endParaRPr>
          </a:p>
          <a:p>
            <a:r>
              <a:rPr lang="en-US" u="sng" dirty="0" smtClean="0">
                <a:latin typeface=" Arial"/>
              </a:rPr>
              <a:t>Project Summary</a:t>
            </a:r>
            <a:r>
              <a:rPr lang="en-US" dirty="0" smtClean="0">
                <a:latin typeface=" Arial"/>
              </a:rPr>
              <a:t>:  </a:t>
            </a:r>
            <a:r>
              <a:rPr lang="en-US" dirty="0">
                <a:latin typeface="Arial" panose="020B0604020202020204" pitchFamily="34" charset="0"/>
                <a:cs typeface="Arial" panose="020B0604020202020204" pitchFamily="34" charset="0"/>
              </a:rPr>
              <a:t>The Deputy Chief of Staff (DCS), </a:t>
            </a:r>
            <a:r>
              <a:rPr lang="en-US" dirty="0">
                <a:latin typeface=" Arial"/>
                <a:cs typeface="Arial" panose="020B0604020202020204" pitchFamily="34" charset="0"/>
              </a:rPr>
              <a:t>G-3/5/7 </a:t>
            </a:r>
            <a:r>
              <a:rPr lang="en-US" dirty="0">
                <a:latin typeface=" Arial"/>
              </a:rPr>
              <a:t>is the functional proponent for Army Training and for strategic resourcing within the framework of the Planning, Programming, Budgeting, and Execution (PPBE) process.  The G-3/7 has sponsored the development of a suite of software applications to answer these questions.  In this capacity, the G-3/7 Training Directorate provides oversight and management for the training resource applications developed and supported outside HQDA.</a:t>
            </a:r>
          </a:p>
          <a:p>
            <a:pPr>
              <a:defRPr/>
            </a:pPr>
            <a:r>
              <a:rPr lang="en-US" u="sng" dirty="0" smtClean="0">
                <a:latin typeface=" Arial"/>
              </a:rPr>
              <a:t>Prior/Current Contract Information</a:t>
            </a:r>
            <a:r>
              <a:rPr lang="en-US" dirty="0" smtClean="0">
                <a:latin typeface=" Arial"/>
              </a:rPr>
              <a:t>:</a:t>
            </a:r>
          </a:p>
          <a:p>
            <a:pPr>
              <a:defRPr/>
            </a:pPr>
            <a:r>
              <a:rPr lang="en-US" dirty="0">
                <a:latin typeface=" Arial"/>
              </a:rPr>
              <a:t>	</a:t>
            </a:r>
            <a:r>
              <a:rPr lang="en-US" dirty="0" smtClean="0">
                <a:latin typeface=" Arial"/>
              </a:rPr>
              <a:t>Contract Number:  W91CRB-17-F-0006</a:t>
            </a:r>
          </a:p>
          <a:p>
            <a:pPr>
              <a:defRPr/>
            </a:pPr>
            <a:r>
              <a:rPr lang="en-US" dirty="0" smtClean="0">
                <a:latin typeface=" Arial"/>
              </a:rPr>
              <a:t>	Incumbent Contractor:  Technical and Project Engineer</a:t>
            </a:r>
          </a:p>
          <a:p>
            <a:pPr>
              <a:defRPr/>
            </a:pPr>
            <a:r>
              <a:rPr lang="en-US" dirty="0" smtClean="0">
                <a:latin typeface=" Arial"/>
              </a:rPr>
              <a:t>	Solicitation </a:t>
            </a:r>
            <a:r>
              <a:rPr lang="en-US" dirty="0">
                <a:latin typeface=" Arial"/>
              </a:rPr>
              <a:t>Number:  </a:t>
            </a:r>
            <a:r>
              <a:rPr lang="en-US" dirty="0" smtClean="0">
                <a:latin typeface=" Arial"/>
              </a:rPr>
              <a:t>W91CRB-19-R-0077</a:t>
            </a:r>
          </a:p>
          <a:p>
            <a:pPr>
              <a:defRPr/>
            </a:pPr>
            <a:endParaRPr lang="en-US" dirty="0">
              <a:latin typeface=" Arial"/>
            </a:endParaRPr>
          </a:p>
          <a:p>
            <a:pPr>
              <a:defRPr/>
            </a:pPr>
            <a:r>
              <a:rPr lang="en-US" u="sng" dirty="0" smtClean="0">
                <a:latin typeface=" Arial"/>
              </a:rPr>
              <a:t>Contract Type</a:t>
            </a:r>
            <a:r>
              <a:rPr lang="en-US" dirty="0" smtClean="0">
                <a:latin typeface=" Arial"/>
              </a:rPr>
              <a:t>:  FPP</a:t>
            </a:r>
          </a:p>
          <a:p>
            <a:pPr>
              <a:defRPr/>
            </a:pPr>
            <a:r>
              <a:rPr lang="en-US" u="sng" dirty="0" smtClean="0">
                <a:latin typeface=" Arial"/>
              </a:rPr>
              <a:t>ROM</a:t>
            </a:r>
            <a:r>
              <a:rPr lang="en-US" dirty="0" smtClean="0">
                <a:latin typeface=" Arial"/>
              </a:rPr>
              <a:t>:  $35M</a:t>
            </a:r>
          </a:p>
          <a:p>
            <a:pPr>
              <a:defRPr/>
            </a:pPr>
            <a:r>
              <a:rPr lang="en-US" u="sng" dirty="0" smtClean="0">
                <a:latin typeface=" Arial"/>
              </a:rPr>
              <a:t>Period of Performance</a:t>
            </a:r>
            <a:r>
              <a:rPr lang="en-US" dirty="0" smtClean="0">
                <a:latin typeface=" Arial"/>
              </a:rPr>
              <a:t>:  5 year period of performance</a:t>
            </a:r>
          </a:p>
          <a:p>
            <a:pPr>
              <a:defRPr/>
            </a:pPr>
            <a:r>
              <a:rPr lang="en-US" u="sng" dirty="0" smtClean="0">
                <a:latin typeface=" Arial"/>
              </a:rPr>
              <a:t>Solicitation Close Date</a:t>
            </a:r>
            <a:r>
              <a:rPr lang="en-US" dirty="0" smtClean="0">
                <a:latin typeface=" Arial"/>
              </a:rPr>
              <a:t>:  2QFY20</a:t>
            </a:r>
          </a:p>
          <a:p>
            <a:pPr>
              <a:defRPr/>
            </a:pPr>
            <a:r>
              <a:rPr lang="en-US" u="sng" dirty="0" smtClean="0">
                <a:latin typeface=" Arial"/>
              </a:rPr>
              <a:t>Contracting Contact</a:t>
            </a:r>
            <a:r>
              <a:rPr lang="en-US" dirty="0" smtClean="0">
                <a:latin typeface=" Arial"/>
              </a:rPr>
              <a:t>:  ACC-APG, Alex Obriwin, KO, </a:t>
            </a:r>
            <a:r>
              <a:rPr lang="en-US" dirty="0" smtClean="0">
                <a:latin typeface=" Arial"/>
                <a:hlinkClick r:id="rId2"/>
              </a:rPr>
              <a:t>alexander.s.obriwin.civ@mail.mil</a:t>
            </a:r>
            <a:r>
              <a:rPr lang="en-US" dirty="0" smtClean="0">
                <a:latin typeface=" Arial"/>
              </a:rPr>
              <a:t> </a:t>
            </a:r>
          </a:p>
          <a:p>
            <a:pPr>
              <a:defRPr/>
            </a:pPr>
            <a:endParaRPr lang="en-US" sz="900" dirty="0">
              <a:latin typeface=" Arial"/>
            </a:endParaRPr>
          </a:p>
          <a:p>
            <a:pPr>
              <a:defRPr/>
            </a:pPr>
            <a:r>
              <a:rPr lang="en-US" sz="1600" b="1" dirty="0" smtClean="0">
                <a:latin typeface=" Arial"/>
              </a:rPr>
              <a:t>*Subject to Cancellation</a:t>
            </a:r>
            <a:endParaRPr lang="en-US" sz="1600" b="1" dirty="0">
              <a:latin typeface=" Arial"/>
            </a:endParaRPr>
          </a:p>
        </p:txBody>
      </p:sp>
    </p:spTree>
    <p:extLst>
      <p:ext uri="{BB962C8B-B14F-4D97-AF65-F5344CB8AC3E}">
        <p14:creationId xmlns:p14="http://schemas.microsoft.com/office/powerpoint/2010/main" val="9646287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457200" y="173184"/>
            <a:ext cx="72390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800" dirty="0" smtClean="0">
                <a:solidFill>
                  <a:schemeClr val="bg1"/>
                </a:solidFill>
              </a:rPr>
              <a:t>Deputy Assistant Secretary of the Army for Defense Exports and Cooperation (DASA DEC)</a:t>
            </a:r>
            <a:endParaRPr lang="en-US" sz="1800" dirty="0">
              <a:solidFill>
                <a:schemeClr val="bg1"/>
              </a:solidFil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schemeClr val="bg1"/>
                </a:solidFill>
              </a:rPr>
              <a:t>9</a:t>
            </a:fld>
            <a:endParaRPr lang="en-US" sz="1000" dirty="0">
              <a:solidFill>
                <a:schemeClr val="bg1"/>
              </a:solidFill>
            </a:endParaRPr>
          </a:p>
        </p:txBody>
      </p:sp>
      <p:sp>
        <p:nvSpPr>
          <p:cNvPr id="8" name="TextBox 8"/>
          <p:cNvSpPr txBox="1">
            <a:spLocks noChangeArrowheads="1"/>
          </p:cNvSpPr>
          <p:nvPr/>
        </p:nvSpPr>
        <p:spPr bwMode="auto">
          <a:xfrm>
            <a:off x="0" y="1066800"/>
            <a:ext cx="9144000" cy="5386090"/>
          </a:xfrm>
          <a:prstGeom prst="rect">
            <a:avLst/>
          </a:prstGeom>
          <a:noFill/>
          <a:ln w="9525">
            <a:noFill/>
            <a:miter lim="800000"/>
            <a:headEnd/>
            <a:tailEnd/>
          </a:ln>
        </p:spPr>
        <p:txBody>
          <a:bodyPr wrap="square">
            <a:spAutoFit/>
          </a:bodyPr>
          <a:lstStyle/>
          <a:p>
            <a:pPr>
              <a:defRPr/>
            </a:pPr>
            <a:r>
              <a:rPr lang="en-US" u="sng" dirty="0" smtClean="0">
                <a:latin typeface=" Arial"/>
              </a:rPr>
              <a:t>Project Title</a:t>
            </a:r>
            <a:r>
              <a:rPr lang="en-US" dirty="0" smtClean="0">
                <a:latin typeface=" Arial"/>
              </a:rPr>
              <a:t>:  Consolidated Security Cooperation Support</a:t>
            </a:r>
          </a:p>
          <a:p>
            <a:r>
              <a:rPr lang="en-US" u="sng" dirty="0" smtClean="0">
                <a:latin typeface=" Arial"/>
              </a:rPr>
              <a:t>Project Summary</a:t>
            </a:r>
            <a:r>
              <a:rPr lang="en-US" dirty="0" smtClean="0">
                <a:latin typeface=" Arial"/>
              </a:rPr>
              <a:t>:  </a:t>
            </a:r>
            <a:r>
              <a:rPr lang="en-US" sz="1400" dirty="0">
                <a:latin typeface=" Arial"/>
              </a:rPr>
              <a:t>The contractor </a:t>
            </a:r>
            <a:r>
              <a:rPr lang="en-US" sz="1400" dirty="0" smtClean="0">
                <a:latin typeface=" Arial"/>
              </a:rPr>
              <a:t>shall provide non-personal </a:t>
            </a:r>
            <a:r>
              <a:rPr lang="en-US" sz="1400" dirty="0">
                <a:latin typeface=" Arial"/>
              </a:rPr>
              <a:t>services </a:t>
            </a:r>
            <a:r>
              <a:rPr lang="en-US" sz="1400" dirty="0" smtClean="0">
                <a:latin typeface=" Arial"/>
              </a:rPr>
              <a:t>in </a:t>
            </a:r>
            <a:r>
              <a:rPr lang="en-US" sz="1400" dirty="0">
                <a:latin typeface=" Arial"/>
              </a:rPr>
              <a:t>support of the</a:t>
            </a:r>
          </a:p>
          <a:p>
            <a:r>
              <a:rPr lang="en-US" sz="1400" dirty="0">
                <a:latin typeface=" Arial"/>
              </a:rPr>
              <a:t>Deputy Assistant Secretary of the Army for Defense Exports and Cooperation (</a:t>
            </a:r>
            <a:r>
              <a:rPr lang="en-US" sz="1400" dirty="0" smtClean="0">
                <a:latin typeface=" Arial"/>
              </a:rPr>
              <a:t>DASA DE&amp;C</a:t>
            </a:r>
            <a:r>
              <a:rPr lang="en-US" sz="1400" dirty="0">
                <a:latin typeface=" Arial"/>
              </a:rPr>
              <a:t>) and various offices within the Army Staff and/or the Army Secretariat, </a:t>
            </a:r>
            <a:r>
              <a:rPr lang="en-US" sz="1400" dirty="0" smtClean="0">
                <a:latin typeface=" Arial"/>
              </a:rPr>
              <a:t>Program Executive </a:t>
            </a:r>
            <a:r>
              <a:rPr lang="en-US" sz="1400" dirty="0">
                <a:latin typeface=" Arial"/>
              </a:rPr>
              <a:t>Office/Program Management Office (PEO/PM), Army Major Commands, </a:t>
            </a:r>
            <a:r>
              <a:rPr lang="en-US" sz="1400" dirty="0" smtClean="0">
                <a:latin typeface=" Arial"/>
              </a:rPr>
              <a:t>Joint Staff </a:t>
            </a:r>
            <a:r>
              <a:rPr lang="en-US" sz="1400" dirty="0">
                <a:latin typeface=" Arial"/>
              </a:rPr>
              <a:t>and DoD agencies to include, but not limited to the (a) assessment and </a:t>
            </a:r>
            <a:r>
              <a:rPr lang="en-US" sz="1400" dirty="0" smtClean="0">
                <a:latin typeface=" Arial"/>
              </a:rPr>
              <a:t>oversight of </a:t>
            </a:r>
            <a:r>
              <a:rPr lang="en-US" sz="1400" dirty="0">
                <a:latin typeface=" Arial"/>
              </a:rPr>
              <a:t>Army FMS Campaign Plans, (b) security cooperation program policy preparation, (c</a:t>
            </a:r>
            <a:r>
              <a:rPr lang="en-US" sz="1400" dirty="0" smtClean="0">
                <a:latin typeface=" Arial"/>
              </a:rPr>
              <a:t>) technology </a:t>
            </a:r>
            <a:r>
              <a:rPr lang="en-US" sz="1400" dirty="0">
                <a:latin typeface=" Arial"/>
              </a:rPr>
              <a:t>transfer assessments, (d) maintaining the FMS Policy Library </a:t>
            </a:r>
            <a:r>
              <a:rPr lang="en-US" sz="1400" dirty="0" smtClean="0">
                <a:latin typeface=" Arial"/>
              </a:rPr>
              <a:t>and databases</a:t>
            </a:r>
            <a:r>
              <a:rPr lang="en-US" sz="1400" dirty="0">
                <a:latin typeface=" Arial"/>
              </a:rPr>
              <a:t>, (e) supporting /utilizing various Title 10 activities, (f) </a:t>
            </a:r>
            <a:r>
              <a:rPr lang="en-US" sz="1400" dirty="0" smtClean="0">
                <a:latin typeface=" Arial"/>
              </a:rPr>
              <a:t>organizing/hosting meetings </a:t>
            </a:r>
            <a:r>
              <a:rPr lang="en-US" sz="1400" dirty="0">
                <a:latin typeface=" Arial"/>
              </a:rPr>
              <a:t>and outreach activities, (g) strategic planning and analytical services, (h</a:t>
            </a:r>
            <a:r>
              <a:rPr lang="en-US" sz="1400" dirty="0" smtClean="0">
                <a:latin typeface=" Arial"/>
              </a:rPr>
              <a:t>) disclosure/</a:t>
            </a:r>
            <a:r>
              <a:rPr lang="en-US" sz="1400" dirty="0" err="1" smtClean="0">
                <a:latin typeface=" Arial"/>
              </a:rPr>
              <a:t>releasability</a:t>
            </a:r>
            <a:r>
              <a:rPr lang="en-US" sz="1400" dirty="0" smtClean="0">
                <a:latin typeface=" Arial"/>
              </a:rPr>
              <a:t> </a:t>
            </a:r>
            <a:r>
              <a:rPr lang="en-US" sz="1400" dirty="0">
                <a:latin typeface=" Arial"/>
              </a:rPr>
              <a:t>support, (i) policy preparation and (j) drafting disclosure </a:t>
            </a:r>
            <a:r>
              <a:rPr lang="en-US" sz="1400" dirty="0" smtClean="0">
                <a:latin typeface=" Arial"/>
              </a:rPr>
              <a:t>support documentation</a:t>
            </a:r>
            <a:r>
              <a:rPr lang="en-US" sz="1400" dirty="0">
                <a:latin typeface=" Arial"/>
              </a:rPr>
              <a:t>.</a:t>
            </a:r>
            <a:endParaRPr lang="en-US" sz="1400" u="sng" dirty="0">
              <a:latin typeface=" Arial"/>
            </a:endParaRPr>
          </a:p>
          <a:p>
            <a:r>
              <a:rPr lang="en-US" u="sng" dirty="0" smtClean="0">
                <a:latin typeface=" Arial"/>
              </a:rPr>
              <a:t>Prior/Current Contract Information</a:t>
            </a:r>
            <a:r>
              <a:rPr lang="en-US" dirty="0" smtClean="0">
                <a:latin typeface=" Arial"/>
              </a:rPr>
              <a:t>:</a:t>
            </a:r>
          </a:p>
          <a:p>
            <a:pPr>
              <a:defRPr/>
            </a:pPr>
            <a:r>
              <a:rPr lang="en-US" dirty="0">
                <a:latin typeface=" Arial"/>
              </a:rPr>
              <a:t>	</a:t>
            </a:r>
            <a:r>
              <a:rPr lang="en-US" dirty="0" smtClean="0">
                <a:latin typeface=" Arial"/>
              </a:rPr>
              <a:t>Contract Number:  W91CRB-15-C-0021</a:t>
            </a:r>
          </a:p>
          <a:p>
            <a:pPr>
              <a:defRPr/>
            </a:pPr>
            <a:r>
              <a:rPr lang="en-US" dirty="0" smtClean="0">
                <a:latin typeface=" Arial"/>
              </a:rPr>
              <a:t>	Incumbent Contractor:  General Dynamics Information Technology</a:t>
            </a:r>
          </a:p>
          <a:p>
            <a:pPr>
              <a:defRPr/>
            </a:pPr>
            <a:r>
              <a:rPr lang="en-US" dirty="0" smtClean="0">
                <a:latin typeface=" Arial"/>
              </a:rPr>
              <a:t>	Solicitation </a:t>
            </a:r>
            <a:r>
              <a:rPr lang="en-US" dirty="0">
                <a:latin typeface=" Arial"/>
              </a:rPr>
              <a:t>Number:  </a:t>
            </a:r>
            <a:r>
              <a:rPr lang="en-US" dirty="0" smtClean="0">
                <a:latin typeface=" Arial"/>
              </a:rPr>
              <a:t>W91CRB-19-R-0016</a:t>
            </a:r>
          </a:p>
          <a:p>
            <a:pPr>
              <a:defRPr/>
            </a:pPr>
            <a:endParaRPr lang="en-US" sz="800" dirty="0" smtClean="0">
              <a:latin typeface=" Arial"/>
            </a:endParaRPr>
          </a:p>
          <a:p>
            <a:pPr>
              <a:defRPr/>
            </a:pPr>
            <a:endParaRPr lang="en-US" sz="800" dirty="0" smtClean="0">
              <a:latin typeface=" Arial"/>
            </a:endParaRPr>
          </a:p>
          <a:p>
            <a:pPr>
              <a:defRPr/>
            </a:pPr>
            <a:r>
              <a:rPr lang="en-US" u="sng" dirty="0" smtClean="0">
                <a:latin typeface=" Arial"/>
              </a:rPr>
              <a:t>Contract Type</a:t>
            </a:r>
            <a:r>
              <a:rPr lang="en-US" dirty="0" smtClean="0">
                <a:latin typeface=" Arial"/>
              </a:rPr>
              <a:t>:  CPFF </a:t>
            </a:r>
          </a:p>
          <a:p>
            <a:pPr>
              <a:defRPr/>
            </a:pPr>
            <a:r>
              <a:rPr lang="en-US" u="sng" dirty="0" smtClean="0">
                <a:latin typeface=" Arial"/>
              </a:rPr>
              <a:t>ROM</a:t>
            </a:r>
            <a:r>
              <a:rPr lang="en-US" dirty="0" smtClean="0">
                <a:latin typeface=" Arial"/>
              </a:rPr>
              <a:t>:  $37M</a:t>
            </a:r>
          </a:p>
          <a:p>
            <a:pPr>
              <a:defRPr/>
            </a:pPr>
            <a:r>
              <a:rPr lang="en-US" u="sng" dirty="0" smtClean="0">
                <a:latin typeface=" Arial"/>
              </a:rPr>
              <a:t>Period of Performance</a:t>
            </a:r>
            <a:r>
              <a:rPr lang="en-US" dirty="0" smtClean="0">
                <a:latin typeface=" Arial"/>
              </a:rPr>
              <a:t>:  5 year period of performance</a:t>
            </a:r>
          </a:p>
          <a:p>
            <a:pPr>
              <a:defRPr/>
            </a:pPr>
            <a:r>
              <a:rPr lang="en-US" u="sng" dirty="0" smtClean="0">
                <a:latin typeface=" Arial"/>
              </a:rPr>
              <a:t>Solicitation Release Date</a:t>
            </a:r>
            <a:r>
              <a:rPr lang="en-US" dirty="0" smtClean="0">
                <a:latin typeface=" Arial"/>
              </a:rPr>
              <a:t>:  2QFY20</a:t>
            </a:r>
          </a:p>
          <a:p>
            <a:pPr>
              <a:defRPr/>
            </a:pPr>
            <a:r>
              <a:rPr lang="en-US" u="sng" dirty="0" smtClean="0">
                <a:latin typeface=" Arial"/>
              </a:rPr>
              <a:t>Contracting Contact</a:t>
            </a:r>
            <a:r>
              <a:rPr lang="en-US" dirty="0" smtClean="0">
                <a:latin typeface=" Arial"/>
              </a:rPr>
              <a:t>:  ACC-APG, Alex Obriwin, KO, </a:t>
            </a:r>
            <a:r>
              <a:rPr lang="en-US" dirty="0" smtClean="0">
                <a:latin typeface=" Arial"/>
                <a:hlinkClick r:id="rId2"/>
              </a:rPr>
              <a:t>alexander.s.obriwin.civ@mail.mil</a:t>
            </a:r>
            <a:r>
              <a:rPr lang="en-US" dirty="0" smtClean="0">
                <a:latin typeface=" Arial"/>
              </a:rPr>
              <a:t> </a:t>
            </a:r>
          </a:p>
          <a:p>
            <a:pPr>
              <a:defRPr/>
            </a:pPr>
            <a:endParaRPr lang="en-US" sz="1600" b="1" dirty="0" smtClean="0">
              <a:latin typeface=" Arial"/>
            </a:endParaRPr>
          </a:p>
          <a:p>
            <a:pPr>
              <a:defRPr/>
            </a:pPr>
            <a:r>
              <a:rPr lang="en-US" sz="1600" b="1" dirty="0" smtClean="0">
                <a:latin typeface=" Arial"/>
              </a:rPr>
              <a:t>*Subject to Cancellation</a:t>
            </a:r>
            <a:endParaRPr lang="en-US" sz="1600" b="1" dirty="0">
              <a:latin typeface=" Arial"/>
            </a:endParaRPr>
          </a:p>
        </p:txBody>
      </p:sp>
    </p:spTree>
    <p:extLst>
      <p:ext uri="{BB962C8B-B14F-4D97-AF65-F5344CB8AC3E}">
        <p14:creationId xmlns:p14="http://schemas.microsoft.com/office/powerpoint/2010/main" val="88784250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prstClr val="white"/>
                </a:solidFill>
                <a:latin typeface=" Arial"/>
              </a:rPr>
              <a:t>PEO Soldier</a:t>
            </a: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10</a:t>
            </a:fld>
            <a:endParaRPr lang="en-US" sz="1000" dirty="0">
              <a:solidFill>
                <a:prstClr val="white"/>
              </a:solidFill>
            </a:endParaRPr>
          </a:p>
        </p:txBody>
      </p:sp>
      <p:sp>
        <p:nvSpPr>
          <p:cNvPr id="8" name="TextBox 8"/>
          <p:cNvSpPr txBox="1">
            <a:spLocks noChangeArrowheads="1"/>
          </p:cNvSpPr>
          <p:nvPr/>
        </p:nvSpPr>
        <p:spPr bwMode="auto">
          <a:xfrm>
            <a:off x="0" y="946732"/>
            <a:ext cx="9144000" cy="5601533"/>
          </a:xfrm>
          <a:prstGeom prst="rect">
            <a:avLst/>
          </a:prstGeom>
          <a:noFill/>
          <a:ln w="9525">
            <a:noFill/>
            <a:miter lim="800000"/>
            <a:headEnd/>
            <a:tailEnd/>
          </a:ln>
        </p:spPr>
        <p:txBody>
          <a:bodyPr wrap="square">
            <a:spAutoFit/>
          </a:bodyPr>
          <a:lstStyle/>
          <a:p>
            <a:pPr>
              <a:defRPr/>
            </a:pPr>
            <a:r>
              <a:rPr lang="en-US" u="sng" dirty="0" smtClean="0">
                <a:solidFill>
                  <a:prstClr val="black"/>
                </a:solidFill>
                <a:latin typeface=" Arial"/>
              </a:rPr>
              <a:t>Project Title</a:t>
            </a:r>
            <a:r>
              <a:rPr lang="en-US" dirty="0" smtClean="0">
                <a:solidFill>
                  <a:prstClr val="black"/>
                </a:solidFill>
                <a:latin typeface=" Arial"/>
              </a:rPr>
              <a:t>:  Soldier Borne Sensors (SBS)</a:t>
            </a:r>
          </a:p>
          <a:p>
            <a:pPr>
              <a:defRPr/>
            </a:pPr>
            <a:r>
              <a:rPr lang="en-US" u="sng" dirty="0">
                <a:solidFill>
                  <a:prstClr val="black"/>
                </a:solidFill>
                <a:latin typeface=" Arial"/>
              </a:rPr>
              <a:t>Project Summary: </a:t>
            </a:r>
            <a:r>
              <a:rPr lang="en-US" dirty="0">
                <a:solidFill>
                  <a:prstClr val="black"/>
                </a:solidFill>
                <a:latin typeface=" Arial"/>
              </a:rPr>
              <a:t>The </a:t>
            </a:r>
            <a:r>
              <a:rPr lang="en-US" dirty="0" smtClean="0">
                <a:solidFill>
                  <a:prstClr val="black"/>
                </a:solidFill>
                <a:latin typeface=" Arial"/>
              </a:rPr>
              <a:t>SBS provides </a:t>
            </a:r>
            <a:r>
              <a:rPr lang="en-US" dirty="0">
                <a:solidFill>
                  <a:prstClr val="black"/>
                </a:solidFill>
                <a:latin typeface=" Arial"/>
              </a:rPr>
              <a:t>a near term solution to three Army Warfighting Challenges (AWFCs) primarily to enhance the lethality and force protection. The initial increment of the SBS provides a near term solution to address the AWFCs with mobile sensors that provide the Squad with an organic, “quick look” capability to scan larger operational areas without the delay of coordinating for non-organic assets.  </a:t>
            </a:r>
            <a:endParaRPr lang="en-US" dirty="0" smtClean="0">
              <a:solidFill>
                <a:prstClr val="black"/>
              </a:solidFill>
              <a:latin typeface=" Arial"/>
            </a:endParaRPr>
          </a:p>
          <a:p>
            <a:pPr>
              <a:defRPr/>
            </a:pPr>
            <a:endParaRPr lang="en-US" u="sng" dirty="0" smtClean="0">
              <a:solidFill>
                <a:prstClr val="black"/>
              </a:solidFill>
              <a:latin typeface=" Arial"/>
            </a:endParaRPr>
          </a:p>
          <a:p>
            <a:pPr>
              <a:defRPr/>
            </a:pPr>
            <a:r>
              <a:rPr lang="en-US" u="sng" dirty="0">
                <a:solidFill>
                  <a:prstClr val="black"/>
                </a:solidFill>
                <a:latin typeface=" Arial"/>
              </a:rPr>
              <a:t>Prior/Current Contract Information:</a:t>
            </a:r>
          </a:p>
          <a:p>
            <a:pPr>
              <a:defRPr/>
            </a:pPr>
            <a:r>
              <a:rPr lang="en-US" dirty="0" smtClean="0">
                <a:solidFill>
                  <a:prstClr val="black"/>
                </a:solidFill>
                <a:latin typeface=" Arial"/>
              </a:rPr>
              <a:t>	Contract Number:  N/A</a:t>
            </a:r>
          </a:p>
          <a:p>
            <a:pPr>
              <a:defRPr/>
            </a:pPr>
            <a:r>
              <a:rPr lang="en-US" dirty="0" smtClean="0">
                <a:solidFill>
                  <a:prstClr val="black"/>
                </a:solidFill>
                <a:latin typeface=" Arial"/>
              </a:rPr>
              <a:t>	Incumbent Contractor: N/A</a:t>
            </a:r>
          </a:p>
          <a:p>
            <a:pPr>
              <a:defRPr/>
            </a:pPr>
            <a:endParaRPr lang="en-US" dirty="0" smtClean="0">
              <a:solidFill>
                <a:prstClr val="black"/>
              </a:solidFill>
              <a:latin typeface=" Arial"/>
            </a:endParaRPr>
          </a:p>
          <a:p>
            <a:pPr>
              <a:defRPr/>
            </a:pPr>
            <a:r>
              <a:rPr lang="en-US" u="sng" dirty="0">
                <a:solidFill>
                  <a:prstClr val="black"/>
                </a:solidFill>
                <a:latin typeface=" Arial"/>
              </a:rPr>
              <a:t>Contract Type</a:t>
            </a:r>
            <a:r>
              <a:rPr lang="en-US" dirty="0">
                <a:solidFill>
                  <a:prstClr val="black"/>
                </a:solidFill>
                <a:latin typeface=" Arial"/>
              </a:rPr>
              <a:t>:  OTA </a:t>
            </a:r>
          </a:p>
          <a:p>
            <a:pPr>
              <a:defRPr/>
            </a:pPr>
            <a:r>
              <a:rPr lang="en-US" u="sng" dirty="0">
                <a:solidFill>
                  <a:prstClr val="black"/>
                </a:solidFill>
                <a:latin typeface=" Arial"/>
              </a:rPr>
              <a:t>ROM</a:t>
            </a:r>
            <a:r>
              <a:rPr lang="en-US" dirty="0">
                <a:solidFill>
                  <a:prstClr val="black"/>
                </a:solidFill>
                <a:latin typeface=" Arial"/>
              </a:rPr>
              <a:t>:  $6M (prototype) $60M (production)</a:t>
            </a:r>
          </a:p>
          <a:p>
            <a:pPr>
              <a:defRPr/>
            </a:pPr>
            <a:r>
              <a:rPr lang="en-US" u="sng" dirty="0">
                <a:solidFill>
                  <a:prstClr val="black"/>
                </a:solidFill>
                <a:latin typeface=" Arial"/>
              </a:rPr>
              <a:t>Period of Performance</a:t>
            </a:r>
            <a:r>
              <a:rPr lang="en-US" dirty="0">
                <a:solidFill>
                  <a:prstClr val="black"/>
                </a:solidFill>
                <a:latin typeface=" Arial"/>
              </a:rPr>
              <a:t>:  6 months (prototype); TBD (production)</a:t>
            </a:r>
          </a:p>
          <a:p>
            <a:pPr>
              <a:defRPr/>
            </a:pPr>
            <a:r>
              <a:rPr lang="en-US" u="sng" dirty="0">
                <a:solidFill>
                  <a:prstClr val="black"/>
                </a:solidFill>
                <a:latin typeface=" Arial"/>
              </a:rPr>
              <a:t>Request for White Papers Released Date</a:t>
            </a:r>
            <a:r>
              <a:rPr lang="en-US" dirty="0">
                <a:solidFill>
                  <a:prstClr val="black"/>
                </a:solidFill>
                <a:latin typeface=" Arial"/>
              </a:rPr>
              <a:t>:  December 11, 2019 (closed January 15, 2020)</a:t>
            </a:r>
          </a:p>
          <a:p>
            <a:pPr>
              <a:defRPr/>
            </a:pPr>
            <a:r>
              <a:rPr lang="en-US" u="sng" dirty="0">
                <a:solidFill>
                  <a:prstClr val="black"/>
                </a:solidFill>
                <a:latin typeface=" Arial"/>
              </a:rPr>
              <a:t>Solicitation Release Date: </a:t>
            </a:r>
            <a:r>
              <a:rPr lang="en-US" dirty="0">
                <a:solidFill>
                  <a:prstClr val="black"/>
                </a:solidFill>
                <a:latin typeface=" Arial"/>
              </a:rPr>
              <a:t>TBD</a:t>
            </a:r>
          </a:p>
          <a:p>
            <a:pPr>
              <a:defRPr/>
            </a:pPr>
            <a:r>
              <a:rPr lang="en-US" u="sng" dirty="0" smtClean="0">
                <a:solidFill>
                  <a:prstClr val="black"/>
                </a:solidFill>
                <a:latin typeface=" Arial"/>
              </a:rPr>
              <a:t>Contracting </a:t>
            </a:r>
            <a:r>
              <a:rPr lang="en-US" u="sng" dirty="0">
                <a:solidFill>
                  <a:prstClr val="black"/>
                </a:solidFill>
                <a:latin typeface=" Arial"/>
              </a:rPr>
              <a:t>Contact</a:t>
            </a:r>
            <a:r>
              <a:rPr lang="en-US" dirty="0">
                <a:solidFill>
                  <a:prstClr val="black"/>
                </a:solidFill>
                <a:latin typeface=" Arial"/>
              </a:rPr>
              <a:t>: ACC-APG, Pete Buckless, KO, </a:t>
            </a:r>
            <a:r>
              <a:rPr lang="en-US" dirty="0">
                <a:solidFill>
                  <a:prstClr val="black"/>
                </a:solidFill>
                <a:latin typeface=" Arial"/>
                <a:hlinkClick r:id="rId2"/>
              </a:rPr>
              <a:t>peter.p.buckless.civ@mail.mil </a:t>
            </a:r>
            <a:endParaRPr lang="en-US" dirty="0">
              <a:solidFill>
                <a:prstClr val="black"/>
              </a:solidFill>
              <a:latin typeface=" Arial"/>
            </a:endParaRPr>
          </a:p>
          <a:p>
            <a:pPr>
              <a:defRPr/>
            </a:pPr>
            <a:r>
              <a:rPr lang="en-US" dirty="0">
                <a:solidFill>
                  <a:prstClr val="black"/>
                </a:solidFill>
                <a:latin typeface=" Arial"/>
              </a:rPr>
              <a:t/>
            </a:r>
            <a:br>
              <a:rPr lang="en-US" dirty="0">
                <a:solidFill>
                  <a:prstClr val="black"/>
                </a:solidFill>
                <a:latin typeface=" Arial"/>
              </a:rPr>
            </a:br>
            <a:r>
              <a:rPr lang="en-US" dirty="0" smtClean="0">
                <a:solidFill>
                  <a:prstClr val="black"/>
                </a:solidFill>
                <a:latin typeface=" Arial"/>
              </a:rPr>
              <a:t>*</a:t>
            </a:r>
            <a:r>
              <a:rPr lang="en-US" sz="1600" b="1" dirty="0" smtClean="0">
                <a:solidFill>
                  <a:prstClr val="black"/>
                </a:solidFill>
                <a:latin typeface=" Arial"/>
              </a:rPr>
              <a:t>Subject to Cancellation</a:t>
            </a:r>
            <a:endParaRPr lang="en-US" sz="1600" b="1" dirty="0">
              <a:solidFill>
                <a:prstClr val="black"/>
              </a:solidFill>
              <a:latin typeface=" Arial"/>
            </a:endParaRPr>
          </a:p>
        </p:txBody>
      </p:sp>
    </p:spTree>
    <p:extLst>
      <p:ext uri="{BB962C8B-B14F-4D97-AF65-F5344CB8AC3E}">
        <p14:creationId xmlns:p14="http://schemas.microsoft.com/office/powerpoint/2010/main" val="98721655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prstClr val="white"/>
                </a:solidFill>
                <a:latin typeface=" Arial"/>
              </a:rPr>
              <a:t>PEO Soldier</a:t>
            </a: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11</a:t>
            </a:fld>
            <a:endParaRPr lang="en-US" sz="1000" dirty="0">
              <a:solidFill>
                <a:prstClr val="white"/>
              </a:solidFill>
            </a:endParaRPr>
          </a:p>
        </p:txBody>
      </p:sp>
      <p:sp>
        <p:nvSpPr>
          <p:cNvPr id="8" name="TextBox 8"/>
          <p:cNvSpPr txBox="1">
            <a:spLocks noChangeArrowheads="1"/>
          </p:cNvSpPr>
          <p:nvPr/>
        </p:nvSpPr>
        <p:spPr bwMode="auto">
          <a:xfrm>
            <a:off x="0" y="1066800"/>
            <a:ext cx="9144000" cy="5324535"/>
          </a:xfrm>
          <a:prstGeom prst="rect">
            <a:avLst/>
          </a:prstGeom>
          <a:noFill/>
          <a:ln w="9525">
            <a:noFill/>
            <a:miter lim="800000"/>
            <a:headEnd/>
            <a:tailEnd/>
          </a:ln>
        </p:spPr>
        <p:txBody>
          <a:bodyPr wrap="square">
            <a:spAutoFit/>
          </a:bodyPr>
          <a:lstStyle/>
          <a:p>
            <a:pPr>
              <a:defRPr/>
            </a:pPr>
            <a:r>
              <a:rPr lang="en-US" u="sng" dirty="0" smtClean="0">
                <a:solidFill>
                  <a:prstClr val="black"/>
                </a:solidFill>
                <a:latin typeface=" Arial"/>
              </a:rPr>
              <a:t>Project Title</a:t>
            </a:r>
            <a:r>
              <a:rPr lang="en-US" dirty="0" smtClean="0">
                <a:solidFill>
                  <a:prstClr val="black"/>
                </a:solidFill>
                <a:latin typeface=" Arial"/>
              </a:rPr>
              <a:t>:  Next Generation Hub (NGH)</a:t>
            </a:r>
          </a:p>
          <a:p>
            <a:pPr>
              <a:defRPr/>
            </a:pPr>
            <a:r>
              <a:rPr lang="en-US" u="sng" dirty="0" smtClean="0">
                <a:solidFill>
                  <a:prstClr val="black"/>
                </a:solidFill>
                <a:latin typeface=" Arial"/>
              </a:rPr>
              <a:t>Project </a:t>
            </a:r>
            <a:r>
              <a:rPr lang="en-US" u="sng" dirty="0">
                <a:solidFill>
                  <a:prstClr val="black"/>
                </a:solidFill>
                <a:latin typeface=" Arial"/>
              </a:rPr>
              <a:t>Summary: </a:t>
            </a:r>
            <a:r>
              <a:rPr lang="en-US" dirty="0">
                <a:latin typeface=" Arial"/>
              </a:rPr>
              <a:t>The NGH functions as a Universal Serial Bus (USB) 2.0 hub for data communication among devices.  It also distributes power to provide Person Area Network (PAN) power to connected devices.  The NGH systems will support current and future </a:t>
            </a:r>
            <a:r>
              <a:rPr lang="en-US" dirty="0" err="1">
                <a:latin typeface=" Arial"/>
              </a:rPr>
              <a:t>Nett</a:t>
            </a:r>
            <a:r>
              <a:rPr lang="en-US" dirty="0">
                <a:latin typeface=" Arial"/>
              </a:rPr>
              <a:t> Warrior Soldier platforms and may support future Air Soldier (AS) System, and future Explosive Ordinance Device (EOD) capable Soldiers.</a:t>
            </a:r>
            <a:endParaRPr lang="en-US" u="sng" dirty="0" smtClean="0">
              <a:solidFill>
                <a:prstClr val="black"/>
              </a:solidFill>
              <a:latin typeface=" Arial"/>
            </a:endParaRPr>
          </a:p>
          <a:p>
            <a:pPr>
              <a:defRPr/>
            </a:pPr>
            <a:endParaRPr lang="en-US" u="sng" dirty="0" smtClean="0">
              <a:solidFill>
                <a:prstClr val="black"/>
              </a:solidFill>
              <a:latin typeface=" Arial"/>
            </a:endParaRPr>
          </a:p>
          <a:p>
            <a:pPr>
              <a:defRPr/>
            </a:pPr>
            <a:r>
              <a:rPr lang="en-US" u="sng" dirty="0" smtClean="0">
                <a:solidFill>
                  <a:prstClr val="black"/>
                </a:solidFill>
                <a:latin typeface=" Arial"/>
              </a:rPr>
              <a:t>Prior/Current </a:t>
            </a:r>
            <a:r>
              <a:rPr lang="en-US" u="sng" dirty="0">
                <a:solidFill>
                  <a:prstClr val="black"/>
                </a:solidFill>
                <a:latin typeface=" Arial"/>
              </a:rPr>
              <a:t>Contract Information:</a:t>
            </a:r>
          </a:p>
          <a:p>
            <a:pPr>
              <a:defRPr/>
            </a:pPr>
            <a:r>
              <a:rPr lang="en-US" dirty="0" smtClean="0">
                <a:solidFill>
                  <a:prstClr val="black"/>
                </a:solidFill>
                <a:latin typeface=" Arial"/>
              </a:rPr>
              <a:t>	Contract Number:  N/A</a:t>
            </a:r>
          </a:p>
          <a:p>
            <a:pPr>
              <a:defRPr/>
            </a:pPr>
            <a:r>
              <a:rPr lang="en-US" dirty="0" smtClean="0">
                <a:solidFill>
                  <a:prstClr val="black"/>
                </a:solidFill>
                <a:latin typeface=" Arial"/>
              </a:rPr>
              <a:t>	Incumbent Contractor: N/A</a:t>
            </a:r>
          </a:p>
          <a:p>
            <a:pPr>
              <a:defRPr/>
            </a:pPr>
            <a:r>
              <a:rPr lang="en-US" dirty="0">
                <a:solidFill>
                  <a:prstClr val="black"/>
                </a:solidFill>
                <a:latin typeface=" Arial"/>
              </a:rPr>
              <a:t>	</a:t>
            </a:r>
            <a:r>
              <a:rPr lang="en-US" dirty="0" smtClean="0">
                <a:solidFill>
                  <a:prstClr val="black"/>
                </a:solidFill>
                <a:latin typeface=" Arial"/>
              </a:rPr>
              <a:t>Solicitation Number: W91CRB-19-R-0011</a:t>
            </a:r>
          </a:p>
          <a:p>
            <a:pPr>
              <a:defRPr/>
            </a:pPr>
            <a:endParaRPr lang="en-US" dirty="0" smtClean="0">
              <a:solidFill>
                <a:prstClr val="black"/>
              </a:solidFill>
              <a:latin typeface=" Arial"/>
            </a:endParaRPr>
          </a:p>
          <a:p>
            <a:pPr>
              <a:defRPr/>
            </a:pPr>
            <a:r>
              <a:rPr lang="en-US" u="sng" dirty="0">
                <a:solidFill>
                  <a:prstClr val="black"/>
                </a:solidFill>
                <a:latin typeface=" Arial"/>
              </a:rPr>
              <a:t>Contract </a:t>
            </a:r>
            <a:r>
              <a:rPr lang="en-US" u="sng" dirty="0" smtClean="0">
                <a:solidFill>
                  <a:prstClr val="black"/>
                </a:solidFill>
                <a:latin typeface=" Arial"/>
              </a:rPr>
              <a:t>Type</a:t>
            </a:r>
            <a:r>
              <a:rPr lang="en-US" dirty="0" smtClean="0">
                <a:solidFill>
                  <a:prstClr val="black"/>
                </a:solidFill>
                <a:latin typeface=" Arial"/>
              </a:rPr>
              <a:t>:  Delivery orders will be FFP </a:t>
            </a:r>
          </a:p>
          <a:p>
            <a:pPr>
              <a:defRPr/>
            </a:pPr>
            <a:r>
              <a:rPr lang="en-US" u="sng" dirty="0" smtClean="0">
                <a:solidFill>
                  <a:prstClr val="black"/>
                </a:solidFill>
                <a:latin typeface=" Arial"/>
              </a:rPr>
              <a:t>ROM</a:t>
            </a:r>
            <a:r>
              <a:rPr lang="en-US" dirty="0" smtClean="0">
                <a:solidFill>
                  <a:prstClr val="black"/>
                </a:solidFill>
                <a:latin typeface=" Arial"/>
              </a:rPr>
              <a:t>:  $96M</a:t>
            </a:r>
          </a:p>
          <a:p>
            <a:pPr>
              <a:defRPr/>
            </a:pPr>
            <a:r>
              <a:rPr lang="en-US" u="sng" dirty="0">
                <a:solidFill>
                  <a:prstClr val="black"/>
                </a:solidFill>
                <a:latin typeface=" Arial"/>
              </a:rPr>
              <a:t>Period of </a:t>
            </a:r>
            <a:r>
              <a:rPr lang="en-US" u="sng" dirty="0" smtClean="0">
                <a:solidFill>
                  <a:prstClr val="black"/>
                </a:solidFill>
                <a:latin typeface=" Arial"/>
              </a:rPr>
              <a:t>Performance</a:t>
            </a:r>
            <a:r>
              <a:rPr lang="en-US" dirty="0" smtClean="0">
                <a:solidFill>
                  <a:prstClr val="black"/>
                </a:solidFill>
                <a:latin typeface=" Arial"/>
              </a:rPr>
              <a:t>:  5 year ordering period</a:t>
            </a:r>
          </a:p>
          <a:p>
            <a:pPr>
              <a:defRPr/>
            </a:pPr>
            <a:r>
              <a:rPr lang="en-US" u="sng" dirty="0">
                <a:solidFill>
                  <a:prstClr val="black"/>
                </a:solidFill>
                <a:latin typeface=" Arial"/>
              </a:rPr>
              <a:t>Estimated Solicitation Release </a:t>
            </a:r>
            <a:r>
              <a:rPr lang="en-US" u="sng" dirty="0" smtClean="0">
                <a:solidFill>
                  <a:prstClr val="black"/>
                </a:solidFill>
                <a:latin typeface=" Arial"/>
              </a:rPr>
              <a:t>Date</a:t>
            </a:r>
            <a:r>
              <a:rPr lang="en-US" dirty="0" smtClean="0">
                <a:solidFill>
                  <a:prstClr val="black"/>
                </a:solidFill>
                <a:latin typeface=" Arial"/>
              </a:rPr>
              <a:t>:  2QFY20</a:t>
            </a:r>
          </a:p>
          <a:p>
            <a:pPr>
              <a:defRPr/>
            </a:pPr>
            <a:r>
              <a:rPr lang="en-US" u="sng" dirty="0" smtClean="0">
                <a:solidFill>
                  <a:prstClr val="black"/>
                </a:solidFill>
                <a:latin typeface=" Arial"/>
              </a:rPr>
              <a:t>Contracting Contact</a:t>
            </a:r>
            <a:r>
              <a:rPr lang="en-US" dirty="0" smtClean="0">
                <a:solidFill>
                  <a:prstClr val="black"/>
                </a:solidFill>
                <a:latin typeface=" Arial"/>
              </a:rPr>
              <a:t>:  </a:t>
            </a:r>
            <a:r>
              <a:rPr lang="en-US" sz="1750" dirty="0">
                <a:solidFill>
                  <a:prstClr val="black"/>
                </a:solidFill>
                <a:latin typeface=" Arial"/>
              </a:rPr>
              <a:t>ACC-APG, Samantha Degele, KO, </a:t>
            </a:r>
            <a:r>
              <a:rPr lang="en-US" sz="1750" dirty="0">
                <a:solidFill>
                  <a:prstClr val="black"/>
                </a:solidFill>
                <a:latin typeface=" Arial"/>
                <a:hlinkClick r:id="rId2"/>
              </a:rPr>
              <a:t>samantha.l.degele.civ@mail.mil</a:t>
            </a:r>
            <a:r>
              <a:rPr lang="en-US" sz="1750" dirty="0">
                <a:solidFill>
                  <a:prstClr val="black"/>
                </a:solidFill>
                <a:latin typeface=" Arial"/>
              </a:rPr>
              <a:t> </a:t>
            </a:r>
          </a:p>
          <a:p>
            <a:pPr>
              <a:defRPr/>
            </a:pPr>
            <a:endParaRPr lang="en-US" dirty="0" smtClean="0">
              <a:solidFill>
                <a:prstClr val="black"/>
              </a:solidFill>
              <a:latin typeface=" Arial"/>
            </a:endParaRPr>
          </a:p>
          <a:p>
            <a:pPr>
              <a:defRPr/>
            </a:pPr>
            <a:r>
              <a:rPr lang="en-US" sz="1600" b="1" dirty="0" smtClean="0">
                <a:solidFill>
                  <a:prstClr val="black"/>
                </a:solidFill>
                <a:latin typeface=" Arial"/>
              </a:rPr>
              <a:t>*Subject to Cancellation</a:t>
            </a:r>
            <a:endParaRPr lang="en-US" sz="1600" b="1" dirty="0">
              <a:solidFill>
                <a:prstClr val="black"/>
              </a:solidFill>
              <a:latin typeface=" Arial"/>
            </a:endParaRPr>
          </a:p>
        </p:txBody>
      </p:sp>
    </p:spTree>
    <p:extLst>
      <p:ext uri="{BB962C8B-B14F-4D97-AF65-F5344CB8AC3E}">
        <p14:creationId xmlns:p14="http://schemas.microsoft.com/office/powerpoint/2010/main" val="365928890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prstClr val="white"/>
                </a:solidFill>
                <a:latin typeface=" Arial"/>
              </a:rPr>
              <a:t>PEO Soldier</a:t>
            </a: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12</a:t>
            </a:fld>
            <a:endParaRPr lang="en-US" sz="1000" dirty="0">
              <a:solidFill>
                <a:prstClr val="white"/>
              </a:solidFill>
            </a:endParaRPr>
          </a:p>
        </p:txBody>
      </p:sp>
      <p:sp>
        <p:nvSpPr>
          <p:cNvPr id="8" name="TextBox 8"/>
          <p:cNvSpPr txBox="1">
            <a:spLocks noChangeArrowheads="1"/>
          </p:cNvSpPr>
          <p:nvPr/>
        </p:nvSpPr>
        <p:spPr bwMode="auto">
          <a:xfrm>
            <a:off x="0" y="1066800"/>
            <a:ext cx="9144000" cy="5355312"/>
          </a:xfrm>
          <a:prstGeom prst="rect">
            <a:avLst/>
          </a:prstGeom>
          <a:noFill/>
          <a:ln w="9525">
            <a:noFill/>
            <a:miter lim="800000"/>
            <a:headEnd/>
            <a:tailEnd/>
          </a:ln>
        </p:spPr>
        <p:txBody>
          <a:bodyPr wrap="square">
            <a:spAutoFit/>
          </a:bodyPr>
          <a:lstStyle/>
          <a:p>
            <a:pPr>
              <a:defRPr/>
            </a:pPr>
            <a:r>
              <a:rPr lang="en-US" u="sng" dirty="0">
                <a:solidFill>
                  <a:prstClr val="black"/>
                </a:solidFill>
                <a:latin typeface=" Arial"/>
                <a:cs typeface="Arial" panose="020B0604020202020204" pitchFamily="34" charset="0"/>
              </a:rPr>
              <a:t>Project Title</a:t>
            </a:r>
            <a:r>
              <a:rPr lang="en-US" dirty="0">
                <a:solidFill>
                  <a:prstClr val="black"/>
                </a:solidFill>
                <a:latin typeface=" Arial"/>
                <a:cs typeface="Arial" panose="020B0604020202020204" pitchFamily="34" charset="0"/>
              </a:rPr>
              <a:t>:  Modular Scalable Vest (MSV)</a:t>
            </a:r>
          </a:p>
          <a:p>
            <a:pPr>
              <a:defRPr/>
            </a:pPr>
            <a:r>
              <a:rPr lang="en-US" u="sng" dirty="0">
                <a:solidFill>
                  <a:prstClr val="black"/>
                </a:solidFill>
                <a:latin typeface=" Arial"/>
                <a:cs typeface="Arial" panose="020B0604020202020204" pitchFamily="34" charset="0"/>
              </a:rPr>
              <a:t>Project Summary</a:t>
            </a:r>
            <a:r>
              <a:rPr lang="en-US" dirty="0">
                <a:solidFill>
                  <a:prstClr val="black"/>
                </a:solidFill>
                <a:latin typeface=" Arial"/>
                <a:cs typeface="Arial" panose="020B0604020202020204" pitchFamily="34" charset="0"/>
              </a:rPr>
              <a:t>:  </a:t>
            </a:r>
            <a:r>
              <a:rPr lang="en-US" dirty="0">
                <a:solidFill>
                  <a:prstClr val="black"/>
                </a:solidFill>
                <a:latin typeface=" Arial"/>
              </a:rPr>
              <a:t>The MSV is part of the Soldier Protection System Torso and Extremity Protection (SPS TEP), </a:t>
            </a:r>
            <a:r>
              <a:rPr lang="en-US" dirty="0">
                <a:latin typeface=" Arial"/>
              </a:rPr>
              <a:t>that consists of a low profile vest with four (4) soft armor panels covered in a camouflage cloth and hook and loop. The system allows for the insertion of soft armor panels into a tactical outer carrier that also accommodates hard armor protective inserts. The MSV will result in one solicitation including both Carriers and Ballistics.  </a:t>
            </a:r>
            <a:endParaRPr lang="en-US" dirty="0">
              <a:solidFill>
                <a:prstClr val="black"/>
              </a:solidFill>
              <a:latin typeface=" Arial"/>
              <a:cs typeface="Arial" panose="020B0604020202020204" pitchFamily="34" charset="0"/>
            </a:endParaRPr>
          </a:p>
          <a:p>
            <a:pPr>
              <a:defRPr/>
            </a:pPr>
            <a:endParaRPr lang="en-US" u="sng" dirty="0">
              <a:solidFill>
                <a:prstClr val="black"/>
              </a:solidFill>
              <a:latin typeface=" Arial"/>
              <a:cs typeface="Arial" panose="020B0604020202020204" pitchFamily="34" charset="0"/>
            </a:endParaRPr>
          </a:p>
          <a:p>
            <a:pPr>
              <a:defRPr/>
            </a:pPr>
            <a:r>
              <a:rPr lang="en-US" u="sng" dirty="0">
                <a:solidFill>
                  <a:prstClr val="black"/>
                </a:solidFill>
                <a:latin typeface=" Arial"/>
                <a:cs typeface="Arial" panose="020B0604020202020204" pitchFamily="34" charset="0"/>
              </a:rPr>
              <a:t>Prior/Current Contract Information:</a:t>
            </a:r>
          </a:p>
          <a:p>
            <a:pPr>
              <a:defRPr/>
            </a:pPr>
            <a:r>
              <a:rPr lang="en-US" dirty="0">
                <a:solidFill>
                  <a:prstClr val="black"/>
                </a:solidFill>
                <a:latin typeface=" Arial"/>
                <a:cs typeface="Arial" panose="020B0604020202020204" pitchFamily="34" charset="0"/>
              </a:rPr>
              <a:t>	Contract Number:  </a:t>
            </a:r>
            <a:r>
              <a:rPr lang="en-US" dirty="0" smtClean="0">
                <a:solidFill>
                  <a:prstClr val="black"/>
                </a:solidFill>
                <a:latin typeface=" Arial"/>
                <a:cs typeface="Arial" panose="020B0604020202020204" pitchFamily="34" charset="0"/>
              </a:rPr>
              <a:t>W91CRB-15-D-0019/W91CRB-15-D-0021 </a:t>
            </a:r>
            <a:endParaRPr lang="en-US" dirty="0">
              <a:solidFill>
                <a:prstClr val="black"/>
              </a:solidFill>
              <a:latin typeface=" Arial"/>
              <a:cs typeface="Arial" panose="020B0604020202020204" pitchFamily="34" charset="0"/>
            </a:endParaRPr>
          </a:p>
          <a:p>
            <a:pPr>
              <a:defRPr/>
            </a:pPr>
            <a:r>
              <a:rPr lang="en-US" dirty="0">
                <a:solidFill>
                  <a:prstClr val="black"/>
                </a:solidFill>
                <a:latin typeface=" Arial"/>
                <a:cs typeface="Arial" panose="020B0604020202020204" pitchFamily="34" charset="0"/>
              </a:rPr>
              <a:t>	Incumbent Contractor: </a:t>
            </a:r>
            <a:r>
              <a:rPr lang="en-US" dirty="0" smtClean="0">
                <a:solidFill>
                  <a:prstClr val="black"/>
                </a:solidFill>
                <a:latin typeface=" Arial"/>
                <a:cs typeface="Arial" panose="020B0604020202020204" pitchFamily="34" charset="0"/>
              </a:rPr>
              <a:t>Bethel Defense &amp; KDH Defense Systems </a:t>
            </a:r>
            <a:endParaRPr lang="en-US" dirty="0">
              <a:solidFill>
                <a:prstClr val="black"/>
              </a:solidFill>
              <a:latin typeface=" Arial"/>
              <a:cs typeface="Arial" panose="020B0604020202020204" pitchFamily="34" charset="0"/>
            </a:endParaRPr>
          </a:p>
          <a:p>
            <a:pPr>
              <a:defRPr/>
            </a:pPr>
            <a:endParaRPr lang="en-US" dirty="0">
              <a:solidFill>
                <a:prstClr val="black"/>
              </a:solidFill>
              <a:latin typeface=" Arial"/>
              <a:cs typeface="Arial" panose="020B0604020202020204" pitchFamily="34" charset="0"/>
            </a:endParaRPr>
          </a:p>
          <a:p>
            <a:pPr>
              <a:defRPr/>
            </a:pPr>
            <a:r>
              <a:rPr lang="en-US" u="sng" dirty="0">
                <a:solidFill>
                  <a:prstClr val="black"/>
                </a:solidFill>
                <a:latin typeface=" Arial"/>
                <a:cs typeface="Arial" panose="020B0604020202020204" pitchFamily="34" charset="0"/>
              </a:rPr>
              <a:t>Contract Type:</a:t>
            </a:r>
            <a:r>
              <a:rPr lang="en-US" dirty="0">
                <a:solidFill>
                  <a:prstClr val="black"/>
                </a:solidFill>
                <a:latin typeface=" Arial"/>
                <a:cs typeface="Arial" panose="020B0604020202020204" pitchFamily="34" charset="0"/>
              </a:rPr>
              <a:t> Delivery orders will be FFP </a:t>
            </a:r>
          </a:p>
          <a:p>
            <a:pPr>
              <a:defRPr/>
            </a:pPr>
            <a:r>
              <a:rPr lang="en-US" u="sng" dirty="0" smtClean="0">
                <a:solidFill>
                  <a:prstClr val="black"/>
                </a:solidFill>
                <a:latin typeface=" Arial"/>
                <a:cs typeface="Arial" panose="020B0604020202020204" pitchFamily="34" charset="0"/>
              </a:rPr>
              <a:t>ROM</a:t>
            </a:r>
            <a:r>
              <a:rPr lang="en-US" dirty="0" smtClean="0">
                <a:solidFill>
                  <a:prstClr val="black"/>
                </a:solidFill>
                <a:latin typeface=" Arial"/>
                <a:cs typeface="Arial" panose="020B0604020202020204" pitchFamily="34" charset="0"/>
              </a:rPr>
              <a:t>: $977M</a:t>
            </a:r>
            <a:endParaRPr lang="en-US" dirty="0">
              <a:solidFill>
                <a:prstClr val="black"/>
              </a:solidFill>
              <a:latin typeface=" Arial"/>
              <a:cs typeface="Arial" panose="020B0604020202020204" pitchFamily="34" charset="0"/>
            </a:endParaRPr>
          </a:p>
          <a:p>
            <a:pPr>
              <a:defRPr/>
            </a:pPr>
            <a:r>
              <a:rPr lang="en-US" u="sng" dirty="0">
                <a:solidFill>
                  <a:prstClr val="black"/>
                </a:solidFill>
                <a:latin typeface=" Arial"/>
                <a:cs typeface="Arial" panose="020B0604020202020204" pitchFamily="34" charset="0"/>
              </a:rPr>
              <a:t>Period of Performance:</a:t>
            </a:r>
            <a:r>
              <a:rPr lang="en-US" dirty="0">
                <a:solidFill>
                  <a:prstClr val="black"/>
                </a:solidFill>
                <a:latin typeface=" Arial"/>
                <a:cs typeface="Arial" panose="020B0604020202020204" pitchFamily="34" charset="0"/>
              </a:rPr>
              <a:t> 5 year ordering period with options</a:t>
            </a:r>
          </a:p>
          <a:p>
            <a:pPr>
              <a:defRPr/>
            </a:pPr>
            <a:r>
              <a:rPr lang="en-US" u="sng" dirty="0" smtClean="0">
                <a:solidFill>
                  <a:prstClr val="black"/>
                </a:solidFill>
                <a:latin typeface=" Arial"/>
                <a:cs typeface="Arial" panose="020B0604020202020204" pitchFamily="34" charset="0"/>
              </a:rPr>
              <a:t>Solicitation </a:t>
            </a:r>
            <a:r>
              <a:rPr lang="en-US" u="sng" dirty="0">
                <a:solidFill>
                  <a:prstClr val="black"/>
                </a:solidFill>
                <a:latin typeface=" Arial"/>
                <a:cs typeface="Arial" panose="020B0604020202020204" pitchFamily="34" charset="0"/>
              </a:rPr>
              <a:t>Release Date:</a:t>
            </a:r>
            <a:r>
              <a:rPr lang="en-US" dirty="0">
                <a:solidFill>
                  <a:prstClr val="black"/>
                </a:solidFill>
                <a:latin typeface=" Arial"/>
                <a:cs typeface="Arial" panose="020B0604020202020204" pitchFamily="34" charset="0"/>
              </a:rPr>
              <a:t> </a:t>
            </a:r>
            <a:r>
              <a:rPr lang="en-US" dirty="0" smtClean="0">
                <a:solidFill>
                  <a:prstClr val="black"/>
                </a:solidFill>
                <a:latin typeface=" Arial"/>
                <a:cs typeface="Arial" panose="020B0604020202020204" pitchFamily="34" charset="0"/>
              </a:rPr>
              <a:t>8 Jan 2020</a:t>
            </a:r>
            <a:endParaRPr lang="en-US" dirty="0">
              <a:solidFill>
                <a:prstClr val="black"/>
              </a:solidFill>
              <a:latin typeface=" Arial"/>
              <a:cs typeface="Arial" panose="020B0604020202020204" pitchFamily="34" charset="0"/>
            </a:endParaRPr>
          </a:p>
          <a:p>
            <a:pPr>
              <a:defRPr/>
            </a:pPr>
            <a:r>
              <a:rPr lang="en-US" u="sng" dirty="0">
                <a:solidFill>
                  <a:prstClr val="black"/>
                </a:solidFill>
                <a:latin typeface=" Arial"/>
                <a:cs typeface="Arial" panose="020B0604020202020204" pitchFamily="34" charset="0"/>
              </a:rPr>
              <a:t>Contracting POC:</a:t>
            </a:r>
            <a:r>
              <a:rPr lang="en-US" dirty="0">
                <a:solidFill>
                  <a:prstClr val="black"/>
                </a:solidFill>
                <a:latin typeface=" Arial"/>
                <a:cs typeface="Arial" panose="020B0604020202020204" pitchFamily="34" charset="0"/>
              </a:rPr>
              <a:t> ACC-APG, Lisa </a:t>
            </a:r>
            <a:r>
              <a:rPr lang="en-US" dirty="0" smtClean="0">
                <a:solidFill>
                  <a:prstClr val="black"/>
                </a:solidFill>
                <a:latin typeface=" Arial"/>
                <a:cs typeface="Arial" panose="020B0604020202020204" pitchFamily="34" charset="0"/>
              </a:rPr>
              <a:t>Yamakawa, </a:t>
            </a:r>
            <a:r>
              <a:rPr lang="en-US" dirty="0" smtClean="0">
                <a:solidFill>
                  <a:prstClr val="black"/>
                </a:solidFill>
                <a:latin typeface=" Arial"/>
                <a:cs typeface="Arial" panose="020B0604020202020204" pitchFamily="34" charset="0"/>
                <a:hlinkClick r:id="rId2"/>
              </a:rPr>
              <a:t>lisa.j.yamakawa.civ@mail.mil </a:t>
            </a:r>
            <a:endParaRPr lang="en-US" dirty="0">
              <a:solidFill>
                <a:prstClr val="black"/>
              </a:solidFill>
              <a:latin typeface=" Arial"/>
              <a:cs typeface="Arial" panose="020B0604020202020204" pitchFamily="34" charset="0"/>
            </a:endParaRPr>
          </a:p>
          <a:p>
            <a:pPr>
              <a:defRPr/>
            </a:pPr>
            <a:endParaRPr lang="en-US" b="1" dirty="0" smtClean="0">
              <a:solidFill>
                <a:prstClr val="black"/>
              </a:solidFill>
              <a:latin typeface=" Arial"/>
            </a:endParaRPr>
          </a:p>
          <a:p>
            <a:pPr>
              <a:defRPr/>
            </a:pPr>
            <a:r>
              <a:rPr lang="en-US" b="1" dirty="0" smtClean="0">
                <a:solidFill>
                  <a:prstClr val="black"/>
                </a:solidFill>
                <a:latin typeface=" Arial"/>
              </a:rPr>
              <a:t>*Subject to Cancellation</a:t>
            </a:r>
            <a:endParaRPr lang="en-US" b="1" dirty="0">
              <a:solidFill>
                <a:prstClr val="black"/>
              </a:solidFill>
              <a:latin typeface=" Arial"/>
            </a:endParaRPr>
          </a:p>
        </p:txBody>
      </p:sp>
    </p:spTree>
    <p:extLst>
      <p:ext uri="{BB962C8B-B14F-4D97-AF65-F5344CB8AC3E}">
        <p14:creationId xmlns:p14="http://schemas.microsoft.com/office/powerpoint/2010/main" val="383343169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prstClr val="white"/>
                </a:solidFill>
                <a:latin typeface=" Arial"/>
              </a:rPr>
              <a:t>PEO Soldier</a:t>
            </a: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13</a:t>
            </a:fld>
            <a:endParaRPr lang="en-US" sz="1000" dirty="0">
              <a:solidFill>
                <a:prstClr val="white"/>
              </a:solidFill>
            </a:endParaRPr>
          </a:p>
        </p:txBody>
      </p:sp>
      <p:sp>
        <p:nvSpPr>
          <p:cNvPr id="8" name="TextBox 8"/>
          <p:cNvSpPr txBox="1">
            <a:spLocks noChangeArrowheads="1"/>
          </p:cNvSpPr>
          <p:nvPr/>
        </p:nvSpPr>
        <p:spPr bwMode="auto">
          <a:xfrm>
            <a:off x="0" y="1066800"/>
            <a:ext cx="9144000" cy="5355312"/>
          </a:xfrm>
          <a:prstGeom prst="rect">
            <a:avLst/>
          </a:prstGeom>
          <a:noFill/>
          <a:ln w="9525">
            <a:noFill/>
            <a:miter lim="800000"/>
            <a:headEnd/>
            <a:tailEnd/>
          </a:ln>
        </p:spPr>
        <p:txBody>
          <a:bodyPr wrap="square">
            <a:spAutoFit/>
          </a:bodyPr>
          <a:lstStyle/>
          <a:p>
            <a:pPr>
              <a:defRPr/>
            </a:pPr>
            <a:r>
              <a:rPr lang="en-US" u="sng" dirty="0">
                <a:solidFill>
                  <a:prstClr val="black"/>
                </a:solidFill>
                <a:latin typeface=" Arial"/>
                <a:cs typeface="Arial" panose="020B0604020202020204" pitchFamily="34" charset="0"/>
              </a:rPr>
              <a:t>Project Title</a:t>
            </a:r>
            <a:r>
              <a:rPr lang="en-US" dirty="0">
                <a:solidFill>
                  <a:prstClr val="black"/>
                </a:solidFill>
                <a:latin typeface=" Arial"/>
                <a:cs typeface="Arial" panose="020B0604020202020204" pitchFamily="34" charset="0"/>
              </a:rPr>
              <a:t>:  </a:t>
            </a:r>
            <a:r>
              <a:rPr lang="en-US" dirty="0" smtClean="0">
                <a:solidFill>
                  <a:prstClr val="black"/>
                </a:solidFill>
                <a:latin typeface=" Arial"/>
                <a:cs typeface="Arial" panose="020B0604020202020204" pitchFamily="34" charset="0"/>
              </a:rPr>
              <a:t>Blast Pelvic Protector (BPP)</a:t>
            </a:r>
            <a:endParaRPr lang="en-US" dirty="0">
              <a:solidFill>
                <a:prstClr val="black"/>
              </a:solidFill>
              <a:latin typeface=" Arial"/>
              <a:cs typeface="Arial" panose="020B0604020202020204" pitchFamily="34" charset="0"/>
            </a:endParaRPr>
          </a:p>
          <a:p>
            <a:pPr>
              <a:defRPr/>
            </a:pPr>
            <a:r>
              <a:rPr lang="en-US" u="sng" dirty="0">
                <a:solidFill>
                  <a:prstClr val="black"/>
                </a:solidFill>
                <a:latin typeface=" Arial"/>
                <a:cs typeface="Arial" panose="020B0604020202020204" pitchFamily="34" charset="0"/>
              </a:rPr>
              <a:t>Project </a:t>
            </a:r>
            <a:r>
              <a:rPr lang="en-US" u="sng" dirty="0" smtClean="0">
                <a:solidFill>
                  <a:prstClr val="black"/>
                </a:solidFill>
                <a:latin typeface=" Arial"/>
                <a:cs typeface="Arial" panose="020B0604020202020204" pitchFamily="34" charset="0"/>
              </a:rPr>
              <a:t>Summary</a:t>
            </a:r>
            <a:r>
              <a:rPr lang="en-US" dirty="0" smtClean="0">
                <a:solidFill>
                  <a:prstClr val="black"/>
                </a:solidFill>
                <a:latin typeface=" Arial"/>
                <a:cs typeface="Arial" panose="020B0604020202020204" pitchFamily="34" charset="0"/>
              </a:rPr>
              <a:t>:  </a:t>
            </a:r>
            <a:r>
              <a:rPr lang="en-US" dirty="0" smtClean="0">
                <a:solidFill>
                  <a:prstClr val="black"/>
                </a:solidFill>
                <a:latin typeface=" Arial"/>
              </a:rPr>
              <a:t>The BPP </a:t>
            </a:r>
            <a:r>
              <a:rPr lang="en-US" dirty="0">
                <a:solidFill>
                  <a:prstClr val="black"/>
                </a:solidFill>
                <a:latin typeface=" Arial"/>
              </a:rPr>
              <a:t>is part of the Soldier Protection System Torso and Extremity Protection (SPS TEP</a:t>
            </a:r>
            <a:r>
              <a:rPr lang="en-US" dirty="0" smtClean="0">
                <a:solidFill>
                  <a:prstClr val="black"/>
                </a:solidFill>
                <a:latin typeface=" Arial"/>
              </a:rPr>
              <a:t>), designed as a blast harness worn over the Flame Resistance Army Combat Uniform and affords protection to the Soldier’s pelvic region, femoral arteries, inner thigh, and lower abdominal organs in a blast or fragmentation event by reducing penetration of large threats and debris.</a:t>
            </a:r>
            <a:r>
              <a:rPr lang="en-US" dirty="0" smtClean="0">
                <a:latin typeface=" Arial"/>
              </a:rPr>
              <a:t> </a:t>
            </a:r>
            <a:endParaRPr lang="en-US" dirty="0">
              <a:solidFill>
                <a:prstClr val="black"/>
              </a:solidFill>
              <a:latin typeface=" Arial"/>
              <a:cs typeface="Arial" panose="020B0604020202020204" pitchFamily="34" charset="0"/>
            </a:endParaRPr>
          </a:p>
          <a:p>
            <a:pPr>
              <a:defRPr/>
            </a:pPr>
            <a:endParaRPr lang="en-US" u="sng" dirty="0">
              <a:solidFill>
                <a:prstClr val="black"/>
              </a:solidFill>
              <a:latin typeface=" Arial"/>
              <a:cs typeface="Arial" panose="020B0604020202020204" pitchFamily="34" charset="0"/>
            </a:endParaRPr>
          </a:p>
          <a:p>
            <a:pPr>
              <a:defRPr/>
            </a:pPr>
            <a:r>
              <a:rPr lang="en-US" u="sng" dirty="0">
                <a:solidFill>
                  <a:prstClr val="black"/>
                </a:solidFill>
                <a:latin typeface=" Arial"/>
                <a:cs typeface="Arial" panose="020B0604020202020204" pitchFamily="34" charset="0"/>
              </a:rPr>
              <a:t>Prior/Current Contract Information:</a:t>
            </a:r>
          </a:p>
          <a:p>
            <a:pPr>
              <a:defRPr/>
            </a:pPr>
            <a:r>
              <a:rPr lang="en-US" dirty="0">
                <a:solidFill>
                  <a:prstClr val="black"/>
                </a:solidFill>
                <a:latin typeface=" Arial"/>
                <a:cs typeface="Arial" panose="020B0604020202020204" pitchFamily="34" charset="0"/>
              </a:rPr>
              <a:t>	Contract Number:  </a:t>
            </a:r>
            <a:r>
              <a:rPr lang="en-US" dirty="0" smtClean="0">
                <a:solidFill>
                  <a:prstClr val="black"/>
                </a:solidFill>
                <a:latin typeface=" Arial"/>
                <a:cs typeface="Arial" panose="020B0604020202020204" pitchFamily="34" charset="0"/>
              </a:rPr>
              <a:t>W91CRB-15-D-0032/W91CRB-15-D-0033/</a:t>
            </a:r>
          </a:p>
          <a:p>
            <a:pPr>
              <a:defRPr/>
            </a:pPr>
            <a:r>
              <a:rPr lang="en-US" dirty="0">
                <a:solidFill>
                  <a:prstClr val="black"/>
                </a:solidFill>
                <a:latin typeface=" Arial"/>
                <a:cs typeface="Arial" panose="020B0604020202020204" pitchFamily="34" charset="0"/>
              </a:rPr>
              <a:t>	</a:t>
            </a:r>
            <a:r>
              <a:rPr lang="en-US" dirty="0" smtClean="0">
                <a:solidFill>
                  <a:prstClr val="black"/>
                </a:solidFill>
                <a:latin typeface=" Arial"/>
                <a:cs typeface="Arial" panose="020B0604020202020204" pitchFamily="34" charset="0"/>
              </a:rPr>
              <a:t>W91CRB-15-D-0034 </a:t>
            </a:r>
            <a:endParaRPr lang="en-US" dirty="0">
              <a:solidFill>
                <a:prstClr val="black"/>
              </a:solidFill>
              <a:latin typeface=" Arial"/>
              <a:cs typeface="Arial" panose="020B0604020202020204" pitchFamily="34" charset="0"/>
            </a:endParaRPr>
          </a:p>
          <a:p>
            <a:pPr>
              <a:defRPr/>
            </a:pPr>
            <a:r>
              <a:rPr lang="en-US" dirty="0">
                <a:solidFill>
                  <a:prstClr val="black"/>
                </a:solidFill>
                <a:latin typeface=" Arial"/>
                <a:cs typeface="Arial" panose="020B0604020202020204" pitchFamily="34" charset="0"/>
              </a:rPr>
              <a:t>	Incumbent </a:t>
            </a:r>
            <a:r>
              <a:rPr lang="en-US" dirty="0" smtClean="0">
                <a:solidFill>
                  <a:prstClr val="black"/>
                </a:solidFill>
                <a:latin typeface=" Arial"/>
                <a:cs typeface="Arial" panose="020B0604020202020204" pitchFamily="34" charset="0"/>
              </a:rPr>
              <a:t>Contractors: KDH Defense Systems; Hawk Protection; Bethel 	Industries </a:t>
            </a:r>
            <a:endParaRPr lang="en-US" dirty="0">
              <a:solidFill>
                <a:prstClr val="black"/>
              </a:solidFill>
              <a:latin typeface=" Arial"/>
              <a:cs typeface="Arial" panose="020B0604020202020204" pitchFamily="34" charset="0"/>
            </a:endParaRPr>
          </a:p>
          <a:p>
            <a:pPr>
              <a:defRPr/>
            </a:pPr>
            <a:endParaRPr lang="en-US" dirty="0">
              <a:solidFill>
                <a:prstClr val="black"/>
              </a:solidFill>
              <a:latin typeface=" Arial"/>
              <a:cs typeface="Arial" panose="020B0604020202020204" pitchFamily="34" charset="0"/>
            </a:endParaRPr>
          </a:p>
          <a:p>
            <a:pPr>
              <a:defRPr/>
            </a:pPr>
            <a:r>
              <a:rPr lang="en-US" u="sng" dirty="0">
                <a:solidFill>
                  <a:prstClr val="black"/>
                </a:solidFill>
                <a:latin typeface=" Arial"/>
                <a:cs typeface="Arial" panose="020B0604020202020204" pitchFamily="34" charset="0"/>
              </a:rPr>
              <a:t>Contract Type:</a:t>
            </a:r>
            <a:r>
              <a:rPr lang="en-US" dirty="0">
                <a:solidFill>
                  <a:prstClr val="black"/>
                </a:solidFill>
                <a:latin typeface=" Arial"/>
                <a:cs typeface="Arial" panose="020B0604020202020204" pitchFamily="34" charset="0"/>
              </a:rPr>
              <a:t> Delivery orders will be FFP </a:t>
            </a:r>
          </a:p>
          <a:p>
            <a:pPr>
              <a:defRPr/>
            </a:pPr>
            <a:r>
              <a:rPr lang="en-US" u="sng" dirty="0" smtClean="0">
                <a:solidFill>
                  <a:prstClr val="black"/>
                </a:solidFill>
                <a:latin typeface=" Arial"/>
                <a:cs typeface="Arial" panose="020B0604020202020204" pitchFamily="34" charset="0"/>
              </a:rPr>
              <a:t>ROM</a:t>
            </a:r>
            <a:r>
              <a:rPr lang="en-US" dirty="0" smtClean="0">
                <a:solidFill>
                  <a:prstClr val="black"/>
                </a:solidFill>
                <a:latin typeface=" Arial"/>
                <a:cs typeface="Arial" panose="020B0604020202020204" pitchFamily="34" charset="0"/>
              </a:rPr>
              <a:t>: $TBD</a:t>
            </a:r>
            <a:endParaRPr lang="en-US" dirty="0">
              <a:latin typeface=" Arial"/>
              <a:cs typeface="Arial" panose="020B0604020202020204" pitchFamily="34" charset="0"/>
            </a:endParaRPr>
          </a:p>
          <a:p>
            <a:pPr>
              <a:defRPr/>
            </a:pPr>
            <a:r>
              <a:rPr lang="en-US" u="sng" dirty="0">
                <a:solidFill>
                  <a:prstClr val="black"/>
                </a:solidFill>
                <a:latin typeface=" Arial"/>
                <a:cs typeface="Arial" panose="020B0604020202020204" pitchFamily="34" charset="0"/>
              </a:rPr>
              <a:t>Period of Performance:</a:t>
            </a:r>
            <a:r>
              <a:rPr lang="en-US" dirty="0">
                <a:solidFill>
                  <a:prstClr val="black"/>
                </a:solidFill>
                <a:latin typeface=" Arial"/>
                <a:cs typeface="Arial" panose="020B0604020202020204" pitchFamily="34" charset="0"/>
              </a:rPr>
              <a:t> 5 year ordering period with options</a:t>
            </a:r>
          </a:p>
          <a:p>
            <a:pPr>
              <a:defRPr/>
            </a:pPr>
            <a:r>
              <a:rPr lang="en-US" u="sng" dirty="0">
                <a:solidFill>
                  <a:prstClr val="black"/>
                </a:solidFill>
                <a:latin typeface=" Arial"/>
                <a:cs typeface="Arial" panose="020B0604020202020204" pitchFamily="34" charset="0"/>
              </a:rPr>
              <a:t>Estimated Solicitation Release Date:</a:t>
            </a:r>
            <a:r>
              <a:rPr lang="en-US" dirty="0">
                <a:solidFill>
                  <a:prstClr val="black"/>
                </a:solidFill>
                <a:latin typeface=" Arial"/>
                <a:cs typeface="Arial" panose="020B0604020202020204" pitchFamily="34" charset="0"/>
              </a:rPr>
              <a:t> 4</a:t>
            </a:r>
            <a:r>
              <a:rPr lang="en-US" dirty="0" smtClean="0">
                <a:solidFill>
                  <a:prstClr val="black"/>
                </a:solidFill>
                <a:latin typeface=" Arial"/>
                <a:cs typeface="Arial" panose="020B0604020202020204" pitchFamily="34" charset="0"/>
              </a:rPr>
              <a:t>QFY20</a:t>
            </a:r>
            <a:endParaRPr lang="en-US" dirty="0">
              <a:solidFill>
                <a:srgbClr val="FF0000"/>
              </a:solidFill>
              <a:latin typeface=" Arial"/>
              <a:cs typeface="Arial" panose="020B0604020202020204" pitchFamily="34" charset="0"/>
            </a:endParaRPr>
          </a:p>
          <a:p>
            <a:pPr>
              <a:defRPr/>
            </a:pPr>
            <a:r>
              <a:rPr lang="en-US" u="sng" dirty="0">
                <a:solidFill>
                  <a:prstClr val="black"/>
                </a:solidFill>
                <a:latin typeface=" Arial"/>
                <a:cs typeface="Arial" panose="020B0604020202020204" pitchFamily="34" charset="0"/>
              </a:rPr>
              <a:t>Contracting Contact:</a:t>
            </a:r>
            <a:r>
              <a:rPr lang="en-US" dirty="0">
                <a:solidFill>
                  <a:prstClr val="black"/>
                </a:solidFill>
                <a:latin typeface=" Arial"/>
                <a:cs typeface="Arial" panose="020B0604020202020204" pitchFamily="34" charset="0"/>
              </a:rPr>
              <a:t> ACC-APG, Lisa Yamakawa</a:t>
            </a:r>
            <a:r>
              <a:rPr lang="en-US" dirty="0" smtClean="0">
                <a:solidFill>
                  <a:prstClr val="black"/>
                </a:solidFill>
                <a:latin typeface=" Arial"/>
                <a:cs typeface="Arial" panose="020B0604020202020204" pitchFamily="34" charset="0"/>
              </a:rPr>
              <a:t>, KO, </a:t>
            </a:r>
            <a:r>
              <a:rPr lang="en-US" dirty="0">
                <a:solidFill>
                  <a:prstClr val="black"/>
                </a:solidFill>
                <a:latin typeface=" Arial"/>
                <a:cs typeface="Arial" panose="020B0604020202020204" pitchFamily="34" charset="0"/>
                <a:hlinkClick r:id="rId2"/>
              </a:rPr>
              <a:t>lisa.j.yamakawa.civ@mail.mil </a:t>
            </a:r>
            <a:r>
              <a:rPr lang="en-US" b="1" dirty="0" smtClean="0">
                <a:solidFill>
                  <a:prstClr val="black"/>
                </a:solidFill>
                <a:latin typeface=" Arial"/>
              </a:rPr>
              <a:t>*Subject to Cancellation</a:t>
            </a:r>
            <a:endParaRPr lang="en-US" b="1" dirty="0">
              <a:solidFill>
                <a:prstClr val="black"/>
              </a:solidFill>
              <a:latin typeface=" Arial"/>
            </a:endParaRPr>
          </a:p>
        </p:txBody>
      </p:sp>
    </p:spTree>
    <p:extLst>
      <p:ext uri="{BB962C8B-B14F-4D97-AF65-F5344CB8AC3E}">
        <p14:creationId xmlns:p14="http://schemas.microsoft.com/office/powerpoint/2010/main" val="392699938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prstClr val="white"/>
                </a:solidFill>
                <a:latin typeface=" Arial"/>
              </a:rPr>
              <a:t>PEO Soldier</a:t>
            </a: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14</a:t>
            </a:fld>
            <a:endParaRPr lang="en-US" sz="1000" dirty="0">
              <a:solidFill>
                <a:prstClr val="white"/>
              </a:solidFill>
            </a:endParaRPr>
          </a:p>
        </p:txBody>
      </p:sp>
      <p:sp>
        <p:nvSpPr>
          <p:cNvPr id="8" name="TextBox 8"/>
          <p:cNvSpPr txBox="1">
            <a:spLocks noChangeArrowheads="1"/>
          </p:cNvSpPr>
          <p:nvPr/>
        </p:nvSpPr>
        <p:spPr bwMode="auto">
          <a:xfrm>
            <a:off x="0" y="1066800"/>
            <a:ext cx="9144000" cy="5355312"/>
          </a:xfrm>
          <a:prstGeom prst="rect">
            <a:avLst/>
          </a:prstGeom>
          <a:noFill/>
          <a:ln w="9525">
            <a:noFill/>
            <a:miter lim="800000"/>
            <a:headEnd/>
            <a:tailEnd/>
          </a:ln>
        </p:spPr>
        <p:txBody>
          <a:bodyPr wrap="square">
            <a:spAutoFit/>
          </a:bodyPr>
          <a:lstStyle/>
          <a:p>
            <a:pPr>
              <a:defRPr/>
            </a:pPr>
            <a:r>
              <a:rPr lang="en-US" u="sng" dirty="0">
                <a:solidFill>
                  <a:prstClr val="black"/>
                </a:solidFill>
                <a:latin typeface=" Arial"/>
                <a:cs typeface="Arial" panose="020B0604020202020204" pitchFamily="34" charset="0"/>
              </a:rPr>
              <a:t>Project Title</a:t>
            </a:r>
            <a:r>
              <a:rPr lang="en-US" dirty="0">
                <a:solidFill>
                  <a:prstClr val="black"/>
                </a:solidFill>
                <a:latin typeface=" Arial"/>
                <a:cs typeface="Arial" panose="020B0604020202020204" pitchFamily="34" charset="0"/>
              </a:rPr>
              <a:t>:  </a:t>
            </a:r>
            <a:r>
              <a:rPr lang="en-US" dirty="0" smtClean="0">
                <a:solidFill>
                  <a:prstClr val="black"/>
                </a:solidFill>
                <a:latin typeface=" Arial"/>
                <a:cs typeface="Arial" panose="020B0604020202020204" pitchFamily="34" charset="0"/>
              </a:rPr>
              <a:t>Ballistic Combat Shirt (BCS)</a:t>
            </a:r>
            <a:endParaRPr lang="en-US" dirty="0">
              <a:solidFill>
                <a:prstClr val="black"/>
              </a:solidFill>
              <a:latin typeface=" Arial"/>
              <a:cs typeface="Arial" panose="020B0604020202020204" pitchFamily="34" charset="0"/>
            </a:endParaRPr>
          </a:p>
          <a:p>
            <a:pPr>
              <a:defRPr/>
            </a:pPr>
            <a:r>
              <a:rPr lang="en-US" u="sng" dirty="0">
                <a:solidFill>
                  <a:prstClr val="black"/>
                </a:solidFill>
                <a:latin typeface=" Arial"/>
                <a:cs typeface="Arial" panose="020B0604020202020204" pitchFamily="34" charset="0"/>
              </a:rPr>
              <a:t>Project </a:t>
            </a:r>
            <a:r>
              <a:rPr lang="en-US" u="sng" dirty="0" smtClean="0">
                <a:solidFill>
                  <a:prstClr val="black"/>
                </a:solidFill>
                <a:latin typeface=" Arial"/>
                <a:cs typeface="Arial" panose="020B0604020202020204" pitchFamily="34" charset="0"/>
              </a:rPr>
              <a:t>Summary</a:t>
            </a:r>
            <a:r>
              <a:rPr lang="en-US" dirty="0" smtClean="0">
                <a:solidFill>
                  <a:prstClr val="black"/>
                </a:solidFill>
                <a:latin typeface=" Arial"/>
                <a:cs typeface="Arial" panose="020B0604020202020204" pitchFamily="34" charset="0"/>
              </a:rPr>
              <a:t>:  </a:t>
            </a:r>
            <a:r>
              <a:rPr lang="en-US" dirty="0" smtClean="0">
                <a:solidFill>
                  <a:prstClr val="black"/>
                </a:solidFill>
                <a:latin typeface=" Arial"/>
              </a:rPr>
              <a:t>The BPP </a:t>
            </a:r>
            <a:r>
              <a:rPr lang="en-US" dirty="0">
                <a:solidFill>
                  <a:prstClr val="black"/>
                </a:solidFill>
                <a:latin typeface=" Arial"/>
              </a:rPr>
              <a:t>is part of the Soldier Protection System Torso and Extremity Protection (SPS TEP</a:t>
            </a:r>
            <a:r>
              <a:rPr lang="en-US" dirty="0" smtClean="0">
                <a:solidFill>
                  <a:prstClr val="black"/>
                </a:solidFill>
                <a:latin typeface=" Arial"/>
              </a:rPr>
              <a:t>), designed to function as an armored Army Combat Shirt (ACS).  The non-ballistic materials used in the torso and sleeves are equal to the ACS in weight and functional characteristics, to include flame resistance and moisture wicking.  The deltoid and upper thoracic portions of the BCS contain soft armor that provides protection from fragmenting munitions as well as handgun threats.</a:t>
            </a:r>
            <a:endParaRPr lang="en-US" u="sng" dirty="0">
              <a:solidFill>
                <a:prstClr val="black"/>
              </a:solidFill>
              <a:latin typeface=" Arial"/>
              <a:cs typeface="Arial" panose="020B0604020202020204" pitchFamily="34" charset="0"/>
            </a:endParaRPr>
          </a:p>
          <a:p>
            <a:pPr>
              <a:defRPr/>
            </a:pPr>
            <a:r>
              <a:rPr lang="en-US" u="sng" dirty="0">
                <a:solidFill>
                  <a:prstClr val="black"/>
                </a:solidFill>
                <a:latin typeface=" Arial"/>
                <a:cs typeface="Arial" panose="020B0604020202020204" pitchFamily="34" charset="0"/>
              </a:rPr>
              <a:t>Prior/Current Contract Information:</a:t>
            </a:r>
          </a:p>
          <a:p>
            <a:pPr>
              <a:defRPr/>
            </a:pPr>
            <a:r>
              <a:rPr lang="en-US" dirty="0">
                <a:solidFill>
                  <a:prstClr val="black"/>
                </a:solidFill>
                <a:latin typeface=" Arial"/>
                <a:cs typeface="Arial" panose="020B0604020202020204" pitchFamily="34" charset="0"/>
              </a:rPr>
              <a:t>	Contract Number:  </a:t>
            </a:r>
            <a:r>
              <a:rPr lang="en-US" dirty="0" smtClean="0">
                <a:solidFill>
                  <a:prstClr val="black"/>
                </a:solidFill>
                <a:latin typeface=" Arial"/>
                <a:cs typeface="Arial" panose="020B0604020202020204" pitchFamily="34" charset="0"/>
              </a:rPr>
              <a:t>W91CRB-15-D-0025/W91CRB-15-D-0026/</a:t>
            </a:r>
          </a:p>
          <a:p>
            <a:pPr>
              <a:defRPr/>
            </a:pPr>
            <a:r>
              <a:rPr lang="en-US" dirty="0">
                <a:solidFill>
                  <a:prstClr val="black"/>
                </a:solidFill>
                <a:latin typeface=" Arial"/>
                <a:cs typeface="Arial" panose="020B0604020202020204" pitchFamily="34" charset="0"/>
              </a:rPr>
              <a:t>	</a:t>
            </a:r>
            <a:r>
              <a:rPr lang="en-US" dirty="0" smtClean="0">
                <a:solidFill>
                  <a:prstClr val="black"/>
                </a:solidFill>
                <a:latin typeface=" Arial"/>
                <a:cs typeface="Arial" panose="020B0604020202020204" pitchFamily="34" charset="0"/>
              </a:rPr>
              <a:t>W91CRB-16-D-0019 </a:t>
            </a:r>
            <a:endParaRPr lang="en-US" dirty="0">
              <a:solidFill>
                <a:prstClr val="black"/>
              </a:solidFill>
              <a:latin typeface=" Arial"/>
              <a:cs typeface="Arial" panose="020B0604020202020204" pitchFamily="34" charset="0"/>
            </a:endParaRPr>
          </a:p>
          <a:p>
            <a:pPr>
              <a:defRPr/>
            </a:pPr>
            <a:r>
              <a:rPr lang="en-US" dirty="0">
                <a:solidFill>
                  <a:prstClr val="black"/>
                </a:solidFill>
                <a:latin typeface=" Arial"/>
                <a:cs typeface="Arial" panose="020B0604020202020204" pitchFamily="34" charset="0"/>
              </a:rPr>
              <a:t>	Incumbent </a:t>
            </a:r>
            <a:r>
              <a:rPr lang="en-US" dirty="0" smtClean="0">
                <a:solidFill>
                  <a:prstClr val="black"/>
                </a:solidFill>
                <a:latin typeface=" Arial"/>
                <a:cs typeface="Arial" panose="020B0604020202020204" pitchFamily="34" charset="0"/>
              </a:rPr>
              <a:t>Contractors: Point Blank Protective Apparel &amp; Uniform; Carter 	Enterprises; Eagle Industries</a:t>
            </a:r>
            <a:endParaRPr lang="en-US" dirty="0">
              <a:solidFill>
                <a:prstClr val="black"/>
              </a:solidFill>
              <a:latin typeface=" Arial"/>
              <a:cs typeface="Arial" panose="020B0604020202020204" pitchFamily="34" charset="0"/>
            </a:endParaRPr>
          </a:p>
          <a:p>
            <a:pPr>
              <a:defRPr/>
            </a:pPr>
            <a:endParaRPr lang="en-US" u="sng" dirty="0" smtClean="0">
              <a:solidFill>
                <a:prstClr val="black"/>
              </a:solidFill>
              <a:latin typeface=" Arial"/>
              <a:cs typeface="Arial" panose="020B0604020202020204" pitchFamily="34" charset="0"/>
            </a:endParaRPr>
          </a:p>
          <a:p>
            <a:pPr>
              <a:defRPr/>
            </a:pPr>
            <a:r>
              <a:rPr lang="en-US" u="sng" dirty="0" smtClean="0">
                <a:solidFill>
                  <a:prstClr val="black"/>
                </a:solidFill>
                <a:latin typeface=" Arial"/>
                <a:cs typeface="Arial" panose="020B0604020202020204" pitchFamily="34" charset="0"/>
              </a:rPr>
              <a:t>Contract </a:t>
            </a:r>
            <a:r>
              <a:rPr lang="en-US" u="sng" dirty="0">
                <a:solidFill>
                  <a:prstClr val="black"/>
                </a:solidFill>
                <a:latin typeface=" Arial"/>
                <a:cs typeface="Arial" panose="020B0604020202020204" pitchFamily="34" charset="0"/>
              </a:rPr>
              <a:t>Type:</a:t>
            </a:r>
            <a:r>
              <a:rPr lang="en-US" dirty="0">
                <a:solidFill>
                  <a:prstClr val="black"/>
                </a:solidFill>
                <a:latin typeface=" Arial"/>
                <a:cs typeface="Arial" panose="020B0604020202020204" pitchFamily="34" charset="0"/>
              </a:rPr>
              <a:t> Delivery orders will be FFP </a:t>
            </a:r>
          </a:p>
          <a:p>
            <a:pPr>
              <a:defRPr/>
            </a:pPr>
            <a:r>
              <a:rPr lang="en-US" u="sng" dirty="0">
                <a:solidFill>
                  <a:prstClr val="black"/>
                </a:solidFill>
                <a:latin typeface=" Arial"/>
                <a:cs typeface="Arial" panose="020B0604020202020204" pitchFamily="34" charset="0"/>
              </a:rPr>
              <a:t>ROM</a:t>
            </a:r>
            <a:r>
              <a:rPr lang="en-US" dirty="0">
                <a:solidFill>
                  <a:prstClr val="black"/>
                </a:solidFill>
                <a:latin typeface=" Arial"/>
                <a:cs typeface="Arial" panose="020B0604020202020204" pitchFamily="34" charset="0"/>
              </a:rPr>
              <a:t>: $600M</a:t>
            </a:r>
            <a:endParaRPr lang="en-US" dirty="0">
              <a:latin typeface=" Arial"/>
              <a:cs typeface="Arial" panose="020B0604020202020204" pitchFamily="34" charset="0"/>
            </a:endParaRPr>
          </a:p>
          <a:p>
            <a:pPr>
              <a:defRPr/>
            </a:pPr>
            <a:r>
              <a:rPr lang="en-US" u="sng" dirty="0">
                <a:solidFill>
                  <a:prstClr val="black"/>
                </a:solidFill>
                <a:latin typeface=" Arial"/>
                <a:cs typeface="Arial" panose="020B0604020202020204" pitchFamily="34" charset="0"/>
              </a:rPr>
              <a:t>Period of Performance:</a:t>
            </a:r>
            <a:r>
              <a:rPr lang="en-US" dirty="0">
                <a:solidFill>
                  <a:prstClr val="black"/>
                </a:solidFill>
                <a:latin typeface=" Arial"/>
                <a:cs typeface="Arial" panose="020B0604020202020204" pitchFamily="34" charset="0"/>
              </a:rPr>
              <a:t> 5 year ordering period with options</a:t>
            </a:r>
          </a:p>
          <a:p>
            <a:pPr>
              <a:defRPr/>
            </a:pPr>
            <a:r>
              <a:rPr lang="en-US" u="sng" dirty="0">
                <a:solidFill>
                  <a:prstClr val="black"/>
                </a:solidFill>
                <a:latin typeface=" Arial"/>
                <a:cs typeface="Arial" panose="020B0604020202020204" pitchFamily="34" charset="0"/>
              </a:rPr>
              <a:t>Estimated Solicitation Release Date:</a:t>
            </a:r>
            <a:r>
              <a:rPr lang="en-US" dirty="0">
                <a:solidFill>
                  <a:prstClr val="black"/>
                </a:solidFill>
                <a:latin typeface=" Arial"/>
                <a:cs typeface="Arial" panose="020B0604020202020204" pitchFamily="34" charset="0"/>
              </a:rPr>
              <a:t> 3</a:t>
            </a:r>
            <a:r>
              <a:rPr lang="en-US" dirty="0" smtClean="0">
                <a:solidFill>
                  <a:prstClr val="black"/>
                </a:solidFill>
                <a:latin typeface=" Arial"/>
                <a:cs typeface="Arial" panose="020B0604020202020204" pitchFamily="34" charset="0"/>
              </a:rPr>
              <a:t>QFY20</a:t>
            </a:r>
            <a:endParaRPr lang="en-US" dirty="0">
              <a:solidFill>
                <a:srgbClr val="FF0000"/>
              </a:solidFill>
              <a:latin typeface=" Arial"/>
              <a:cs typeface="Arial" panose="020B0604020202020204" pitchFamily="34" charset="0"/>
            </a:endParaRPr>
          </a:p>
          <a:p>
            <a:pPr>
              <a:defRPr/>
            </a:pPr>
            <a:r>
              <a:rPr lang="en-US" u="sng" dirty="0">
                <a:solidFill>
                  <a:prstClr val="black"/>
                </a:solidFill>
                <a:latin typeface=" Arial"/>
                <a:cs typeface="Arial" panose="020B0604020202020204" pitchFamily="34" charset="0"/>
              </a:rPr>
              <a:t>Contracting Contact:</a:t>
            </a:r>
            <a:r>
              <a:rPr lang="en-US" dirty="0">
                <a:solidFill>
                  <a:prstClr val="black"/>
                </a:solidFill>
                <a:latin typeface=" Arial"/>
                <a:cs typeface="Arial" panose="020B0604020202020204" pitchFamily="34" charset="0"/>
              </a:rPr>
              <a:t> ACC-APG, </a:t>
            </a:r>
            <a:r>
              <a:rPr lang="en-US" dirty="0">
                <a:solidFill>
                  <a:prstClr val="black"/>
                </a:solidFill>
                <a:latin typeface=" Arial"/>
              </a:rPr>
              <a:t>Terri </a:t>
            </a:r>
            <a:r>
              <a:rPr lang="en-US" dirty="0" smtClean="0">
                <a:solidFill>
                  <a:prstClr val="black"/>
                </a:solidFill>
                <a:latin typeface=" Arial"/>
                <a:cs typeface="Arial" panose="020B0604020202020204" pitchFamily="34" charset="0"/>
              </a:rPr>
              <a:t>Quick, KO, </a:t>
            </a:r>
            <a:r>
              <a:rPr lang="en-US" dirty="0" smtClean="0">
                <a:solidFill>
                  <a:prstClr val="black"/>
                </a:solidFill>
                <a:latin typeface=" Arial"/>
                <a:cs typeface="Arial" panose="020B0604020202020204" pitchFamily="34" charset="0"/>
                <a:hlinkClick r:id="rId2"/>
              </a:rPr>
              <a:t>theresa.s.quick.civ@mail.mil</a:t>
            </a:r>
            <a:r>
              <a:rPr lang="en-US" dirty="0" smtClean="0">
                <a:solidFill>
                  <a:prstClr val="black"/>
                </a:solidFill>
                <a:latin typeface=" Arial"/>
                <a:cs typeface="Arial" panose="020B0604020202020204" pitchFamily="34" charset="0"/>
              </a:rPr>
              <a:t> </a:t>
            </a:r>
            <a:endParaRPr lang="en-US" dirty="0">
              <a:solidFill>
                <a:prstClr val="black"/>
              </a:solidFill>
              <a:latin typeface=" Arial"/>
              <a:cs typeface="Arial" panose="020B0604020202020204" pitchFamily="34" charset="0"/>
            </a:endParaRPr>
          </a:p>
          <a:p>
            <a:pPr>
              <a:defRPr/>
            </a:pPr>
            <a:r>
              <a:rPr lang="en-US" b="1" dirty="0" smtClean="0">
                <a:solidFill>
                  <a:prstClr val="black"/>
                </a:solidFill>
                <a:latin typeface=" Arial"/>
              </a:rPr>
              <a:t>*Subject to Cancellation</a:t>
            </a:r>
            <a:endParaRPr lang="en-US" b="1" dirty="0">
              <a:solidFill>
                <a:prstClr val="black"/>
              </a:solidFill>
              <a:latin typeface=" Arial"/>
            </a:endParaRPr>
          </a:p>
        </p:txBody>
      </p:sp>
    </p:spTree>
    <p:extLst>
      <p:ext uri="{BB962C8B-B14F-4D97-AF65-F5344CB8AC3E}">
        <p14:creationId xmlns:p14="http://schemas.microsoft.com/office/powerpoint/2010/main" val="300674907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prstClr val="white"/>
                </a:solidFill>
                <a:latin typeface=" Arial"/>
              </a:rPr>
              <a:t>PEO Soldier</a:t>
            </a: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15</a:t>
            </a:fld>
            <a:endParaRPr lang="en-US" sz="1000" dirty="0">
              <a:solidFill>
                <a:prstClr val="white"/>
              </a:solidFill>
            </a:endParaRPr>
          </a:p>
        </p:txBody>
      </p:sp>
      <p:sp>
        <p:nvSpPr>
          <p:cNvPr id="8" name="TextBox 8"/>
          <p:cNvSpPr txBox="1">
            <a:spLocks noChangeArrowheads="1"/>
          </p:cNvSpPr>
          <p:nvPr/>
        </p:nvSpPr>
        <p:spPr bwMode="auto">
          <a:xfrm>
            <a:off x="0" y="1066800"/>
            <a:ext cx="9144000" cy="4955203"/>
          </a:xfrm>
          <a:prstGeom prst="rect">
            <a:avLst/>
          </a:prstGeom>
          <a:noFill/>
          <a:ln w="9525">
            <a:noFill/>
            <a:miter lim="800000"/>
            <a:headEnd/>
            <a:tailEnd/>
          </a:ln>
        </p:spPr>
        <p:txBody>
          <a:bodyPr wrap="square">
            <a:spAutoFit/>
          </a:bodyPr>
          <a:lstStyle/>
          <a:p>
            <a:pPr>
              <a:defRPr/>
            </a:pPr>
            <a:r>
              <a:rPr lang="en-US" u="sng" dirty="0" smtClean="0">
                <a:solidFill>
                  <a:prstClr val="black"/>
                </a:solidFill>
                <a:latin typeface=" Arial"/>
              </a:rPr>
              <a:t>Project Title</a:t>
            </a:r>
            <a:r>
              <a:rPr lang="en-US" dirty="0" smtClean="0">
                <a:solidFill>
                  <a:prstClr val="black"/>
                </a:solidFill>
                <a:latin typeface=" Arial"/>
              </a:rPr>
              <a:t>:  Next Generation Integrated Head Protection System (NG IHPS)</a:t>
            </a:r>
          </a:p>
          <a:p>
            <a:pPr>
              <a:defRPr/>
            </a:pPr>
            <a:r>
              <a:rPr lang="en-US" u="sng" dirty="0" smtClean="0">
                <a:solidFill>
                  <a:prstClr val="black"/>
                </a:solidFill>
                <a:latin typeface=" Arial"/>
              </a:rPr>
              <a:t>Project </a:t>
            </a:r>
            <a:r>
              <a:rPr lang="en-US" u="sng" dirty="0">
                <a:solidFill>
                  <a:prstClr val="black"/>
                </a:solidFill>
                <a:latin typeface=" Arial"/>
              </a:rPr>
              <a:t>Summary</a:t>
            </a:r>
            <a:r>
              <a:rPr lang="en-US" u="sng" dirty="0" smtClean="0">
                <a:solidFill>
                  <a:prstClr val="black"/>
                </a:solidFill>
                <a:latin typeface=" Arial"/>
              </a:rPr>
              <a:t>: </a:t>
            </a:r>
            <a:r>
              <a:rPr lang="en-US" dirty="0">
                <a:solidFill>
                  <a:prstClr val="black"/>
                </a:solidFill>
                <a:latin typeface=" Arial"/>
              </a:rPr>
              <a:t>The NG IHPS will transition from IHPS LRIP by incorporating Polyethylene (PE) Film technology meeting the Threat P protection level without the use of the current attached Ballistic Applique. </a:t>
            </a:r>
            <a:endParaRPr lang="en-US" dirty="0" smtClean="0">
              <a:solidFill>
                <a:prstClr val="black"/>
              </a:solidFill>
              <a:latin typeface=" Arial"/>
            </a:endParaRPr>
          </a:p>
          <a:p>
            <a:pPr>
              <a:defRPr/>
            </a:pPr>
            <a:endParaRPr lang="en-US" u="sng" dirty="0" smtClean="0">
              <a:solidFill>
                <a:prstClr val="black"/>
              </a:solidFill>
              <a:latin typeface=" Arial"/>
            </a:endParaRPr>
          </a:p>
          <a:p>
            <a:pPr>
              <a:defRPr/>
            </a:pPr>
            <a:r>
              <a:rPr lang="en-US" u="sng" dirty="0">
                <a:solidFill>
                  <a:prstClr val="black"/>
                </a:solidFill>
                <a:latin typeface=" Arial"/>
              </a:rPr>
              <a:t>Prior/Current Contract Information</a:t>
            </a:r>
            <a:r>
              <a:rPr lang="en-US" u="sng" dirty="0" smtClean="0">
                <a:solidFill>
                  <a:prstClr val="black"/>
                </a:solidFill>
                <a:latin typeface=" Arial"/>
              </a:rPr>
              <a:t>:  IHPS LRIP</a:t>
            </a:r>
            <a:endParaRPr lang="en-US" u="sng" dirty="0">
              <a:solidFill>
                <a:prstClr val="black"/>
              </a:solidFill>
              <a:latin typeface=" Arial"/>
            </a:endParaRPr>
          </a:p>
          <a:p>
            <a:pPr>
              <a:defRPr/>
            </a:pPr>
            <a:r>
              <a:rPr lang="en-US" dirty="0" smtClean="0">
                <a:solidFill>
                  <a:prstClr val="black"/>
                </a:solidFill>
                <a:latin typeface=" Arial"/>
              </a:rPr>
              <a:t>	Contract Number:  W91CRB-14-C-0005</a:t>
            </a:r>
          </a:p>
          <a:p>
            <a:pPr>
              <a:defRPr/>
            </a:pPr>
            <a:r>
              <a:rPr lang="en-US" dirty="0" smtClean="0">
                <a:solidFill>
                  <a:prstClr val="black"/>
                </a:solidFill>
                <a:latin typeface=" Arial"/>
              </a:rPr>
              <a:t>	Incumbent Contractor: </a:t>
            </a:r>
            <a:r>
              <a:rPr lang="en-US" dirty="0" err="1" smtClean="0">
                <a:solidFill>
                  <a:prstClr val="black"/>
                </a:solidFill>
                <a:latin typeface=" Arial"/>
              </a:rPr>
              <a:t>Ceradyne</a:t>
            </a:r>
            <a:endParaRPr lang="en-US" dirty="0" smtClean="0">
              <a:solidFill>
                <a:prstClr val="black"/>
              </a:solidFill>
              <a:latin typeface=" Arial"/>
            </a:endParaRPr>
          </a:p>
          <a:p>
            <a:pPr>
              <a:defRPr/>
            </a:pPr>
            <a:endParaRPr lang="en-US" dirty="0" smtClean="0">
              <a:solidFill>
                <a:prstClr val="black"/>
              </a:solidFill>
              <a:latin typeface=" Arial"/>
            </a:endParaRPr>
          </a:p>
          <a:p>
            <a:pPr>
              <a:defRPr/>
            </a:pPr>
            <a:r>
              <a:rPr lang="en-US" u="sng" dirty="0">
                <a:solidFill>
                  <a:prstClr val="black"/>
                </a:solidFill>
                <a:latin typeface=" Arial"/>
              </a:rPr>
              <a:t>Contract </a:t>
            </a:r>
            <a:r>
              <a:rPr lang="en-US" u="sng" dirty="0" smtClean="0">
                <a:solidFill>
                  <a:prstClr val="black"/>
                </a:solidFill>
                <a:latin typeface=" Arial"/>
              </a:rPr>
              <a:t>Type</a:t>
            </a:r>
            <a:r>
              <a:rPr lang="en-US" dirty="0" smtClean="0">
                <a:solidFill>
                  <a:prstClr val="black"/>
                </a:solidFill>
                <a:latin typeface=" Arial"/>
              </a:rPr>
              <a:t>:  Delivery orders will be FFP </a:t>
            </a:r>
          </a:p>
          <a:p>
            <a:pPr>
              <a:defRPr/>
            </a:pPr>
            <a:r>
              <a:rPr lang="en-US" u="sng" dirty="0">
                <a:solidFill>
                  <a:prstClr val="black"/>
                </a:solidFill>
                <a:latin typeface=" Arial"/>
              </a:rPr>
              <a:t>ROM</a:t>
            </a:r>
            <a:r>
              <a:rPr lang="en-US" dirty="0">
                <a:solidFill>
                  <a:prstClr val="black"/>
                </a:solidFill>
                <a:latin typeface=" Arial"/>
              </a:rPr>
              <a:t>:  $900M</a:t>
            </a:r>
          </a:p>
          <a:p>
            <a:pPr>
              <a:defRPr/>
            </a:pPr>
            <a:r>
              <a:rPr lang="en-US" u="sng" dirty="0">
                <a:solidFill>
                  <a:prstClr val="black"/>
                </a:solidFill>
                <a:latin typeface=" Arial"/>
              </a:rPr>
              <a:t>Period of Performance</a:t>
            </a:r>
            <a:r>
              <a:rPr lang="en-US" dirty="0">
                <a:solidFill>
                  <a:prstClr val="black"/>
                </a:solidFill>
                <a:latin typeface=" Arial"/>
              </a:rPr>
              <a:t>:  5 year ordering period with options</a:t>
            </a:r>
          </a:p>
          <a:p>
            <a:pPr>
              <a:defRPr/>
            </a:pPr>
            <a:r>
              <a:rPr lang="en-US" u="sng" dirty="0">
                <a:solidFill>
                  <a:prstClr val="black"/>
                </a:solidFill>
                <a:latin typeface=" Arial"/>
              </a:rPr>
              <a:t>Estimated Solicitation Release Date</a:t>
            </a:r>
            <a:r>
              <a:rPr lang="en-US" dirty="0">
                <a:solidFill>
                  <a:prstClr val="black"/>
                </a:solidFill>
                <a:latin typeface=" Arial"/>
              </a:rPr>
              <a:t>:  3</a:t>
            </a:r>
            <a:r>
              <a:rPr lang="en-US" dirty="0" smtClean="0">
                <a:solidFill>
                  <a:prstClr val="black"/>
                </a:solidFill>
                <a:latin typeface=" Arial"/>
              </a:rPr>
              <a:t>QFY20</a:t>
            </a:r>
            <a:endParaRPr lang="en-US" dirty="0">
              <a:solidFill>
                <a:prstClr val="black"/>
              </a:solidFill>
              <a:latin typeface=" Arial"/>
            </a:endParaRPr>
          </a:p>
          <a:p>
            <a:pPr>
              <a:defRPr/>
            </a:pPr>
            <a:r>
              <a:rPr lang="en-US" u="sng" dirty="0">
                <a:solidFill>
                  <a:prstClr val="black"/>
                </a:solidFill>
                <a:latin typeface=" Arial"/>
              </a:rPr>
              <a:t>Contracting Contact</a:t>
            </a:r>
            <a:r>
              <a:rPr lang="en-US" dirty="0">
                <a:solidFill>
                  <a:prstClr val="black"/>
                </a:solidFill>
                <a:latin typeface=" Arial"/>
              </a:rPr>
              <a:t>:  ACC-APG, Terri Quick, KO, </a:t>
            </a:r>
            <a:r>
              <a:rPr lang="en-US" dirty="0">
                <a:solidFill>
                  <a:prstClr val="black"/>
                </a:solidFill>
                <a:latin typeface=" Arial"/>
                <a:cs typeface="Arial" panose="020B0604020202020204" pitchFamily="34" charset="0"/>
                <a:hlinkClick r:id="rId2"/>
              </a:rPr>
              <a:t>theresa.s.quick.civ@mail.mil</a:t>
            </a:r>
            <a:endParaRPr lang="en-US" dirty="0" smtClean="0">
              <a:solidFill>
                <a:prstClr val="black"/>
              </a:solidFill>
              <a:latin typeface=" Arial"/>
            </a:endParaRPr>
          </a:p>
          <a:p>
            <a:pPr>
              <a:defRPr/>
            </a:pPr>
            <a:endParaRPr lang="en-US" sz="1600" b="1" dirty="0" smtClean="0">
              <a:solidFill>
                <a:prstClr val="black"/>
              </a:solidFill>
              <a:latin typeface=" Arial"/>
            </a:endParaRPr>
          </a:p>
          <a:p>
            <a:pPr>
              <a:defRPr/>
            </a:pPr>
            <a:endParaRPr lang="en-US" sz="1600" b="1" dirty="0">
              <a:solidFill>
                <a:prstClr val="black"/>
              </a:solidFill>
              <a:latin typeface=" Arial"/>
            </a:endParaRPr>
          </a:p>
          <a:p>
            <a:pPr>
              <a:defRPr/>
            </a:pPr>
            <a:endParaRPr lang="en-US" sz="1600" b="1" dirty="0" smtClean="0">
              <a:solidFill>
                <a:prstClr val="black"/>
              </a:solidFill>
              <a:latin typeface=" Arial"/>
            </a:endParaRPr>
          </a:p>
          <a:p>
            <a:pPr>
              <a:defRPr/>
            </a:pPr>
            <a:r>
              <a:rPr lang="en-US" sz="1600" b="1" dirty="0" smtClean="0">
                <a:solidFill>
                  <a:prstClr val="black"/>
                </a:solidFill>
                <a:latin typeface=" Arial"/>
              </a:rPr>
              <a:t>*Subject to Cancellation</a:t>
            </a:r>
            <a:endParaRPr lang="en-US" sz="1600" b="1" dirty="0">
              <a:solidFill>
                <a:prstClr val="black"/>
              </a:solidFill>
              <a:latin typeface=" Arial"/>
            </a:endParaRPr>
          </a:p>
        </p:txBody>
      </p:sp>
    </p:spTree>
    <p:extLst>
      <p:ext uri="{BB962C8B-B14F-4D97-AF65-F5344CB8AC3E}">
        <p14:creationId xmlns:p14="http://schemas.microsoft.com/office/powerpoint/2010/main" val="1704304766"/>
      </p:ext>
    </p:extLst>
  </p:cSld>
  <p:clrMapOvr>
    <a:masterClrMapping/>
  </p:clrMapOvr>
  <p:timing>
    <p:tnLst>
      <p:par>
        <p:cTn id="1" dur="indefinite" restart="never" nodeType="tmRoot"/>
      </p:par>
    </p:tnLst>
  </p:timing>
</p:sld>
</file>

<file path=ppt/theme/theme1.xml><?xml version="1.0" encoding="utf-8"?>
<a:theme xmlns:a="http://schemas.openxmlformats.org/drawingml/2006/main" name="4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6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5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7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62C78E9BD999AC46B3EB03425BB53FA5" ma:contentTypeVersion="0" ma:contentTypeDescription="Create a new document." ma:contentTypeScope="" ma:versionID="f6fc9fef488fa45be0a390bd39793c33">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1C3164B-E357-4C61-9748-6D3606BFACD6}">
  <ds:schemaRefs>
    <ds:schemaRef ds:uri="http://schemas.microsoft.com/office/infopath/2007/PartnerControls"/>
    <ds:schemaRef ds:uri="http://purl.org/dc/elements/1.1/"/>
    <ds:schemaRef ds:uri="http://schemas.microsoft.com/office/2006/metadata/properties"/>
    <ds:schemaRef ds:uri="http://schemas.microsoft.com/office/2006/documentManagement/types"/>
    <ds:schemaRef ds:uri="http://schemas.openxmlformats.org/package/2006/metadata/core-properties"/>
    <ds:schemaRef ds:uri="http://purl.org/dc/dcmitype/"/>
    <ds:schemaRef ds:uri="http://www.w3.org/XML/1998/namespace"/>
    <ds:schemaRef ds:uri="http://purl.org/dc/terms/"/>
  </ds:schemaRefs>
</ds:datastoreItem>
</file>

<file path=customXml/itemProps2.xml><?xml version="1.0" encoding="utf-8"?>
<ds:datastoreItem xmlns:ds="http://schemas.openxmlformats.org/officeDocument/2006/customXml" ds:itemID="{BFD0F2A9-63A1-4578-8ED3-5C6C752F0CA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1A3DBC3F-1BD6-457B-823D-FD749E2AD09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7110</TotalTime>
  <Words>1120</Words>
  <Application>Microsoft Office PowerPoint</Application>
  <PresentationFormat>On-screen Show (4:3)</PresentationFormat>
  <Paragraphs>236</Paragraphs>
  <Slides>15</Slides>
  <Notes>1</Notes>
  <HiddenSlides>0</HiddenSlides>
  <MMClips>0</MMClips>
  <ScaleCrop>false</ScaleCrop>
  <HeadingPairs>
    <vt:vector size="6" baseType="variant">
      <vt:variant>
        <vt:lpstr>Fonts Used</vt:lpstr>
      </vt:variant>
      <vt:variant>
        <vt:i4>7</vt:i4>
      </vt:variant>
      <vt:variant>
        <vt:lpstr>Theme</vt:lpstr>
      </vt:variant>
      <vt:variant>
        <vt:i4>4</vt:i4>
      </vt:variant>
      <vt:variant>
        <vt:lpstr>Slide Titles</vt:lpstr>
      </vt:variant>
      <vt:variant>
        <vt:i4>15</vt:i4>
      </vt:variant>
    </vt:vector>
  </HeadingPairs>
  <TitlesOfParts>
    <vt:vector size="26" baseType="lpstr">
      <vt:lpstr>MS PGothic</vt:lpstr>
      <vt:lpstr> Arial</vt:lpstr>
      <vt:lpstr>Arial</vt:lpstr>
      <vt:lpstr>Calibri</vt:lpstr>
      <vt:lpstr>Comic Sans MS</vt:lpstr>
      <vt:lpstr>Franklin Gothic Book</vt:lpstr>
      <vt:lpstr>Franklin Gothic Medium Cond</vt:lpstr>
      <vt:lpstr>4_Custom Design</vt:lpstr>
      <vt:lpstr>6_Custom Design</vt:lpstr>
      <vt:lpstr>5_Custom Design</vt:lpstr>
      <vt:lpstr>7_Custom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SRB Slides</dc:title>
  <dc:creator>Hessler, Kenneth CIV USA</dc:creator>
  <cp:lastModifiedBy>McCarthy, Kim A CIV USA AMC</cp:lastModifiedBy>
  <cp:revision>558</cp:revision>
  <cp:lastPrinted>2019-02-13T18:00:51Z</cp:lastPrinted>
  <dcterms:created xsi:type="dcterms:W3CDTF">2006-08-16T00:00:00Z</dcterms:created>
  <dcterms:modified xsi:type="dcterms:W3CDTF">2020-01-24T18:00:29Z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0x01010062C78E9BD999AC46B3EB03425BB53FA5</vt:lpwstr>
  </property>
  <property fmtid="{D5CDD505-2E9C-101B-9397-08002B2CF9AE}" pid="3" name="NXPowerLiteLastOptimized">
    <vt:lpwstr>206266</vt:lpwstr>
  </property>
  <property fmtid="{D5CDD505-2E9C-101B-9397-08002B2CF9AE}" pid="4" name="NXPowerLiteSettings">
    <vt:lpwstr>E6000400038000</vt:lpwstr>
  </property>
  <property fmtid="{D5CDD505-2E9C-101B-9397-08002B2CF9AE}" pid="5" name="NXPowerLiteVersion">
    <vt:lpwstr>D4.3.1</vt:lpwstr>
  </property>
  <property fmtid="{D5CDD505-2E9C-101B-9397-08002B2CF9AE}" pid="6" name="Order">
    <vt:r8>900</vt:r8>
  </property>
  <property fmtid="{D5CDD505-2E9C-101B-9397-08002B2CF9AE}" pid="7" name="TaxCatchAll">
    <vt:lpwstr/>
  </property>
  <property fmtid="{D5CDD505-2E9C-101B-9397-08002B2CF9AE}" pid="8" name="TemplateUrl">
    <vt:lpwstr/>
  </property>
  <property fmtid="{D5CDD505-2E9C-101B-9397-08002B2CF9AE}" pid="9" name="_CopySource">
    <vt:lpwstr>https://collab.aep.army.mil/sites/CGInitiatives/1205SETH/Read Ahead Book/TAB 03B - 2012 07 20 AMC World Wide Town Hall Presentation (slides Only).pptx</vt:lpwstr>
  </property>
  <property fmtid="{D5CDD505-2E9C-101B-9397-08002B2CF9AE}" pid="10" name="d2454c551d7348168dd1433cb168329a">
    <vt:lpwstr/>
  </property>
  <property fmtid="{D5CDD505-2E9C-101B-9397-08002B2CF9AE}" pid="11" name="xd_ProgID">
    <vt:lpwstr/>
  </property>
  <property fmtid="{D5CDD505-2E9C-101B-9397-08002B2CF9AE}" pid="12" name="xd_Signature">
    <vt:bool>false</vt:bool>
  </property>
</Properties>
</file>