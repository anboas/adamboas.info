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27"/>
  </p:notesMasterIdLst>
  <p:handoutMasterIdLst>
    <p:handoutMasterId r:id="rId28"/>
  </p:handoutMasterIdLst>
  <p:sldIdLst>
    <p:sldId id="261" r:id="rId6"/>
    <p:sldId id="2147309519" r:id="rId7"/>
    <p:sldId id="2147309534" r:id="rId8"/>
    <p:sldId id="2147309506" r:id="rId9"/>
    <p:sldId id="2147309507" r:id="rId10"/>
    <p:sldId id="2147309533" r:id="rId11"/>
    <p:sldId id="2147309509" r:id="rId12"/>
    <p:sldId id="2147309525" r:id="rId13"/>
    <p:sldId id="2147309535" r:id="rId14"/>
    <p:sldId id="2147309532" r:id="rId15"/>
    <p:sldId id="2147309526" r:id="rId16"/>
    <p:sldId id="2147309527" r:id="rId17"/>
    <p:sldId id="2147309529" r:id="rId18"/>
    <p:sldId id="2147309495" r:id="rId19"/>
    <p:sldId id="2147309502" r:id="rId20"/>
    <p:sldId id="2147309530" r:id="rId21"/>
    <p:sldId id="636" r:id="rId22"/>
    <p:sldId id="683" r:id="rId23"/>
    <p:sldId id="2147309528" r:id="rId24"/>
    <p:sldId id="2147309497" r:id="rId25"/>
    <p:sldId id="26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DFA7FE-F05C-F8A0-5D36-C2AFFAE51EF5}" name="Frazier Donna L NGA-PMF USA CIV" initials="DF" userId="S::Donna.L.Frazier@nga.mil::7ec595aa-2e71-40fe-88c4-28315c596bc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C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6" autoAdjust="0"/>
    <p:restoredTop sz="76171" autoAdjust="0"/>
  </p:normalViewPr>
  <p:slideViewPr>
    <p:cSldViewPr snapToGrid="0">
      <p:cViewPr varScale="1">
        <p:scale>
          <a:sx n="80" d="100"/>
          <a:sy n="80" d="100"/>
        </p:scale>
        <p:origin x="557" y="62"/>
      </p:cViewPr>
      <p:guideLst>
        <p:guide orient="horz" pos="86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1" d="100"/>
          <a:sy n="61" d="100"/>
        </p:scale>
        <p:origin x="3245"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2ECB9C-5B66-2991-4899-75B2FD7782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4A4CB29-8D68-F42E-FA36-1450CC227B5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AE6871-26A8-477A-8A3C-F4DA032CBD26}" type="datetimeFigureOut">
              <a:rPr lang="en-US" smtClean="0"/>
              <a:t>3/18/2026</a:t>
            </a:fld>
            <a:endParaRPr lang="en-US"/>
          </a:p>
        </p:txBody>
      </p:sp>
      <p:sp>
        <p:nvSpPr>
          <p:cNvPr id="4" name="Footer Placeholder 3">
            <a:extLst>
              <a:ext uri="{FF2B5EF4-FFF2-40B4-BE49-F238E27FC236}">
                <a16:creationId xmlns:a16="http://schemas.microsoft.com/office/drawing/2014/main" id="{644BC42D-F582-0E30-E631-46DB95A0CF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C0E5875-F2F7-3D46-A8AD-E0626D8E75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ECC060-0552-4319-9098-9D66E9FB942B}" type="slidenum">
              <a:rPr lang="en-US" smtClean="0"/>
              <a:t>‹#›</a:t>
            </a:fld>
            <a:endParaRPr lang="en-US"/>
          </a:p>
        </p:txBody>
      </p:sp>
    </p:spTree>
    <p:extLst>
      <p:ext uri="{BB962C8B-B14F-4D97-AF65-F5344CB8AC3E}">
        <p14:creationId xmlns:p14="http://schemas.microsoft.com/office/powerpoint/2010/main" val="1743868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4A7FC5-13B4-4ADB-9621-2F4841FCCC29}"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8A12F8-2D35-4481-8516-03FCE37F4088}" type="slidenum">
              <a:rPr lang="en-US" smtClean="0"/>
              <a:t>‹#›</a:t>
            </a:fld>
            <a:endParaRPr lang="en-US"/>
          </a:p>
        </p:txBody>
      </p:sp>
    </p:spTree>
    <p:extLst>
      <p:ext uri="{BB962C8B-B14F-4D97-AF65-F5344CB8AC3E}">
        <p14:creationId xmlns:p14="http://schemas.microsoft.com/office/powerpoint/2010/main" val="2155251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dirty="0"/>
          </a:p>
        </p:txBody>
      </p:sp>
      <p:sp>
        <p:nvSpPr>
          <p:cNvPr id="4" name="Slide Number Placeholder 3"/>
          <p:cNvSpPr>
            <a:spLocks noGrp="1"/>
          </p:cNvSpPr>
          <p:nvPr>
            <p:ph type="sldNum" sz="quarter" idx="5"/>
          </p:nvPr>
        </p:nvSpPr>
        <p:spPr/>
        <p:txBody>
          <a:bodyPr/>
          <a:lstStyle/>
          <a:p>
            <a:fld id="{CE8A12F8-2D35-4481-8516-03FCE37F4088}" type="slidenum">
              <a:rPr lang="en-US" smtClean="0"/>
              <a:t>1</a:t>
            </a:fld>
            <a:endParaRPr lang="en-US"/>
          </a:p>
        </p:txBody>
      </p:sp>
    </p:spTree>
    <p:extLst>
      <p:ext uri="{BB962C8B-B14F-4D97-AF65-F5344CB8AC3E}">
        <p14:creationId xmlns:p14="http://schemas.microsoft.com/office/powerpoint/2010/main" val="250197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E8A12F8-2D35-4481-8516-03FCE37F4088}" type="slidenum">
              <a:rPr lang="en-US" smtClean="0"/>
              <a:t>2</a:t>
            </a:fld>
            <a:endParaRPr lang="en-US"/>
          </a:p>
        </p:txBody>
      </p:sp>
    </p:spTree>
    <p:extLst>
      <p:ext uri="{BB962C8B-B14F-4D97-AF65-F5344CB8AC3E}">
        <p14:creationId xmlns:p14="http://schemas.microsoft.com/office/powerpoint/2010/main" val="2987188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92BE3-48BD-3C41-01C6-080B74C5656C}"/>
            </a:ext>
          </a:extLst>
        </p:cNvPr>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A6E60607-D597-D007-4D53-5958F44FFE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37788F2-9109-5043-33E5-4C06127A5706}"/>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38916" name="Slide Number Placeholder 3">
            <a:extLst>
              <a:ext uri="{FF2B5EF4-FFF2-40B4-BE49-F238E27FC236}">
                <a16:creationId xmlns:a16="http://schemas.microsoft.com/office/drawing/2014/main" id="{D226BB5B-7DF6-6D89-B646-F2339F20FF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13CC902-5A6E-4EB6-ADDB-7861AB6AB52F}" type="slidenum">
              <a:rPr lang="en-US" altLang="en-US" smtClean="0"/>
              <a:pPr/>
              <a:t>3</a:t>
            </a:fld>
            <a:endParaRPr lang="en-US" altLang="en-US"/>
          </a:p>
        </p:txBody>
      </p:sp>
    </p:spTree>
    <p:extLst>
      <p:ext uri="{BB962C8B-B14F-4D97-AF65-F5344CB8AC3E}">
        <p14:creationId xmlns:p14="http://schemas.microsoft.com/office/powerpoint/2010/main" val="289094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E8A12F8-2D35-4481-8516-03FCE37F4088}" type="slidenum">
              <a:rPr lang="en-US" smtClean="0"/>
              <a:t>4</a:t>
            </a:fld>
            <a:endParaRPr lang="en-US"/>
          </a:p>
        </p:txBody>
      </p:sp>
    </p:spTree>
    <p:extLst>
      <p:ext uri="{BB962C8B-B14F-4D97-AF65-F5344CB8AC3E}">
        <p14:creationId xmlns:p14="http://schemas.microsoft.com/office/powerpoint/2010/main" val="2999458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E8A12F8-2D35-4481-8516-03FCE37F4088}" type="slidenum">
              <a:rPr lang="en-US" smtClean="0"/>
              <a:t>5</a:t>
            </a:fld>
            <a:endParaRPr lang="en-US"/>
          </a:p>
        </p:txBody>
      </p:sp>
    </p:spTree>
    <p:extLst>
      <p:ext uri="{BB962C8B-B14F-4D97-AF65-F5344CB8AC3E}">
        <p14:creationId xmlns:p14="http://schemas.microsoft.com/office/powerpoint/2010/main" val="2839162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414D735-8569-499B-8D05-CD57D9A05C2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736CF93D-288C-442C-97B7-AE046A895E5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u="sng" dirty="0"/>
          </a:p>
        </p:txBody>
      </p:sp>
      <p:sp>
        <p:nvSpPr>
          <p:cNvPr id="28676" name="Slide Number Placeholder 3">
            <a:extLst>
              <a:ext uri="{FF2B5EF4-FFF2-40B4-BE49-F238E27FC236}">
                <a16:creationId xmlns:a16="http://schemas.microsoft.com/office/drawing/2014/main" id="{55E28B8C-20FF-4995-A285-9F138C2340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D29EFC5-C7F0-4D86-B74D-A172B78ACA8B}" type="slidenum">
              <a:rPr lang="en-US" altLang="en-US" smtClean="0"/>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CE24-2250-894B-9CF7-6F2B6B0DB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C7874-36A0-B1AC-9A68-F37E6849A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7FA4B-905E-3AB7-D873-358D66C8583E}"/>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009C7A06-E3D1-301C-E2BE-565651BE9D06}"/>
              </a:ext>
            </a:extLst>
          </p:cNvPr>
          <p:cNvSpPr>
            <a:spLocks noGrp="1"/>
          </p:cNvSpPr>
          <p:nvPr>
            <p:ph type="sldNum" sz="quarter" idx="5"/>
          </p:nvPr>
        </p:nvSpPr>
        <p:spPr/>
        <p:txBody>
          <a:bodyPr/>
          <a:lstStyle/>
          <a:p>
            <a:fld id="{CE8A12F8-2D35-4481-8516-03FCE37F4088}" type="slidenum">
              <a:rPr lang="en-US" smtClean="0"/>
              <a:t>9</a:t>
            </a:fld>
            <a:endParaRPr lang="en-US"/>
          </a:p>
        </p:txBody>
      </p:sp>
    </p:spTree>
    <p:extLst>
      <p:ext uri="{BB962C8B-B14F-4D97-AF65-F5344CB8AC3E}">
        <p14:creationId xmlns:p14="http://schemas.microsoft.com/office/powerpoint/2010/main" val="420600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E8A12F8-2D35-4481-8516-03FCE37F4088}" type="slidenum">
              <a:rPr lang="en-US" smtClean="0"/>
              <a:t>11</a:t>
            </a:fld>
            <a:endParaRPr lang="en-US"/>
          </a:p>
        </p:txBody>
      </p:sp>
    </p:spTree>
    <p:extLst>
      <p:ext uri="{BB962C8B-B14F-4D97-AF65-F5344CB8AC3E}">
        <p14:creationId xmlns:p14="http://schemas.microsoft.com/office/powerpoint/2010/main" val="634946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E74FCEFC-6A43-4BB4-9A01-401CD91E74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9986C137-1BAB-4721-879F-3820A76C39AF}"/>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40964" name="Slide Number Placeholder 3">
            <a:extLst>
              <a:ext uri="{FF2B5EF4-FFF2-40B4-BE49-F238E27FC236}">
                <a16:creationId xmlns:a16="http://schemas.microsoft.com/office/drawing/2014/main" id="{BB83A9FA-C0C8-4C80-9670-2C633ADC18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FECCD92-132F-4902-B610-1BFF162C1AF2}" type="slidenum">
              <a:rPr lang="en-US" altLang="en-US" smtClean="0"/>
              <a:pPr/>
              <a:t>14</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5BEDC1E-368D-4BEC-B4B1-B5597CBD45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6046AE40-A7B3-4A68-B537-A9FE2B770D53}"/>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32772" name="Slide Number Placeholder 3">
            <a:extLst>
              <a:ext uri="{FF2B5EF4-FFF2-40B4-BE49-F238E27FC236}">
                <a16:creationId xmlns:a16="http://schemas.microsoft.com/office/drawing/2014/main" id="{7D5C6FDF-CA63-46FE-8672-F07DFD8035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C1C6360-5886-47D7-9E77-A2B642E0E70F}" type="slidenum">
              <a:rPr lang="en-US" altLang="en-US" smtClean="0"/>
              <a:pPr/>
              <a:t>15</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2E7B2067-462D-4C7A-9294-8052E31FF8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5352306C-E45B-4E33-98D8-3C383E4E8FD7}"/>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34820" name="Slide Number Placeholder 3">
            <a:extLst>
              <a:ext uri="{FF2B5EF4-FFF2-40B4-BE49-F238E27FC236}">
                <a16:creationId xmlns:a16="http://schemas.microsoft.com/office/drawing/2014/main" id="{775F3D6A-62E8-40AC-B155-E5D3451FFC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8C68879-A37E-4E5C-AE46-FE810C1D46AD}" type="slidenum">
              <a:rPr lang="en-US" altLang="en-US" smtClean="0"/>
              <a:pPr/>
              <a:t>17</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8275EA0-430A-4D19-86F7-051C232EE9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9D1BF711-6C05-4327-A264-EF2070DC139C}"/>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36868" name="Slide Number Placeholder 3">
            <a:extLst>
              <a:ext uri="{FF2B5EF4-FFF2-40B4-BE49-F238E27FC236}">
                <a16:creationId xmlns:a16="http://schemas.microsoft.com/office/drawing/2014/main" id="{E63158E2-0813-4F02-B87A-00B946D702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CCE46FD-470E-491C-9F63-BD97B1015B30}" type="slidenum">
              <a:rPr lang="en-US" altLang="en-US" smtClean="0"/>
              <a:pPr/>
              <a:t>18</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E74FCEFC-6A43-4BB4-9A01-401CD91E74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9986C137-1BAB-4721-879F-3820A76C39AF}"/>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40964" name="Slide Number Placeholder 3">
            <a:extLst>
              <a:ext uri="{FF2B5EF4-FFF2-40B4-BE49-F238E27FC236}">
                <a16:creationId xmlns:a16="http://schemas.microsoft.com/office/drawing/2014/main" id="{BB83A9FA-C0C8-4C80-9670-2C633ADC18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FECCD92-132F-4902-B610-1BFF162C1AF2}" type="slidenum">
              <a:rPr lang="en-US" altLang="en-US" smtClean="0"/>
              <a:pPr/>
              <a:t>19</a:t>
            </a:fld>
            <a:endParaRPr lang="en-US" altLang="en-US"/>
          </a:p>
        </p:txBody>
      </p:sp>
    </p:spTree>
    <p:extLst>
      <p:ext uri="{BB962C8B-B14F-4D97-AF65-F5344CB8AC3E}">
        <p14:creationId xmlns:p14="http://schemas.microsoft.com/office/powerpoint/2010/main" val="3711100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B9125FC9-0163-47C4-9A32-32200E13EB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6F8C0163-B90E-419F-A3DB-852925D5DF5E}"/>
              </a:ext>
            </a:extLst>
          </p:cNvPr>
          <p:cNvSpPr>
            <a:spLocks noGrp="1"/>
          </p:cNvSpPr>
          <p:nvPr>
            <p:ph type="body" idx="1"/>
          </p:nvPr>
        </p:nvSpPr>
        <p:spPr/>
        <p:txBody>
          <a:bodyPr/>
          <a:lstStyle/>
          <a:p>
            <a:pPr eaLnBrk="1" fontAlgn="auto" hangingPunct="1">
              <a:lnSpc>
                <a:spcPct val="95000"/>
              </a:lnSpc>
              <a:spcBef>
                <a:spcPts val="432"/>
              </a:spcBef>
              <a:spcAft>
                <a:spcPts val="0"/>
              </a:spcAft>
              <a:defRPr/>
            </a:pPr>
            <a:endParaRPr lang="en-US" sz="1600" dirty="0"/>
          </a:p>
        </p:txBody>
      </p:sp>
      <p:sp>
        <p:nvSpPr>
          <p:cNvPr id="38916" name="Slide Number Placeholder 3">
            <a:extLst>
              <a:ext uri="{FF2B5EF4-FFF2-40B4-BE49-F238E27FC236}">
                <a16:creationId xmlns:a16="http://schemas.microsoft.com/office/drawing/2014/main" id="{22DCC55B-2E67-4F39-A94E-625AC03540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13CC902-5A6E-4EB6-ADDB-7861AB6AB52F}" type="slidenum">
              <a:rPr lang="en-US" altLang="en-US" smtClean="0"/>
              <a:pPr/>
              <a:t>20</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8A12F8-2D35-4481-8516-03FCE37F4088}" type="slidenum">
              <a:rPr lang="en-US" smtClean="0"/>
              <a:t>21</a:t>
            </a:fld>
            <a:endParaRPr lang="en-US"/>
          </a:p>
        </p:txBody>
      </p:sp>
    </p:spTree>
    <p:extLst>
      <p:ext uri="{BB962C8B-B14F-4D97-AF65-F5344CB8AC3E}">
        <p14:creationId xmlns:p14="http://schemas.microsoft.com/office/powerpoint/2010/main" val="30139087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wmf"/><Relationship Id="rId3" Type="http://schemas.openxmlformats.org/officeDocument/2006/relationships/image" Target="../media/image3.png"/><Relationship Id="rId7"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38741" y="2933705"/>
            <a:ext cx="10363200" cy="469900"/>
          </a:xfrm>
        </p:spPr>
        <p:txBody>
          <a:bodyPr anchor="b">
            <a:noAutofit/>
          </a:bodyPr>
          <a:lstStyle>
            <a:lvl1pPr marL="0" indent="0">
              <a:buNone/>
              <a:defRPr sz="2133" baseline="0">
                <a:solidFill>
                  <a:schemeClr val="accent6">
                    <a:lumMod val="75000"/>
                  </a:schemeClr>
                </a:solidFill>
              </a:defRPr>
            </a:lvl1pPr>
            <a:lvl2pPr marL="609570" indent="0">
              <a:buNone/>
              <a:defRPr sz="2400">
                <a:solidFill>
                  <a:schemeClr val="tx1">
                    <a:tint val="75000"/>
                  </a:schemeClr>
                </a:solidFill>
              </a:defRPr>
            </a:lvl2pPr>
            <a:lvl3pPr marL="1219139"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7"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dirty="0"/>
              <a:t>Presenter Name</a:t>
            </a:r>
          </a:p>
        </p:txBody>
      </p:sp>
      <p:sp>
        <p:nvSpPr>
          <p:cNvPr id="9" name="Text Placeholder 8"/>
          <p:cNvSpPr>
            <a:spLocks noGrp="1"/>
          </p:cNvSpPr>
          <p:nvPr>
            <p:ph type="body" sz="quarter" idx="14" hasCustomPrompt="1"/>
          </p:nvPr>
        </p:nvSpPr>
        <p:spPr>
          <a:xfrm>
            <a:off x="938741" y="3429000"/>
            <a:ext cx="10363200" cy="406400"/>
          </a:xfrm>
        </p:spPr>
        <p:txBody>
          <a:bodyPr/>
          <a:lstStyle>
            <a:lvl1pPr>
              <a:defRPr>
                <a:solidFill>
                  <a:schemeClr val="accent6">
                    <a:lumMod val="75000"/>
                  </a:schemeClr>
                </a:solidFill>
              </a:defRPr>
            </a:lvl1pPr>
          </a:lstStyle>
          <a:p>
            <a:pPr lvl="0"/>
            <a:r>
              <a:rPr lang="en-US" dirty="0"/>
              <a:t>Date:</a:t>
            </a:r>
          </a:p>
        </p:txBody>
      </p:sp>
      <p:sp>
        <p:nvSpPr>
          <p:cNvPr id="8"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11"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sp>
        <p:nvSpPr>
          <p:cNvPr id="4" name="Text Placeholder 3"/>
          <p:cNvSpPr>
            <a:spLocks noGrp="1"/>
          </p:cNvSpPr>
          <p:nvPr>
            <p:ph type="body" sz="quarter" idx="17" hasCustomPrompt="1"/>
          </p:nvPr>
        </p:nvSpPr>
        <p:spPr>
          <a:xfrm>
            <a:off x="938741" y="2413000"/>
            <a:ext cx="10363200" cy="508000"/>
          </a:xfrm>
        </p:spPr>
        <p:txBody>
          <a:bodyPr>
            <a:noAutofit/>
          </a:bodyPr>
          <a:lstStyle>
            <a:lvl1pPr>
              <a:defRPr sz="3200" baseline="0">
                <a:solidFill>
                  <a:schemeClr val="tx2"/>
                </a:solidFill>
                <a:latin typeface="Franklin Gothic Medium Cond" panose="020B0606030402020204" pitchFamily="34" charset="0"/>
              </a:defRPr>
            </a:lvl1pPr>
          </a:lstStyle>
          <a:p>
            <a:pPr lvl="0"/>
            <a:r>
              <a:rPr lang="en-US" dirty="0"/>
              <a:t>PRESENTATION TITLE</a:t>
            </a:r>
          </a:p>
        </p:txBody>
      </p:sp>
      <p:sp>
        <p:nvSpPr>
          <p:cNvPr id="10" name="Text Placeholder 4"/>
          <p:cNvSpPr>
            <a:spLocks noGrp="1"/>
          </p:cNvSpPr>
          <p:nvPr>
            <p:ph type="body" sz="quarter" idx="13" hasCustomPrompt="1"/>
          </p:nvPr>
        </p:nvSpPr>
        <p:spPr>
          <a:xfrm>
            <a:off x="6626322" y="4359949"/>
            <a:ext cx="5565679" cy="406400"/>
          </a:xfrm>
        </p:spPr>
        <p:txBody>
          <a:bodyPr/>
          <a:lstStyle>
            <a:lvl1pPr algn="l">
              <a:defRPr sz="1867"/>
            </a:lvl1pPr>
          </a:lstStyle>
          <a:p>
            <a:pPr lvl="0"/>
            <a:r>
              <a:rPr lang="en-US" dirty="0"/>
              <a:t>Classification</a:t>
            </a:r>
          </a:p>
        </p:txBody>
      </p:sp>
      <p:sp>
        <p:nvSpPr>
          <p:cNvPr id="12" name="TextBox 11"/>
          <p:cNvSpPr txBox="1"/>
          <p:nvPr/>
        </p:nvSpPr>
        <p:spPr>
          <a:xfrm>
            <a:off x="6626322" y="4156750"/>
            <a:ext cx="5565679" cy="318100"/>
          </a:xfrm>
          <a:prstGeom prst="rect">
            <a:avLst/>
          </a:prstGeom>
          <a:noFill/>
        </p:spPr>
        <p:txBody>
          <a:bodyPr wrap="square" rtlCol="0">
            <a:spAutoFit/>
          </a:bodyPr>
          <a:lstStyle/>
          <a:p>
            <a:pPr algn="l"/>
            <a:r>
              <a:rPr lang="en-US" sz="1467" dirty="0">
                <a:latin typeface="Arial" panose="020B0604020202020204" pitchFamily="34" charset="0"/>
                <a:cs typeface="Arial" panose="020B0604020202020204" pitchFamily="34" charset="0"/>
              </a:rPr>
              <a:t>The overall classification of this</a:t>
            </a:r>
            <a:r>
              <a:rPr lang="en-US" sz="1467" baseline="0" dirty="0">
                <a:latin typeface="Arial" panose="020B0604020202020204" pitchFamily="34" charset="0"/>
                <a:cs typeface="Arial" panose="020B0604020202020204" pitchFamily="34" charset="0"/>
              </a:rPr>
              <a:t> presentation is:</a:t>
            </a:r>
            <a:endParaRPr lang="en-US" sz="1467" dirty="0">
              <a:latin typeface="Arial" panose="020B0604020202020204" pitchFamily="34" charset="0"/>
              <a:cs typeface="Arial" panose="020B0604020202020204" pitchFamily="34" charset="0"/>
            </a:endParaRPr>
          </a:p>
        </p:txBody>
      </p:sp>
      <p:sp>
        <p:nvSpPr>
          <p:cNvPr id="14" name="Text Placeholder 12"/>
          <p:cNvSpPr>
            <a:spLocks noGrp="1"/>
          </p:cNvSpPr>
          <p:nvPr>
            <p:ph type="body" sz="quarter" idx="18" hasCustomPrompt="1"/>
          </p:nvPr>
        </p:nvSpPr>
        <p:spPr>
          <a:xfrm>
            <a:off x="8116454" y="4735773"/>
            <a:ext cx="2980267" cy="301752"/>
          </a:xfrm>
        </p:spPr>
        <p:txBody>
          <a:bodyPr anchor="ctr">
            <a:noAutofit/>
          </a:bodyPr>
          <a:lstStyle>
            <a:lvl1pPr>
              <a:defRPr sz="1333" baseline="0"/>
            </a:lvl1pPr>
            <a:lvl2pPr>
              <a:defRPr sz="1333"/>
            </a:lvl2pPr>
            <a:lvl3pPr>
              <a:defRPr sz="1333"/>
            </a:lvl3pPr>
            <a:lvl4pPr>
              <a:defRPr sz="1333"/>
            </a:lvl4pPr>
            <a:lvl5pPr>
              <a:defRPr sz="1333"/>
            </a:lvl5pPr>
          </a:lstStyle>
          <a:p>
            <a:pPr lvl="0"/>
            <a:r>
              <a:rPr lang="en-US" dirty="0"/>
              <a:t>Classified by</a:t>
            </a:r>
          </a:p>
        </p:txBody>
      </p:sp>
      <p:sp>
        <p:nvSpPr>
          <p:cNvPr id="15" name="Text Placeholder 14"/>
          <p:cNvSpPr>
            <a:spLocks noGrp="1"/>
          </p:cNvSpPr>
          <p:nvPr>
            <p:ph type="body" sz="quarter" idx="19" hasCustomPrompt="1"/>
          </p:nvPr>
        </p:nvSpPr>
        <p:spPr>
          <a:xfrm>
            <a:off x="8116454" y="4930890"/>
            <a:ext cx="2980267" cy="301752"/>
          </a:xfrm>
        </p:spPr>
        <p:txBody>
          <a:bodyPr anchor="ctr">
            <a:noAutofit/>
          </a:bodyPr>
          <a:lstStyle>
            <a:lvl1pPr>
              <a:defRPr sz="1330"/>
            </a:lvl1pPr>
            <a:lvl2pPr marL="609585" indent="0" algn="l">
              <a:buNone/>
              <a:defRPr sz="1333"/>
            </a:lvl2pPr>
            <a:lvl3pPr>
              <a:defRPr sz="1333"/>
            </a:lvl3pPr>
            <a:lvl4pPr>
              <a:defRPr sz="1333"/>
            </a:lvl4pPr>
            <a:lvl5pPr>
              <a:defRPr sz="1333"/>
            </a:lvl5pPr>
          </a:lstStyle>
          <a:p>
            <a:pPr lvl="0"/>
            <a:r>
              <a:rPr lang="en-US" dirty="0"/>
              <a:t>Derived from</a:t>
            </a:r>
          </a:p>
        </p:txBody>
      </p:sp>
      <p:sp>
        <p:nvSpPr>
          <p:cNvPr id="16" name="Text Placeholder 16"/>
          <p:cNvSpPr>
            <a:spLocks noGrp="1"/>
          </p:cNvSpPr>
          <p:nvPr>
            <p:ph type="body" sz="quarter" idx="20" hasCustomPrompt="1"/>
          </p:nvPr>
        </p:nvSpPr>
        <p:spPr>
          <a:xfrm>
            <a:off x="8116454" y="5155490"/>
            <a:ext cx="2980267" cy="301752"/>
          </a:xfrm>
        </p:spPr>
        <p:txBody>
          <a:bodyPr anchor="ctr">
            <a:normAutofit/>
          </a:bodyPr>
          <a:lstStyle>
            <a:lvl1pPr>
              <a:defRPr sz="1333"/>
            </a:lvl1pPr>
          </a:lstStyle>
          <a:p>
            <a:pPr lvl="0"/>
            <a:r>
              <a:rPr lang="en-US" dirty="0"/>
              <a:t>Declassify on</a:t>
            </a:r>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3746" y="5913670"/>
            <a:ext cx="414529" cy="432817"/>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6788" y="5909098"/>
            <a:ext cx="384049" cy="441961"/>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7280" y="5899954"/>
            <a:ext cx="377953" cy="460249"/>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772" y="6076155"/>
            <a:ext cx="10847508" cy="128544"/>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741" y="688703"/>
            <a:ext cx="1492039" cy="1488203"/>
          </a:xfrm>
          <a:prstGeom prst="rect">
            <a:avLst/>
          </a:prstGeom>
        </p:spPr>
      </p:pic>
      <p:sp>
        <p:nvSpPr>
          <p:cNvPr id="23" name="TextBox 22"/>
          <p:cNvSpPr txBox="1"/>
          <p:nvPr userDrawn="1"/>
        </p:nvSpPr>
        <p:spPr>
          <a:xfrm>
            <a:off x="6626324" y="4735773"/>
            <a:ext cx="1322540" cy="297454"/>
          </a:xfrm>
          <a:prstGeom prst="rect">
            <a:avLst/>
          </a:prstGeom>
          <a:noFill/>
          <a:ln w="3175">
            <a:noFill/>
          </a:ln>
        </p:spPr>
        <p:txBody>
          <a:bodyPr wrap="square" rtlCol="0" anchor="ctr">
            <a:spAutoFit/>
          </a:bodyPr>
          <a:lstStyle/>
          <a:p>
            <a:pPr algn="l"/>
            <a:r>
              <a:rPr lang="en-US" sz="1333" baseline="0" dirty="0">
                <a:latin typeface="Arial" panose="020B0604020202020204" pitchFamily="34" charset="0"/>
                <a:cs typeface="Arial" panose="020B0604020202020204" pitchFamily="34" charset="0"/>
              </a:rPr>
              <a:t>Classified by:</a:t>
            </a:r>
          </a:p>
        </p:txBody>
      </p:sp>
      <p:sp>
        <p:nvSpPr>
          <p:cNvPr id="24" name="TextBox 23"/>
          <p:cNvSpPr txBox="1"/>
          <p:nvPr userDrawn="1"/>
        </p:nvSpPr>
        <p:spPr>
          <a:xfrm>
            <a:off x="6626322" y="4930890"/>
            <a:ext cx="1322541" cy="297454"/>
          </a:xfrm>
          <a:prstGeom prst="rect">
            <a:avLst/>
          </a:prstGeom>
          <a:noFill/>
        </p:spPr>
        <p:txBody>
          <a:bodyPr wrap="square" rtlCol="0" anchor="ctr">
            <a:spAutoFit/>
          </a:bodyPr>
          <a:lstStyle/>
          <a:p>
            <a:pPr algn="l"/>
            <a:r>
              <a:rPr lang="en-US" sz="1333" baseline="0" dirty="0">
                <a:latin typeface="Arial" panose="020B0604020202020204" pitchFamily="34" charset="0"/>
                <a:cs typeface="Arial" panose="020B0604020202020204" pitchFamily="34" charset="0"/>
              </a:rPr>
              <a:t>Derived from:</a:t>
            </a:r>
          </a:p>
        </p:txBody>
      </p:sp>
      <p:sp>
        <p:nvSpPr>
          <p:cNvPr id="25" name="TextBox 24"/>
          <p:cNvSpPr txBox="1"/>
          <p:nvPr userDrawn="1"/>
        </p:nvSpPr>
        <p:spPr>
          <a:xfrm>
            <a:off x="6626322" y="5155490"/>
            <a:ext cx="1322541" cy="297454"/>
          </a:xfrm>
          <a:prstGeom prst="rect">
            <a:avLst/>
          </a:prstGeom>
          <a:noFill/>
        </p:spPr>
        <p:txBody>
          <a:bodyPr wrap="square" rtlCol="0" anchor="ctr">
            <a:spAutoFit/>
          </a:bodyPr>
          <a:lstStyle/>
          <a:p>
            <a:pPr algn="l"/>
            <a:r>
              <a:rPr lang="en-US" sz="1333" baseline="0" dirty="0">
                <a:latin typeface="Arial" panose="020B0604020202020204" pitchFamily="34" charset="0"/>
                <a:cs typeface="Arial" panose="020B0604020202020204" pitchFamily="34" charset="0"/>
              </a:rPr>
              <a:t>Declassify on:</a:t>
            </a:r>
            <a:endParaRPr lang="en-US" sz="1333" dirty="0">
              <a:latin typeface="Arial" panose="020B0604020202020204" pitchFamily="34" charset="0"/>
              <a:cs typeface="Arial" panose="020B0604020202020204" pitchFamily="34" charset="0"/>
            </a:endParaRPr>
          </a:p>
        </p:txBody>
      </p:sp>
      <p:sp>
        <p:nvSpPr>
          <p:cNvPr id="2" name="AACG_Title_Header_Shape">
            <a:extLst>
              <a:ext uri="{FF2B5EF4-FFF2-40B4-BE49-F238E27FC236}">
                <a16:creationId xmlns:a16="http://schemas.microsoft.com/office/drawing/2014/main" id="{D1E37F8B-DFB5-9B12-FF64-51C4028AAEF1}"/>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2E98BBB6-7012-64BC-8D66-9BAD3930E1BD}"/>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174874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2 (Follows Title Slide)">
    <p:spTree>
      <p:nvGrpSpPr>
        <p:cNvPr id="1" name=""/>
        <p:cNvGrpSpPr/>
        <p:nvPr/>
      </p:nvGrpSpPr>
      <p:grpSpPr>
        <a:xfrm>
          <a:off x="0" y="0"/>
          <a:ext cx="0" cy="0"/>
          <a:chOff x="0" y="0"/>
          <a:chExt cx="0" cy="0"/>
        </a:xfrm>
      </p:grpSpPr>
      <p:pic>
        <p:nvPicPr>
          <p:cNvPr id="12"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23175" y="5821207"/>
            <a:ext cx="640080" cy="640080"/>
          </a:xfrm>
          <a:prstGeom prst="rect">
            <a:avLst/>
          </a:prstGeom>
        </p:spPr>
      </p:pic>
      <p:sp>
        <p:nvSpPr>
          <p:cNvPr id="13" name="Title 1"/>
          <p:cNvSpPr>
            <a:spLocks noGrp="1"/>
          </p:cNvSpPr>
          <p:nvPr>
            <p:ph type="title" hasCustomPrompt="1"/>
          </p:nvPr>
        </p:nvSpPr>
        <p:spPr>
          <a:xfrm>
            <a:off x="609600" y="274639"/>
            <a:ext cx="10972800" cy="1143000"/>
          </a:xfrm>
        </p:spPr>
        <p:txBody>
          <a:bodyPr/>
          <a:lstStyle>
            <a:lvl1pPr>
              <a:defRPr/>
            </a:lvl1pPr>
          </a:lstStyle>
          <a:p>
            <a:r>
              <a:rPr lang="en-US" dirty="0"/>
              <a:t>Slide 2 (You must keep this slide for the animation to work correctly.)</a:t>
            </a:r>
          </a:p>
        </p:txBody>
      </p:sp>
      <p:sp>
        <p:nvSpPr>
          <p:cNvPr id="14" name="Content Placeholder 2"/>
          <p:cNvSpPr>
            <a:spLocks noGrp="1"/>
          </p:cNvSpPr>
          <p:nvPr>
            <p:ph idx="1"/>
          </p:nvPr>
        </p:nvSpPr>
        <p:spPr>
          <a:xfrm>
            <a:off x="609600" y="1600204"/>
            <a:ext cx="10972800" cy="4165599"/>
          </a:xfr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21" name="Rectangle 20"/>
          <p:cNvSpPr/>
          <p:nvPr/>
        </p:nvSpPr>
        <p:spPr>
          <a:xfrm>
            <a:off x="9537616" y="5480344"/>
            <a:ext cx="2654384" cy="1022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3746" y="5913670"/>
            <a:ext cx="414529" cy="432817"/>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76788" y="5909098"/>
            <a:ext cx="384049" cy="441961"/>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47280" y="5899954"/>
            <a:ext cx="377953" cy="460249"/>
          </a:xfrm>
          <a:prstGeom prst="rect">
            <a:avLst/>
          </a:prstGeom>
        </p:spPr>
      </p:pic>
      <p:pic>
        <p:nvPicPr>
          <p:cNvPr id="25" name="Content Placeholder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329026" y="5909097"/>
            <a:ext cx="437389" cy="437389"/>
          </a:xfrm>
          <a:prstGeom prst="rect">
            <a:avLst/>
          </a:prstGeom>
        </p:spPr>
      </p:pic>
      <p:pic>
        <p:nvPicPr>
          <p:cNvPr id="26" name="Picture 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5772" y="6076155"/>
            <a:ext cx="10847508" cy="128544"/>
          </a:xfrm>
          <a:prstGeom prst="rect">
            <a:avLst/>
          </a:prstGeom>
        </p:spPr>
      </p:pic>
      <p:sp>
        <p:nvSpPr>
          <p:cNvPr id="29"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30"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sp>
        <p:nvSpPr>
          <p:cNvPr id="2" name="AACG_Title_Header_Shape">
            <a:extLst>
              <a:ext uri="{FF2B5EF4-FFF2-40B4-BE49-F238E27FC236}">
                <a16:creationId xmlns:a16="http://schemas.microsoft.com/office/drawing/2014/main" id="{B08D6BB1-FD4F-A334-7CA8-1EF9E69CD444}"/>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3" name="AACG_Title_Footer_Shape">
            <a:extLst>
              <a:ext uri="{FF2B5EF4-FFF2-40B4-BE49-F238E27FC236}">
                <a16:creationId xmlns:a16="http://schemas.microsoft.com/office/drawing/2014/main" id="{4D57FBFD-1ED6-ACC8-7987-C9A3E68CE893}"/>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22695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70833E-6 1.11111E-6 L 2.70833E-6 0.25 " pathEditMode="relative" rAng="0" ptsTypes="AA">
                                      <p:cBhvr>
                                        <p:cTn id="6" dur="2000" fill="hold"/>
                                        <p:tgtEl>
                                          <p:spTgt spid="26"/>
                                        </p:tgtEl>
                                        <p:attrNameLst>
                                          <p:attrName>ppt_x</p:attrName>
                                          <p:attrName>ppt_y</p:attrName>
                                        </p:attrNameLst>
                                      </p:cBhvr>
                                      <p:rCtr x="0" y="12500"/>
                                    </p:animMotion>
                                  </p:childTnLst>
                                </p:cTn>
                              </p:par>
                              <p:par>
                                <p:cTn id="7" presetID="63" presetClass="path" presetSubtype="0" accel="50000" decel="50000" fill="hold" nodeType="withEffect">
                                  <p:stCondLst>
                                    <p:cond delay="0"/>
                                  </p:stCondLst>
                                  <p:childTnLst>
                                    <p:animMotion origin="layout" path="M 1.04167E-6 1.11022E-16 L 0.38685 1.11022E-16 " pathEditMode="relative" rAng="0" ptsTypes="AA">
                                      <p:cBhvr>
                                        <p:cTn id="8" dur="2000" fill="hold"/>
                                        <p:tgtEl>
                                          <p:spTgt spid="23"/>
                                        </p:tgtEl>
                                        <p:attrNameLst>
                                          <p:attrName>ppt_x</p:attrName>
                                          <p:attrName>ppt_y</p:attrName>
                                        </p:attrNameLst>
                                      </p:cBhvr>
                                      <p:rCtr x="19336" y="0"/>
                                    </p:animMotion>
                                  </p:childTnLst>
                                </p:cTn>
                              </p:par>
                              <p:par>
                                <p:cTn id="9" presetID="63" presetClass="path" presetSubtype="0" accel="50000" decel="50000" fill="hold" nodeType="withEffect">
                                  <p:stCondLst>
                                    <p:cond delay="30"/>
                                  </p:stCondLst>
                                  <p:childTnLst>
                                    <p:animMotion origin="layout" path="M 2.5E-6 1.11022E-16 L 0.39153 1.11022E-16 " pathEditMode="relative" rAng="0" ptsTypes="AA">
                                      <p:cBhvr>
                                        <p:cTn id="10" dur="2000" fill="hold"/>
                                        <p:tgtEl>
                                          <p:spTgt spid="22"/>
                                        </p:tgtEl>
                                        <p:attrNameLst>
                                          <p:attrName>ppt_x</p:attrName>
                                          <p:attrName>ppt_y</p:attrName>
                                        </p:attrNameLst>
                                      </p:cBhvr>
                                      <p:rCtr x="19570" y="0"/>
                                    </p:animMotion>
                                  </p:childTnLst>
                                </p:cTn>
                              </p:par>
                              <p:par>
                                <p:cTn id="11" presetID="63" presetClass="path" presetSubtype="0" accel="50000" decel="50000" fill="hold" nodeType="withEffect">
                                  <p:stCondLst>
                                    <p:cond delay="60"/>
                                  </p:stCondLst>
                                  <p:childTnLst>
                                    <p:animMotion origin="layout" path="M 3.54167E-6 1.11022E-16 L 0.39323 1.11022E-16 " pathEditMode="relative" rAng="0" ptsTypes="AA">
                                      <p:cBhvr>
                                        <p:cTn id="12" dur="2000" fill="hold"/>
                                        <p:tgtEl>
                                          <p:spTgt spid="24"/>
                                        </p:tgtEl>
                                        <p:attrNameLst>
                                          <p:attrName>ppt_x</p:attrName>
                                          <p:attrName>ppt_y</p:attrName>
                                        </p:attrNameLst>
                                      </p:cBhvr>
                                      <p:rCtr x="19661" y="0"/>
                                    </p:animMotion>
                                  </p:childTnLst>
                                </p:cTn>
                              </p:par>
                              <p:par>
                                <p:cTn id="13" presetID="42" presetClass="path" presetSubtype="0" accel="50000" decel="50000" fill="hold" nodeType="withEffect">
                                  <p:stCondLst>
                                    <p:cond delay="0"/>
                                  </p:stCondLst>
                                  <p:childTnLst>
                                    <p:animMotion origin="layout" path="M 3.33333E-6 1.48148E-6 L -0.07409 0.00023 " pathEditMode="relative" rAng="0" ptsTypes="AA">
                                      <p:cBhvr>
                                        <p:cTn id="14" dur="2000" fill="hold"/>
                                        <p:tgtEl>
                                          <p:spTgt spid="25"/>
                                        </p:tgtEl>
                                        <p:attrNameLst>
                                          <p:attrName>ppt_x</p:attrName>
                                          <p:attrName>ppt_y</p:attrName>
                                        </p:attrNameLst>
                                      </p:cBhvr>
                                      <p:rCtr x="-37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Type 1">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25763" y="5907999"/>
            <a:ext cx="437911" cy="438487"/>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4"/>
            <a:ext cx="10972800" cy="4165599"/>
          </a:xfrm>
        </p:spPr>
        <p:txBody>
          <a:bodyPr/>
          <a:lstStyle/>
          <a:p>
            <a:pPr lvl="0"/>
            <a:r>
              <a:rPr lang="en-US"/>
              <a:t>Edit Master text styles</a:t>
            </a:r>
          </a:p>
          <a:p>
            <a:pPr lvl="1"/>
            <a:r>
              <a:rPr lang="en-US"/>
              <a:t>Second level</a:t>
            </a:r>
          </a:p>
          <a:p>
            <a:pPr lvl="2"/>
            <a:r>
              <a:rPr lang="en-US"/>
              <a:t>Third level</a:t>
            </a:r>
          </a:p>
        </p:txBody>
      </p:sp>
      <p:sp>
        <p:nvSpPr>
          <p:cNvPr id="7"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8"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pic>
        <p:nvPicPr>
          <p:cNvPr id="17" name="Picture 16"/>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69673" y="5913670"/>
            <a:ext cx="414529" cy="432817"/>
          </a:xfrm>
          <a:prstGeom prst="rect">
            <a:avLst/>
          </a:prstGeom>
        </p:spPr>
      </p:pic>
      <p:pic>
        <p:nvPicPr>
          <p:cNvPr id="18" name="Picture 17"/>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93918" y="5909098"/>
            <a:ext cx="384049" cy="441961"/>
          </a:xfrm>
          <a:prstGeom prst="rect">
            <a:avLst/>
          </a:prstGeom>
        </p:spPr>
      </p:pic>
      <p:pic>
        <p:nvPicPr>
          <p:cNvPr id="19" name="Picture 1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141563" y="5899954"/>
            <a:ext cx="377953" cy="460249"/>
          </a:xfrm>
          <a:prstGeom prst="rect">
            <a:avLst/>
          </a:prstGeom>
        </p:spPr>
      </p:pic>
      <p:sp>
        <p:nvSpPr>
          <p:cNvPr id="5" name="AACG_Title_Header_Shape">
            <a:extLst>
              <a:ext uri="{FF2B5EF4-FFF2-40B4-BE49-F238E27FC236}">
                <a16:creationId xmlns:a16="http://schemas.microsoft.com/office/drawing/2014/main" id="{2B86A8C3-9332-B76C-B3C8-93BFD3086FD0}"/>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6" name="AACG_Title_Footer_Shape">
            <a:extLst>
              <a:ext uri="{FF2B5EF4-FFF2-40B4-BE49-F238E27FC236}">
                <a16:creationId xmlns:a16="http://schemas.microsoft.com/office/drawing/2014/main" id="{0DFC7B90-A922-B473-4816-02B5E5AFB4F7}"/>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271454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Typ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4"/>
            <a:ext cx="5486400" cy="4165599"/>
          </a:xfrm>
        </p:spPr>
        <p:txBody>
          <a:bodyPr/>
          <a:lstStyle/>
          <a:p>
            <a:pPr lvl="0"/>
            <a:r>
              <a:rPr lang="en-US"/>
              <a:t>Edit Master text styles</a:t>
            </a:r>
          </a:p>
          <a:p>
            <a:pPr lvl="1"/>
            <a:r>
              <a:rPr lang="en-US"/>
              <a:t>Second level</a:t>
            </a:r>
          </a:p>
          <a:p>
            <a:pPr lvl="2"/>
            <a:r>
              <a:rPr lang="en-US"/>
              <a:t>Third level</a:t>
            </a:r>
          </a:p>
        </p:txBody>
      </p:sp>
      <p:sp>
        <p:nvSpPr>
          <p:cNvPr id="9" name="Picture Placeholder 8"/>
          <p:cNvSpPr>
            <a:spLocks noGrp="1"/>
          </p:cNvSpPr>
          <p:nvPr>
            <p:ph type="pic" sz="quarter" idx="15"/>
          </p:nvPr>
        </p:nvSpPr>
        <p:spPr>
          <a:xfrm>
            <a:off x="6197600" y="1600200"/>
            <a:ext cx="5384800" cy="4165600"/>
          </a:xfrm>
        </p:spPr>
        <p:txBody>
          <a:bodyPr/>
          <a:lstStyle/>
          <a:p>
            <a:r>
              <a:rPr lang="en-US"/>
              <a:t>Click icon to add picture</a:t>
            </a:r>
            <a:endParaRPr lang="en-US" dirty="0"/>
          </a:p>
        </p:txBody>
      </p:sp>
      <p:sp>
        <p:nvSpPr>
          <p:cNvPr id="8" name="Text Placeholder 7"/>
          <p:cNvSpPr>
            <a:spLocks noGrp="1"/>
          </p:cNvSpPr>
          <p:nvPr>
            <p:ph type="body" sz="quarter" idx="16"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10" name="Text Placeholder 7"/>
          <p:cNvSpPr>
            <a:spLocks noGrp="1"/>
          </p:cNvSpPr>
          <p:nvPr>
            <p:ph type="body" sz="quarter" idx="17"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pic>
        <p:nvPicPr>
          <p:cNvPr id="13" name="Picture 12"/>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25763" y="5907999"/>
            <a:ext cx="437911" cy="438487"/>
          </a:xfrm>
          <a:prstGeom prst="rect">
            <a:avLst/>
          </a:prstGeom>
        </p:spPr>
      </p:pic>
      <p:pic>
        <p:nvPicPr>
          <p:cNvPr id="14" name="Picture 13"/>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69673" y="5913670"/>
            <a:ext cx="414529" cy="432817"/>
          </a:xfrm>
          <a:prstGeom prst="rect">
            <a:avLst/>
          </a:prstGeom>
        </p:spPr>
      </p:pic>
      <p:pic>
        <p:nvPicPr>
          <p:cNvPr id="15" name="Picture 14"/>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93918" y="5909098"/>
            <a:ext cx="384049" cy="441961"/>
          </a:xfrm>
          <a:prstGeom prst="rect">
            <a:avLst/>
          </a:prstGeom>
        </p:spPr>
      </p:pic>
      <p:pic>
        <p:nvPicPr>
          <p:cNvPr id="16" name="Picture 15"/>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141563" y="5899954"/>
            <a:ext cx="377953" cy="460249"/>
          </a:xfrm>
          <a:prstGeom prst="rect">
            <a:avLst/>
          </a:prstGeom>
        </p:spPr>
      </p:pic>
      <p:sp>
        <p:nvSpPr>
          <p:cNvPr id="4" name="AACG_Title_Header_Shape">
            <a:extLst>
              <a:ext uri="{FF2B5EF4-FFF2-40B4-BE49-F238E27FC236}">
                <a16:creationId xmlns:a16="http://schemas.microsoft.com/office/drawing/2014/main" id="{E815F55D-1DFA-1B8C-AE1F-2B4A80F55E68}"/>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BBEBC949-05E3-2E7A-80D3-EE88629FEF99}"/>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105393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Blank">
    <p:spTree>
      <p:nvGrpSpPr>
        <p:cNvPr id="1" name=""/>
        <p:cNvGrpSpPr/>
        <p:nvPr/>
      </p:nvGrpSpPr>
      <p:grpSpPr>
        <a:xfrm>
          <a:off x="0" y="0"/>
          <a:ext cx="0" cy="0"/>
          <a:chOff x="0" y="0"/>
          <a:chExt cx="0" cy="0"/>
        </a:xfrm>
      </p:grpSpPr>
      <p:sp>
        <p:nvSpPr>
          <p:cNvPr id="2"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3"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pic>
        <p:nvPicPr>
          <p:cNvPr id="10" name="Picture 9"/>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25763" y="5907999"/>
            <a:ext cx="437911" cy="438487"/>
          </a:xfrm>
          <a:prstGeom prst="rect">
            <a:avLst/>
          </a:prstGeom>
        </p:spPr>
      </p:pic>
      <p:pic>
        <p:nvPicPr>
          <p:cNvPr id="11" name="Picture 10"/>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69673" y="5913670"/>
            <a:ext cx="414529" cy="432817"/>
          </a:xfrm>
          <a:prstGeom prst="rect">
            <a:avLst/>
          </a:prstGeom>
        </p:spPr>
      </p:pic>
      <p:pic>
        <p:nvPicPr>
          <p:cNvPr id="12" name="Picture 11"/>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93918" y="5909098"/>
            <a:ext cx="384049" cy="441961"/>
          </a:xfrm>
          <a:prstGeom prst="rect">
            <a:avLst/>
          </a:prstGeom>
        </p:spPr>
      </p:pic>
      <p:pic>
        <p:nvPicPr>
          <p:cNvPr id="13" name="Picture 12"/>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141563" y="5899954"/>
            <a:ext cx="377953" cy="460249"/>
          </a:xfrm>
          <a:prstGeom prst="rect">
            <a:avLst/>
          </a:prstGeom>
        </p:spPr>
      </p:pic>
      <p:sp>
        <p:nvSpPr>
          <p:cNvPr id="4" name="AACG_Title_Header_Shape">
            <a:extLst>
              <a:ext uri="{FF2B5EF4-FFF2-40B4-BE49-F238E27FC236}">
                <a16:creationId xmlns:a16="http://schemas.microsoft.com/office/drawing/2014/main" id="{BDA6390E-A3A5-7123-A5C7-ABB35E502748}"/>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3B6FED3F-08DA-E2DC-8860-577421A56DBD}"/>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1364409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Blank No Seal">
    <p:spTree>
      <p:nvGrpSpPr>
        <p:cNvPr id="1" name=""/>
        <p:cNvGrpSpPr/>
        <p:nvPr/>
      </p:nvGrpSpPr>
      <p:grpSpPr>
        <a:xfrm>
          <a:off x="0" y="0"/>
          <a:ext cx="0" cy="0"/>
          <a:chOff x="0" y="0"/>
          <a:chExt cx="0" cy="0"/>
        </a:xfrm>
      </p:grpSpPr>
      <p:sp>
        <p:nvSpPr>
          <p:cNvPr id="2"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3"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sp>
        <p:nvSpPr>
          <p:cNvPr id="4" name="AACG_Title_Header_Shape">
            <a:extLst>
              <a:ext uri="{FF2B5EF4-FFF2-40B4-BE49-F238E27FC236}">
                <a16:creationId xmlns:a16="http://schemas.microsoft.com/office/drawing/2014/main" id="{603155A4-23AC-56B3-0CED-38A5C69AEE70}"/>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F049E509-D504-078A-3F07-BC2D24E5A4BF}"/>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66514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tatic Closing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11582400" y="6147763"/>
            <a:ext cx="508000" cy="365125"/>
          </a:xfrm>
          <a:prstGeom prst="rect">
            <a:avLst/>
          </a:prstGeom>
        </p:spPr>
        <p:txBody>
          <a:bodyPr/>
          <a:lstStyle/>
          <a:p>
            <a:fld id="{D57E5131-616D-48EB-A119-F77537C6876A}" type="slidenum">
              <a:rPr lang="en-US" smtClean="0"/>
              <a:t>‹#›</a:t>
            </a:fld>
            <a:endParaRPr lang="en-US"/>
          </a:p>
        </p:txBody>
      </p:sp>
      <p:sp>
        <p:nvSpPr>
          <p:cNvPr id="4"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6"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47758" y="2995449"/>
            <a:ext cx="7896483" cy="892502"/>
          </a:xfrm>
          <a:prstGeom prst="rect">
            <a:avLst/>
          </a:prstGeom>
        </p:spPr>
      </p:pic>
      <p:sp>
        <p:nvSpPr>
          <p:cNvPr id="2" name="AACG_Title_Header_Shape">
            <a:extLst>
              <a:ext uri="{FF2B5EF4-FFF2-40B4-BE49-F238E27FC236}">
                <a16:creationId xmlns:a16="http://schemas.microsoft.com/office/drawing/2014/main" id="{5CDEC8A0-EFE9-7A05-C972-0723145713C9}"/>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1EFD3BF8-53D3-AE16-90E0-B65825605EAF}"/>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1537318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Internal Animated Closing Slide">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69673" y="5913670"/>
            <a:ext cx="414529" cy="43281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3918" y="5909098"/>
            <a:ext cx="384049" cy="44196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1563" y="5899954"/>
            <a:ext cx="377953" cy="460249"/>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8795" y="1775720"/>
            <a:ext cx="2621252" cy="2614513"/>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5667" y="7533508"/>
            <a:ext cx="10847508" cy="128544"/>
          </a:xfrm>
          <a:prstGeom prst="rect">
            <a:avLst/>
          </a:prstGeom>
        </p:spPr>
      </p:pic>
      <p:graphicFrame>
        <p:nvGraphicFramePr>
          <p:cNvPr id="11" name="Object 10"/>
          <p:cNvGraphicFramePr>
            <a:graphicFrameLocks noChangeAspect="1"/>
          </p:cNvGraphicFramePr>
          <p:nvPr/>
        </p:nvGraphicFramePr>
        <p:xfrm>
          <a:off x="11936279" y="-610"/>
          <a:ext cx="249543" cy="2591410"/>
        </p:xfrm>
        <a:graphic>
          <a:graphicData uri="http://schemas.openxmlformats.org/presentationml/2006/ole">
            <mc:AlternateContent xmlns:mc="http://schemas.openxmlformats.org/markup-compatibility/2006">
              <mc:Choice xmlns:v="urn:schemas-microsoft-com:vml" Requires="v">
                <p:oleObj name="Image" r:id="rId7" imgW="330120" imgH="3428280" progId="Photoshop.Image.13">
                  <p:embed/>
                </p:oleObj>
              </mc:Choice>
              <mc:Fallback>
                <p:oleObj name="Image" r:id="rId7" imgW="330120" imgH="3428280" progId="Photoshop.Image.13">
                  <p:embed/>
                  <p:pic>
                    <p:nvPicPr>
                      <p:cNvPr id="0" name=""/>
                      <p:cNvPicPr/>
                      <p:nvPr/>
                    </p:nvPicPr>
                    <p:blipFill>
                      <a:blip r:embed="rId8"/>
                      <a:stretch>
                        <a:fillRect/>
                      </a:stretch>
                    </p:blipFill>
                    <p:spPr>
                      <a:xfrm>
                        <a:off x="11936279" y="-610"/>
                        <a:ext cx="249543" cy="2591410"/>
                      </a:xfrm>
                      <a:prstGeom prst="rect">
                        <a:avLst/>
                      </a:prstGeom>
                    </p:spPr>
                  </p:pic>
                </p:oleObj>
              </mc:Fallback>
            </mc:AlternateContent>
          </a:graphicData>
        </a:graphic>
      </p:graphicFrame>
      <p:pic>
        <p:nvPicPr>
          <p:cNvPr id="12" name="Content Placeholder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423175" y="5909097"/>
            <a:ext cx="437389" cy="437389"/>
          </a:xfrm>
          <a:prstGeom prst="rect">
            <a:avLst/>
          </a:prstGeom>
        </p:spPr>
      </p:pic>
      <p:sp>
        <p:nvSpPr>
          <p:cNvPr id="13" name="Text Placeholder 7"/>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14" name="Text Placeholder 7"/>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sp>
        <p:nvSpPr>
          <p:cNvPr id="2" name="AACG_Title_Header_Shape">
            <a:extLst>
              <a:ext uri="{FF2B5EF4-FFF2-40B4-BE49-F238E27FC236}">
                <a16:creationId xmlns:a16="http://schemas.microsoft.com/office/drawing/2014/main" id="{70C6C272-9E95-97DD-12E3-571442C9ECD9}"/>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3" name="AACG_Title_Footer_Shape">
            <a:extLst>
              <a:ext uri="{FF2B5EF4-FFF2-40B4-BE49-F238E27FC236}">
                <a16:creationId xmlns:a16="http://schemas.microsoft.com/office/drawing/2014/main" id="{8DDAF31A-4822-2F15-9BB9-6993025F3D34}"/>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05179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375E-6 1.11022E-16 L -0.39323 0.00023 " pathEditMode="relative" rAng="0" ptsTypes="AA">
                                      <p:cBhvr>
                                        <p:cTn id="6" dur="2000" fill="hold"/>
                                        <p:tgtEl>
                                          <p:spTgt spid="8"/>
                                        </p:tgtEl>
                                        <p:attrNameLst>
                                          <p:attrName>ppt_x</p:attrName>
                                          <p:attrName>ppt_y</p:attrName>
                                        </p:attrNameLst>
                                      </p:cBhvr>
                                      <p:rCtr x="-19661" y="0"/>
                                    </p:animMotion>
                                  </p:childTnLst>
                                </p:cTn>
                              </p:par>
                              <p:par>
                                <p:cTn id="7" presetID="42" presetClass="path" presetSubtype="0" accel="50000" decel="50000" fill="hold" nodeType="withEffect">
                                  <p:stCondLst>
                                    <p:cond delay="30"/>
                                  </p:stCondLst>
                                  <p:childTnLst>
                                    <p:animMotion origin="layout" path="M -4.16667E-6 1.11022E-16 L -0.39166 0.00023 " pathEditMode="relative" rAng="0" ptsTypes="AA">
                                      <p:cBhvr>
                                        <p:cTn id="8" dur="2000" fill="hold"/>
                                        <p:tgtEl>
                                          <p:spTgt spid="6"/>
                                        </p:tgtEl>
                                        <p:attrNameLst>
                                          <p:attrName>ppt_x</p:attrName>
                                          <p:attrName>ppt_y</p:attrName>
                                        </p:attrNameLst>
                                      </p:cBhvr>
                                      <p:rCtr x="-19583" y="0"/>
                                    </p:animMotion>
                                  </p:childTnLst>
                                </p:cTn>
                              </p:par>
                              <p:par>
                                <p:cTn id="9" presetID="42" presetClass="path" presetSubtype="0" accel="50000" decel="50000" fill="hold" nodeType="withEffect">
                                  <p:stCondLst>
                                    <p:cond delay="60"/>
                                  </p:stCondLst>
                                  <p:childTnLst>
                                    <p:animMotion origin="layout" path="M 2.08333E-6 1.11022E-16 L -0.38685 -0.00046 " pathEditMode="relative" rAng="0" ptsTypes="AA">
                                      <p:cBhvr>
                                        <p:cTn id="10" dur="2000" fill="hold"/>
                                        <p:tgtEl>
                                          <p:spTgt spid="7"/>
                                        </p:tgtEl>
                                        <p:attrNameLst>
                                          <p:attrName>ppt_x</p:attrName>
                                          <p:attrName>ppt_y</p:attrName>
                                        </p:attrNameLst>
                                      </p:cBhvr>
                                      <p:rCtr x="-19349" y="-23"/>
                                    </p:animMotion>
                                  </p:childTnLst>
                                </p:cTn>
                              </p:par>
                              <p:par>
                                <p:cTn id="11" presetID="42" presetClass="path" presetSubtype="0" accel="50000" decel="50000" fill="hold" nodeType="withEffect">
                                  <p:stCondLst>
                                    <p:cond delay="70"/>
                                  </p:stCondLst>
                                  <p:childTnLst>
                                    <p:animMotion origin="layout" path="M 2.70833E-6 -3.7037E-7 L -0.00013 -0.21227 " pathEditMode="relative" rAng="0" ptsTypes="AA">
                                      <p:cBhvr>
                                        <p:cTn id="12" dur="2000" fill="hold"/>
                                        <p:tgtEl>
                                          <p:spTgt spid="10"/>
                                        </p:tgtEl>
                                        <p:attrNameLst>
                                          <p:attrName>ppt_x</p:attrName>
                                          <p:attrName>ppt_y</p:attrName>
                                        </p:attrNameLst>
                                      </p:cBhvr>
                                      <p:rCtr x="-13" y="-10625"/>
                                    </p:animMotion>
                                  </p:childTnLst>
                                </p:cTn>
                              </p:par>
                              <p:par>
                                <p:cTn id="13" presetID="10" presetClass="entr" presetSubtype="0" fill="hold" nodeType="withEffect">
                                  <p:stCondLst>
                                    <p:cond delay="1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par>
                                <p:cTn id="16" presetID="2" presetClass="exit" presetSubtype="2" fill="hold" nodeType="withEffect">
                                  <p:stCondLst>
                                    <p:cond delay="0"/>
                                  </p:stCondLst>
                                  <p:childTnLst>
                                    <p:anim calcmode="lin" valueType="num">
                                      <p:cBhvr additive="base">
                                        <p:cTn id="17" dur="500"/>
                                        <p:tgtEl>
                                          <p:spTgt spid="11"/>
                                        </p:tgtEl>
                                        <p:attrNameLst>
                                          <p:attrName>ppt_x</p:attrName>
                                        </p:attrNameLst>
                                      </p:cBhvr>
                                      <p:tavLst>
                                        <p:tav tm="0">
                                          <p:val>
                                            <p:strVal val="ppt_x"/>
                                          </p:val>
                                        </p:tav>
                                        <p:tav tm="100000">
                                          <p:val>
                                            <p:strVal val="1+ppt_w/2"/>
                                          </p:val>
                                        </p:tav>
                                      </p:tavLst>
                                    </p:anim>
                                    <p:anim calcmode="lin" valueType="num">
                                      <p:cBhvr additive="base">
                                        <p:cTn id="18" dur="500"/>
                                        <p:tgtEl>
                                          <p:spTgt spid="11"/>
                                        </p:tgtEl>
                                        <p:attrNameLst>
                                          <p:attrName>ppt_y</p:attrName>
                                        </p:attrNameLst>
                                      </p:cBhvr>
                                      <p:tavLst>
                                        <p:tav tm="0">
                                          <p:val>
                                            <p:strVal val="ppt_y"/>
                                          </p:val>
                                        </p:tav>
                                        <p:tav tm="100000">
                                          <p:val>
                                            <p:strVal val="ppt_y"/>
                                          </p:val>
                                        </p:tav>
                                      </p:tavLst>
                                    </p:anim>
                                    <p:set>
                                      <p:cBhvr>
                                        <p:cTn id="19" dur="1" fill="hold">
                                          <p:stCondLst>
                                            <p:cond delay="499"/>
                                          </p:stCondLst>
                                        </p:cTn>
                                        <p:tgtEl>
                                          <p:spTgt spid="11"/>
                                        </p:tgtEl>
                                        <p:attrNameLst>
                                          <p:attrName>style.visibility</p:attrName>
                                        </p:attrNameLst>
                                      </p:cBhvr>
                                      <p:to>
                                        <p:strVal val="hidden"/>
                                      </p:to>
                                    </p:set>
                                  </p:childTnLst>
                                </p:cTn>
                              </p:par>
                              <p:par>
                                <p:cTn id="20" presetID="2" presetClass="exit" presetSubtype="2" fill="hold" nodeType="withEffect">
                                  <p:stCondLst>
                                    <p:cond delay="300"/>
                                  </p:stCondLst>
                                  <p:childTnLst>
                                    <p:anim calcmode="lin" valueType="num">
                                      <p:cBhvr additive="base">
                                        <p:cTn id="21" dur="500"/>
                                        <p:tgtEl>
                                          <p:spTgt spid="12"/>
                                        </p:tgtEl>
                                        <p:attrNameLst>
                                          <p:attrName>ppt_x</p:attrName>
                                        </p:attrNameLst>
                                      </p:cBhvr>
                                      <p:tavLst>
                                        <p:tav tm="0">
                                          <p:val>
                                            <p:strVal val="ppt_x"/>
                                          </p:val>
                                        </p:tav>
                                        <p:tav tm="100000">
                                          <p:val>
                                            <p:strVal val="1+ppt_w/2"/>
                                          </p:val>
                                        </p:tav>
                                      </p:tavLst>
                                    </p:anim>
                                    <p:anim calcmode="lin" valueType="num">
                                      <p:cBhvr additive="base">
                                        <p:cTn id="22" dur="500"/>
                                        <p:tgtEl>
                                          <p:spTgt spid="12"/>
                                        </p:tgtEl>
                                        <p:attrNameLst>
                                          <p:attrName>ppt_y</p:attrName>
                                        </p:attrNameLst>
                                      </p:cBhvr>
                                      <p:tavLst>
                                        <p:tav tm="0">
                                          <p:val>
                                            <p:strVal val="ppt_y"/>
                                          </p:val>
                                        </p:tav>
                                        <p:tav tm="100000">
                                          <p:val>
                                            <p:strVal val="ppt_y"/>
                                          </p:val>
                                        </p:tav>
                                      </p:tavLst>
                                    </p:anim>
                                    <p:set>
                                      <p:cBhvr>
                                        <p:cTn id="23"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xternal Animated Closing Slide">
    <p:spTree>
      <p:nvGrpSpPr>
        <p:cNvPr id="1" name=""/>
        <p:cNvGrpSpPr/>
        <p:nvPr/>
      </p:nvGrpSpPr>
      <p:grpSpPr>
        <a:xfrm>
          <a:off x="0" y="0"/>
          <a:ext cx="0" cy="0"/>
          <a:chOff x="0" y="0"/>
          <a:chExt cx="0" cy="0"/>
        </a:xfrm>
      </p:grpSpPr>
      <p:pic>
        <p:nvPicPr>
          <p:cNvPr id="2" name="Social Media Block"/>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10578" y="2676223"/>
            <a:ext cx="9170848" cy="1036536"/>
          </a:xfrm>
          <a:prstGeom prst="rect">
            <a:avLst/>
          </a:prstGeom>
        </p:spPr>
      </p:pic>
      <p:pic>
        <p:nvPicPr>
          <p:cNvPr id="13" name="Army Imag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 y="991802"/>
            <a:ext cx="12192000" cy="4405376"/>
          </a:xfrm>
          <a:prstGeom prst="rect">
            <a:avLst/>
          </a:prstGeom>
          <a:noFill/>
          <a:extLst>
            <a:ext uri="{909E8E84-426E-40DD-AFC4-6F175D3DCCD1}">
              <a14:hiddenFill xmlns:a14="http://schemas.microsoft.com/office/drawing/2010/main">
                <a:solidFill>
                  <a:srgbClr val="FFFFFF"/>
                </a:solidFill>
              </a14:hiddenFill>
            </a:ext>
          </a:extLst>
        </p:spPr>
      </p:pic>
      <p:pic>
        <p:nvPicPr>
          <p:cNvPr id="15" name="Sitting Image"/>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 y="991802"/>
            <a:ext cx="12192000" cy="4405376"/>
          </a:xfrm>
          <a:prstGeom prst="rect">
            <a:avLst/>
          </a:prstGeom>
          <a:noFill/>
          <a:extLst>
            <a:ext uri="{909E8E84-426E-40DD-AFC4-6F175D3DCCD1}">
              <a14:hiddenFill xmlns:a14="http://schemas.microsoft.com/office/drawing/2010/main">
                <a:solidFill>
                  <a:srgbClr val="FFFFFF"/>
                </a:solidFill>
              </a14:hiddenFill>
            </a:ext>
          </a:extLst>
        </p:spPr>
      </p:pic>
      <p:pic>
        <p:nvPicPr>
          <p:cNvPr id="16" name="Navy Image"/>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 y="991802"/>
            <a:ext cx="12192000" cy="4405376"/>
          </a:xfrm>
          <a:prstGeom prst="rect">
            <a:avLst/>
          </a:prstGeom>
          <a:noFill/>
          <a:extLst>
            <a:ext uri="{909E8E84-426E-40DD-AFC4-6F175D3DCCD1}">
              <a14:hiddenFill xmlns:a14="http://schemas.microsoft.com/office/drawing/2010/main">
                <a:solidFill>
                  <a:srgbClr val="FFFFFF"/>
                </a:solidFill>
              </a14:hiddenFill>
            </a:ext>
          </a:extLst>
        </p:spPr>
      </p:pic>
      <p:sp>
        <p:nvSpPr>
          <p:cNvPr id="17" name="Know the Earth Text"/>
          <p:cNvSpPr txBox="1"/>
          <p:nvPr/>
        </p:nvSpPr>
        <p:spPr>
          <a:xfrm>
            <a:off x="1476188" y="5452647"/>
            <a:ext cx="9239627" cy="338554"/>
          </a:xfrm>
          <a:prstGeom prst="rect">
            <a:avLst/>
          </a:prstGeom>
          <a:noFill/>
        </p:spPr>
        <p:txBody>
          <a:bodyPr wrap="square" rtlCol="0">
            <a:spAutoFit/>
          </a:bodyPr>
          <a:lstStyle/>
          <a:p>
            <a:pPr algn="ctr"/>
            <a:r>
              <a:rPr lang="en-US" sz="1600" spc="800" dirty="0"/>
              <a:t>KNOW THE EARTH</a:t>
            </a:r>
          </a:p>
        </p:txBody>
      </p:sp>
      <p:sp>
        <p:nvSpPr>
          <p:cNvPr id="18" name="Show the Way Text"/>
          <p:cNvSpPr txBox="1"/>
          <p:nvPr/>
        </p:nvSpPr>
        <p:spPr>
          <a:xfrm>
            <a:off x="1476188" y="5452647"/>
            <a:ext cx="9239627" cy="338554"/>
          </a:xfrm>
          <a:prstGeom prst="rect">
            <a:avLst/>
          </a:prstGeom>
          <a:noFill/>
        </p:spPr>
        <p:txBody>
          <a:bodyPr wrap="square" rtlCol="0">
            <a:spAutoFit/>
          </a:bodyPr>
          <a:lstStyle/>
          <a:p>
            <a:pPr algn="ctr"/>
            <a:r>
              <a:rPr lang="en-US" sz="1600" spc="800" dirty="0"/>
              <a:t>SHOW THE WAY</a:t>
            </a:r>
          </a:p>
        </p:txBody>
      </p:sp>
      <p:sp>
        <p:nvSpPr>
          <p:cNvPr id="19" name="Understand the World Text"/>
          <p:cNvSpPr txBox="1"/>
          <p:nvPr/>
        </p:nvSpPr>
        <p:spPr>
          <a:xfrm>
            <a:off x="1476188" y="5450500"/>
            <a:ext cx="9239627" cy="338554"/>
          </a:xfrm>
          <a:prstGeom prst="rect">
            <a:avLst/>
          </a:prstGeom>
          <a:noFill/>
        </p:spPr>
        <p:txBody>
          <a:bodyPr wrap="square" rtlCol="0">
            <a:spAutoFit/>
          </a:bodyPr>
          <a:lstStyle/>
          <a:p>
            <a:pPr algn="ctr"/>
            <a:r>
              <a:rPr lang="en-US" sz="1600" spc="800" dirty="0"/>
              <a:t>UNDERSTAND THE WORLD</a:t>
            </a:r>
          </a:p>
        </p:txBody>
      </p:sp>
      <p:pic>
        <p:nvPicPr>
          <p:cNvPr id="20" name="Air Force Image"/>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 y="991805"/>
            <a:ext cx="12192001" cy="4405375"/>
          </a:xfrm>
          <a:prstGeom prst="rect">
            <a:avLst/>
          </a:prstGeom>
          <a:noFill/>
          <a:extLst>
            <a:ext uri="{909E8E84-426E-40DD-AFC4-6F175D3DCCD1}">
              <a14:hiddenFill xmlns:a14="http://schemas.microsoft.com/office/drawing/2010/main">
                <a:solidFill>
                  <a:srgbClr val="FFFFFF"/>
                </a:solidFill>
              </a14:hiddenFill>
            </a:ext>
          </a:extLst>
        </p:spPr>
      </p:pic>
      <p:pic>
        <p:nvPicPr>
          <p:cNvPr id="21" name="Surveyor Image"/>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 y="991802"/>
            <a:ext cx="12192000" cy="4405376"/>
          </a:xfrm>
          <a:prstGeom prst="rect">
            <a:avLst/>
          </a:prstGeom>
          <a:noFill/>
          <a:extLst>
            <a:ext uri="{909E8E84-426E-40DD-AFC4-6F175D3DCCD1}">
              <a14:hiddenFill xmlns:a14="http://schemas.microsoft.com/office/drawing/2010/main">
                <a:solidFill>
                  <a:srgbClr val="FFFFFF"/>
                </a:solidFill>
              </a14:hiddenFill>
            </a:ext>
          </a:extLst>
        </p:spPr>
      </p:pic>
      <p:sp>
        <p:nvSpPr>
          <p:cNvPr id="22" name="White Box"/>
          <p:cNvSpPr/>
          <p:nvPr/>
        </p:nvSpPr>
        <p:spPr>
          <a:xfrm>
            <a:off x="3803183" y="5481277"/>
            <a:ext cx="4409689" cy="276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lassification bar bottom"/>
          <p:cNvSpPr>
            <a:spLocks noGrp="1"/>
          </p:cNvSpPr>
          <p:nvPr>
            <p:ph type="body" sz="quarter" idx="15" hasCustomPrompt="1"/>
          </p:nvPr>
        </p:nvSpPr>
        <p:spPr>
          <a:xfrm>
            <a:off x="0" y="6502400"/>
            <a:ext cx="12192000" cy="279400"/>
          </a:xfrm>
        </p:spPr>
        <p:txBody>
          <a:bodyPr anchor="ctr">
            <a:normAutofit/>
          </a:bodyPr>
          <a:lstStyle>
            <a:lvl1pPr algn="r">
              <a:defRPr sz="1733">
                <a:solidFill>
                  <a:srgbClr val="192F43"/>
                </a:solidFill>
                <a:latin typeface="Franklin Gothic Medium Cond" panose="020B0606030402020204" pitchFamily="34" charset="0"/>
              </a:defRPr>
            </a:lvl1pPr>
          </a:lstStyle>
          <a:p>
            <a:pPr lvl="0"/>
            <a:r>
              <a:rPr lang="en-US" dirty="0"/>
              <a:t>CLASSIFICATION</a:t>
            </a:r>
          </a:p>
        </p:txBody>
      </p:sp>
      <p:sp>
        <p:nvSpPr>
          <p:cNvPr id="23" name="classification bar top"/>
          <p:cNvSpPr>
            <a:spLocks noGrp="1"/>
          </p:cNvSpPr>
          <p:nvPr>
            <p:ph type="body" sz="quarter" idx="16" hasCustomPrompt="1"/>
          </p:nvPr>
        </p:nvSpPr>
        <p:spPr>
          <a:xfrm>
            <a:off x="0" y="101600"/>
            <a:ext cx="12192000" cy="279400"/>
          </a:xfrm>
        </p:spPr>
        <p:txBody>
          <a:bodyPr anchor="ctr">
            <a:normAutofit/>
          </a:bodyPr>
          <a:lstStyle>
            <a:lvl1pPr>
              <a:defRPr sz="1733">
                <a:solidFill>
                  <a:srgbClr val="192F43"/>
                </a:solidFill>
                <a:latin typeface="Franklin Gothic Medium Cond" panose="020B0606030402020204" pitchFamily="34" charset="0"/>
              </a:defRPr>
            </a:lvl1pPr>
          </a:lstStyle>
          <a:p>
            <a:pPr lvl="0"/>
            <a:r>
              <a:rPr lang="en-US" dirty="0"/>
              <a:t>CLASSIFICATION</a:t>
            </a:r>
          </a:p>
        </p:txBody>
      </p:sp>
      <p:sp>
        <p:nvSpPr>
          <p:cNvPr id="3" name="AACG_Title_Header_Shape">
            <a:extLst>
              <a:ext uri="{FF2B5EF4-FFF2-40B4-BE49-F238E27FC236}">
                <a16:creationId xmlns:a16="http://schemas.microsoft.com/office/drawing/2014/main" id="{B6006482-36B2-D4DB-97B1-F49D2567A636}"/>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4" name="AACG_Title_Footer_Shape">
            <a:extLst>
              <a:ext uri="{FF2B5EF4-FFF2-40B4-BE49-F238E27FC236}">
                <a16:creationId xmlns:a16="http://schemas.microsoft.com/office/drawing/2014/main" id="{D82E948B-89A9-E120-5D9C-A4B36046BE40}"/>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79971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par>
                                <p:cTn id="8" presetID="10" presetClass="exit" presetSubtype="0" fill="hold" nodeType="withEffect">
                                  <p:stCondLst>
                                    <p:cond delay="2200"/>
                                  </p:stCondLst>
                                  <p:childTnLst>
                                    <p:animEffect transition="out" filter="fade">
                                      <p:cBhvr>
                                        <p:cTn id="9" dur="2100"/>
                                        <p:tgtEl>
                                          <p:spTgt spid="21"/>
                                        </p:tgtEl>
                                      </p:cBhvr>
                                    </p:animEffect>
                                    <p:set>
                                      <p:cBhvr>
                                        <p:cTn id="10" dur="1" fill="hold">
                                          <p:stCondLst>
                                            <p:cond delay="2099"/>
                                          </p:stCondLst>
                                        </p:cTn>
                                        <p:tgtEl>
                                          <p:spTgt spid="21"/>
                                        </p:tgtEl>
                                        <p:attrNameLst>
                                          <p:attrName>style.visibility</p:attrName>
                                        </p:attrNameLst>
                                      </p:cBhvr>
                                      <p:to>
                                        <p:strVal val="hidden"/>
                                      </p:to>
                                    </p:set>
                                  </p:childTnLst>
                                </p:cTn>
                              </p:par>
                              <p:par>
                                <p:cTn id="11" presetID="10" presetClass="entr" presetSubtype="0" fill="hold" grpId="0" nodeType="withEffect">
                                  <p:stCondLst>
                                    <p:cond delay="1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700"/>
                                        <p:tgtEl>
                                          <p:spTgt spid="17"/>
                                        </p:tgtEl>
                                      </p:cBhvr>
                                    </p:animEffect>
                                  </p:childTnLst>
                                </p:cTn>
                              </p:par>
                              <p:par>
                                <p:cTn id="14" presetID="10" presetClass="exit" presetSubtype="0" fill="hold" nodeType="withEffect">
                                  <p:stCondLst>
                                    <p:cond delay="4900"/>
                                  </p:stCondLst>
                                  <p:childTnLst>
                                    <p:animEffect transition="out" filter="fade">
                                      <p:cBhvr>
                                        <p:cTn id="15" dur="1400"/>
                                        <p:tgtEl>
                                          <p:spTgt spid="20"/>
                                        </p:tgtEl>
                                      </p:cBhvr>
                                    </p:animEffect>
                                    <p:set>
                                      <p:cBhvr>
                                        <p:cTn id="16" dur="1" fill="hold">
                                          <p:stCondLst>
                                            <p:cond delay="1399"/>
                                          </p:stCondLst>
                                        </p:cTn>
                                        <p:tgtEl>
                                          <p:spTgt spid="20"/>
                                        </p:tgtEl>
                                        <p:attrNameLst>
                                          <p:attrName>style.visibility</p:attrName>
                                        </p:attrNameLst>
                                      </p:cBhvr>
                                      <p:to>
                                        <p:strVal val="hidden"/>
                                      </p:to>
                                    </p:set>
                                  </p:childTnLst>
                                </p:cTn>
                              </p:par>
                              <p:par>
                                <p:cTn id="17" presetID="10" presetClass="exit" presetSubtype="0" fill="hold" grpId="1" nodeType="withEffect">
                                  <p:stCondLst>
                                    <p:cond delay="2700"/>
                                  </p:stCondLst>
                                  <p:childTnLst>
                                    <p:animEffect transition="out" filter="fade">
                                      <p:cBhvr>
                                        <p:cTn id="18" dur="750"/>
                                        <p:tgtEl>
                                          <p:spTgt spid="17"/>
                                        </p:tgtEl>
                                      </p:cBhvr>
                                    </p:animEffect>
                                    <p:set>
                                      <p:cBhvr>
                                        <p:cTn id="19" dur="1" fill="hold">
                                          <p:stCondLst>
                                            <p:cond delay="749"/>
                                          </p:stCondLst>
                                        </p:cTn>
                                        <p:tgtEl>
                                          <p:spTgt spid="17"/>
                                        </p:tgtEl>
                                        <p:attrNameLst>
                                          <p:attrName>style.visibility</p:attrName>
                                        </p:attrNameLst>
                                      </p:cBhvr>
                                      <p:to>
                                        <p:strVal val="hidden"/>
                                      </p:to>
                                    </p:set>
                                  </p:childTnLst>
                                </p:cTn>
                              </p:par>
                              <p:par>
                                <p:cTn id="20" presetID="10" presetClass="entr" presetSubtype="0" fill="hold" grpId="0" nodeType="withEffect">
                                  <p:stCondLst>
                                    <p:cond delay="35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200"/>
                                        <p:tgtEl>
                                          <p:spTgt spid="18"/>
                                        </p:tgtEl>
                                      </p:cBhvr>
                                    </p:animEffect>
                                  </p:childTnLst>
                                </p:cTn>
                              </p:par>
                              <p:par>
                                <p:cTn id="23" presetID="10" presetClass="exit" presetSubtype="0" fill="hold" grpId="1" nodeType="withEffect">
                                  <p:stCondLst>
                                    <p:cond delay="4700"/>
                                  </p:stCondLst>
                                  <p:childTnLst>
                                    <p:animEffect transition="out" filter="fade">
                                      <p:cBhvr>
                                        <p:cTn id="24" dur="1200"/>
                                        <p:tgtEl>
                                          <p:spTgt spid="18"/>
                                        </p:tgtEl>
                                      </p:cBhvr>
                                    </p:animEffect>
                                    <p:set>
                                      <p:cBhvr>
                                        <p:cTn id="25" dur="1" fill="hold">
                                          <p:stCondLst>
                                            <p:cond delay="1199"/>
                                          </p:stCondLst>
                                        </p:cTn>
                                        <p:tgtEl>
                                          <p:spTgt spid="18"/>
                                        </p:tgtEl>
                                        <p:attrNameLst>
                                          <p:attrName>style.visibility</p:attrName>
                                        </p:attrNameLst>
                                      </p:cBhvr>
                                      <p:to>
                                        <p:strVal val="hidden"/>
                                      </p:to>
                                    </p:set>
                                  </p:childTnLst>
                                </p:cTn>
                              </p:par>
                              <p:par>
                                <p:cTn id="26" presetID="10" presetClass="exit" presetSubtype="0" fill="hold" nodeType="withEffect">
                                  <p:stCondLst>
                                    <p:cond delay="7100"/>
                                  </p:stCondLst>
                                  <p:childTnLst>
                                    <p:animEffect transition="out" filter="fade">
                                      <p:cBhvr>
                                        <p:cTn id="27" dur="1700"/>
                                        <p:tgtEl>
                                          <p:spTgt spid="16"/>
                                        </p:tgtEl>
                                      </p:cBhvr>
                                    </p:animEffect>
                                    <p:set>
                                      <p:cBhvr>
                                        <p:cTn id="28" dur="1" fill="hold">
                                          <p:stCondLst>
                                            <p:cond delay="1699"/>
                                          </p:stCondLst>
                                        </p:cTn>
                                        <p:tgtEl>
                                          <p:spTgt spid="16"/>
                                        </p:tgtEl>
                                        <p:attrNameLst>
                                          <p:attrName>style.visibility</p:attrName>
                                        </p:attrNameLst>
                                      </p:cBhvr>
                                      <p:to>
                                        <p:strVal val="hidden"/>
                                      </p:to>
                                    </p:set>
                                  </p:childTnLst>
                                </p:cTn>
                              </p:par>
                              <p:par>
                                <p:cTn id="29" presetID="10" presetClass="entr" presetSubtype="0" fill="hold" grpId="0" nodeType="withEffect">
                                  <p:stCondLst>
                                    <p:cond delay="620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600"/>
                                        <p:tgtEl>
                                          <p:spTgt spid="19"/>
                                        </p:tgtEl>
                                      </p:cBhvr>
                                    </p:animEffect>
                                  </p:childTnLst>
                                </p:cTn>
                              </p:par>
                              <p:par>
                                <p:cTn id="32" presetID="10" presetClass="exit" presetSubtype="0" fill="hold" nodeType="withEffect">
                                  <p:stCondLst>
                                    <p:cond delay="8600"/>
                                  </p:stCondLst>
                                  <p:childTnLst>
                                    <p:animEffect transition="out" filter="fade">
                                      <p:cBhvr>
                                        <p:cTn id="33" dur="1400"/>
                                        <p:tgtEl>
                                          <p:spTgt spid="15"/>
                                        </p:tgtEl>
                                      </p:cBhvr>
                                    </p:animEffect>
                                    <p:set>
                                      <p:cBhvr>
                                        <p:cTn id="34" dur="1" fill="hold">
                                          <p:stCondLst>
                                            <p:cond delay="1399"/>
                                          </p:stCondLst>
                                        </p:cTn>
                                        <p:tgtEl>
                                          <p:spTgt spid="15"/>
                                        </p:tgtEl>
                                        <p:attrNameLst>
                                          <p:attrName>style.visibility</p:attrName>
                                        </p:attrNameLst>
                                      </p:cBhvr>
                                      <p:to>
                                        <p:strVal val="hidden"/>
                                      </p:to>
                                    </p:set>
                                  </p:childTnLst>
                                </p:cTn>
                              </p:par>
                              <p:par>
                                <p:cTn id="35" presetID="10" presetClass="exit" presetSubtype="0" fill="hold" nodeType="withEffect">
                                  <p:stCondLst>
                                    <p:cond delay="11100"/>
                                  </p:stCondLst>
                                  <p:childTnLst>
                                    <p:animEffect transition="out" filter="fade">
                                      <p:cBhvr>
                                        <p:cTn id="36" dur="1100"/>
                                        <p:tgtEl>
                                          <p:spTgt spid="13"/>
                                        </p:tgtEl>
                                      </p:cBhvr>
                                    </p:animEffect>
                                    <p:set>
                                      <p:cBhvr>
                                        <p:cTn id="37" dur="1" fill="hold">
                                          <p:stCondLst>
                                            <p:cond delay="1099"/>
                                          </p:stCondLst>
                                        </p:cTn>
                                        <p:tgtEl>
                                          <p:spTgt spid="13"/>
                                        </p:tgtEl>
                                        <p:attrNameLst>
                                          <p:attrName>style.visibility</p:attrName>
                                        </p:attrNameLst>
                                      </p:cBhvr>
                                      <p:to>
                                        <p:strVal val="hidden"/>
                                      </p:to>
                                    </p:set>
                                  </p:childTnLst>
                                </p:cTn>
                              </p:par>
                              <p:par>
                                <p:cTn id="38" presetID="10" presetClass="exit" presetSubtype="0" fill="hold" grpId="1" nodeType="withEffect">
                                  <p:stCondLst>
                                    <p:cond delay="11500"/>
                                  </p:stCondLst>
                                  <p:childTnLst>
                                    <p:animEffect transition="out" filter="fade">
                                      <p:cBhvr>
                                        <p:cTn id="39" dur="1100"/>
                                        <p:tgtEl>
                                          <p:spTgt spid="19"/>
                                        </p:tgtEl>
                                      </p:cBhvr>
                                    </p:animEffect>
                                    <p:set>
                                      <p:cBhvr>
                                        <p:cTn id="40" dur="1" fill="hold">
                                          <p:stCondLst>
                                            <p:cond delay="1099"/>
                                          </p:stCondLst>
                                        </p:cTn>
                                        <p:tgtEl>
                                          <p:spTgt spid="19"/>
                                        </p:tgtEl>
                                        <p:attrNameLst>
                                          <p:attrName>style.visibility</p:attrName>
                                        </p:attrNameLst>
                                      </p:cBhvr>
                                      <p:to>
                                        <p:strVal val="hidden"/>
                                      </p:to>
                                    </p:set>
                                  </p:childTnLst>
                                </p:cTn>
                              </p:par>
                              <p:par>
                                <p:cTn id="41" presetID="10" presetClass="entr" presetSubtype="0" fill="hold" nodeType="withEffect">
                                  <p:stCondLst>
                                    <p:cond delay="1320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P spid="19" grpId="0"/>
      <p:bldP spid="19" grpId="1"/>
      <p:bldP spid="22"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id="{0E77A243-7D43-41CD-8DD1-1AA5348ACC0D}"/>
              </a:ext>
            </a:extLst>
          </p:cNvPr>
          <p:cNvSpPr txBox="1">
            <a:spLocks noChangeArrowheads="1"/>
          </p:cNvSpPr>
          <p:nvPr userDrawn="1"/>
        </p:nvSpPr>
        <p:spPr bwMode="auto">
          <a:xfrm>
            <a:off x="9856788" y="6597650"/>
            <a:ext cx="2251075" cy="260350"/>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defRPr/>
            </a:pPr>
            <a:fld id="{73872A88-834B-4D7F-A088-B83AC47B2296}" type="slidenum">
              <a:rPr lang="en-US" altLang="en-US" sz="1100" smtClean="0">
                <a:solidFill>
                  <a:srgbClr val="37A5AC"/>
                </a:solidFill>
                <a:latin typeface="Franklin Gothic Book" panose="020B0503020102020204" pitchFamily="34" charset="0"/>
              </a:rPr>
              <a:pPr algn="r" eaLnBrk="1" hangingPunct="1">
                <a:defRPr/>
              </a:pPr>
              <a:t>‹#›</a:t>
            </a:fld>
            <a:endParaRPr lang="en-US" altLang="en-US" sz="1100">
              <a:solidFill>
                <a:srgbClr val="37A5AC"/>
              </a:solidFill>
              <a:latin typeface="Franklin Gothic Book" panose="020B0503020102020204" pitchFamily="34" charset="0"/>
            </a:endParaRPr>
          </a:p>
        </p:txBody>
      </p:sp>
      <p:pic>
        <p:nvPicPr>
          <p:cNvPr id="5" name="Picture 12">
            <a:extLst>
              <a:ext uri="{FF2B5EF4-FFF2-40B4-BE49-F238E27FC236}">
                <a16:creationId xmlns:a16="http://schemas.microsoft.com/office/drawing/2014/main" id="{977A15F8-A567-40F4-A9C5-F0D8724DBEE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982325" y="6254750"/>
            <a:ext cx="102393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09600" y="1600206"/>
            <a:ext cx="10972800" cy="4165599"/>
          </a:xfrm>
        </p:spPr>
        <p:txBody>
          <a:bodyPr/>
          <a:lstStyle>
            <a:lvl1pPr marL="342891" indent="-342891">
              <a:buClr>
                <a:srgbClr val="37A5AC"/>
              </a:buClr>
              <a:buFont typeface="Arial" panose="020B0604020202020204" pitchFamily="34" charset="0"/>
              <a:buChar char="►"/>
              <a:defRPr/>
            </a:lvl1pPr>
            <a:lvl2pPr marL="990526" indent="-380973">
              <a:buClr>
                <a:schemeClr val="tx1">
                  <a:lumMod val="60000"/>
                  <a:lumOff val="40000"/>
                </a:schemeClr>
              </a:buClr>
              <a:buFont typeface="Wingdings" panose="05000000000000000000" pitchFamily="2" charset="2"/>
              <a:buChar char="§"/>
              <a:defRPr/>
            </a:lvl2pPr>
          </a:lstStyle>
          <a:p>
            <a:pPr lvl="0"/>
            <a:r>
              <a:rPr lang="en-US"/>
              <a:t>Click to edit Master text styles</a:t>
            </a:r>
          </a:p>
          <a:p>
            <a:pPr lvl="1"/>
            <a:r>
              <a:rPr lang="en-US"/>
              <a:t>Second level</a:t>
            </a:r>
          </a:p>
          <a:p>
            <a:pPr lvl="2"/>
            <a:r>
              <a:rPr lang="en-US"/>
              <a:t>Third level</a:t>
            </a:r>
          </a:p>
        </p:txBody>
      </p:sp>
      <p:sp>
        <p:nvSpPr>
          <p:cNvPr id="6" name="AACG_Title_Header_Shape">
            <a:extLst>
              <a:ext uri="{FF2B5EF4-FFF2-40B4-BE49-F238E27FC236}">
                <a16:creationId xmlns:a16="http://schemas.microsoft.com/office/drawing/2014/main" id="{5A949B16-8690-E9F9-3538-BCA28EF0F0CA}"/>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7" name="AACG_Title_Footer_Shape">
            <a:extLst>
              <a:ext uri="{FF2B5EF4-FFF2-40B4-BE49-F238E27FC236}">
                <a16:creationId xmlns:a16="http://schemas.microsoft.com/office/drawing/2014/main" id="{DAF84DBA-B14F-2BA2-2F0E-0206A0298C2A}"/>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151828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Slide Type 1">
    <p:spTree>
      <p:nvGrpSpPr>
        <p:cNvPr id="1" name=""/>
        <p:cNvGrpSpPr/>
        <p:nvPr/>
      </p:nvGrpSpPr>
      <p:grpSpPr>
        <a:xfrm>
          <a:off x="0" y="0"/>
          <a:ext cx="0" cy="0"/>
          <a:chOff x="0" y="0"/>
          <a:chExt cx="0" cy="0"/>
        </a:xfrm>
      </p:grpSpPr>
      <p:grpSp>
        <p:nvGrpSpPr>
          <p:cNvPr id="4" name="Group 10">
            <a:extLst>
              <a:ext uri="{FF2B5EF4-FFF2-40B4-BE49-F238E27FC236}">
                <a16:creationId xmlns:a16="http://schemas.microsoft.com/office/drawing/2014/main" id="{9A33BAB3-9B66-46B3-BCE5-EB55528C4A62}"/>
              </a:ext>
            </a:extLst>
          </p:cNvPr>
          <p:cNvGrpSpPr>
            <a:grpSpLocks/>
          </p:cNvGrpSpPr>
          <p:nvPr userDrawn="1"/>
        </p:nvGrpSpPr>
        <p:grpSpPr bwMode="auto">
          <a:xfrm>
            <a:off x="649288" y="6118225"/>
            <a:ext cx="10847387" cy="460375"/>
            <a:chOff x="575772" y="5899954"/>
            <a:chExt cx="10847508" cy="460249"/>
          </a:xfrm>
        </p:grpSpPr>
        <p:pic>
          <p:nvPicPr>
            <p:cNvPr id="5" name="Picture 11">
              <a:extLst>
                <a:ext uri="{FF2B5EF4-FFF2-40B4-BE49-F238E27FC236}">
                  <a16:creationId xmlns:a16="http://schemas.microsoft.com/office/drawing/2014/main" id="{4134F5DA-8C5A-4AEF-9BD8-45FA24DDA93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93746" y="5913670"/>
              <a:ext cx="414529" cy="432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a:extLst>
                <a:ext uri="{FF2B5EF4-FFF2-40B4-BE49-F238E27FC236}">
                  <a16:creationId xmlns:a16="http://schemas.microsoft.com/office/drawing/2014/main" id="{4ACC48E3-9AA0-4191-BBD4-F17B15A3CED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6788" y="5909098"/>
              <a:ext cx="384049" cy="441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3">
              <a:extLst>
                <a:ext uri="{FF2B5EF4-FFF2-40B4-BE49-F238E27FC236}">
                  <a16:creationId xmlns:a16="http://schemas.microsoft.com/office/drawing/2014/main" id="{4623206B-3B8F-4306-AB8B-F2617C429B1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47280" y="5899954"/>
              <a:ext cx="377953" cy="460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401B6FC8-0C76-48EA-92ED-74EDDDD3967F}"/>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75772" y="6076155"/>
              <a:ext cx="10847508" cy="128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le 1"/>
          <p:cNvSpPr>
            <a:spLocks noGrp="1"/>
          </p:cNvSpPr>
          <p:nvPr>
            <p:ph type="title"/>
          </p:nvPr>
        </p:nvSpPr>
        <p:spPr>
          <a:xfrm>
            <a:off x="609600" y="274639"/>
            <a:ext cx="10972800" cy="811785"/>
          </a:xfrm>
        </p:spPr>
        <p:txBody>
          <a:bodyPr/>
          <a:lstStyle/>
          <a:p>
            <a:r>
              <a:rPr lang="en-US" dirty="0"/>
              <a:t>Click to edit Master title style</a:t>
            </a:r>
          </a:p>
        </p:txBody>
      </p:sp>
      <p:sp>
        <p:nvSpPr>
          <p:cNvPr id="3" name="Content Placeholder 2"/>
          <p:cNvSpPr>
            <a:spLocks noGrp="1"/>
          </p:cNvSpPr>
          <p:nvPr>
            <p:ph idx="1"/>
          </p:nvPr>
        </p:nvSpPr>
        <p:spPr>
          <a:xfrm>
            <a:off x="609600" y="1097682"/>
            <a:ext cx="10972800" cy="4893396"/>
          </a:xfrm>
        </p:spPr>
        <p:txBody>
          <a:bodyPr/>
          <a:lstStyle/>
          <a:p>
            <a:pPr lvl="0"/>
            <a:r>
              <a:rPr lang="en-US"/>
              <a:t>Click to edit Master text styles</a:t>
            </a:r>
          </a:p>
          <a:p>
            <a:pPr lvl="1"/>
            <a:r>
              <a:rPr lang="en-US"/>
              <a:t>Second level</a:t>
            </a:r>
          </a:p>
          <a:p>
            <a:pPr lvl="2"/>
            <a:r>
              <a:rPr lang="en-US"/>
              <a:t>Third level</a:t>
            </a:r>
          </a:p>
        </p:txBody>
      </p:sp>
      <p:sp>
        <p:nvSpPr>
          <p:cNvPr id="9" name="AACG_Title_Header_Shape">
            <a:extLst>
              <a:ext uri="{FF2B5EF4-FFF2-40B4-BE49-F238E27FC236}">
                <a16:creationId xmlns:a16="http://schemas.microsoft.com/office/drawing/2014/main" id="{3649B0CF-F865-CF44-1559-AFF7F06D753F}"/>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10" name="AACG_Title_Footer_Shape">
            <a:extLst>
              <a:ext uri="{FF2B5EF4-FFF2-40B4-BE49-F238E27FC236}">
                <a16:creationId xmlns:a16="http://schemas.microsoft.com/office/drawing/2014/main" id="{7EA0D7BD-9378-182F-242F-BA43AFD84965}"/>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2685041632"/>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4"/>
            <a:ext cx="10972800" cy="41655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graphicFrame>
        <p:nvGraphicFramePr>
          <p:cNvPr id="7" name="Object 6"/>
          <p:cNvGraphicFramePr>
            <a:graphicFrameLocks noChangeAspect="1"/>
          </p:cNvGraphicFramePr>
          <p:nvPr>
            <p:extLst>
              <p:ext uri="{D42A27DB-BD31-4B8C-83A1-F6EECF244321}">
                <p14:modId xmlns:p14="http://schemas.microsoft.com/office/powerpoint/2010/main" val="2422478746"/>
              </p:ext>
            </p:extLst>
          </p:nvPr>
        </p:nvGraphicFramePr>
        <p:xfrm>
          <a:off x="11936279" y="-610"/>
          <a:ext cx="249543" cy="2591410"/>
        </p:xfrm>
        <a:graphic>
          <a:graphicData uri="http://schemas.openxmlformats.org/presentationml/2006/ole">
            <mc:AlternateContent xmlns:mc="http://schemas.openxmlformats.org/markup-compatibility/2006">
              <mc:Choice xmlns:v="urn:schemas-microsoft-com:vml" Requires="v">
                <p:oleObj name="Image" r:id="rId13" imgW="330120" imgH="3428280" progId="Photoshop.Image.13">
                  <p:embed/>
                </p:oleObj>
              </mc:Choice>
              <mc:Fallback>
                <p:oleObj name="Image" r:id="rId13" imgW="330120" imgH="3428280" progId="Photoshop.Image.13">
                  <p:embed/>
                  <p:pic>
                    <p:nvPicPr>
                      <p:cNvPr id="0" name=""/>
                      <p:cNvPicPr/>
                      <p:nvPr/>
                    </p:nvPicPr>
                    <p:blipFill>
                      <a:blip r:embed="rId14"/>
                      <a:stretch>
                        <a:fillRect/>
                      </a:stretch>
                    </p:blipFill>
                    <p:spPr>
                      <a:xfrm>
                        <a:off x="11936279" y="-610"/>
                        <a:ext cx="249543" cy="2591410"/>
                      </a:xfrm>
                      <a:prstGeom prst="rect">
                        <a:avLst/>
                      </a:prstGeom>
                    </p:spPr>
                  </p:pic>
                </p:oleObj>
              </mc:Fallback>
            </mc:AlternateContent>
          </a:graphicData>
        </a:graphic>
      </p:graphicFrame>
      <p:graphicFrame>
        <p:nvGraphicFramePr>
          <p:cNvPr id="5" name="Object 4"/>
          <p:cNvGraphicFramePr>
            <a:graphicFrameLocks noChangeAspect="1"/>
          </p:cNvGraphicFramePr>
          <p:nvPr userDrawn="1">
            <p:extLst>
              <p:ext uri="{D42A27DB-BD31-4B8C-83A1-F6EECF244321}">
                <p14:modId xmlns:p14="http://schemas.microsoft.com/office/powerpoint/2010/main" val="4052070078"/>
              </p:ext>
            </p:extLst>
          </p:nvPr>
        </p:nvGraphicFramePr>
        <p:xfrm>
          <a:off x="11942457" y="0"/>
          <a:ext cx="249543" cy="2591410"/>
        </p:xfrm>
        <a:graphic>
          <a:graphicData uri="http://schemas.openxmlformats.org/presentationml/2006/ole">
            <mc:AlternateContent xmlns:mc="http://schemas.openxmlformats.org/markup-compatibility/2006">
              <mc:Choice xmlns:v="urn:schemas-microsoft-com:vml" Requires="v">
                <p:oleObj name="Image" r:id="rId13" imgW="330120" imgH="3428280" progId="Photoshop.Image.13">
                  <p:embed/>
                </p:oleObj>
              </mc:Choice>
              <mc:Fallback>
                <p:oleObj name="Image" r:id="rId13" imgW="330120" imgH="3428280" progId="Photoshop.Image.13">
                  <p:embed/>
                  <p:pic>
                    <p:nvPicPr>
                      <p:cNvPr id="0" name=""/>
                      <p:cNvPicPr/>
                      <p:nvPr/>
                    </p:nvPicPr>
                    <p:blipFill>
                      <a:blip r:embed="rId14"/>
                      <a:stretch>
                        <a:fillRect/>
                      </a:stretch>
                    </p:blipFill>
                    <p:spPr>
                      <a:xfrm>
                        <a:off x="11942457" y="0"/>
                        <a:ext cx="249543" cy="2591410"/>
                      </a:xfrm>
                      <a:prstGeom prst="rect">
                        <a:avLst/>
                      </a:prstGeom>
                    </p:spPr>
                  </p:pic>
                </p:oleObj>
              </mc:Fallback>
            </mc:AlternateContent>
          </a:graphicData>
        </a:graphic>
      </p:graphicFrame>
      <p:sp>
        <p:nvSpPr>
          <p:cNvPr id="6" name="TextBox 5"/>
          <p:cNvSpPr txBox="1"/>
          <p:nvPr userDrawn="1"/>
        </p:nvSpPr>
        <p:spPr>
          <a:xfrm>
            <a:off x="76200" y="6513658"/>
            <a:ext cx="2251364" cy="246221"/>
          </a:xfrm>
          <a:prstGeom prst="rect">
            <a:avLst/>
          </a:prstGeom>
          <a:noFill/>
        </p:spPr>
        <p:txBody>
          <a:bodyPr wrap="square" rtlCol="0">
            <a:spAutoFit/>
          </a:bodyPr>
          <a:lstStyle/>
          <a:p>
            <a:fld id="{DC3401BA-974E-41E0-B01E-EF44B485DA0B}" type="slidenum">
              <a:rPr lang="en-US" sz="1000" smtClean="0">
                <a:solidFill>
                  <a:srgbClr val="37A5AC"/>
                </a:solidFill>
                <a:latin typeface="Franklin Gothic Book" panose="020B0503020102020204" pitchFamily="34" charset="0"/>
              </a:rPr>
              <a:t>‹#›</a:t>
            </a:fld>
            <a:endParaRPr lang="en-US" sz="1000" dirty="0">
              <a:solidFill>
                <a:srgbClr val="37A5AC"/>
              </a:solidFill>
              <a:latin typeface="Franklin Gothic Book" panose="020B0503020102020204" pitchFamily="34" charset="0"/>
            </a:endParaRPr>
          </a:p>
        </p:txBody>
      </p:sp>
      <p:sp>
        <p:nvSpPr>
          <p:cNvPr id="4" name="AACG_Header_Shape">
            <a:extLst>
              <a:ext uri="{FF2B5EF4-FFF2-40B4-BE49-F238E27FC236}">
                <a16:creationId xmlns:a16="http://schemas.microsoft.com/office/drawing/2014/main" id="{45C71566-448F-6352-8FFC-C841442BC97F}"/>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
        <p:nvSpPr>
          <p:cNvPr id="8" name="AACG_Footer_Shape">
            <a:extLst>
              <a:ext uri="{FF2B5EF4-FFF2-40B4-BE49-F238E27FC236}">
                <a16:creationId xmlns:a16="http://schemas.microsoft.com/office/drawing/2014/main" id="{29C22B1D-FBF8-FB44-FCA1-646ED0597914}"/>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Tree>
    <p:extLst>
      <p:ext uri="{BB962C8B-B14F-4D97-AF65-F5344CB8AC3E}">
        <p14:creationId xmlns:p14="http://schemas.microsoft.com/office/powerpoint/2010/main" val="24629878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 id="214748367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39" rtl="0" eaLnBrk="1" latinLnBrk="0" hangingPunct="1">
        <a:spcBef>
          <a:spcPct val="0"/>
        </a:spcBef>
        <a:buNone/>
        <a:defRPr sz="3200" kern="1200">
          <a:solidFill>
            <a:srgbClr val="192F43"/>
          </a:solidFill>
          <a:latin typeface="Franklin Gothic Medium Cond" panose="020B0606030402020204" pitchFamily="34" charset="0"/>
          <a:ea typeface="+mj-ea"/>
          <a:cs typeface="+mj-cs"/>
        </a:defRPr>
      </a:lvl1pPr>
    </p:titleStyle>
    <p:body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6ACD9345-B9F5-414A-B728-FB9216C3AB61}"/>
              </a:ext>
            </a:extLst>
          </p:cNvPr>
          <p:cNvSpPr>
            <a:spLocks noGrp="1"/>
          </p:cNvSpPr>
          <p:nvPr>
            <p:ph type="body" sz="quarter" idx="15"/>
          </p:nvPr>
        </p:nvSpPr>
        <p:spPr/>
        <p:txBody>
          <a:bodyPr>
            <a:normAutofit fontScale="85000" lnSpcReduction="20000"/>
          </a:bodyPr>
          <a:lstStyle/>
          <a:p>
            <a:r>
              <a:rPr lang="en-US" dirty="0"/>
              <a:t>UNCLASSIFIED</a:t>
            </a:r>
          </a:p>
        </p:txBody>
      </p:sp>
      <p:sp>
        <p:nvSpPr>
          <p:cNvPr id="15" name="Text Placeholder 14">
            <a:extLst>
              <a:ext uri="{FF2B5EF4-FFF2-40B4-BE49-F238E27FC236}">
                <a16:creationId xmlns:a16="http://schemas.microsoft.com/office/drawing/2014/main" id="{1A5BD665-F5EF-47E8-8138-BD6B623622CF}"/>
              </a:ext>
            </a:extLst>
          </p:cNvPr>
          <p:cNvSpPr>
            <a:spLocks noGrp="1"/>
          </p:cNvSpPr>
          <p:nvPr>
            <p:ph type="body" sz="quarter" idx="16"/>
          </p:nvPr>
        </p:nvSpPr>
        <p:spPr/>
        <p:txBody>
          <a:bodyPr>
            <a:normAutofit fontScale="85000" lnSpcReduction="20000"/>
          </a:bodyPr>
          <a:lstStyle/>
          <a:p>
            <a:r>
              <a:rPr lang="en-US" dirty="0"/>
              <a:t>UNCLASSIFIED</a:t>
            </a:r>
          </a:p>
        </p:txBody>
      </p:sp>
      <p:sp>
        <p:nvSpPr>
          <p:cNvPr id="6" name="Text Placeholder 5"/>
          <p:cNvSpPr>
            <a:spLocks noGrp="1"/>
          </p:cNvSpPr>
          <p:nvPr>
            <p:ph type="body" sz="quarter" idx="17"/>
          </p:nvPr>
        </p:nvSpPr>
        <p:spPr/>
        <p:txBody>
          <a:bodyPr/>
          <a:lstStyle/>
          <a:p>
            <a:r>
              <a:rPr lang="en-US" dirty="0"/>
              <a:t>(U) Foundation GEOINT Operation &amp; Sustainment Support, Software, Hardware, and Integration (FS3i) Industry Day Overview</a:t>
            </a:r>
          </a:p>
          <a:p>
            <a:endParaRPr lang="en-US" dirty="0"/>
          </a:p>
          <a:p>
            <a:endParaRPr lang="en-US" dirty="0"/>
          </a:p>
        </p:txBody>
      </p:sp>
      <p:sp>
        <p:nvSpPr>
          <p:cNvPr id="12" name="Text Placeholder 11">
            <a:extLst>
              <a:ext uri="{FF2B5EF4-FFF2-40B4-BE49-F238E27FC236}">
                <a16:creationId xmlns:a16="http://schemas.microsoft.com/office/drawing/2014/main" id="{B6E6F8E5-266E-483A-9D9D-62EF084D66A6}"/>
              </a:ext>
            </a:extLst>
          </p:cNvPr>
          <p:cNvSpPr>
            <a:spLocks noGrp="1"/>
          </p:cNvSpPr>
          <p:nvPr>
            <p:ph type="body" sz="quarter" idx="13"/>
          </p:nvPr>
        </p:nvSpPr>
        <p:spPr/>
        <p:txBody>
          <a:bodyPr/>
          <a:lstStyle/>
          <a:p>
            <a:r>
              <a:rPr lang="en-US" dirty="0">
                <a:solidFill>
                  <a:srgbClr val="0070C0"/>
                </a:solidFill>
              </a:rPr>
              <a:t>UNCLASSIFIED</a:t>
            </a:r>
          </a:p>
        </p:txBody>
      </p:sp>
      <p:sp>
        <p:nvSpPr>
          <p:cNvPr id="16" name="Text Placeholder 15">
            <a:extLst>
              <a:ext uri="{FF2B5EF4-FFF2-40B4-BE49-F238E27FC236}">
                <a16:creationId xmlns:a16="http://schemas.microsoft.com/office/drawing/2014/main" id="{3112877F-1250-4955-927A-BCD2141673A4}"/>
              </a:ext>
            </a:extLst>
          </p:cNvPr>
          <p:cNvSpPr>
            <a:spLocks noGrp="1"/>
          </p:cNvSpPr>
          <p:nvPr>
            <p:ph type="body" sz="quarter" idx="18"/>
          </p:nvPr>
        </p:nvSpPr>
        <p:spPr/>
        <p:txBody>
          <a:bodyPr/>
          <a:lstStyle/>
          <a:p>
            <a:r>
              <a:rPr lang="en-US" dirty="0"/>
              <a:t>1060806</a:t>
            </a:r>
          </a:p>
        </p:txBody>
      </p:sp>
      <p:sp>
        <p:nvSpPr>
          <p:cNvPr id="17" name="Text Placeholder 16">
            <a:extLst>
              <a:ext uri="{FF2B5EF4-FFF2-40B4-BE49-F238E27FC236}">
                <a16:creationId xmlns:a16="http://schemas.microsoft.com/office/drawing/2014/main" id="{75CAA61E-2DF4-41E6-8F4A-6EAE065D9078}"/>
              </a:ext>
            </a:extLst>
          </p:cNvPr>
          <p:cNvSpPr>
            <a:spLocks noGrp="1"/>
          </p:cNvSpPr>
          <p:nvPr>
            <p:ph type="body" sz="quarter" idx="19"/>
          </p:nvPr>
        </p:nvSpPr>
        <p:spPr/>
        <p:txBody>
          <a:bodyPr/>
          <a:lstStyle/>
          <a:p>
            <a:r>
              <a:rPr lang="en-US" dirty="0" err="1"/>
              <a:t>CoNGA</a:t>
            </a:r>
            <a:endParaRPr lang="en-US" dirty="0"/>
          </a:p>
        </p:txBody>
      </p:sp>
      <p:sp>
        <p:nvSpPr>
          <p:cNvPr id="18" name="Text Placeholder 17">
            <a:extLst>
              <a:ext uri="{FF2B5EF4-FFF2-40B4-BE49-F238E27FC236}">
                <a16:creationId xmlns:a16="http://schemas.microsoft.com/office/drawing/2014/main" id="{F8D87942-B5BE-4F0A-8E44-9C2B6F49501D}"/>
              </a:ext>
            </a:extLst>
          </p:cNvPr>
          <p:cNvSpPr>
            <a:spLocks noGrp="1"/>
          </p:cNvSpPr>
          <p:nvPr>
            <p:ph type="body" sz="quarter" idx="20"/>
          </p:nvPr>
        </p:nvSpPr>
        <p:spPr/>
        <p:txBody>
          <a:bodyPr/>
          <a:lstStyle/>
          <a:p>
            <a:r>
              <a:rPr lang="en-US" dirty="0"/>
              <a:t>20490531</a:t>
            </a:r>
          </a:p>
        </p:txBody>
      </p:sp>
      <p:sp>
        <p:nvSpPr>
          <p:cNvPr id="20" name="TextBox 19">
            <a:extLst>
              <a:ext uri="{FF2B5EF4-FFF2-40B4-BE49-F238E27FC236}">
                <a16:creationId xmlns:a16="http://schemas.microsoft.com/office/drawing/2014/main" id="{81ADA748-21E4-47C9-BB14-40A5E423B6C8}"/>
              </a:ext>
            </a:extLst>
          </p:cNvPr>
          <p:cNvSpPr txBox="1"/>
          <p:nvPr/>
        </p:nvSpPr>
        <p:spPr>
          <a:xfrm>
            <a:off x="938741" y="3419693"/>
            <a:ext cx="6125496" cy="1938992"/>
          </a:xfrm>
          <a:prstGeom prst="rect">
            <a:avLst/>
          </a:prstGeom>
          <a:noFill/>
        </p:spPr>
        <p:txBody>
          <a:bodyPr wrap="square">
            <a:spAutoFit/>
          </a:bodyPr>
          <a:lstStyle/>
          <a:p>
            <a:endParaRPr lang="en-US" sz="2400" dirty="0"/>
          </a:p>
          <a:p>
            <a:r>
              <a:rPr lang="en-US" sz="2400" dirty="0"/>
              <a:t>(U) Mapping Charting and Geodesy (MC&amp;G)</a:t>
            </a:r>
          </a:p>
          <a:p>
            <a:endParaRPr lang="en-US" sz="2400" dirty="0"/>
          </a:p>
          <a:p>
            <a:r>
              <a:rPr lang="en-US" sz="2400" dirty="0"/>
              <a:t>February 2 – 3, 2026</a:t>
            </a:r>
          </a:p>
          <a:p>
            <a:endParaRPr lang="en-US" sz="2400" dirty="0"/>
          </a:p>
        </p:txBody>
      </p:sp>
    </p:spTree>
    <p:extLst>
      <p:ext uri="{BB962C8B-B14F-4D97-AF65-F5344CB8AC3E}">
        <p14:creationId xmlns:p14="http://schemas.microsoft.com/office/powerpoint/2010/main" val="3075393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8CC2-BB19-440B-86BB-DEF458BDE560}"/>
              </a:ext>
            </a:extLst>
          </p:cNvPr>
          <p:cNvSpPr>
            <a:spLocks noGrp="1"/>
          </p:cNvSpPr>
          <p:nvPr>
            <p:ph type="title"/>
          </p:nvPr>
        </p:nvSpPr>
        <p:spPr/>
        <p:txBody>
          <a:bodyPr/>
          <a:lstStyle/>
          <a:p>
            <a:r>
              <a:rPr lang="en-US" dirty="0"/>
              <a:t>(U) Industry Engagement</a:t>
            </a:r>
          </a:p>
        </p:txBody>
      </p:sp>
      <p:sp>
        <p:nvSpPr>
          <p:cNvPr id="4" name="Text Placeholder 3">
            <a:extLst>
              <a:ext uri="{FF2B5EF4-FFF2-40B4-BE49-F238E27FC236}">
                <a16:creationId xmlns:a16="http://schemas.microsoft.com/office/drawing/2014/main" id="{EDD61E81-B009-4991-911C-AED6816DD1EF}"/>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32E3BEF3-EF78-45E3-A943-0325DB384207}"/>
              </a:ext>
            </a:extLst>
          </p:cNvPr>
          <p:cNvSpPr>
            <a:spLocks noGrp="1"/>
          </p:cNvSpPr>
          <p:nvPr>
            <p:ph type="body" sz="quarter" idx="16"/>
          </p:nvPr>
        </p:nvSpPr>
        <p:spPr/>
        <p:txBody>
          <a:bodyPr>
            <a:normAutofit fontScale="85000" lnSpcReduction="20000"/>
          </a:bodyPr>
          <a:lstStyle/>
          <a:p>
            <a:r>
              <a:rPr lang="en-US" dirty="0"/>
              <a:t>UNCLASSIFIED</a:t>
            </a:r>
          </a:p>
        </p:txBody>
      </p:sp>
      <p:sp>
        <p:nvSpPr>
          <p:cNvPr id="13" name="Content Placeholder 12">
            <a:extLst>
              <a:ext uri="{FF2B5EF4-FFF2-40B4-BE49-F238E27FC236}">
                <a16:creationId xmlns:a16="http://schemas.microsoft.com/office/drawing/2014/main" id="{1F9764DA-2E25-4004-8870-356941E370CA}"/>
              </a:ext>
            </a:extLst>
          </p:cNvPr>
          <p:cNvSpPr>
            <a:spLocks noGrp="1"/>
          </p:cNvSpPr>
          <p:nvPr>
            <p:ph idx="1"/>
          </p:nvPr>
        </p:nvSpPr>
        <p:spPr>
          <a:xfrm>
            <a:off x="609600" y="1417639"/>
            <a:ext cx="10972800" cy="4165599"/>
          </a:xfrm>
        </p:spPr>
        <p:txBody>
          <a:bodyPr>
            <a:normAutofit lnSpcReduction="10000"/>
          </a:bodyPr>
          <a:lstStyle/>
          <a:p>
            <a:pPr marL="342900" indent="-342900">
              <a:buFont typeface="Wingdings" panose="05000000000000000000" pitchFamily="2" charset="2"/>
              <a:buChar char="Ø"/>
            </a:pPr>
            <a:r>
              <a:rPr lang="en-US" b="1" u="sng" dirty="0"/>
              <a:t>(U) Ground Rules:</a:t>
            </a:r>
          </a:p>
          <a:p>
            <a:pPr marL="342900" indent="-342900">
              <a:buFont typeface="Arial" panose="020B0604020202020204" pitchFamily="34" charset="0"/>
              <a:buChar char="•"/>
            </a:pPr>
            <a:r>
              <a:rPr lang="en-US" dirty="0"/>
              <a:t>Please ensure that you are only attending on your assigned group’s day and use the sign-in sheet provided upon arrival</a:t>
            </a:r>
          </a:p>
          <a:p>
            <a:pPr marL="342900" indent="-342900">
              <a:buFont typeface="Arial" panose="020B0604020202020204" pitchFamily="34" charset="0"/>
              <a:buChar char="•"/>
            </a:pPr>
            <a:r>
              <a:rPr lang="en-US" dirty="0"/>
              <a:t>Industry partners should identify proprietary information</a:t>
            </a:r>
          </a:p>
          <a:p>
            <a:pPr marL="342900" indent="-342900">
              <a:buFont typeface="Arial" panose="020B0604020202020204" pitchFamily="34" charset="0"/>
              <a:buChar char="•"/>
            </a:pPr>
            <a:r>
              <a:rPr lang="en-US" dirty="0"/>
              <a:t>Time will be provided at the end of each session for teaming opportunities</a:t>
            </a:r>
          </a:p>
          <a:p>
            <a:pPr marL="342900" indent="-342900">
              <a:buFont typeface="Arial" panose="020B0604020202020204" pitchFamily="34" charset="0"/>
              <a:buChar char="•"/>
            </a:pPr>
            <a:endParaRPr lang="en-US" dirty="0"/>
          </a:p>
          <a:p>
            <a:pPr marL="342900" indent="-342900">
              <a:buFont typeface="Wingdings" panose="05000000000000000000" pitchFamily="2" charset="2"/>
              <a:buChar char="Ø"/>
            </a:pPr>
            <a:r>
              <a:rPr lang="en-US" b="1" u="sng" dirty="0"/>
              <a:t>(U) FS3i team can discuss with you:</a:t>
            </a:r>
          </a:p>
          <a:p>
            <a:pPr marL="342900" indent="-342900">
              <a:buFont typeface="Arial" panose="020B0604020202020204" pitchFamily="34" charset="0"/>
              <a:buChar char="•"/>
            </a:pPr>
            <a:r>
              <a:rPr lang="en-US" dirty="0"/>
              <a:t>Any questions about scope of FS3i</a:t>
            </a:r>
          </a:p>
          <a:p>
            <a:pPr marL="342900" indent="-342900">
              <a:buFont typeface="Arial" panose="020B0604020202020204" pitchFamily="34" charset="0"/>
              <a:buChar char="•"/>
            </a:pPr>
            <a:r>
              <a:rPr lang="en-US" dirty="0"/>
              <a:t>Any questions about the RFP process</a:t>
            </a:r>
          </a:p>
          <a:p>
            <a:pPr marL="342900" indent="-342900">
              <a:buFont typeface="Arial" panose="020B0604020202020204" pitchFamily="34" charset="0"/>
              <a:buChar char="•"/>
            </a:pPr>
            <a:r>
              <a:rPr lang="en-US" dirty="0"/>
              <a:t>Any questions about the technical requirements, </a:t>
            </a:r>
            <a:r>
              <a:rPr lang="en-US" b="1" i="1" dirty="0"/>
              <a:t>with a focus on Common Services and Air</a:t>
            </a:r>
          </a:p>
        </p:txBody>
      </p:sp>
    </p:spTree>
    <p:extLst>
      <p:ext uri="{BB962C8B-B14F-4D97-AF65-F5344CB8AC3E}">
        <p14:creationId xmlns:p14="http://schemas.microsoft.com/office/powerpoint/2010/main" val="665564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EA515-096B-01C5-B42E-158D7893BC22}"/>
            </a:ext>
          </a:extLst>
        </p:cNvPr>
        <p:cNvGrpSpPr/>
        <p:nvPr/>
      </p:nvGrpSpPr>
      <p:grpSpPr>
        <a:xfrm>
          <a:off x="0" y="0"/>
          <a:ext cx="0" cy="0"/>
          <a:chOff x="0" y="0"/>
          <a:chExt cx="0" cy="0"/>
        </a:xfrm>
      </p:grpSpPr>
      <p:sp>
        <p:nvSpPr>
          <p:cNvPr id="37890" name="Title 1">
            <a:extLst>
              <a:ext uri="{FF2B5EF4-FFF2-40B4-BE49-F238E27FC236}">
                <a16:creationId xmlns:a16="http://schemas.microsoft.com/office/drawing/2014/main" id="{BBAD0FF2-5AA2-7C6E-60AA-84632271762F}"/>
              </a:ext>
            </a:extLst>
          </p:cNvPr>
          <p:cNvSpPr>
            <a:spLocks noGrp="1"/>
          </p:cNvSpPr>
          <p:nvPr>
            <p:ph type="title"/>
          </p:nvPr>
        </p:nvSpPr>
        <p:spPr>
          <a:xfrm>
            <a:off x="135164" y="158750"/>
            <a:ext cx="10139363" cy="563563"/>
          </a:xfrm>
        </p:spPr>
        <p:txBody>
          <a:bodyPr>
            <a:normAutofit fontScale="90000"/>
          </a:bodyPr>
          <a:lstStyle/>
          <a:p>
            <a:pPr eaLnBrk="1" hangingPunct="1"/>
            <a:r>
              <a:rPr lang="en-US" altLang="en-US" dirty="0"/>
              <a:t>(U) Schedule</a:t>
            </a:r>
          </a:p>
        </p:txBody>
      </p:sp>
      <p:sp>
        <p:nvSpPr>
          <p:cNvPr id="7" name="Content Placeholder 2">
            <a:extLst>
              <a:ext uri="{FF2B5EF4-FFF2-40B4-BE49-F238E27FC236}">
                <a16:creationId xmlns:a16="http://schemas.microsoft.com/office/drawing/2014/main" id="{B7B15A28-8FD2-294B-3315-23DC1E3049B8}"/>
              </a:ext>
            </a:extLst>
          </p:cNvPr>
          <p:cNvSpPr>
            <a:spLocks noGrp="1"/>
          </p:cNvSpPr>
          <p:nvPr>
            <p:ph idx="1"/>
          </p:nvPr>
        </p:nvSpPr>
        <p:spPr>
          <a:xfrm>
            <a:off x="135165" y="722313"/>
            <a:ext cx="11740923" cy="5654675"/>
          </a:xfrm>
        </p:spPr>
        <p:txBody>
          <a:bodyPr rtlCol="0">
            <a:noAutofit/>
          </a:bodyPr>
          <a:lstStyle/>
          <a:p>
            <a:pPr marL="0" lvl="1" indent="0" defTabSz="1219108">
              <a:lnSpc>
                <a:spcPct val="95000"/>
              </a:lnSpc>
              <a:spcBef>
                <a:spcPts val="0"/>
              </a:spcBef>
              <a:spcAft>
                <a:spcPts val="300"/>
              </a:spcAft>
              <a:buClr>
                <a:srgbClr val="37A5AC"/>
              </a:buClr>
              <a:buSzPct val="80000"/>
              <a:buNone/>
              <a:defRPr/>
            </a:pPr>
            <a:r>
              <a:rPr lang="en-US" sz="1600" b="1" dirty="0">
                <a:solidFill>
                  <a:schemeClr val="tx1">
                    <a:lumMod val="50000"/>
                  </a:schemeClr>
                </a:solidFill>
              </a:rPr>
              <a:t>Location: Patriot Ridge (GDIT) located at 7770 </a:t>
            </a:r>
            <a:r>
              <a:rPr lang="en-US" sz="1600" b="1" dirty="0" err="1">
                <a:solidFill>
                  <a:schemeClr val="tx1">
                    <a:lumMod val="50000"/>
                  </a:schemeClr>
                </a:solidFill>
              </a:rPr>
              <a:t>Backlick</a:t>
            </a:r>
            <a:r>
              <a:rPr lang="en-US" sz="1600" b="1" dirty="0">
                <a:solidFill>
                  <a:schemeClr val="tx1">
                    <a:lumMod val="50000"/>
                  </a:schemeClr>
                </a:solidFill>
              </a:rPr>
              <a:t> Rd, Springfield, VA</a:t>
            </a:r>
          </a:p>
          <a:p>
            <a:pPr marL="0" lvl="1" indent="0" defTabSz="1219108">
              <a:lnSpc>
                <a:spcPct val="95000"/>
              </a:lnSpc>
              <a:spcBef>
                <a:spcPts val="0"/>
              </a:spcBef>
              <a:spcAft>
                <a:spcPts val="300"/>
              </a:spcAft>
              <a:buClr>
                <a:srgbClr val="37A5AC"/>
              </a:buClr>
              <a:buSzPct val="80000"/>
              <a:buNone/>
              <a:defRPr/>
            </a:pPr>
            <a:endParaRPr lang="en-US" sz="1600" b="1" dirty="0">
              <a:solidFill>
                <a:schemeClr val="tx1">
                  <a:lumMod val="50000"/>
                </a:schemeClr>
              </a:solidFill>
            </a:endParaRPr>
          </a:p>
          <a:p>
            <a:pPr marL="0" lvl="1" indent="0" defTabSz="1219108">
              <a:lnSpc>
                <a:spcPct val="95000"/>
              </a:lnSpc>
              <a:spcBef>
                <a:spcPts val="0"/>
              </a:spcBef>
              <a:spcAft>
                <a:spcPts val="300"/>
              </a:spcAft>
              <a:buClr>
                <a:srgbClr val="37A5AC"/>
              </a:buClr>
              <a:buSzPct val="80000"/>
              <a:buNone/>
              <a:defRPr/>
            </a:pPr>
            <a:r>
              <a:rPr lang="en-US" sz="1600" b="1" dirty="0">
                <a:solidFill>
                  <a:schemeClr val="tx1">
                    <a:lumMod val="50000"/>
                  </a:schemeClr>
                </a:solidFill>
              </a:rPr>
              <a:t>* Meet at front desk/lobby – we will be in the main auditorium</a:t>
            </a:r>
          </a:p>
          <a:p>
            <a:pPr marL="285710" lvl="1" indent="-285750" defTabSz="1219108">
              <a:lnSpc>
                <a:spcPct val="95000"/>
              </a:lnSpc>
              <a:spcBef>
                <a:spcPts val="0"/>
              </a:spcBef>
              <a:spcAft>
                <a:spcPts val="300"/>
              </a:spcAft>
              <a:buClr>
                <a:srgbClr val="37A5AC"/>
              </a:buClr>
              <a:buSzPct val="80000"/>
              <a:buFont typeface="Wingdings" panose="05000000000000000000" pitchFamily="2" charset="2"/>
              <a:buChar char="Ø"/>
              <a:defRPr/>
            </a:pPr>
            <a:endParaRPr lang="en-US" sz="1600" dirty="0">
              <a:solidFill>
                <a:schemeClr val="tx1">
                  <a:lumMod val="50000"/>
                </a:schemeClr>
              </a:solidFill>
            </a:endParaRPr>
          </a:p>
          <a:p>
            <a:pPr marL="285710" lvl="1"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800" dirty="0">
                <a:solidFill>
                  <a:schemeClr val="tx1">
                    <a:lumMod val="50000"/>
                  </a:schemeClr>
                </a:solidFill>
              </a:rPr>
              <a:t>February 2 (Monday) – Session 1 (Group A)</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12:00pm – 12:30pm: 	Opening &amp; Introductions (OCS: Dan Fadely &amp; MC&amp;G PEO: Donna Frazier)</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12:30pm – 2:00pm:	Industry Day Brief and Leadership/Mission Owner Remarks (OCS: Dan Fadely; MC&amp;G 			PEO: Victor Trimarchi &amp; Donna Frazier; Foundation GEOINT: LtCol Andrew Barstow)</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2:00pm – 3:00pm:	Q&amp;A Session – Government to address some key questions submitted by 23 Jan</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3:00pm – 4:00pm:	Government exit  - teaming opportunities/discussions</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endParaRPr lang="en-US" sz="1600" dirty="0">
              <a:solidFill>
                <a:schemeClr val="tx1">
                  <a:lumMod val="50000"/>
                </a:schemeClr>
              </a:solidFill>
            </a:endParaRP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endParaRPr lang="en-US" sz="1800" dirty="0">
              <a:solidFill>
                <a:schemeClr val="tx1">
                  <a:lumMod val="50000"/>
                </a:schemeClr>
              </a:solidFill>
            </a:endParaRPr>
          </a:p>
          <a:p>
            <a:pPr marL="285710" lvl="1"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800" dirty="0">
                <a:solidFill>
                  <a:schemeClr val="tx1">
                    <a:lumMod val="50000"/>
                  </a:schemeClr>
                </a:solidFill>
              </a:rPr>
              <a:t>February 3 (Tuesday) – Session 2 (Group B) (mirrored session)</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9:00am – 9:30am: 	Opening &amp; Introductions (OCS: Dan Fadely &amp; MC&amp;G PEO: Donna Frazier)</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9:30am – 11:00am:	Industry Day Brief and Leadership/Mission Owner Remarks (OCS: Dan Fadely; MC&amp;G 			PEO: Victor Trimarchi &amp; Donna Frazier; Foundation GEOINT: LtCol Andrew Barstow)</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11:00am – 12:00pm:	Q&amp;A Session – Government to address some key questions submitted by 23 Jan</a:t>
            </a:r>
          </a:p>
          <a:p>
            <a:pPr marL="895305" lvl="2" indent="-285750" defTabSz="1219108">
              <a:lnSpc>
                <a:spcPct val="95000"/>
              </a:lnSpc>
              <a:spcBef>
                <a:spcPts val="0"/>
              </a:spcBef>
              <a:spcAft>
                <a:spcPts val="300"/>
              </a:spcAft>
              <a:buClr>
                <a:srgbClr val="37A5AC"/>
              </a:buClr>
              <a:buSzPct val="80000"/>
              <a:buFont typeface="Wingdings" panose="05000000000000000000" pitchFamily="2" charset="2"/>
              <a:buChar char="Ø"/>
              <a:defRPr/>
            </a:pPr>
            <a:r>
              <a:rPr lang="en-US" sz="1600" dirty="0">
                <a:solidFill>
                  <a:schemeClr val="tx1">
                    <a:lumMod val="50000"/>
                  </a:schemeClr>
                </a:solidFill>
              </a:rPr>
              <a:t>12:00pm – 1:00pm:	Government exit  - teaming opportunities/discussions</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800" dirty="0">
              <a:solidFill>
                <a:schemeClr val="tx1">
                  <a:lumMod val="50000"/>
                </a:schemeClr>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r>
              <a:rPr lang="en-US" sz="1600" dirty="0">
                <a:solidFill>
                  <a:schemeClr val="tx1">
                    <a:lumMod val="50000"/>
                  </a:schemeClr>
                </a:solidFill>
              </a:rPr>
              <a:t>**Not all questions submitted by 23 January will receive a response on Industry Day but we will follow up to all responses by posting them to all vendors via SAM.gov as soon as possible</a:t>
            </a: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lumMod val="50000"/>
                </a:schemeClr>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lumMod val="50000"/>
                </a:schemeClr>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lumMod val="50000"/>
                </a:schemeClr>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600" dirty="0">
                <a:solidFill>
                  <a:schemeClr val="tx1">
                    <a:lumMod val="50000"/>
                  </a:schemeClr>
                </a:solidFill>
                <a:latin typeface="+mn-lt"/>
              </a:rPr>
              <a:t>	</a:t>
            </a:r>
          </a:p>
        </p:txBody>
      </p:sp>
      <p:sp>
        <p:nvSpPr>
          <p:cNvPr id="4" name="Text Placeholder 3">
            <a:extLst>
              <a:ext uri="{FF2B5EF4-FFF2-40B4-BE49-F238E27FC236}">
                <a16:creationId xmlns:a16="http://schemas.microsoft.com/office/drawing/2014/main" id="{95641C2E-091C-0456-1408-E72728C0B86D}"/>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5" name="Text Placeholder 3">
            <a:extLst>
              <a:ext uri="{FF2B5EF4-FFF2-40B4-BE49-F238E27FC236}">
                <a16:creationId xmlns:a16="http://schemas.microsoft.com/office/drawing/2014/main" id="{D9403D80-C3A1-4A12-36BE-B83F0874E4C3}"/>
              </a:ext>
            </a:extLst>
          </p:cNvPr>
          <p:cNvSpPr txBox="1">
            <a:spLocks/>
          </p:cNvSpPr>
          <p:nvPr/>
        </p:nvSpPr>
        <p:spPr>
          <a:xfrm>
            <a:off x="0" y="657860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a:t>
            </a:r>
          </a:p>
        </p:txBody>
      </p:sp>
    </p:spTree>
    <p:extLst>
      <p:ext uri="{BB962C8B-B14F-4D97-AF65-F5344CB8AC3E}">
        <p14:creationId xmlns:p14="http://schemas.microsoft.com/office/powerpoint/2010/main" val="2415671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8CC2-BB19-440B-86BB-DEF458BDE560}"/>
              </a:ext>
            </a:extLst>
          </p:cNvPr>
          <p:cNvSpPr>
            <a:spLocks noGrp="1"/>
          </p:cNvSpPr>
          <p:nvPr>
            <p:ph type="title"/>
          </p:nvPr>
        </p:nvSpPr>
        <p:spPr/>
        <p:txBody>
          <a:bodyPr/>
          <a:lstStyle/>
          <a:p>
            <a:r>
              <a:rPr lang="en-US" dirty="0"/>
              <a:t>(U) Agenda – Program Vision</a:t>
            </a:r>
          </a:p>
        </p:txBody>
      </p:sp>
      <p:sp>
        <p:nvSpPr>
          <p:cNvPr id="3" name="Content Placeholder 2">
            <a:extLst>
              <a:ext uri="{FF2B5EF4-FFF2-40B4-BE49-F238E27FC236}">
                <a16:creationId xmlns:a16="http://schemas.microsoft.com/office/drawing/2014/main" id="{6F3C7A33-BB67-4CF4-A28D-E89F790E1DD9}"/>
              </a:ext>
            </a:extLst>
          </p:cNvPr>
          <p:cNvSpPr>
            <a:spLocks noGrp="1"/>
          </p:cNvSpPr>
          <p:nvPr>
            <p:ph idx="1"/>
          </p:nvPr>
        </p:nvSpPr>
        <p:spPr>
          <a:xfrm>
            <a:off x="609600" y="1417639"/>
            <a:ext cx="10972800" cy="5084761"/>
          </a:xfrm>
        </p:spPr>
        <p:txBody>
          <a:bodyPr>
            <a:noAutofit/>
          </a:bodyPr>
          <a:lstStyle/>
          <a:p>
            <a:r>
              <a:rPr lang="en-US" sz="1800" dirty="0"/>
              <a:t>➢ (U) Industry Day Purpose</a:t>
            </a:r>
          </a:p>
          <a:p>
            <a:r>
              <a:rPr lang="en-US" sz="1800" dirty="0"/>
              <a:t>➢ (U) Organization</a:t>
            </a:r>
          </a:p>
          <a:p>
            <a:r>
              <a:rPr lang="en-US" sz="1800" dirty="0"/>
              <a:t>➢ (U) Mission Overview</a:t>
            </a:r>
          </a:p>
          <a:p>
            <a:r>
              <a:rPr lang="en-US" sz="1800" dirty="0"/>
              <a:t>➢ (U) FS3i Background</a:t>
            </a:r>
          </a:p>
          <a:p>
            <a:r>
              <a:rPr lang="en-US" sz="1800" dirty="0"/>
              <a:t>➢ (U) FS3i Scope &amp; Structure</a:t>
            </a:r>
          </a:p>
          <a:p>
            <a:pPr marL="285750" indent="-285750">
              <a:buFont typeface="Wingdings" panose="05000000000000000000" pitchFamily="2" charset="2"/>
              <a:buChar char="Ø"/>
            </a:pPr>
            <a:r>
              <a:rPr lang="en-US" sz="1800" dirty="0"/>
              <a:t>(U) FS3i Task Orders</a:t>
            </a:r>
          </a:p>
          <a:p>
            <a:r>
              <a:rPr lang="en-US" sz="1800" dirty="0"/>
              <a:t>➢ (U) Closing Remarks &amp; Continuing Industry Engagement </a:t>
            </a:r>
          </a:p>
          <a:p>
            <a:r>
              <a:rPr lang="en-US" sz="1800" dirty="0"/>
              <a:t>➢ (U) Questions?</a:t>
            </a:r>
          </a:p>
          <a:p>
            <a:endParaRPr lang="en-US" dirty="0"/>
          </a:p>
        </p:txBody>
      </p:sp>
      <p:sp>
        <p:nvSpPr>
          <p:cNvPr id="4" name="Text Placeholder 3">
            <a:extLst>
              <a:ext uri="{FF2B5EF4-FFF2-40B4-BE49-F238E27FC236}">
                <a16:creationId xmlns:a16="http://schemas.microsoft.com/office/drawing/2014/main" id="{EDD61E81-B009-4991-911C-AED6816DD1EF}"/>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32E3BEF3-EF78-45E3-A943-0325DB384207}"/>
              </a:ext>
            </a:extLst>
          </p:cNvPr>
          <p:cNvSpPr>
            <a:spLocks noGrp="1"/>
          </p:cNvSpPr>
          <p:nvPr>
            <p:ph type="body" sz="quarter" idx="16"/>
          </p:nvPr>
        </p:nvSpPr>
        <p:spPr/>
        <p:txBody>
          <a:bodyPr>
            <a:normAutofit fontScale="85000" lnSpcReduction="20000"/>
          </a:bodyPr>
          <a:lstStyle/>
          <a:p>
            <a:r>
              <a:rPr lang="en-US" dirty="0"/>
              <a:t>UNCLASSIFIED</a:t>
            </a:r>
          </a:p>
        </p:txBody>
      </p:sp>
    </p:spTree>
    <p:extLst>
      <p:ext uri="{BB962C8B-B14F-4D97-AF65-F5344CB8AC3E}">
        <p14:creationId xmlns:p14="http://schemas.microsoft.com/office/powerpoint/2010/main" val="1197681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8CC2-BB19-440B-86BB-DEF458BDE560}"/>
              </a:ext>
            </a:extLst>
          </p:cNvPr>
          <p:cNvSpPr>
            <a:spLocks noGrp="1"/>
          </p:cNvSpPr>
          <p:nvPr>
            <p:ph type="title"/>
          </p:nvPr>
        </p:nvSpPr>
        <p:spPr/>
        <p:txBody>
          <a:bodyPr/>
          <a:lstStyle/>
          <a:p>
            <a:r>
              <a:rPr lang="en-US" dirty="0"/>
              <a:t>(U) Industry Day Purpose</a:t>
            </a:r>
          </a:p>
        </p:txBody>
      </p:sp>
      <p:sp>
        <p:nvSpPr>
          <p:cNvPr id="3" name="Content Placeholder 2">
            <a:extLst>
              <a:ext uri="{FF2B5EF4-FFF2-40B4-BE49-F238E27FC236}">
                <a16:creationId xmlns:a16="http://schemas.microsoft.com/office/drawing/2014/main" id="{6F3C7A33-BB67-4CF4-A28D-E89F790E1DD9}"/>
              </a:ext>
            </a:extLst>
          </p:cNvPr>
          <p:cNvSpPr>
            <a:spLocks noGrp="1"/>
          </p:cNvSpPr>
          <p:nvPr>
            <p:ph idx="1"/>
          </p:nvPr>
        </p:nvSpPr>
        <p:spPr>
          <a:xfrm>
            <a:off x="609600" y="1417639"/>
            <a:ext cx="10972800" cy="4165599"/>
          </a:xfrm>
        </p:spPr>
        <p:txBody>
          <a:bodyPr>
            <a:noAutofit/>
          </a:bodyPr>
          <a:lstStyle/>
          <a:p>
            <a:r>
              <a:rPr lang="en-US" sz="2000" dirty="0">
                <a:solidFill>
                  <a:schemeClr val="tx1">
                    <a:lumMod val="50000"/>
                  </a:schemeClr>
                </a:solidFill>
              </a:rPr>
              <a:t>➢ (U) The objectives of the FS3i Industry Day are to:				</a:t>
            </a:r>
          </a:p>
          <a:p>
            <a:endParaRPr lang="en-US" sz="2000" dirty="0">
              <a:solidFill>
                <a:schemeClr val="tx1">
                  <a:lumMod val="50000"/>
                </a:schemeClr>
              </a:solidFill>
            </a:endParaRPr>
          </a:p>
          <a:p>
            <a:pPr lvl="1"/>
            <a:r>
              <a:rPr lang="en-US" sz="2000" dirty="0">
                <a:solidFill>
                  <a:schemeClr val="tx1">
                    <a:lumMod val="50000"/>
                  </a:schemeClr>
                </a:solidFill>
              </a:rPr>
              <a:t>Provide a greater understanding of operational context and organizational fit</a:t>
            </a:r>
          </a:p>
          <a:p>
            <a:pPr lvl="1"/>
            <a:r>
              <a:rPr lang="en-US" sz="2000" dirty="0">
                <a:solidFill>
                  <a:schemeClr val="tx1">
                    <a:lumMod val="50000"/>
                  </a:schemeClr>
                </a:solidFill>
              </a:rPr>
              <a:t>Discuss specific requirement concepts</a:t>
            </a:r>
          </a:p>
          <a:p>
            <a:pPr lvl="1"/>
            <a:r>
              <a:rPr lang="en-US" sz="2000" dirty="0">
                <a:solidFill>
                  <a:schemeClr val="tx1">
                    <a:lumMod val="50000"/>
                  </a:schemeClr>
                </a:solidFill>
              </a:rPr>
              <a:t>Gather industry’s feedback </a:t>
            </a:r>
          </a:p>
          <a:p>
            <a:pPr lvl="1"/>
            <a:r>
              <a:rPr lang="en-US" sz="2000" dirty="0">
                <a:solidFill>
                  <a:schemeClr val="tx1">
                    <a:lumMod val="50000"/>
                  </a:schemeClr>
                </a:solidFill>
              </a:rPr>
              <a:t>Gauge technology readiness</a:t>
            </a:r>
          </a:p>
          <a:p>
            <a:pPr lvl="1"/>
            <a:r>
              <a:rPr lang="en-US" sz="2000" dirty="0">
                <a:solidFill>
                  <a:schemeClr val="tx1">
                    <a:lumMod val="50000"/>
                  </a:schemeClr>
                </a:solidFill>
              </a:rPr>
              <a:t>Provide Q&amp;A opportunities</a:t>
            </a:r>
          </a:p>
          <a:p>
            <a:pPr lvl="1"/>
            <a:r>
              <a:rPr lang="en-US" sz="2000" dirty="0">
                <a:solidFill>
                  <a:schemeClr val="tx1">
                    <a:lumMod val="50000"/>
                  </a:schemeClr>
                </a:solidFill>
              </a:rPr>
              <a:t>Provide time for teaming opportunities</a:t>
            </a:r>
          </a:p>
        </p:txBody>
      </p:sp>
      <p:sp>
        <p:nvSpPr>
          <p:cNvPr id="4" name="Text Placeholder 3">
            <a:extLst>
              <a:ext uri="{FF2B5EF4-FFF2-40B4-BE49-F238E27FC236}">
                <a16:creationId xmlns:a16="http://schemas.microsoft.com/office/drawing/2014/main" id="{EDD61E81-B009-4991-911C-AED6816DD1EF}"/>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32E3BEF3-EF78-45E3-A943-0325DB384207}"/>
              </a:ext>
            </a:extLst>
          </p:cNvPr>
          <p:cNvSpPr>
            <a:spLocks noGrp="1"/>
          </p:cNvSpPr>
          <p:nvPr>
            <p:ph type="body" sz="quarter" idx="16"/>
          </p:nvPr>
        </p:nvSpPr>
        <p:spPr/>
        <p:txBody>
          <a:bodyPr>
            <a:normAutofit fontScale="85000" lnSpcReduction="20000"/>
          </a:bodyPr>
          <a:lstStyle/>
          <a:p>
            <a:r>
              <a:rPr lang="en-US" dirty="0"/>
              <a:t>UNCLASSIFIED</a:t>
            </a:r>
          </a:p>
        </p:txBody>
      </p:sp>
    </p:spTree>
    <p:extLst>
      <p:ext uri="{BB962C8B-B14F-4D97-AF65-F5344CB8AC3E}">
        <p14:creationId xmlns:p14="http://schemas.microsoft.com/office/powerpoint/2010/main" val="1687880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CD997CB-E8EE-8A9B-CFEE-32C6EDB4BB14}"/>
              </a:ext>
            </a:extLst>
          </p:cNvPr>
          <p:cNvSpPr/>
          <p:nvPr/>
        </p:nvSpPr>
        <p:spPr>
          <a:xfrm>
            <a:off x="4983926" y="3257404"/>
            <a:ext cx="6124941" cy="2660176"/>
          </a:xfrm>
          <a:prstGeom prst="rect">
            <a:avLst/>
          </a:prstGeom>
          <a:solidFill>
            <a:schemeClr val="accent2">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8A687C06-DF03-4698-9159-3F237877C7F3}"/>
              </a:ext>
            </a:extLst>
          </p:cNvPr>
          <p:cNvSpPr>
            <a:spLocks noGrp="1"/>
          </p:cNvSpPr>
          <p:nvPr>
            <p:ph type="title"/>
          </p:nvPr>
        </p:nvSpPr>
        <p:spPr>
          <a:xfrm>
            <a:off x="478853" y="308271"/>
            <a:ext cx="11247120" cy="731520"/>
          </a:xfrm>
          <a:blipFill>
            <a:blip r:embed="rId2"/>
            <a:stretch>
              <a:fillRect/>
            </a:stretch>
          </a:blipFill>
        </p:spPr>
        <p:txBody>
          <a:bodyPr/>
          <a:lstStyle/>
          <a:p>
            <a:pPr marL="914400"/>
            <a:r>
              <a:rPr lang="en-US" dirty="0">
                <a:solidFill>
                  <a:srgbClr val="F78D20"/>
                </a:solidFill>
                <a:effectLst>
                  <a:outerShdw blurRad="38100" dist="38100" dir="2700000" algn="tl">
                    <a:srgbClr val="000000">
                      <a:alpha val="43137"/>
                    </a:srgbClr>
                  </a:outerShdw>
                </a:effectLst>
              </a:rPr>
              <a:t>MC&amp;G</a:t>
            </a:r>
            <a:r>
              <a:rPr lang="en-US" sz="3600" dirty="0">
                <a:solidFill>
                  <a:srgbClr val="81C3D5"/>
                </a:solidFill>
              </a:rPr>
              <a:t>|</a:t>
            </a:r>
            <a:endParaRPr lang="en-US" dirty="0"/>
          </a:p>
        </p:txBody>
      </p:sp>
      <p:sp>
        <p:nvSpPr>
          <p:cNvPr id="4" name="Text Placeholder 3"/>
          <p:cNvSpPr>
            <a:spLocks noGrp="1"/>
          </p:cNvSpPr>
          <p:nvPr>
            <p:ph type="body" sz="quarter" idx="15"/>
          </p:nvPr>
        </p:nvSpPr>
        <p:spPr>
          <a:xfrm>
            <a:off x="604123" y="6556587"/>
            <a:ext cx="11582401" cy="278956"/>
          </a:xfrm>
        </p:spPr>
        <p:txBody>
          <a:bodyPr>
            <a:normAutofit fontScale="85000" lnSpcReduction="20000"/>
          </a:bodyPr>
          <a:lstStyle/>
          <a:p>
            <a:r>
              <a:rPr lang="en-US" dirty="0"/>
              <a:t>UNCLASSIFIED</a:t>
            </a:r>
          </a:p>
        </p:txBody>
      </p:sp>
      <p:sp>
        <p:nvSpPr>
          <p:cNvPr id="5" name="Text Placeholder 4"/>
          <p:cNvSpPr>
            <a:spLocks noGrp="1"/>
          </p:cNvSpPr>
          <p:nvPr>
            <p:ph type="body" sz="quarter" idx="16"/>
          </p:nvPr>
        </p:nvSpPr>
        <p:spPr>
          <a:xfrm>
            <a:off x="0" y="-9952"/>
            <a:ext cx="11582400" cy="313893"/>
          </a:xfrm>
        </p:spPr>
        <p:txBody>
          <a:bodyPr>
            <a:noAutofit/>
          </a:bodyPr>
          <a:lstStyle/>
          <a:p>
            <a:r>
              <a:rPr lang="en-US" sz="1500" dirty="0"/>
              <a:t>UNCLASSIFIED</a:t>
            </a:r>
          </a:p>
        </p:txBody>
      </p:sp>
      <p:sp>
        <p:nvSpPr>
          <p:cNvPr id="6" name="TextBox 5">
            <a:extLst>
              <a:ext uri="{FF2B5EF4-FFF2-40B4-BE49-F238E27FC236}">
                <a16:creationId xmlns:a16="http://schemas.microsoft.com/office/drawing/2014/main" id="{9775E160-3F55-4C7A-85C1-66CCE2D5B276}"/>
              </a:ext>
            </a:extLst>
          </p:cNvPr>
          <p:cNvSpPr txBox="1"/>
          <p:nvPr/>
        </p:nvSpPr>
        <p:spPr>
          <a:xfrm>
            <a:off x="2565370" y="418526"/>
            <a:ext cx="2509501" cy="535531"/>
          </a:xfrm>
          <a:prstGeom prst="rect">
            <a:avLst/>
          </a:prstGeom>
          <a:noFill/>
        </p:spPr>
        <p:txBody>
          <a:bodyPr wrap="square" rtlCol="0">
            <a:spAutoFit/>
          </a:bodyPr>
          <a:lstStyle/>
          <a:p>
            <a:pPr lvl="0">
              <a:lnSpc>
                <a:spcPct val="90000"/>
              </a:lnSpc>
              <a:defRPr/>
            </a:pPr>
            <a:r>
              <a:rPr lang="en-US" sz="1600" kern="0" dirty="0">
                <a:solidFill>
                  <a:prstClr val="white"/>
                </a:solidFill>
                <a:effectLst>
                  <a:outerShdw blurRad="38100" dist="38100" dir="2700000" algn="tl">
                    <a:srgbClr val="000000">
                      <a:alpha val="43137"/>
                    </a:srgbClr>
                  </a:outerShdw>
                </a:effectLst>
                <a:latin typeface="HelveticaNeueLT Std Med Cn" panose="020B0606030502030204"/>
              </a:rPr>
              <a:t>Mapping, Charting, &amp; Geodesy “MC&amp;G” PEO</a:t>
            </a:r>
          </a:p>
        </p:txBody>
      </p:sp>
      <p:grpSp>
        <p:nvGrpSpPr>
          <p:cNvPr id="2" name="Group 1">
            <a:extLst>
              <a:ext uri="{FF2B5EF4-FFF2-40B4-BE49-F238E27FC236}">
                <a16:creationId xmlns:a16="http://schemas.microsoft.com/office/drawing/2014/main" id="{F0B2053D-BAC7-412C-B9E4-4F0A30F4B680}"/>
              </a:ext>
            </a:extLst>
          </p:cNvPr>
          <p:cNvGrpSpPr/>
          <p:nvPr/>
        </p:nvGrpSpPr>
        <p:grpSpPr>
          <a:xfrm>
            <a:off x="7052343" y="574238"/>
            <a:ext cx="4284626" cy="194325"/>
            <a:chOff x="7052343" y="574238"/>
            <a:chExt cx="4284626" cy="194325"/>
          </a:xfrm>
        </p:grpSpPr>
        <p:cxnSp>
          <p:nvCxnSpPr>
            <p:cNvPr id="10" name="Straight Arrow Connector 9">
              <a:extLst>
                <a:ext uri="{FF2B5EF4-FFF2-40B4-BE49-F238E27FC236}">
                  <a16:creationId xmlns:a16="http://schemas.microsoft.com/office/drawing/2014/main" id="{D35513C6-82A7-47DA-88D6-5AB1078EFB8F}"/>
                </a:ext>
              </a:extLst>
            </p:cNvPr>
            <p:cNvCxnSpPr/>
            <p:nvPr/>
          </p:nvCxnSpPr>
          <p:spPr>
            <a:xfrm>
              <a:off x="7052343" y="574238"/>
              <a:ext cx="4114800" cy="0"/>
            </a:xfrm>
            <a:prstGeom prst="straightConnector1">
              <a:avLst/>
            </a:prstGeom>
            <a:ln w="19050">
              <a:solidFill>
                <a:srgbClr val="81C3D5"/>
              </a:solidFill>
              <a:tailEnd type="ova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5A40AB7-68A7-46A5-95BD-16EA383E2862}"/>
                </a:ext>
              </a:extLst>
            </p:cNvPr>
            <p:cNvCxnSpPr/>
            <p:nvPr/>
          </p:nvCxnSpPr>
          <p:spPr>
            <a:xfrm>
              <a:off x="7055897" y="768563"/>
              <a:ext cx="4114800" cy="0"/>
            </a:xfrm>
            <a:prstGeom prst="straightConnector1">
              <a:avLst/>
            </a:prstGeom>
            <a:ln w="19050">
              <a:solidFill>
                <a:srgbClr val="81C3D5"/>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6B1EE1-87D7-47C9-87C1-CA55CAB42C9B}"/>
                </a:ext>
              </a:extLst>
            </p:cNvPr>
            <p:cNvCxnSpPr/>
            <p:nvPr/>
          </p:nvCxnSpPr>
          <p:spPr>
            <a:xfrm>
              <a:off x="7222169" y="672119"/>
              <a:ext cx="4114800" cy="0"/>
            </a:xfrm>
            <a:prstGeom prst="straightConnector1">
              <a:avLst/>
            </a:prstGeom>
            <a:ln w="19050">
              <a:solidFill>
                <a:srgbClr val="81C3D5"/>
              </a:solidFill>
              <a:tailEnd type="ova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ED2E56E1-E8B6-48BC-A6B3-BD001E6A58FB}"/>
              </a:ext>
            </a:extLst>
          </p:cNvPr>
          <p:cNvGrpSpPr/>
          <p:nvPr/>
        </p:nvGrpSpPr>
        <p:grpSpPr>
          <a:xfrm>
            <a:off x="4953000" y="251951"/>
            <a:ext cx="2286000" cy="868680"/>
            <a:chOff x="4961376" y="232010"/>
            <a:chExt cx="2286000" cy="868680"/>
          </a:xfrm>
        </p:grpSpPr>
        <p:sp>
          <p:nvSpPr>
            <p:cNvPr id="8" name="Rectangle 7">
              <a:extLst>
                <a:ext uri="{FF2B5EF4-FFF2-40B4-BE49-F238E27FC236}">
                  <a16:creationId xmlns:a16="http://schemas.microsoft.com/office/drawing/2014/main" id="{D317FBDE-5FF9-4ABC-AA32-48490FD0C5C2}"/>
                </a:ext>
              </a:extLst>
            </p:cNvPr>
            <p:cNvSpPr/>
            <p:nvPr/>
          </p:nvSpPr>
          <p:spPr>
            <a:xfrm>
              <a:off x="4961376" y="232010"/>
              <a:ext cx="2286000" cy="868680"/>
            </a:xfrm>
            <a:prstGeom prst="rect">
              <a:avLst/>
            </a:prstGeom>
            <a:solidFill>
              <a:srgbClr val="07545C"/>
            </a:solidFill>
            <a:ln w="12700" cap="flat" cmpd="sng" algn="ctr">
              <a:noFill/>
              <a:prstDash val="solid"/>
              <a:miter lim="800000"/>
            </a:ln>
            <a:effectLst>
              <a:outerShdw blurRad="50800" dist="38100" dir="2700000" algn="tl" rotWithShape="0">
                <a:prstClr val="black">
                  <a:alpha val="40000"/>
                </a:prstClr>
              </a:outerShdw>
            </a:effectLst>
            <a:scene3d>
              <a:camera prst="orthographicFront"/>
              <a:lightRig rig="threePt" dir="t"/>
            </a:scene3d>
            <a:sp3d>
              <a:bevelT/>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ndParaRPr>
            </a:p>
          </p:txBody>
        </p:sp>
        <p:sp>
          <p:nvSpPr>
            <p:cNvPr id="9" name="Rectangle 8">
              <a:extLst>
                <a:ext uri="{FF2B5EF4-FFF2-40B4-BE49-F238E27FC236}">
                  <a16:creationId xmlns:a16="http://schemas.microsoft.com/office/drawing/2014/main" id="{910CCD39-222D-462B-A2DF-6CD2E01EA5DC}"/>
                </a:ext>
              </a:extLst>
            </p:cNvPr>
            <p:cNvSpPr/>
            <p:nvPr/>
          </p:nvSpPr>
          <p:spPr>
            <a:xfrm>
              <a:off x="5050578" y="321123"/>
              <a:ext cx="2103120" cy="685800"/>
            </a:xfrm>
            <a:prstGeom prst="rect">
              <a:avLst/>
            </a:prstGeom>
            <a:solidFill>
              <a:srgbClr val="000000"/>
            </a:solidFill>
            <a:ln w="25400" cmpd="tri">
              <a:solidFill>
                <a:srgbClr val="F78D20"/>
              </a:solidFill>
            </a:ln>
            <a:effectLst>
              <a:outerShdw blurRad="57150" dist="19050" dir="5400000" algn="ctr" rotWithShape="0">
                <a:srgbClr val="000000">
                  <a:alpha val="63000"/>
                </a:srgbClr>
              </a:outerShdw>
            </a:effectLst>
          </p:spPr>
          <p:txBody>
            <a:bodyPr rtlCol="0" anchor="ctr"/>
            <a:lstStyle/>
            <a:p>
              <a:pPr lvl="0" algn="ctr">
                <a:defRPr/>
              </a:pPr>
              <a:r>
                <a:rPr kumimoji="0" lang="en-US" sz="15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HelveticaNeueLT Std Med Cn" panose="020B0606030502030204"/>
                </a:rPr>
                <a:t>Victor Trimarchi</a:t>
              </a:r>
            </a:p>
            <a:p>
              <a:pPr lvl="0" algn="ctr">
                <a:defRPr/>
              </a:pPr>
              <a:r>
                <a:rPr lang="en-US" sz="1300" b="1" kern="0" dirty="0">
                  <a:solidFill>
                    <a:srgbClr val="F78D20"/>
                  </a:solidFill>
                  <a:effectLst>
                    <a:outerShdw blurRad="38100" dist="38100" dir="2700000" algn="tl">
                      <a:srgbClr val="000000">
                        <a:alpha val="43137"/>
                      </a:srgbClr>
                    </a:outerShdw>
                  </a:effectLst>
                  <a:latin typeface="HelveticaNeueLT Std Med Cn" panose="020B0606030502030204"/>
                </a:rPr>
                <a:t>PM PEO MC&amp;G (acting)</a:t>
              </a:r>
              <a:endParaRPr kumimoji="0" lang="en-US" sz="1200" b="1" u="none" strike="noStrike" kern="0" cap="none" spc="0" normalizeH="0" baseline="0" noProof="0" dirty="0">
                <a:ln>
                  <a:noFill/>
                </a:ln>
                <a:solidFill>
                  <a:srgbClr val="F78D20"/>
                </a:solidFill>
                <a:effectLst>
                  <a:outerShdw blurRad="38100" dist="38100" dir="2700000" algn="tl">
                    <a:srgbClr val="000000">
                      <a:alpha val="43137"/>
                    </a:srgbClr>
                  </a:outerShdw>
                </a:effectLst>
                <a:uLnTx/>
                <a:uFillTx/>
                <a:latin typeface="HelveticaNeueLT Std Med Cn" panose="020B0606030502030204"/>
              </a:endParaRPr>
            </a:p>
          </p:txBody>
        </p:sp>
      </p:grpSp>
      <p:grpSp>
        <p:nvGrpSpPr>
          <p:cNvPr id="13" name="Group 12">
            <a:extLst>
              <a:ext uri="{FF2B5EF4-FFF2-40B4-BE49-F238E27FC236}">
                <a16:creationId xmlns:a16="http://schemas.microsoft.com/office/drawing/2014/main" id="{361A21CB-8C94-4714-9CBF-E500CFD134F4}"/>
              </a:ext>
            </a:extLst>
          </p:cNvPr>
          <p:cNvGrpSpPr/>
          <p:nvPr/>
        </p:nvGrpSpPr>
        <p:grpSpPr>
          <a:xfrm>
            <a:off x="478853" y="2805281"/>
            <a:ext cx="11141212" cy="215862"/>
            <a:chOff x="588029" y="2287332"/>
            <a:chExt cx="11015943" cy="190821"/>
          </a:xfrm>
        </p:grpSpPr>
        <p:cxnSp>
          <p:nvCxnSpPr>
            <p:cNvPr id="161" name="Straight Connector 160">
              <a:extLst>
                <a:ext uri="{FF2B5EF4-FFF2-40B4-BE49-F238E27FC236}">
                  <a16:creationId xmlns:a16="http://schemas.microsoft.com/office/drawing/2014/main" id="{DD3367C6-D8DB-47F1-918B-AA13199C5798}"/>
                </a:ext>
              </a:extLst>
            </p:cNvPr>
            <p:cNvCxnSpPr/>
            <p:nvPr/>
          </p:nvCxnSpPr>
          <p:spPr>
            <a:xfrm flipV="1">
              <a:off x="588029" y="2382291"/>
              <a:ext cx="11015943" cy="45"/>
            </a:xfrm>
            <a:prstGeom prst="line">
              <a:avLst/>
            </a:prstGeom>
            <a:noFill/>
            <a:ln w="28575" cap="flat" cmpd="sng" algn="ctr">
              <a:solidFill>
                <a:srgbClr val="07545C"/>
              </a:solidFill>
              <a:prstDash val="solid"/>
              <a:miter lim="800000"/>
            </a:ln>
            <a:effectLst/>
          </p:spPr>
        </p:cxnSp>
        <p:sp>
          <p:nvSpPr>
            <p:cNvPr id="162" name="Rectangle 1707">
              <a:extLst>
                <a:ext uri="{FF2B5EF4-FFF2-40B4-BE49-F238E27FC236}">
                  <a16:creationId xmlns:a16="http://schemas.microsoft.com/office/drawing/2014/main" id="{A606F7E3-8C07-4D2A-92C8-93619DC35BD1}"/>
                </a:ext>
              </a:extLst>
            </p:cNvPr>
            <p:cNvSpPr>
              <a:spLocks noChangeArrowheads="1"/>
            </p:cNvSpPr>
            <p:nvPr/>
          </p:nvSpPr>
          <p:spPr bwMode="auto">
            <a:xfrm>
              <a:off x="5529774" y="2287332"/>
              <a:ext cx="908198" cy="190821"/>
            </a:xfrm>
            <a:prstGeom prst="rect">
              <a:avLst/>
            </a:prstGeom>
            <a:solidFill>
              <a:srgbClr val="FFFFFF"/>
            </a:solidFill>
            <a:ln>
              <a:noFill/>
            </a:ln>
          </p:spPr>
          <p:txBody>
            <a:bodyPr vert="horz" wrap="none" lIns="27432" tIns="18288" rIns="27432" bIns="18288"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rgbClr val="231F20"/>
                  </a:solidFill>
                  <a:effectLst/>
                  <a:uLnTx/>
                  <a:uFillTx/>
                  <a:latin typeface="HelveticaNeueLT Std Med Cn" panose="020B0606030502030204"/>
                </a:rPr>
                <a:t>Office Groups</a:t>
              </a:r>
              <a:endParaRPr kumimoji="0" lang="en-US" altLang="en-US" sz="1000" b="1" i="0" u="none" strike="noStrike" kern="0" cap="none" spc="0" normalizeH="0" baseline="0" noProof="0" dirty="0">
                <a:ln>
                  <a:noFill/>
                </a:ln>
                <a:solidFill>
                  <a:prstClr val="black"/>
                </a:solidFill>
                <a:effectLst/>
                <a:uLnTx/>
                <a:uFillTx/>
                <a:latin typeface="HelveticaNeueLT Std Med Cn" panose="020B0606030502030204"/>
              </a:endParaRPr>
            </a:p>
          </p:txBody>
        </p:sp>
      </p:grpSp>
      <p:sp>
        <p:nvSpPr>
          <p:cNvPr id="163" name="TextBox 162">
            <a:extLst>
              <a:ext uri="{FF2B5EF4-FFF2-40B4-BE49-F238E27FC236}">
                <a16:creationId xmlns:a16="http://schemas.microsoft.com/office/drawing/2014/main" id="{97D1E3C8-E7FC-46F9-87DB-DFE19D700993}"/>
              </a:ext>
            </a:extLst>
          </p:cNvPr>
          <p:cNvSpPr txBox="1"/>
          <p:nvPr/>
        </p:nvSpPr>
        <p:spPr>
          <a:xfrm>
            <a:off x="9905330" y="33556"/>
            <a:ext cx="1868750" cy="261610"/>
          </a:xfrm>
          <a:prstGeom prst="rect">
            <a:avLst/>
          </a:prstGeom>
          <a:noFill/>
        </p:spPr>
        <p:txBody>
          <a:bodyPr wrap="square" rtlCol="0">
            <a:spAutoFit/>
          </a:bodyPr>
          <a:lstStyle/>
          <a:p>
            <a:pPr algn="r"/>
            <a:r>
              <a:rPr lang="en-US" sz="1100" dirty="0">
                <a:solidFill>
                  <a:prstClr val="black">
                    <a:lumMod val="85000"/>
                    <a:lumOff val="15000"/>
                  </a:prstClr>
                </a:solidFill>
                <a:latin typeface="HelveticaNeueLT Std Med Cn" panose="020B0606030502030204"/>
              </a:rPr>
              <a:t>Last Updated 5/6/2025</a:t>
            </a:r>
          </a:p>
        </p:txBody>
      </p:sp>
      <p:sp>
        <p:nvSpPr>
          <p:cNvPr id="23" name="Rectangle 22">
            <a:extLst>
              <a:ext uri="{FF2B5EF4-FFF2-40B4-BE49-F238E27FC236}">
                <a16:creationId xmlns:a16="http://schemas.microsoft.com/office/drawing/2014/main" id="{3AECE162-EB38-435E-8DD4-905DC454E8A8}"/>
              </a:ext>
            </a:extLst>
          </p:cNvPr>
          <p:cNvSpPr/>
          <p:nvPr/>
        </p:nvSpPr>
        <p:spPr>
          <a:xfrm>
            <a:off x="9779563" y="1168088"/>
            <a:ext cx="1900211" cy="596444"/>
          </a:xfrm>
          <a:prstGeom prst="rect">
            <a:avLst/>
          </a:prstGeom>
          <a:solidFill>
            <a:schemeClr val="tx1"/>
          </a:solidFill>
          <a:ln w="28575">
            <a:solidFill>
              <a:srgbClr val="000000"/>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100" dirty="0">
                <a:solidFill>
                  <a:schemeClr val="bg1"/>
                </a:solidFill>
                <a:latin typeface="Arial"/>
              </a:rPr>
              <a:t>Liz Lyon (acting) &amp;</a:t>
            </a:r>
          </a:p>
          <a:p>
            <a:pPr lvl="0" algn="ctr">
              <a:defRPr/>
            </a:pPr>
            <a:r>
              <a:rPr lang="en-US" sz="1100" dirty="0">
                <a:solidFill>
                  <a:schemeClr val="bg1"/>
                </a:solidFill>
                <a:latin typeface="Arial"/>
              </a:rPr>
              <a:t>Danny Ohlendorf</a:t>
            </a:r>
            <a:br>
              <a:rPr lang="en-US" sz="1100" kern="0" dirty="0">
                <a:solidFill>
                  <a:prstClr val="white"/>
                </a:solidFill>
                <a:latin typeface="HelveticaNeueLT Std Med Cn" panose="020B0606030502030204"/>
              </a:rPr>
            </a:br>
            <a:r>
              <a:rPr lang="en-US" sz="1100" kern="0" dirty="0">
                <a:solidFill>
                  <a:prstClr val="white"/>
                </a:solidFill>
                <a:latin typeface="HelveticaNeueLT Std Med Cn" panose="020B0606030502030204"/>
              </a:rPr>
              <a:t>SF Mission Deputies</a:t>
            </a:r>
          </a:p>
        </p:txBody>
      </p:sp>
      <p:grpSp>
        <p:nvGrpSpPr>
          <p:cNvPr id="31" name="Group 30">
            <a:extLst>
              <a:ext uri="{FF2B5EF4-FFF2-40B4-BE49-F238E27FC236}">
                <a16:creationId xmlns:a16="http://schemas.microsoft.com/office/drawing/2014/main" id="{AC758262-B072-6F58-2EC8-20F3545A5D89}"/>
              </a:ext>
            </a:extLst>
          </p:cNvPr>
          <p:cNvGrpSpPr/>
          <p:nvPr/>
        </p:nvGrpSpPr>
        <p:grpSpPr>
          <a:xfrm>
            <a:off x="2673083" y="1691419"/>
            <a:ext cx="6795805" cy="496541"/>
            <a:chOff x="2673083" y="1229488"/>
            <a:chExt cx="6795805" cy="496541"/>
          </a:xfrm>
        </p:grpSpPr>
        <p:sp>
          <p:nvSpPr>
            <p:cNvPr id="25" name="Rectangle 24">
              <a:extLst>
                <a:ext uri="{FF2B5EF4-FFF2-40B4-BE49-F238E27FC236}">
                  <a16:creationId xmlns:a16="http://schemas.microsoft.com/office/drawing/2014/main" id="{12C0E30B-9E1F-41BD-9026-FB1A4D1A9C5C}"/>
                </a:ext>
              </a:extLst>
            </p:cNvPr>
            <p:cNvSpPr/>
            <p:nvPr/>
          </p:nvSpPr>
          <p:spPr>
            <a:xfrm>
              <a:off x="2673083" y="1229488"/>
              <a:ext cx="1772706" cy="492032"/>
            </a:xfrm>
            <a:prstGeom prst="rect">
              <a:avLst/>
            </a:prstGeom>
            <a:solidFill>
              <a:srgbClr val="07545C"/>
            </a:solidFill>
            <a:ln w="28575">
              <a:solidFill>
                <a:srgbClr val="000000"/>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algn="ctr">
                <a:defRPr/>
              </a:pPr>
              <a:r>
                <a:rPr lang="en-US" sz="1100" kern="0" dirty="0">
                  <a:solidFill>
                    <a:prstClr val="white"/>
                  </a:solidFill>
                  <a:latin typeface="HelveticaNeueLT Std Med Cn" panose="020B0606030502030204"/>
                </a:rPr>
                <a:t>Dr. Umesh Singh</a:t>
              </a:r>
            </a:p>
            <a:p>
              <a:pPr algn="ctr">
                <a:defRPr/>
              </a:pPr>
              <a:r>
                <a:rPr lang="en-US" sz="1100" kern="0" dirty="0">
                  <a:solidFill>
                    <a:prstClr val="white"/>
                  </a:solidFill>
                  <a:latin typeface="HelveticaNeueLT Std Med Cn" panose="020B0606030502030204"/>
                </a:rPr>
                <a:t>Senior Engineer</a:t>
              </a:r>
            </a:p>
          </p:txBody>
        </p:sp>
        <p:sp>
          <p:nvSpPr>
            <p:cNvPr id="26" name="Rectangle 25">
              <a:extLst>
                <a:ext uri="{FF2B5EF4-FFF2-40B4-BE49-F238E27FC236}">
                  <a16:creationId xmlns:a16="http://schemas.microsoft.com/office/drawing/2014/main" id="{44863A11-87D1-479E-9AAC-493A9130B62B}"/>
                </a:ext>
              </a:extLst>
            </p:cNvPr>
            <p:cNvSpPr/>
            <p:nvPr/>
          </p:nvSpPr>
          <p:spPr>
            <a:xfrm>
              <a:off x="5186734" y="1233997"/>
              <a:ext cx="1768503" cy="487523"/>
            </a:xfrm>
            <a:prstGeom prst="rect">
              <a:avLst/>
            </a:prstGeom>
            <a:solidFill>
              <a:srgbClr val="07545C"/>
            </a:solidFill>
            <a:ln w="28575">
              <a:solidFill>
                <a:srgbClr val="000000"/>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100" kern="0" dirty="0">
                  <a:solidFill>
                    <a:prstClr val="white"/>
                  </a:solidFill>
                  <a:latin typeface="HelveticaNeueLT Std Med Cn" panose="020B0606030502030204"/>
                </a:rPr>
                <a:t>Stacie Bauer</a:t>
              </a:r>
              <a:br>
                <a:rPr lang="en-US" sz="1100" kern="0" dirty="0">
                  <a:solidFill>
                    <a:prstClr val="white"/>
                  </a:solidFill>
                  <a:latin typeface="HelveticaNeueLT Std Med Cn" panose="020B0606030502030204"/>
                </a:rPr>
              </a:br>
              <a:r>
                <a:rPr lang="en-US" sz="1100" kern="0" dirty="0">
                  <a:solidFill>
                    <a:prstClr val="white"/>
                  </a:solidFill>
                  <a:latin typeface="HelveticaNeueLT Std Med Cn" panose="020B0606030502030204"/>
                </a:rPr>
                <a:t>Director of Staff</a:t>
              </a:r>
            </a:p>
          </p:txBody>
        </p:sp>
        <p:sp>
          <p:nvSpPr>
            <p:cNvPr id="3" name="Rectangle 2">
              <a:extLst>
                <a:ext uri="{FF2B5EF4-FFF2-40B4-BE49-F238E27FC236}">
                  <a16:creationId xmlns:a16="http://schemas.microsoft.com/office/drawing/2014/main" id="{DCE49A1A-332E-5C97-61E9-5DBFFB6DFB75}"/>
                </a:ext>
              </a:extLst>
            </p:cNvPr>
            <p:cNvSpPr/>
            <p:nvPr/>
          </p:nvSpPr>
          <p:spPr>
            <a:xfrm>
              <a:off x="7696182" y="1233997"/>
              <a:ext cx="1772706" cy="492032"/>
            </a:xfrm>
            <a:prstGeom prst="rect">
              <a:avLst/>
            </a:prstGeom>
            <a:solidFill>
              <a:srgbClr val="07545C"/>
            </a:solidFill>
            <a:ln w="28575">
              <a:solidFill>
                <a:srgbClr val="000000"/>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algn="ctr">
                <a:defRPr/>
              </a:pPr>
              <a:r>
                <a:rPr lang="en-US" sz="1100" kern="0" dirty="0">
                  <a:solidFill>
                    <a:prstClr val="white"/>
                  </a:solidFill>
                  <a:latin typeface="HelveticaNeueLT Std Med Cn" panose="020B0606030502030204"/>
                </a:rPr>
                <a:t>Jim McIntyre</a:t>
              </a:r>
              <a:br>
                <a:rPr lang="en-US" sz="1100" kern="0" dirty="0">
                  <a:solidFill>
                    <a:prstClr val="white"/>
                  </a:solidFill>
                  <a:latin typeface="HelveticaNeueLT Std Med Cn" panose="020B0606030502030204"/>
                </a:rPr>
              </a:br>
              <a:r>
                <a:rPr lang="en-US" sz="1100" kern="0" dirty="0">
                  <a:solidFill>
                    <a:prstClr val="white"/>
                  </a:solidFill>
                  <a:latin typeface="HelveticaNeueLT Std Med Cn" panose="020B0606030502030204"/>
                </a:rPr>
                <a:t>Technical Director</a:t>
              </a:r>
            </a:p>
          </p:txBody>
        </p:sp>
      </p:grpSp>
      <p:grpSp>
        <p:nvGrpSpPr>
          <p:cNvPr id="17" name="Group 16">
            <a:extLst>
              <a:ext uri="{FF2B5EF4-FFF2-40B4-BE49-F238E27FC236}">
                <a16:creationId xmlns:a16="http://schemas.microsoft.com/office/drawing/2014/main" id="{218EB99F-DD04-5437-B640-13FF78128B68}"/>
              </a:ext>
            </a:extLst>
          </p:cNvPr>
          <p:cNvGrpSpPr/>
          <p:nvPr/>
        </p:nvGrpSpPr>
        <p:grpSpPr>
          <a:xfrm>
            <a:off x="1046677" y="3429000"/>
            <a:ext cx="9793028" cy="1707618"/>
            <a:chOff x="1046677" y="3429000"/>
            <a:chExt cx="9793028" cy="1707618"/>
          </a:xfrm>
        </p:grpSpPr>
        <p:grpSp>
          <p:nvGrpSpPr>
            <p:cNvPr id="27" name="Group 26">
              <a:extLst>
                <a:ext uri="{FF2B5EF4-FFF2-40B4-BE49-F238E27FC236}">
                  <a16:creationId xmlns:a16="http://schemas.microsoft.com/office/drawing/2014/main" id="{11024E65-D6DD-7AAA-D1A4-6E5898C48EC6}"/>
                </a:ext>
              </a:extLst>
            </p:cNvPr>
            <p:cNvGrpSpPr/>
            <p:nvPr/>
          </p:nvGrpSpPr>
          <p:grpSpPr>
            <a:xfrm>
              <a:off x="1046677" y="3431059"/>
              <a:ext cx="1493580" cy="1626948"/>
              <a:chOff x="2584378" y="3053207"/>
              <a:chExt cx="1493580" cy="1626948"/>
            </a:xfrm>
          </p:grpSpPr>
          <p:sp>
            <p:nvSpPr>
              <p:cNvPr id="48" name="Rectangle 47">
                <a:extLst>
                  <a:ext uri="{FF2B5EF4-FFF2-40B4-BE49-F238E27FC236}">
                    <a16:creationId xmlns:a16="http://schemas.microsoft.com/office/drawing/2014/main" id="{11703465-C839-4A5E-9B43-239F625AD66E}"/>
                  </a:ext>
                </a:extLst>
              </p:cNvPr>
              <p:cNvSpPr/>
              <p:nvPr/>
            </p:nvSpPr>
            <p:spPr>
              <a:xfrm>
                <a:off x="2584378" y="3053207"/>
                <a:ext cx="1492472" cy="469612"/>
              </a:xfrm>
              <a:prstGeom prst="rect">
                <a:avLst/>
              </a:prstGeom>
              <a:solidFill>
                <a:srgbClr val="848285"/>
              </a:solidFill>
              <a:ln w="28575">
                <a:solidFill>
                  <a:srgbClr val="07545C"/>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050" kern="0" dirty="0">
                    <a:solidFill>
                      <a:prstClr val="white"/>
                    </a:solidFill>
                    <a:latin typeface="Arial" panose="020B0604020202020204" pitchFamily="34" charset="0"/>
                    <a:cs typeface="Arial" panose="020B0604020202020204" pitchFamily="34" charset="0"/>
                  </a:rPr>
                  <a:t>Engineering Management</a:t>
                </a:r>
              </a:p>
              <a:p>
                <a:pPr lvl="0" algn="ctr">
                  <a:defRPr/>
                </a:pPr>
                <a:r>
                  <a:rPr lang="en-US" sz="1050" kern="0" dirty="0">
                    <a:solidFill>
                      <a:prstClr val="white"/>
                    </a:solidFill>
                    <a:latin typeface="Arial" panose="020B0604020202020204" pitchFamily="34" charset="0"/>
                    <a:cs typeface="Arial" panose="020B0604020202020204" pitchFamily="34" charset="0"/>
                  </a:rPr>
                  <a:t>PME</a:t>
                </a:r>
              </a:p>
            </p:txBody>
          </p:sp>
          <p:sp>
            <p:nvSpPr>
              <p:cNvPr id="49" name="TextBox 48">
                <a:extLst>
                  <a:ext uri="{FF2B5EF4-FFF2-40B4-BE49-F238E27FC236}">
                    <a16:creationId xmlns:a16="http://schemas.microsoft.com/office/drawing/2014/main" id="{36B38AD9-5147-4C56-A0B1-B599C7153EDB}"/>
                  </a:ext>
                </a:extLst>
              </p:cNvPr>
              <p:cNvSpPr txBox="1"/>
              <p:nvPr/>
            </p:nvSpPr>
            <p:spPr>
              <a:xfrm>
                <a:off x="2585486" y="3532853"/>
                <a:ext cx="1492472" cy="1147302"/>
              </a:xfrm>
              <a:prstGeom prst="rect">
                <a:avLst/>
              </a:prstGeom>
              <a:solidFill>
                <a:srgbClr val="EAE5DE"/>
              </a:solidFill>
              <a:ln w="28575">
                <a:solidFill>
                  <a:srgbClr val="07545C"/>
                </a:solidFill>
              </a:ln>
              <a:scene3d>
                <a:camera prst="orthographicFront"/>
                <a:lightRig rig="threePt" dir="t"/>
              </a:scene3d>
              <a:sp3d>
                <a:bevelT/>
              </a:sp3d>
            </p:spPr>
            <p:txBody>
              <a:bodyPr wrap="none" tIns="91440" bIns="91440" rtlCol="0">
                <a:noAutofit/>
              </a:bodyPr>
              <a:lstStyle/>
              <a:p>
                <a:pPr lvl="0" algn="ctr">
                  <a:defRPr/>
                </a:pPr>
                <a:r>
                  <a:rPr lang="en-US" sz="1000" kern="0" dirty="0">
                    <a:solidFill>
                      <a:srgbClr val="D8D8D8">
                        <a:lumMod val="10000"/>
                      </a:srgbClr>
                    </a:solidFill>
                    <a:latin typeface="HelveticaNeueLT Std Med Cn" panose="020B0606030502030204"/>
                  </a:rPr>
                  <a:t>Bill Symolon</a:t>
                </a:r>
              </a:p>
              <a:p>
                <a:pPr lvl="0" algn="ctr">
                  <a:defRPr/>
                </a:pPr>
                <a:r>
                  <a:rPr lang="en-US" sz="1000" kern="0" dirty="0">
                    <a:solidFill>
                      <a:srgbClr val="D8D8D8">
                        <a:lumMod val="10000"/>
                      </a:srgbClr>
                    </a:solidFill>
                    <a:latin typeface="HelveticaNeueLT Std Med Cn" panose="020B0606030502030204"/>
                  </a:rPr>
                  <a:t>Chief Engineer</a:t>
                </a:r>
                <a:endParaRPr kumimoji="0" lang="en-US" sz="600" u="none" strike="noStrike" kern="0" cap="none" spc="0" normalizeH="0" baseline="0" noProof="0" dirty="0">
                  <a:ln>
                    <a:noFill/>
                  </a:ln>
                  <a:solidFill>
                    <a:prstClr val="black"/>
                  </a:solidFill>
                  <a:effectLst/>
                  <a:uLnTx/>
                  <a:uFillTx/>
                  <a:latin typeface="HelveticaNeueLT Std Med Cn" panose="020B0606030502030204"/>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1" u="none" strike="noStrike" kern="0" cap="none" spc="0" normalizeH="0" baseline="0" noProof="0" dirty="0">
                  <a:ln>
                    <a:noFill/>
                  </a:ln>
                  <a:solidFill>
                    <a:prstClr val="black"/>
                  </a:solidFill>
                  <a:effectLst/>
                  <a:uLnTx/>
                  <a:uFillTx/>
                  <a:latin typeface="HelveticaNeueLT Std Med Cn" panose="020B0606030502030204"/>
                </a:endParaRPr>
              </a:p>
            </p:txBody>
          </p:sp>
        </p:grpSp>
        <p:grpSp>
          <p:nvGrpSpPr>
            <p:cNvPr id="16" name="Group 15">
              <a:extLst>
                <a:ext uri="{FF2B5EF4-FFF2-40B4-BE49-F238E27FC236}">
                  <a16:creationId xmlns:a16="http://schemas.microsoft.com/office/drawing/2014/main" id="{614A252D-44D7-A580-2809-C72F850F998C}"/>
                </a:ext>
              </a:extLst>
            </p:cNvPr>
            <p:cNvGrpSpPr/>
            <p:nvPr/>
          </p:nvGrpSpPr>
          <p:grpSpPr>
            <a:xfrm>
              <a:off x="3150524" y="3429000"/>
              <a:ext cx="7689181" cy="1707618"/>
              <a:chOff x="3150524" y="3429000"/>
              <a:chExt cx="7689181" cy="1707618"/>
            </a:xfrm>
          </p:grpSpPr>
          <p:grpSp>
            <p:nvGrpSpPr>
              <p:cNvPr id="22" name="Group 21">
                <a:extLst>
                  <a:ext uri="{FF2B5EF4-FFF2-40B4-BE49-F238E27FC236}">
                    <a16:creationId xmlns:a16="http://schemas.microsoft.com/office/drawing/2014/main" id="{0578B5A8-C355-9AAF-904A-E185B8D58009}"/>
                  </a:ext>
                </a:extLst>
              </p:cNvPr>
              <p:cNvGrpSpPr/>
              <p:nvPr/>
            </p:nvGrpSpPr>
            <p:grpSpPr>
              <a:xfrm>
                <a:off x="5300558" y="3429000"/>
                <a:ext cx="1496781" cy="1694025"/>
                <a:chOff x="6399639" y="3133296"/>
                <a:chExt cx="1496781" cy="1694025"/>
              </a:xfrm>
            </p:grpSpPr>
            <p:sp>
              <p:nvSpPr>
                <p:cNvPr id="54" name="Rectangle 53">
                  <a:extLst>
                    <a:ext uri="{FF2B5EF4-FFF2-40B4-BE49-F238E27FC236}">
                      <a16:creationId xmlns:a16="http://schemas.microsoft.com/office/drawing/2014/main" id="{527358E2-9FFB-4DA9-918B-A0A8F40F00EC}"/>
                    </a:ext>
                  </a:extLst>
                </p:cNvPr>
                <p:cNvSpPr/>
                <p:nvPr/>
              </p:nvSpPr>
              <p:spPr>
                <a:xfrm>
                  <a:off x="6399639" y="3133296"/>
                  <a:ext cx="1490260" cy="397143"/>
                </a:xfrm>
                <a:prstGeom prst="rect">
                  <a:avLst/>
                </a:prstGeom>
                <a:solidFill>
                  <a:srgbClr val="848285"/>
                </a:solidFill>
                <a:ln w="28575">
                  <a:solidFill>
                    <a:srgbClr val="07545C"/>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050" kern="0" dirty="0">
                      <a:solidFill>
                        <a:prstClr val="white"/>
                      </a:solidFill>
                      <a:latin typeface="Arial" panose="020B0604020202020204" pitchFamily="34" charset="0"/>
                      <a:cs typeface="Arial" panose="020B0604020202020204" pitchFamily="34" charset="0"/>
                    </a:rPr>
                    <a:t>Safety of Navigation</a:t>
                  </a:r>
                </a:p>
                <a:p>
                  <a:pPr lvl="0" algn="ctr">
                    <a:defRPr/>
                  </a:pPr>
                  <a:r>
                    <a:rPr lang="en-US" sz="1050" kern="0" dirty="0">
                      <a:solidFill>
                        <a:prstClr val="white"/>
                      </a:solidFill>
                      <a:latin typeface="Arial" panose="020B0604020202020204" pitchFamily="34" charset="0"/>
                      <a:cs typeface="Arial" panose="020B0604020202020204" pitchFamily="34" charset="0"/>
                    </a:rPr>
                    <a:t>PMM</a:t>
                  </a:r>
                </a:p>
              </p:txBody>
            </p:sp>
            <p:sp>
              <p:nvSpPr>
                <p:cNvPr id="55" name="TextBox 54">
                  <a:extLst>
                    <a:ext uri="{FF2B5EF4-FFF2-40B4-BE49-F238E27FC236}">
                      <a16:creationId xmlns:a16="http://schemas.microsoft.com/office/drawing/2014/main" id="{25E70880-9B5B-4B79-AD7C-4EE501006EA3}"/>
                    </a:ext>
                  </a:extLst>
                </p:cNvPr>
                <p:cNvSpPr txBox="1"/>
                <p:nvPr/>
              </p:nvSpPr>
              <p:spPr>
                <a:xfrm>
                  <a:off x="6405448" y="3540474"/>
                  <a:ext cx="1490972" cy="1286847"/>
                </a:xfrm>
                <a:prstGeom prst="rect">
                  <a:avLst/>
                </a:prstGeom>
                <a:solidFill>
                  <a:srgbClr val="EAE5DE"/>
                </a:solidFill>
                <a:ln w="28575">
                  <a:solidFill>
                    <a:srgbClr val="07545C"/>
                  </a:solidFill>
                </a:ln>
                <a:scene3d>
                  <a:camera prst="orthographicFront"/>
                  <a:lightRig rig="threePt" dir="t"/>
                </a:scene3d>
                <a:sp3d>
                  <a:bevelT/>
                </a:sp3d>
              </p:spPr>
              <p:txBody>
                <a:bodyPr wrap="none" tIns="91440" bIns="91440" rtlCol="0">
                  <a:noAutofit/>
                </a:bodyPr>
                <a:lstStyle/>
                <a:p>
                  <a:pPr lvl="0" algn="ctr">
                    <a:defRPr/>
                  </a:pPr>
                  <a:r>
                    <a:rPr lang="en-US" sz="1000" kern="0" dirty="0">
                      <a:solidFill>
                        <a:srgbClr val="D8D8D8">
                          <a:lumMod val="10000"/>
                        </a:srgbClr>
                      </a:solidFill>
                      <a:latin typeface="HelveticaNeueLT Std Med Cn" panose="020B0606030502030204"/>
                    </a:rPr>
                    <a:t>Terry Windmiller</a:t>
                  </a:r>
                </a:p>
                <a:p>
                  <a:pPr lvl="0" algn="ctr">
                    <a:defRPr/>
                  </a:pPr>
                  <a:r>
                    <a:rPr lang="en-US" sz="1000" kern="0" dirty="0">
                      <a:solidFill>
                        <a:srgbClr val="D8D8D8">
                          <a:lumMod val="10000"/>
                        </a:srgbClr>
                      </a:solidFill>
                      <a:latin typeface="HelveticaNeueLT Std Med Cn" panose="020B0606030502030204"/>
                    </a:rPr>
                    <a:t>Program Manager</a:t>
                  </a:r>
                </a:p>
                <a:p>
                  <a:pPr lvl="0" algn="ctr">
                    <a:defRPr/>
                  </a:pPr>
                  <a:endParaRPr lang="en-US" sz="1000" kern="0" dirty="0">
                    <a:solidFill>
                      <a:srgbClr val="D8D8D8">
                        <a:lumMod val="10000"/>
                      </a:srgbClr>
                    </a:solidFill>
                    <a:latin typeface="HelveticaNeueLT Std Med Cn" panose="020B0606030502030204"/>
                  </a:endParaRPr>
                </a:p>
                <a:p>
                  <a:pPr lvl="0" algn="ctr">
                    <a:defRPr/>
                  </a:pPr>
                  <a:r>
                    <a:rPr lang="en-US" sz="1000" u="sng" kern="0" dirty="0">
                      <a:solidFill>
                        <a:srgbClr val="D8D8D8">
                          <a:lumMod val="10000"/>
                        </a:srgbClr>
                      </a:solidFill>
                      <a:latin typeface="HelveticaNeueLT Std Med Cn" panose="020B0606030502030204"/>
                    </a:rPr>
                    <a:t>Maritime (Sea)</a:t>
                  </a:r>
                </a:p>
                <a:p>
                  <a:pPr lvl="0" algn="ctr">
                    <a:defRPr/>
                  </a:pPr>
                  <a:r>
                    <a:rPr lang="en-US" sz="1000" kern="0" dirty="0">
                      <a:solidFill>
                        <a:srgbClr val="D8D8D8">
                          <a:lumMod val="10000"/>
                        </a:srgbClr>
                      </a:solidFill>
                      <a:latin typeface="HelveticaNeueLT Std Med Cn" panose="020B0606030502030204"/>
                    </a:rPr>
                    <a:t>Patrick Berryman</a:t>
                  </a:r>
                </a:p>
                <a:p>
                  <a:pPr lvl="0" algn="ctr">
                    <a:defRPr/>
                  </a:pPr>
                  <a:r>
                    <a:rPr lang="en-US" sz="1000" u="sng" kern="0" dirty="0">
                      <a:solidFill>
                        <a:srgbClr val="D8D8D8">
                          <a:lumMod val="10000"/>
                        </a:srgbClr>
                      </a:solidFill>
                      <a:latin typeface="HelveticaNeueLT Std Med Cn" panose="020B0606030502030204"/>
                    </a:rPr>
                    <a:t>Aeronautical (Air)</a:t>
                  </a:r>
                </a:p>
                <a:p>
                  <a:pPr lvl="0" algn="ctr">
                    <a:defRPr/>
                  </a:pPr>
                  <a:r>
                    <a:rPr lang="en-US" sz="1000" kern="0" dirty="0">
                      <a:solidFill>
                        <a:srgbClr val="D8D8D8">
                          <a:lumMod val="10000"/>
                        </a:srgbClr>
                      </a:solidFill>
                      <a:latin typeface="HelveticaNeueLT Std Med Cn" panose="020B0606030502030204"/>
                    </a:rPr>
                    <a:t>Robert Pauli</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1" u="none" strike="noStrike" kern="0" cap="none" spc="0" normalizeH="0" baseline="0" noProof="0" dirty="0">
                    <a:ln>
                      <a:noFill/>
                    </a:ln>
                    <a:solidFill>
                      <a:prstClr val="black"/>
                    </a:solidFill>
                    <a:effectLst/>
                    <a:uLnTx/>
                    <a:uFillTx/>
                    <a:latin typeface="HelveticaNeueLT Std Med Cn" panose="020B0606030502030204"/>
                  </a:endParaRPr>
                </a:p>
              </p:txBody>
            </p:sp>
          </p:grpSp>
          <p:grpSp>
            <p:nvGrpSpPr>
              <p:cNvPr id="65" name="Group 64">
                <a:extLst>
                  <a:ext uri="{FF2B5EF4-FFF2-40B4-BE49-F238E27FC236}">
                    <a16:creationId xmlns:a16="http://schemas.microsoft.com/office/drawing/2014/main" id="{454EDF81-71BD-4F0B-A016-9867AF04A16F}"/>
                  </a:ext>
                </a:extLst>
              </p:cNvPr>
              <p:cNvGrpSpPr/>
              <p:nvPr/>
            </p:nvGrpSpPr>
            <p:grpSpPr>
              <a:xfrm>
                <a:off x="7401085" y="3429000"/>
                <a:ext cx="1371887" cy="1707618"/>
                <a:chOff x="9870180" y="2915211"/>
                <a:chExt cx="1692896" cy="1777634"/>
              </a:xfrm>
              <a:effectLst>
                <a:outerShdw blurRad="50800" dist="38100" dir="2700000" algn="tl" rotWithShape="0">
                  <a:prstClr val="black">
                    <a:alpha val="40000"/>
                  </a:prstClr>
                </a:outerShdw>
              </a:effectLst>
            </p:grpSpPr>
            <p:sp>
              <p:nvSpPr>
                <p:cNvPr id="66" name="Rectangle 65">
                  <a:extLst>
                    <a:ext uri="{FF2B5EF4-FFF2-40B4-BE49-F238E27FC236}">
                      <a16:creationId xmlns:a16="http://schemas.microsoft.com/office/drawing/2014/main" id="{B5038C3A-D51A-47FD-AAFD-0705E85A916C}"/>
                    </a:ext>
                  </a:extLst>
                </p:cNvPr>
                <p:cNvSpPr/>
                <p:nvPr/>
              </p:nvSpPr>
              <p:spPr>
                <a:xfrm>
                  <a:off x="9870180" y="2915211"/>
                  <a:ext cx="1691640" cy="411480"/>
                </a:xfrm>
                <a:prstGeom prst="rect">
                  <a:avLst/>
                </a:prstGeom>
                <a:solidFill>
                  <a:srgbClr val="848285"/>
                </a:solidFill>
                <a:ln w="28575">
                  <a:solidFill>
                    <a:srgbClr val="07545C"/>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050" kern="0" dirty="0">
                      <a:solidFill>
                        <a:prstClr val="white"/>
                      </a:solidFill>
                      <a:latin typeface="HelveticaNeueLT Std Med Cn" panose="020B0606030502030204"/>
                    </a:rPr>
                    <a:t> </a:t>
                  </a:r>
                  <a:r>
                    <a:rPr lang="en-US" sz="1050" kern="0" dirty="0">
                      <a:solidFill>
                        <a:prstClr val="white"/>
                      </a:solidFill>
                      <a:latin typeface="Arial" panose="020B0604020202020204" pitchFamily="34" charset="0"/>
                      <a:cs typeface="Arial" panose="020B0604020202020204" pitchFamily="34" charset="0"/>
                    </a:rPr>
                    <a:t>Geospatial Info</a:t>
                  </a:r>
                </a:p>
                <a:p>
                  <a:pPr lvl="0" algn="ctr">
                    <a:defRPr/>
                  </a:pPr>
                  <a:r>
                    <a:rPr lang="en-US" sz="1050" kern="0" dirty="0">
                      <a:solidFill>
                        <a:prstClr val="white"/>
                      </a:solidFill>
                      <a:latin typeface="Arial" panose="020B0604020202020204" pitchFamily="34" charset="0"/>
                      <a:cs typeface="Arial" panose="020B0604020202020204" pitchFamily="34" charset="0"/>
                    </a:rPr>
                    <a:t>PMG</a:t>
                  </a:r>
                </a:p>
              </p:txBody>
            </p:sp>
            <p:sp>
              <p:nvSpPr>
                <p:cNvPr id="67" name="TextBox 66">
                  <a:extLst>
                    <a:ext uri="{FF2B5EF4-FFF2-40B4-BE49-F238E27FC236}">
                      <a16:creationId xmlns:a16="http://schemas.microsoft.com/office/drawing/2014/main" id="{E01D21EC-CBA8-4B5C-A1C1-5DF100A9FA68}"/>
                    </a:ext>
                  </a:extLst>
                </p:cNvPr>
                <p:cNvSpPr txBox="1"/>
                <p:nvPr/>
              </p:nvSpPr>
              <p:spPr>
                <a:xfrm>
                  <a:off x="9871436" y="3344707"/>
                  <a:ext cx="1691640" cy="1348138"/>
                </a:xfrm>
                <a:prstGeom prst="rect">
                  <a:avLst/>
                </a:prstGeom>
                <a:solidFill>
                  <a:srgbClr val="EAE5DE"/>
                </a:solidFill>
                <a:ln w="28575">
                  <a:solidFill>
                    <a:srgbClr val="07545C"/>
                  </a:solidFill>
                </a:ln>
                <a:scene3d>
                  <a:camera prst="orthographicFront"/>
                  <a:lightRig rig="threePt" dir="t"/>
                </a:scene3d>
                <a:sp3d>
                  <a:bevelT/>
                </a:sp3d>
              </p:spPr>
              <p:txBody>
                <a:bodyPr wrap="none" tIns="91440" bIns="91440" rtlCol="0">
                  <a:noAutofit/>
                </a:bodyPr>
                <a:lstStyle/>
                <a:p>
                  <a:pPr lvl="0" algn="ctr">
                    <a:defRPr/>
                  </a:pPr>
                  <a:r>
                    <a:rPr lang="en-US" sz="1000" kern="0" dirty="0">
                      <a:solidFill>
                        <a:srgbClr val="D8D8D8">
                          <a:lumMod val="10000"/>
                        </a:srgbClr>
                      </a:solidFill>
                      <a:latin typeface="HelveticaNeueLT Std Med Cn" panose="020B0606030502030204"/>
                    </a:rPr>
                    <a:t>Tomica Mishorich</a:t>
                  </a:r>
                </a:p>
                <a:p>
                  <a:pPr lvl="0" algn="ctr">
                    <a:defRPr/>
                  </a:pPr>
                  <a:r>
                    <a:rPr lang="en-US" sz="1000" kern="0" dirty="0">
                      <a:solidFill>
                        <a:srgbClr val="D8D8D8">
                          <a:lumMod val="10000"/>
                        </a:srgbClr>
                      </a:solidFill>
                      <a:latin typeface="HelveticaNeueLT Std Med Cn" panose="020B0606030502030204"/>
                    </a:rPr>
                    <a:t>Project Manager</a:t>
                  </a:r>
                </a:p>
                <a:p>
                  <a:pPr lvl="0" algn="ctr">
                    <a:defRPr/>
                  </a:pPr>
                  <a:endParaRPr lang="en-US" sz="1000" kern="0" dirty="0">
                    <a:solidFill>
                      <a:srgbClr val="D8D8D8">
                        <a:lumMod val="10000"/>
                      </a:srgbClr>
                    </a:solidFill>
                    <a:latin typeface="HelveticaNeueLT Std Med Cn" panose="020B0606030502030204"/>
                  </a:endParaRPr>
                </a:p>
                <a:p>
                  <a:pPr lvl="0" algn="ctr">
                    <a:defRPr/>
                  </a:pPr>
                  <a:r>
                    <a:rPr lang="en-US" sz="1000" u="sng" kern="0" dirty="0">
                      <a:solidFill>
                        <a:srgbClr val="D8D8D8">
                          <a:lumMod val="10000"/>
                        </a:srgbClr>
                      </a:solidFill>
                      <a:latin typeface="HelveticaNeueLT Std Med Cn" panose="020B0606030502030204"/>
                    </a:rPr>
                    <a:t>Geography</a:t>
                  </a:r>
                </a:p>
                <a:p>
                  <a:pPr lvl="0" algn="ctr">
                    <a:defRPr/>
                  </a:pPr>
                  <a:r>
                    <a:rPr lang="en-US" sz="1000" kern="0" dirty="0" err="1">
                      <a:solidFill>
                        <a:srgbClr val="D8D8D8">
                          <a:lumMod val="10000"/>
                        </a:srgbClr>
                      </a:solidFill>
                      <a:latin typeface="HelveticaNeueLT Std Med Cn" panose="020B0606030502030204"/>
                    </a:rPr>
                    <a:t>Capt</a:t>
                  </a:r>
                  <a:r>
                    <a:rPr lang="en-US" sz="1000" kern="0" dirty="0">
                      <a:solidFill>
                        <a:srgbClr val="D8D8D8">
                          <a:lumMod val="10000"/>
                        </a:srgbClr>
                      </a:solidFill>
                      <a:latin typeface="HelveticaNeueLT Std Med Cn" panose="020B0606030502030204"/>
                    </a:rPr>
                    <a:t> Jon Smith</a:t>
                  </a:r>
                </a:p>
                <a:p>
                  <a:pPr lvl="0" algn="ctr">
                    <a:defRPr/>
                  </a:pPr>
                  <a:r>
                    <a:rPr lang="en-US" sz="1000" u="sng" kern="0" dirty="0">
                      <a:solidFill>
                        <a:srgbClr val="D8D8D8">
                          <a:lumMod val="10000"/>
                        </a:srgbClr>
                      </a:solidFill>
                      <a:latin typeface="HelveticaNeueLT Std Med Cn" panose="020B0606030502030204"/>
                    </a:rPr>
                    <a:t>Dissemination</a:t>
                  </a:r>
                </a:p>
                <a:p>
                  <a:pPr lvl="0" algn="ctr">
                    <a:defRPr/>
                  </a:pPr>
                  <a:r>
                    <a:rPr lang="en-US" sz="1000" kern="0" dirty="0">
                      <a:solidFill>
                        <a:srgbClr val="D8D8D8">
                          <a:lumMod val="10000"/>
                        </a:srgbClr>
                      </a:solidFill>
                      <a:latin typeface="HelveticaNeueLT Std Med Cn" panose="020B0606030502030204"/>
                    </a:rPr>
                    <a:t>Daniel Takane  </a:t>
                  </a:r>
                </a:p>
              </p:txBody>
            </p:sp>
          </p:grpSp>
          <p:grpSp>
            <p:nvGrpSpPr>
              <p:cNvPr id="14" name="Group 13">
                <a:extLst>
                  <a:ext uri="{FF2B5EF4-FFF2-40B4-BE49-F238E27FC236}">
                    <a16:creationId xmlns:a16="http://schemas.microsoft.com/office/drawing/2014/main" id="{6BEF60E7-7229-9371-8D90-401F076DC7F2}"/>
                  </a:ext>
                </a:extLst>
              </p:cNvPr>
              <p:cNvGrpSpPr/>
              <p:nvPr/>
            </p:nvGrpSpPr>
            <p:grpSpPr>
              <a:xfrm>
                <a:off x="9346020" y="3429000"/>
                <a:ext cx="1493685" cy="1546859"/>
                <a:chOff x="8039921" y="3272342"/>
                <a:chExt cx="1493685" cy="1546859"/>
              </a:xfrm>
            </p:grpSpPr>
            <p:sp>
              <p:nvSpPr>
                <p:cNvPr id="57" name="Rectangle 56">
                  <a:extLst>
                    <a:ext uri="{FF2B5EF4-FFF2-40B4-BE49-F238E27FC236}">
                      <a16:creationId xmlns:a16="http://schemas.microsoft.com/office/drawing/2014/main" id="{BF015A8D-12BC-42F8-A82A-E9FBF156C55A}"/>
                    </a:ext>
                  </a:extLst>
                </p:cNvPr>
                <p:cNvSpPr/>
                <p:nvPr/>
              </p:nvSpPr>
              <p:spPr>
                <a:xfrm>
                  <a:off x="8044451" y="3272342"/>
                  <a:ext cx="1489155" cy="397143"/>
                </a:xfrm>
                <a:prstGeom prst="rect">
                  <a:avLst/>
                </a:prstGeom>
                <a:solidFill>
                  <a:srgbClr val="848285"/>
                </a:solidFill>
                <a:ln w="28575">
                  <a:solidFill>
                    <a:srgbClr val="07545C"/>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050" kern="0" dirty="0">
                      <a:solidFill>
                        <a:prstClr val="white"/>
                      </a:solidFill>
                      <a:latin typeface="Arial" panose="020B0604020202020204" pitchFamily="34" charset="0"/>
                      <a:cs typeface="Arial" panose="020B0604020202020204" pitchFamily="34" charset="0"/>
                    </a:rPr>
                    <a:t>Geomatics (Science)</a:t>
                  </a:r>
                </a:p>
                <a:p>
                  <a:pPr lvl="0" algn="ctr">
                    <a:defRPr/>
                  </a:pPr>
                  <a:r>
                    <a:rPr lang="en-US" sz="1050" kern="0" dirty="0">
                      <a:solidFill>
                        <a:prstClr val="white"/>
                      </a:solidFill>
                      <a:latin typeface="Arial" panose="020B0604020202020204" pitchFamily="34" charset="0"/>
                      <a:cs typeface="Arial" panose="020B0604020202020204" pitchFamily="34" charset="0"/>
                    </a:rPr>
                    <a:t>PMT</a:t>
                  </a:r>
                </a:p>
              </p:txBody>
            </p:sp>
            <p:sp>
              <p:nvSpPr>
                <p:cNvPr id="21" name="TextBox 20">
                  <a:extLst>
                    <a:ext uri="{FF2B5EF4-FFF2-40B4-BE49-F238E27FC236}">
                      <a16:creationId xmlns:a16="http://schemas.microsoft.com/office/drawing/2014/main" id="{59333732-0DD9-851F-7F14-6591ED03921D}"/>
                    </a:ext>
                  </a:extLst>
                </p:cNvPr>
                <p:cNvSpPr txBox="1"/>
                <p:nvPr/>
              </p:nvSpPr>
              <p:spPr>
                <a:xfrm>
                  <a:off x="8039921" y="3671899"/>
                  <a:ext cx="1490260" cy="1147302"/>
                </a:xfrm>
                <a:prstGeom prst="rect">
                  <a:avLst/>
                </a:prstGeom>
                <a:solidFill>
                  <a:srgbClr val="EAE5DE"/>
                </a:solidFill>
                <a:ln w="28575">
                  <a:solidFill>
                    <a:srgbClr val="07545C"/>
                  </a:solidFill>
                </a:ln>
                <a:scene3d>
                  <a:camera prst="orthographicFront"/>
                  <a:lightRig rig="threePt" dir="t"/>
                </a:scene3d>
                <a:sp3d>
                  <a:bevelT/>
                </a:sp3d>
              </p:spPr>
              <p:txBody>
                <a:bodyPr wrap="none" tIns="91440" bIns="91440" rtlCol="0">
                  <a:noAutofit/>
                </a:bodyPr>
                <a:lstStyle/>
                <a:p>
                  <a:pPr lvl="0" algn="ctr">
                    <a:defRPr/>
                  </a:pPr>
                  <a:r>
                    <a:rPr lang="en-US" sz="1000" kern="0" dirty="0">
                      <a:solidFill>
                        <a:srgbClr val="D8D8D8">
                          <a:lumMod val="10000"/>
                        </a:srgbClr>
                      </a:solidFill>
                      <a:latin typeface="HelveticaNeueLT Std Med Cn" panose="020B0606030502030204"/>
                    </a:rPr>
                    <a:t>Brian Mosteller</a:t>
                  </a:r>
                </a:p>
                <a:p>
                  <a:pPr lvl="0" algn="ctr">
                    <a:defRPr/>
                  </a:pPr>
                  <a:r>
                    <a:rPr kumimoji="0" lang="en-US" sz="1000" u="none" strike="noStrike" kern="0" cap="none" spc="0" normalizeH="0" baseline="0" noProof="0" dirty="0">
                      <a:ln>
                        <a:noFill/>
                      </a:ln>
                      <a:solidFill>
                        <a:srgbClr val="D8D8D8">
                          <a:lumMod val="10000"/>
                        </a:srgbClr>
                      </a:solidFill>
                      <a:effectLst/>
                      <a:uLnTx/>
                      <a:uFillTx/>
                      <a:latin typeface="HelveticaNeueLT Std Med Cn" panose="020B0606030502030204"/>
                    </a:rPr>
                    <a:t>Project Manager</a:t>
                  </a:r>
                  <a:endParaRPr kumimoji="0" lang="en-US" sz="600" u="none" strike="noStrike" kern="0" cap="none" spc="0" normalizeH="0" baseline="0" noProof="0" dirty="0">
                    <a:ln>
                      <a:noFill/>
                    </a:ln>
                    <a:solidFill>
                      <a:prstClr val="black"/>
                    </a:solidFill>
                    <a:effectLst/>
                    <a:uLnTx/>
                    <a:uFillTx/>
                    <a:latin typeface="HelveticaNeueLT Std Med Cn" panose="020B0606030502030204"/>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1" u="none" strike="noStrike" kern="0" cap="none" spc="0" normalizeH="0" baseline="0" noProof="0" dirty="0">
                    <a:ln>
                      <a:noFill/>
                    </a:ln>
                    <a:solidFill>
                      <a:prstClr val="black"/>
                    </a:solidFill>
                    <a:effectLst/>
                    <a:uLnTx/>
                    <a:uFillTx/>
                    <a:latin typeface="HelveticaNeueLT Std Med Cn" panose="020B0606030502030204"/>
                  </a:endParaRPr>
                </a:p>
              </p:txBody>
            </p:sp>
          </p:grpSp>
          <p:grpSp>
            <p:nvGrpSpPr>
              <p:cNvPr id="19" name="Group 18">
                <a:extLst>
                  <a:ext uri="{FF2B5EF4-FFF2-40B4-BE49-F238E27FC236}">
                    <a16:creationId xmlns:a16="http://schemas.microsoft.com/office/drawing/2014/main" id="{FD85161F-94B1-213C-9054-E8182DD104E2}"/>
                  </a:ext>
                </a:extLst>
              </p:cNvPr>
              <p:cNvGrpSpPr/>
              <p:nvPr/>
            </p:nvGrpSpPr>
            <p:grpSpPr>
              <a:xfrm>
                <a:off x="3150524" y="3433611"/>
                <a:ext cx="1551617" cy="1554480"/>
                <a:chOff x="604122" y="3271620"/>
                <a:chExt cx="1551617" cy="1554480"/>
              </a:xfrm>
            </p:grpSpPr>
            <p:sp>
              <p:nvSpPr>
                <p:cNvPr id="60" name="Rectangle 59">
                  <a:extLst>
                    <a:ext uri="{FF2B5EF4-FFF2-40B4-BE49-F238E27FC236}">
                      <a16:creationId xmlns:a16="http://schemas.microsoft.com/office/drawing/2014/main" id="{280DFE1F-8EBF-4F21-91C9-C257BD3887E3}"/>
                    </a:ext>
                  </a:extLst>
                </p:cNvPr>
                <p:cNvSpPr/>
                <p:nvPr/>
              </p:nvSpPr>
              <p:spPr>
                <a:xfrm>
                  <a:off x="604123" y="3271620"/>
                  <a:ext cx="1551616" cy="397143"/>
                </a:xfrm>
                <a:prstGeom prst="rect">
                  <a:avLst/>
                </a:prstGeom>
                <a:solidFill>
                  <a:srgbClr val="848285"/>
                </a:solidFill>
                <a:ln w="28575">
                  <a:solidFill>
                    <a:srgbClr val="07545C"/>
                  </a:solidFill>
                </a:ln>
                <a:effectLst>
                  <a:outerShdw blurRad="57150" dist="19050" dir="5400000" algn="ctr" rotWithShape="0">
                    <a:srgbClr val="000000">
                      <a:alpha val="63000"/>
                    </a:srgbClr>
                  </a:outerShdw>
                </a:effectLst>
                <a:scene3d>
                  <a:camera prst="orthographicFront"/>
                  <a:lightRig rig="threePt" dir="t"/>
                </a:scene3d>
                <a:sp3d>
                  <a:bevelT/>
                </a:sp3d>
              </p:spPr>
              <p:txBody>
                <a:bodyPr rtlCol="0" anchor="ctr"/>
                <a:lstStyle/>
                <a:p>
                  <a:pPr lvl="0" algn="ctr">
                    <a:defRPr/>
                  </a:pPr>
                  <a:r>
                    <a:rPr lang="en-US" sz="1050" kern="0" dirty="0">
                      <a:solidFill>
                        <a:prstClr val="white"/>
                      </a:solidFill>
                      <a:latin typeface="Arial" panose="020B0604020202020204" pitchFamily="34" charset="0"/>
                      <a:cs typeface="Arial" panose="020B0604020202020204" pitchFamily="34" charset="0"/>
                    </a:rPr>
                    <a:t>Plans &amp; Programs</a:t>
                  </a:r>
                </a:p>
                <a:p>
                  <a:pPr lvl="0" algn="ctr">
                    <a:defRPr/>
                  </a:pPr>
                  <a:r>
                    <a:rPr lang="en-US" sz="1050" kern="0" dirty="0">
                      <a:solidFill>
                        <a:prstClr val="white"/>
                      </a:solidFill>
                      <a:latin typeface="Arial" panose="020B0604020202020204" pitchFamily="34" charset="0"/>
                      <a:cs typeface="Arial" panose="020B0604020202020204" pitchFamily="34" charset="0"/>
                    </a:rPr>
                    <a:t>PMF</a:t>
                  </a:r>
                </a:p>
              </p:txBody>
            </p:sp>
            <p:sp>
              <p:nvSpPr>
                <p:cNvPr id="18" name="TextBox 17">
                  <a:extLst>
                    <a:ext uri="{FF2B5EF4-FFF2-40B4-BE49-F238E27FC236}">
                      <a16:creationId xmlns:a16="http://schemas.microsoft.com/office/drawing/2014/main" id="{9BD77AA5-D693-D265-175B-CE50DAFF29C3}"/>
                    </a:ext>
                  </a:extLst>
                </p:cNvPr>
                <p:cNvSpPr txBox="1"/>
                <p:nvPr/>
              </p:nvSpPr>
              <p:spPr>
                <a:xfrm>
                  <a:off x="604122" y="3678798"/>
                  <a:ext cx="1551615" cy="1147302"/>
                </a:xfrm>
                <a:prstGeom prst="rect">
                  <a:avLst/>
                </a:prstGeom>
                <a:solidFill>
                  <a:srgbClr val="EAE5DE"/>
                </a:solidFill>
                <a:ln w="28575">
                  <a:solidFill>
                    <a:srgbClr val="07545C"/>
                  </a:solidFill>
                </a:ln>
                <a:scene3d>
                  <a:camera prst="orthographicFront"/>
                  <a:lightRig rig="threePt" dir="t"/>
                </a:scene3d>
                <a:sp3d>
                  <a:bevelT/>
                </a:sp3d>
              </p:spPr>
              <p:txBody>
                <a:bodyPr wrap="none" tIns="91440" bIns="91440" rtlCol="0">
                  <a:noAutofit/>
                </a:bodyPr>
                <a:lstStyle/>
                <a:p>
                  <a:pPr lvl="0" algn="ctr">
                    <a:defRPr/>
                  </a:pPr>
                  <a:r>
                    <a:rPr lang="en-US" sz="1000" kern="0" dirty="0">
                      <a:solidFill>
                        <a:srgbClr val="D8D8D8">
                          <a:lumMod val="10000"/>
                        </a:srgbClr>
                      </a:solidFill>
                      <a:latin typeface="HelveticaNeueLT Std Med Cn" panose="020B0606030502030204"/>
                    </a:rPr>
                    <a:t>Adam Thurau</a:t>
                  </a:r>
                </a:p>
                <a:p>
                  <a:pPr lvl="0" algn="ctr">
                    <a:defRPr/>
                  </a:pPr>
                  <a:r>
                    <a:rPr kumimoji="0" lang="en-US" sz="1000" u="none" strike="noStrike" kern="0" cap="none" spc="0" normalizeH="0" baseline="0" noProof="0" dirty="0">
                      <a:ln>
                        <a:noFill/>
                      </a:ln>
                      <a:solidFill>
                        <a:srgbClr val="D8D8D8">
                          <a:lumMod val="10000"/>
                        </a:srgbClr>
                      </a:solidFill>
                      <a:effectLst/>
                      <a:uLnTx/>
                      <a:uFillTx/>
                      <a:latin typeface="HelveticaNeueLT Std Med Cn" panose="020B0606030502030204"/>
                    </a:rPr>
                    <a:t>Program Manager</a:t>
                  </a:r>
                  <a:endParaRPr kumimoji="0" lang="en-US" sz="600" u="none" strike="noStrike" kern="0" cap="none" spc="0" normalizeH="0" baseline="0" noProof="0" dirty="0">
                    <a:ln>
                      <a:noFill/>
                    </a:ln>
                    <a:solidFill>
                      <a:prstClr val="black"/>
                    </a:solidFill>
                    <a:effectLst/>
                    <a:uLnTx/>
                    <a:uFillTx/>
                    <a:latin typeface="HelveticaNeueLT Std Med Cn" panose="020B0606030502030204"/>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1" u="none" strike="noStrike" kern="0" cap="none" spc="0" normalizeH="0" baseline="0" noProof="0" dirty="0">
                    <a:ln>
                      <a:noFill/>
                    </a:ln>
                    <a:solidFill>
                      <a:prstClr val="black"/>
                    </a:solidFill>
                    <a:effectLst/>
                    <a:uLnTx/>
                    <a:uFillTx/>
                    <a:latin typeface="HelveticaNeueLT Std Med Cn" panose="020B0606030502030204"/>
                  </a:endParaRPr>
                </a:p>
              </p:txBody>
            </p:sp>
          </p:grpSp>
        </p:grpSp>
      </p:grpSp>
      <p:sp>
        <p:nvSpPr>
          <p:cNvPr id="20" name="Rectangle 19">
            <a:extLst>
              <a:ext uri="{FF2B5EF4-FFF2-40B4-BE49-F238E27FC236}">
                <a16:creationId xmlns:a16="http://schemas.microsoft.com/office/drawing/2014/main" id="{390B503F-2CF9-3A06-D4AB-E45F908E7554}"/>
              </a:ext>
            </a:extLst>
          </p:cNvPr>
          <p:cNvSpPr/>
          <p:nvPr/>
        </p:nvSpPr>
        <p:spPr>
          <a:xfrm>
            <a:off x="478853" y="1168088"/>
            <a:ext cx="1883556" cy="1181762"/>
          </a:xfrm>
          <a:prstGeom prst="rect">
            <a:avLst/>
          </a:prstGeom>
          <a:solidFill>
            <a:schemeClr val="bg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tab pos="171446" algn="l"/>
                <a:tab pos="1482688" algn="l"/>
              </a:tabLst>
              <a:defRPr/>
            </a:pPr>
            <a:r>
              <a:rPr kumimoji="0" lang="en-US" sz="1200" b="1" i="0" u="sng" strike="noStrike" kern="1200" cap="none" spc="0" normalizeH="0" baseline="0" noProof="0" dirty="0">
                <a:ln>
                  <a:noFill/>
                </a:ln>
                <a:solidFill>
                  <a:schemeClr val="tx1"/>
                </a:solidFill>
                <a:effectLst/>
                <a:uLnTx/>
                <a:uFillTx/>
                <a:latin typeface="Arial"/>
                <a:ea typeface="+mn-ea"/>
                <a:cs typeface="+mn-cs"/>
              </a:rPr>
              <a:t>FS3i Contracting Officer</a:t>
            </a:r>
          </a:p>
          <a:p>
            <a:pPr marL="0" marR="0" lvl="0" indent="0" algn="ctr" defTabSz="914400" rtl="0" eaLnBrk="1" fontAlgn="auto" latinLnBrk="0" hangingPunct="1">
              <a:lnSpc>
                <a:spcPct val="100000"/>
              </a:lnSpc>
              <a:spcBef>
                <a:spcPts val="0"/>
              </a:spcBef>
              <a:spcAft>
                <a:spcPts val="0"/>
              </a:spcAft>
              <a:buClrTx/>
              <a:buSzTx/>
              <a:buFontTx/>
              <a:buNone/>
              <a:tabLst>
                <a:tab pos="171446" algn="l"/>
                <a:tab pos="1482688" algn="l"/>
              </a:tabLst>
              <a:defRPr/>
            </a:pPr>
            <a:r>
              <a:rPr lang="en-US" sz="1200" b="1" dirty="0">
                <a:solidFill>
                  <a:schemeClr val="tx1"/>
                </a:solidFill>
                <a:latin typeface="Arial"/>
              </a:rPr>
              <a:t>Daniel Fadely</a:t>
            </a:r>
            <a:endParaRPr kumimoji="0" lang="en-US" sz="1200" b="1" i="0" u="none" strike="noStrike" kern="1200" cap="none" spc="0" normalizeH="0" baseline="0" noProof="0" dirty="0">
              <a:ln>
                <a:noFill/>
              </a:ln>
              <a:solidFill>
                <a:schemeClr val="tx1"/>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tab pos="171446" algn="l"/>
                <a:tab pos="1482688" algn="l"/>
              </a:tabLst>
              <a:defRPr/>
            </a:pPr>
            <a:endParaRPr kumimoji="0" lang="en-US" sz="1200" b="1" i="0" u="none" strike="noStrike" kern="1200" cap="none" spc="0" normalizeH="0" baseline="0" noProof="0" dirty="0">
              <a:ln>
                <a:noFill/>
              </a:ln>
              <a:solidFill>
                <a:schemeClr val="tx1"/>
              </a:solidFill>
              <a:effectLst/>
              <a:uLnTx/>
              <a:uFillTx/>
              <a:latin typeface="Arial"/>
              <a:ea typeface="+mn-ea"/>
              <a:cs typeface="+mn-cs"/>
            </a:endParaRPr>
          </a:p>
          <a:p>
            <a:pPr algn="ctr"/>
            <a:r>
              <a:rPr lang="en-US" sz="1200" b="1" dirty="0">
                <a:solidFill>
                  <a:schemeClr val="tx1"/>
                </a:solidFill>
              </a:rPr>
              <a:t>Contract Specialist</a:t>
            </a:r>
          </a:p>
          <a:p>
            <a:pPr algn="ctr"/>
            <a:r>
              <a:rPr lang="en-US" sz="1200" dirty="0">
                <a:solidFill>
                  <a:schemeClr val="tx1"/>
                </a:solidFill>
              </a:rPr>
              <a:t>Hannah Pulcher</a:t>
            </a:r>
          </a:p>
        </p:txBody>
      </p:sp>
      <p:sp>
        <p:nvSpPr>
          <p:cNvPr id="30" name="TextBox 29">
            <a:extLst>
              <a:ext uri="{FF2B5EF4-FFF2-40B4-BE49-F238E27FC236}">
                <a16:creationId xmlns:a16="http://schemas.microsoft.com/office/drawing/2014/main" id="{39D8E1F9-9DEB-AD71-A619-01D86AB0BFE9}"/>
              </a:ext>
            </a:extLst>
          </p:cNvPr>
          <p:cNvSpPr txBox="1"/>
          <p:nvPr/>
        </p:nvSpPr>
        <p:spPr>
          <a:xfrm>
            <a:off x="7715263" y="5351461"/>
            <a:ext cx="742511" cy="369332"/>
          </a:xfrm>
          <a:prstGeom prst="rect">
            <a:avLst/>
          </a:prstGeom>
          <a:solidFill>
            <a:schemeClr val="bg2"/>
          </a:solidFill>
          <a:ln w="9525"/>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PMOs</a:t>
            </a:r>
          </a:p>
        </p:txBody>
      </p:sp>
    </p:spTree>
    <p:extLst>
      <p:ext uri="{BB962C8B-B14F-4D97-AF65-F5344CB8AC3E}">
        <p14:creationId xmlns:p14="http://schemas.microsoft.com/office/powerpoint/2010/main" val="2787808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Rectangle 304">
            <a:extLst>
              <a:ext uri="{FF2B5EF4-FFF2-40B4-BE49-F238E27FC236}">
                <a16:creationId xmlns:a16="http://schemas.microsoft.com/office/drawing/2014/main" id="{69E6F951-BEEA-455F-B844-9DE982038330}"/>
              </a:ext>
            </a:extLst>
          </p:cNvPr>
          <p:cNvSpPr/>
          <p:nvPr/>
        </p:nvSpPr>
        <p:spPr bwMode="auto">
          <a:xfrm>
            <a:off x="1641694" y="1625601"/>
            <a:ext cx="8820303" cy="963613"/>
          </a:xfrm>
          <a:prstGeom prst="rect">
            <a:avLst/>
          </a:prstGeom>
          <a:solidFill>
            <a:srgbClr val="80C4D5">
              <a:alpha val="20000"/>
            </a:srgbClr>
          </a:solidFill>
          <a:ln>
            <a:noFill/>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lIns="182880" tIns="182880" rIns="182880" bIns="182880" anchor="ctr"/>
          <a:lstStyle/>
          <a:p>
            <a:pPr algn="ctr" defTabSz="1219139">
              <a:spcBef>
                <a:spcPct val="20000"/>
              </a:spcBef>
              <a:defRPr/>
            </a:pPr>
            <a:endParaRPr lang="en-US" sz="2000" dirty="0">
              <a:solidFill>
                <a:srgbClr val="000000"/>
              </a:solidFill>
              <a:latin typeface="Arial" panose="020B0604020202020204" pitchFamily="34" charset="0"/>
              <a:cs typeface="Arial" panose="020B0604020202020204" pitchFamily="34" charset="0"/>
            </a:endParaRPr>
          </a:p>
        </p:txBody>
      </p:sp>
      <p:grpSp>
        <p:nvGrpSpPr>
          <p:cNvPr id="27650" name="Group 1">
            <a:extLst>
              <a:ext uri="{FF2B5EF4-FFF2-40B4-BE49-F238E27FC236}">
                <a16:creationId xmlns:a16="http://schemas.microsoft.com/office/drawing/2014/main" id="{F8C68DBA-7A4E-4013-BE2F-A46FEF16D02F}"/>
              </a:ext>
            </a:extLst>
          </p:cNvPr>
          <p:cNvGrpSpPr>
            <a:grpSpLocks/>
          </p:cNvGrpSpPr>
          <p:nvPr/>
        </p:nvGrpSpPr>
        <p:grpSpPr bwMode="auto">
          <a:xfrm>
            <a:off x="1641694" y="1581150"/>
            <a:ext cx="8610428" cy="1552575"/>
            <a:chOff x="1232426" y="3511873"/>
            <a:chExt cx="7675870" cy="1551707"/>
          </a:xfrm>
        </p:grpSpPr>
        <p:sp>
          <p:nvSpPr>
            <p:cNvPr id="27707" name="object 2">
              <a:extLst>
                <a:ext uri="{FF2B5EF4-FFF2-40B4-BE49-F238E27FC236}">
                  <a16:creationId xmlns:a16="http://schemas.microsoft.com/office/drawing/2014/main" id="{F7DC86E5-1AAF-4AE7-84E4-FEADEBB49770}"/>
                </a:ext>
              </a:extLst>
            </p:cNvPr>
            <p:cNvSpPr txBox="1">
              <a:spLocks noChangeArrowheads="1"/>
            </p:cNvSpPr>
            <p:nvPr/>
          </p:nvSpPr>
          <p:spPr bwMode="auto">
            <a:xfrm>
              <a:off x="2364583" y="4617742"/>
              <a:ext cx="1627476" cy="441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a:solidFill>
                    <a:srgbClr val="066D35"/>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TOPOGRAPHIC FEATURE PRODUCTION </a:t>
              </a:r>
            </a:p>
          </p:txBody>
        </p:sp>
        <p:sp>
          <p:nvSpPr>
            <p:cNvPr id="245" name="object 5">
              <a:extLst>
                <a:ext uri="{FF2B5EF4-FFF2-40B4-BE49-F238E27FC236}">
                  <a16:creationId xmlns:a16="http://schemas.microsoft.com/office/drawing/2014/main" id="{8CADFE8A-3CFA-42F6-954A-DD1AE2DD221B}"/>
                </a:ext>
              </a:extLst>
            </p:cNvPr>
            <p:cNvSpPr txBox="1"/>
            <p:nvPr/>
          </p:nvSpPr>
          <p:spPr>
            <a:xfrm>
              <a:off x="1239502" y="4617742"/>
              <a:ext cx="834966" cy="220539"/>
            </a:xfrm>
            <a:prstGeom prst="rect">
              <a:avLst/>
            </a:prstGeom>
          </p:spPr>
          <p:txBody>
            <a:bodyPr wrap="none" lIns="0" tIns="0" rIns="0" bIns="0">
              <a:spAutoFit/>
            </a:bodyPr>
            <a:lstStyle/>
            <a:p>
              <a:pPr marL="8659" defTabSz="623438" eaLnBrk="1" fontAlgn="auto" hangingPunct="1">
                <a:spcBef>
                  <a:spcPts val="0"/>
                </a:spcBef>
                <a:spcAft>
                  <a:spcPts val="0"/>
                </a:spcAft>
                <a:defRPr/>
              </a:pPr>
              <a:r>
                <a:rPr lang="en-US" sz="1432" spc="-14" dirty="0">
                  <a:solidFill>
                    <a:schemeClr val="accent4">
                      <a:lumMod val="75000"/>
                    </a:schemeClr>
                  </a:solidFill>
                  <a:latin typeface="Franklin Gothic Demi Cond"/>
                  <a:cs typeface="Franklin Gothic Demi Cond"/>
                </a:rPr>
                <a:t>GEOMATICS</a:t>
              </a:r>
              <a:endParaRPr lang="en-US" sz="1432" dirty="0">
                <a:solidFill>
                  <a:schemeClr val="accent4">
                    <a:lumMod val="75000"/>
                  </a:schemeClr>
                </a:solidFill>
                <a:latin typeface="Franklin Gothic Demi Cond"/>
                <a:cs typeface="Franklin Gothic Demi Cond"/>
              </a:endParaRPr>
            </a:p>
          </p:txBody>
        </p:sp>
        <p:sp>
          <p:nvSpPr>
            <p:cNvPr id="27710" name="object 48">
              <a:extLst>
                <a:ext uri="{FF2B5EF4-FFF2-40B4-BE49-F238E27FC236}">
                  <a16:creationId xmlns:a16="http://schemas.microsoft.com/office/drawing/2014/main" id="{1E2A290D-E5F3-4E5A-A495-1A47574F6729}"/>
                </a:ext>
              </a:extLst>
            </p:cNvPr>
            <p:cNvSpPr txBox="1">
              <a:spLocks noChangeArrowheads="1"/>
            </p:cNvSpPr>
            <p:nvPr/>
          </p:nvSpPr>
          <p:spPr bwMode="auto">
            <a:xfrm>
              <a:off x="4277928" y="4617742"/>
              <a:ext cx="1459068" cy="441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93688" indent="-284163"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400">
                  <a:solidFill>
                    <a:srgbClr val="066D35"/>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HUMAN &amp; POLITICAL GEOGRAPHY</a:t>
              </a:r>
            </a:p>
          </p:txBody>
        </p:sp>
        <p:grpSp>
          <p:nvGrpSpPr>
            <p:cNvPr id="27711" name="Group 5">
              <a:extLst>
                <a:ext uri="{FF2B5EF4-FFF2-40B4-BE49-F238E27FC236}">
                  <a16:creationId xmlns:a16="http://schemas.microsoft.com/office/drawing/2014/main" id="{A3366337-F83C-4D40-9261-4EA714E1E729}"/>
                </a:ext>
              </a:extLst>
            </p:cNvPr>
            <p:cNvGrpSpPr>
              <a:grpSpLocks/>
            </p:cNvGrpSpPr>
            <p:nvPr/>
          </p:nvGrpSpPr>
          <p:grpSpPr bwMode="auto">
            <a:xfrm>
              <a:off x="6243053" y="4599649"/>
              <a:ext cx="2665243" cy="463931"/>
              <a:chOff x="6047714" y="4577488"/>
              <a:chExt cx="2665243" cy="463931"/>
            </a:xfrm>
          </p:grpSpPr>
          <p:sp>
            <p:nvSpPr>
              <p:cNvPr id="27717" name="object 48">
                <a:extLst>
                  <a:ext uri="{FF2B5EF4-FFF2-40B4-BE49-F238E27FC236}">
                    <a16:creationId xmlns:a16="http://schemas.microsoft.com/office/drawing/2014/main" id="{DDDA708A-C834-4F70-B264-D1F1AEA9591A}"/>
                  </a:ext>
                </a:extLst>
              </p:cNvPr>
              <p:cNvSpPr txBox="1">
                <a:spLocks noChangeArrowheads="1"/>
              </p:cNvSpPr>
              <p:nvPr/>
            </p:nvSpPr>
            <p:spPr bwMode="auto">
              <a:xfrm>
                <a:off x="6549277" y="4578129"/>
                <a:ext cx="1614739" cy="220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93688" indent="-284163"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a:solidFill>
                      <a:srgbClr val="066D35"/>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SAFETY OF NAVIGATION</a:t>
                </a:r>
              </a:p>
            </p:txBody>
          </p:sp>
          <p:grpSp>
            <p:nvGrpSpPr>
              <p:cNvPr id="27718" name="Group 4">
                <a:extLst>
                  <a:ext uri="{FF2B5EF4-FFF2-40B4-BE49-F238E27FC236}">
                    <a16:creationId xmlns:a16="http://schemas.microsoft.com/office/drawing/2014/main" id="{A115039D-8684-4F68-8B5D-BAE08777088D}"/>
                  </a:ext>
                </a:extLst>
              </p:cNvPr>
              <p:cNvGrpSpPr>
                <a:grpSpLocks/>
              </p:cNvGrpSpPr>
              <p:nvPr/>
            </p:nvGrpSpPr>
            <p:grpSpPr bwMode="auto">
              <a:xfrm>
                <a:off x="6047714" y="4816339"/>
                <a:ext cx="2665243" cy="225080"/>
                <a:chOff x="6047714" y="4595958"/>
                <a:chExt cx="2665243" cy="225080"/>
              </a:xfrm>
            </p:grpSpPr>
            <p:sp>
              <p:nvSpPr>
                <p:cNvPr id="27719" name="object 3">
                  <a:extLst>
                    <a:ext uri="{FF2B5EF4-FFF2-40B4-BE49-F238E27FC236}">
                      <a16:creationId xmlns:a16="http://schemas.microsoft.com/office/drawing/2014/main" id="{B0C57875-C8A3-4BE4-9936-51882D7C1D10}"/>
                    </a:ext>
                  </a:extLst>
                </p:cNvPr>
                <p:cNvSpPr txBox="1">
                  <a:spLocks noChangeArrowheads="1"/>
                </p:cNvSpPr>
                <p:nvPr/>
              </p:nvSpPr>
              <p:spPr bwMode="auto">
                <a:xfrm>
                  <a:off x="6048297" y="4595739"/>
                  <a:ext cx="755715" cy="19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300">
                      <a:solidFill>
                        <a:srgbClr val="066D35"/>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MARITIME </a:t>
                  </a:r>
                </a:p>
              </p:txBody>
            </p:sp>
            <p:sp>
              <p:nvSpPr>
                <p:cNvPr id="27720" name="object 4">
                  <a:extLst>
                    <a:ext uri="{FF2B5EF4-FFF2-40B4-BE49-F238E27FC236}">
                      <a16:creationId xmlns:a16="http://schemas.microsoft.com/office/drawing/2014/main" id="{0F05F624-85D0-420C-BA18-810234260CE5}"/>
                    </a:ext>
                  </a:extLst>
                </p:cNvPr>
                <p:cNvSpPr txBox="1">
                  <a:spLocks noChangeArrowheads="1"/>
                </p:cNvSpPr>
                <p:nvPr/>
              </p:nvSpPr>
              <p:spPr bwMode="auto">
                <a:xfrm>
                  <a:off x="7636147" y="4621125"/>
                  <a:ext cx="1076964" cy="19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300">
                      <a:solidFill>
                        <a:srgbClr val="066D35"/>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AERONAUTICAL</a:t>
                  </a:r>
                </a:p>
              </p:txBody>
            </p:sp>
          </p:grpSp>
        </p:grpSp>
        <p:pic>
          <p:nvPicPr>
            <p:cNvPr id="27712" name="Picture 298">
              <a:extLst>
                <a:ext uri="{FF2B5EF4-FFF2-40B4-BE49-F238E27FC236}">
                  <a16:creationId xmlns:a16="http://schemas.microsoft.com/office/drawing/2014/main" id="{91AE3D77-63F6-4F58-BFFC-730E14E99B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9576" y="3768705"/>
              <a:ext cx="914400" cy="507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4" name="Picture 6">
              <a:extLst>
                <a:ext uri="{FF2B5EF4-FFF2-40B4-BE49-F238E27FC236}">
                  <a16:creationId xmlns:a16="http://schemas.microsoft.com/office/drawing/2014/main" id="{49586D2F-5696-4D94-80CB-FAE5E4F4822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0722" y="3569508"/>
              <a:ext cx="741503" cy="81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5" name="Picture 36">
              <a:extLst>
                <a:ext uri="{FF2B5EF4-FFF2-40B4-BE49-F238E27FC236}">
                  <a16:creationId xmlns:a16="http://schemas.microsoft.com/office/drawing/2014/main" id="{4B1FCEDE-1BB2-4597-BF1F-C1DB3FBA84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2426" y="3511873"/>
              <a:ext cx="841499" cy="92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6" name="Picture 37">
              <a:extLst>
                <a:ext uri="{FF2B5EF4-FFF2-40B4-BE49-F238E27FC236}">
                  <a16:creationId xmlns:a16="http://schemas.microsoft.com/office/drawing/2014/main" id="{D298E375-61B8-46DC-94F1-63CFD45BB5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6436" y="3565251"/>
              <a:ext cx="83008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Title 1">
            <a:extLst>
              <a:ext uri="{FF2B5EF4-FFF2-40B4-BE49-F238E27FC236}">
                <a16:creationId xmlns:a16="http://schemas.microsoft.com/office/drawing/2014/main" id="{5B358505-0824-4338-A2E1-32FE74F5F623}"/>
              </a:ext>
            </a:extLst>
          </p:cNvPr>
          <p:cNvSpPr txBox="1">
            <a:spLocks/>
          </p:cNvSpPr>
          <p:nvPr/>
        </p:nvSpPr>
        <p:spPr>
          <a:xfrm>
            <a:off x="657225" y="509588"/>
            <a:ext cx="10972800" cy="1143000"/>
          </a:xfrm>
          <a:prstGeom prst="rect">
            <a:avLst/>
          </a:prstGeom>
        </p:spPr>
        <p:txBody>
          <a:bodyPr anchor="ctr">
            <a:normAutofit fontScale="55000" lnSpcReduction="20000"/>
          </a:bodyPr>
          <a:lstStyle>
            <a:lvl1pPr algn="l" defTabSz="1219139" rtl="0" eaLnBrk="1" latinLnBrk="0" hangingPunct="1">
              <a:spcBef>
                <a:spcPct val="0"/>
              </a:spcBef>
              <a:buNone/>
              <a:defRPr sz="3200" kern="1200">
                <a:solidFill>
                  <a:srgbClr val="192F43"/>
                </a:solidFill>
                <a:latin typeface="Franklin Gothic Medium Cond" panose="020B0606030402020204" pitchFamily="34" charset="0"/>
                <a:ea typeface="+mj-ea"/>
                <a:cs typeface="+mj-cs"/>
              </a:defRPr>
            </a:lvl1pPr>
          </a:lstStyle>
          <a:p>
            <a:pPr>
              <a:defRPr/>
            </a:pPr>
            <a:r>
              <a:rPr lang="en-US" sz="4500" dirty="0"/>
              <a:t>Mission: </a:t>
            </a:r>
            <a:r>
              <a:rPr lang="en-US" dirty="0">
                <a:solidFill>
                  <a:srgbClr val="000000"/>
                </a:solidFill>
                <a:latin typeface="Arial" panose="020B0604020202020204" pitchFamily="34" charset="0"/>
                <a:cs typeface="Arial" panose="020B0604020202020204" pitchFamily="34" charset="0"/>
              </a:rPr>
              <a:t>Provide assured, timely, relevant, and accurate foundation data, products, and services in support of prioritized requirements of the warfighter, our national security objectives, and the Safety of Navigation needs of the U.S. government.</a:t>
            </a:r>
          </a:p>
          <a:p>
            <a:pPr>
              <a:defRPr/>
            </a:pPr>
            <a:r>
              <a:rPr lang="en-US" dirty="0"/>
              <a:t> </a:t>
            </a:r>
          </a:p>
        </p:txBody>
      </p:sp>
      <p:sp>
        <p:nvSpPr>
          <p:cNvPr id="4" name="Rectangle 3">
            <a:extLst>
              <a:ext uri="{FF2B5EF4-FFF2-40B4-BE49-F238E27FC236}">
                <a16:creationId xmlns:a16="http://schemas.microsoft.com/office/drawing/2014/main" id="{BD2F46E1-8741-49F7-A0E3-D6936ECC2BFC}"/>
              </a:ext>
            </a:extLst>
          </p:cNvPr>
          <p:cNvSpPr/>
          <p:nvPr/>
        </p:nvSpPr>
        <p:spPr>
          <a:xfrm>
            <a:off x="10009188" y="5629275"/>
            <a:ext cx="2100262" cy="9556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654" name="object 7">
            <a:extLst>
              <a:ext uri="{FF2B5EF4-FFF2-40B4-BE49-F238E27FC236}">
                <a16:creationId xmlns:a16="http://schemas.microsoft.com/office/drawing/2014/main" id="{E3B0E017-8B83-4D51-BE7A-2475E3A5307E}"/>
              </a:ext>
            </a:extLst>
          </p:cNvPr>
          <p:cNvSpPr txBox="1">
            <a:spLocks noChangeArrowheads="1"/>
          </p:cNvSpPr>
          <p:nvPr/>
        </p:nvSpPr>
        <p:spPr bwMode="auto">
          <a:xfrm>
            <a:off x="3078382" y="3081338"/>
            <a:ext cx="1397000"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ts val="3700"/>
              </a:lnSpc>
            </a:pPr>
            <a:r>
              <a:rPr lang="en-US" altLang="en-US" sz="32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5+</a:t>
            </a:r>
            <a:endParaRPr lang="en-US" altLang="en-US" sz="32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eaLnBrk="1" hangingPunct="1">
              <a:lnSpc>
                <a:spcPts val="913"/>
              </a:lnSpc>
            </a:pPr>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BILLION</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TOPOGRAPHIC FEATURES IN THE MANAGEMENT DATABASE</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55" name="object 8">
            <a:extLst>
              <a:ext uri="{FF2B5EF4-FFF2-40B4-BE49-F238E27FC236}">
                <a16:creationId xmlns:a16="http://schemas.microsoft.com/office/drawing/2014/main" id="{8447F099-6B93-437F-B287-2A3F129E5668}"/>
              </a:ext>
            </a:extLst>
          </p:cNvPr>
          <p:cNvSpPr txBox="1">
            <a:spLocks noChangeArrowheads="1"/>
          </p:cNvSpPr>
          <p:nvPr/>
        </p:nvSpPr>
        <p:spPr bwMode="auto">
          <a:xfrm>
            <a:off x="2814857" y="4029075"/>
            <a:ext cx="2262187"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75" indent="-714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104 Million Square Kilometers of Mono-orthorectified Imagery</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56" name="object 9">
            <a:extLst>
              <a:ext uri="{FF2B5EF4-FFF2-40B4-BE49-F238E27FC236}">
                <a16:creationId xmlns:a16="http://schemas.microsoft.com/office/drawing/2014/main" id="{0FBE1D8D-39B4-4B83-BBD3-4DD29F3B1CF3}"/>
              </a:ext>
            </a:extLst>
          </p:cNvPr>
          <p:cNvSpPr txBox="1">
            <a:spLocks noChangeArrowheads="1"/>
          </p:cNvSpPr>
          <p:nvPr/>
        </p:nvSpPr>
        <p:spPr bwMode="auto">
          <a:xfrm>
            <a:off x="2878357" y="4229100"/>
            <a:ext cx="196850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2075" indent="-841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118 Million Square Kilometers of Precise Stereo Imagery</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57" name="object 10">
            <a:extLst>
              <a:ext uri="{FF2B5EF4-FFF2-40B4-BE49-F238E27FC236}">
                <a16:creationId xmlns:a16="http://schemas.microsoft.com/office/drawing/2014/main" id="{D3CBF916-B7B4-4F10-8790-2EF7F0B17FC7}"/>
              </a:ext>
            </a:extLst>
          </p:cNvPr>
          <p:cNvSpPr txBox="1">
            <a:spLocks noChangeArrowheads="1"/>
          </p:cNvSpPr>
          <p:nvPr/>
        </p:nvSpPr>
        <p:spPr bwMode="auto">
          <a:xfrm>
            <a:off x="3297457" y="4745038"/>
            <a:ext cx="931862"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90,000 Topographic Maps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58" name="object 11">
            <a:extLst>
              <a:ext uri="{FF2B5EF4-FFF2-40B4-BE49-F238E27FC236}">
                <a16:creationId xmlns:a16="http://schemas.microsoft.com/office/drawing/2014/main" id="{A6F55409-BD74-46A6-806B-F0D69C362A54}"/>
              </a:ext>
            </a:extLst>
          </p:cNvPr>
          <p:cNvSpPr txBox="1">
            <a:spLocks noChangeArrowheads="1"/>
          </p:cNvSpPr>
          <p:nvPr/>
        </p:nvSpPr>
        <p:spPr bwMode="auto">
          <a:xfrm>
            <a:off x="2733894" y="4422775"/>
            <a:ext cx="2144713"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100 Percent of the Earth’s Surface has </a:t>
            </a:r>
          </a:p>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12-Meter High-resolution Elevation Data</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59" name="object 12">
            <a:extLst>
              <a:ext uri="{FF2B5EF4-FFF2-40B4-BE49-F238E27FC236}">
                <a16:creationId xmlns:a16="http://schemas.microsoft.com/office/drawing/2014/main" id="{A08A58F3-8255-49CC-9093-0965D86DA654}"/>
              </a:ext>
            </a:extLst>
          </p:cNvPr>
          <p:cNvSpPr txBox="1">
            <a:spLocks noChangeArrowheads="1"/>
          </p:cNvSpPr>
          <p:nvPr/>
        </p:nvSpPr>
        <p:spPr bwMode="auto">
          <a:xfrm>
            <a:off x="7063007" y="3167063"/>
            <a:ext cx="173196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88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3700"/>
              </a:lnSpc>
            </a:pPr>
            <a:r>
              <a:rPr lang="en-US" altLang="en-US" sz="32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70</a:t>
            </a:r>
            <a:endParaRPr lang="en-US" altLang="en-US" sz="32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eaLnBrk="1" hangingPunct="1">
              <a:lnSpc>
                <a:spcPts val="913"/>
              </a:lnSpc>
            </a:pPr>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           MILLION</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HYDROGRAPHIC FEATURES</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0" name="object 13">
            <a:extLst>
              <a:ext uri="{FF2B5EF4-FFF2-40B4-BE49-F238E27FC236}">
                <a16:creationId xmlns:a16="http://schemas.microsoft.com/office/drawing/2014/main" id="{58190F27-7ACF-4AAD-A8EC-85F42D039BFA}"/>
              </a:ext>
            </a:extLst>
          </p:cNvPr>
          <p:cNvSpPr txBox="1">
            <a:spLocks noChangeArrowheads="1"/>
          </p:cNvSpPr>
          <p:nvPr/>
        </p:nvSpPr>
        <p:spPr bwMode="auto">
          <a:xfrm>
            <a:off x="6613744" y="3952875"/>
            <a:ext cx="206692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587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16,500 Support US Government and Commercial Vessels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1" name="object 14">
            <a:extLst>
              <a:ext uri="{FF2B5EF4-FFF2-40B4-BE49-F238E27FC236}">
                <a16:creationId xmlns:a16="http://schemas.microsoft.com/office/drawing/2014/main" id="{509B6725-F560-4B7F-B603-D30BE0EBC9A0}"/>
              </a:ext>
            </a:extLst>
          </p:cNvPr>
          <p:cNvSpPr txBox="1">
            <a:spLocks noChangeArrowheads="1"/>
          </p:cNvSpPr>
          <p:nvPr/>
        </p:nvSpPr>
        <p:spPr bwMode="auto">
          <a:xfrm>
            <a:off x="6962994" y="5127625"/>
            <a:ext cx="13684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4,100 nautical hard copy charts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2" name="object 15">
            <a:extLst>
              <a:ext uri="{FF2B5EF4-FFF2-40B4-BE49-F238E27FC236}">
                <a16:creationId xmlns:a16="http://schemas.microsoft.com/office/drawing/2014/main" id="{087DDE51-72D0-4572-A30B-DF50A6ED205B}"/>
              </a:ext>
            </a:extLst>
          </p:cNvPr>
          <p:cNvSpPr txBox="1">
            <a:spLocks noChangeArrowheads="1"/>
          </p:cNvSpPr>
          <p:nvPr/>
        </p:nvSpPr>
        <p:spPr bwMode="auto">
          <a:xfrm>
            <a:off x="6993157" y="4545013"/>
            <a:ext cx="15970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66725" indent="-45878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3,900 Digital Nautical Chart Libraries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3" name="object 16">
            <a:extLst>
              <a:ext uri="{FF2B5EF4-FFF2-40B4-BE49-F238E27FC236}">
                <a16:creationId xmlns:a16="http://schemas.microsoft.com/office/drawing/2014/main" id="{CACC0CEF-F770-4901-A0C0-AC1EEDA36588}"/>
              </a:ext>
            </a:extLst>
          </p:cNvPr>
          <p:cNvSpPr txBox="1">
            <a:spLocks noChangeArrowheads="1"/>
          </p:cNvSpPr>
          <p:nvPr/>
        </p:nvSpPr>
        <p:spPr bwMode="auto">
          <a:xfrm>
            <a:off x="7007444" y="4960938"/>
            <a:ext cx="160337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30213" indent="-4222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1,400 Tactical Ocean Data Libraries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4" name="object 17">
            <a:extLst>
              <a:ext uri="{FF2B5EF4-FFF2-40B4-BE49-F238E27FC236}">
                <a16:creationId xmlns:a16="http://schemas.microsoft.com/office/drawing/2014/main" id="{4E81D82D-DAAC-4269-90DF-85C5B6545E8A}"/>
              </a:ext>
            </a:extLst>
          </p:cNvPr>
          <p:cNvSpPr txBox="1">
            <a:spLocks noChangeArrowheads="1"/>
          </p:cNvSpPr>
          <p:nvPr/>
        </p:nvSpPr>
        <p:spPr bwMode="auto">
          <a:xfrm>
            <a:off x="7205882" y="5299075"/>
            <a:ext cx="88265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79 Nautical Publications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5" name="object 18">
            <a:extLst>
              <a:ext uri="{FF2B5EF4-FFF2-40B4-BE49-F238E27FC236}">
                <a16:creationId xmlns:a16="http://schemas.microsoft.com/office/drawing/2014/main" id="{ACEDFF51-DDB3-474B-90B0-757913A9FEDF}"/>
              </a:ext>
            </a:extLst>
          </p:cNvPr>
          <p:cNvSpPr txBox="1">
            <a:spLocks noChangeArrowheads="1"/>
          </p:cNvSpPr>
          <p:nvPr/>
        </p:nvSpPr>
        <p:spPr bwMode="auto">
          <a:xfrm>
            <a:off x="6894732" y="4354513"/>
            <a:ext cx="165417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38125" indent="-23018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24/7 Worldwide Navigational Warning  Service</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6" name="object 19">
            <a:extLst>
              <a:ext uri="{FF2B5EF4-FFF2-40B4-BE49-F238E27FC236}">
                <a16:creationId xmlns:a16="http://schemas.microsoft.com/office/drawing/2014/main" id="{87CF7834-5DC0-46CE-B255-9C516D149198}"/>
              </a:ext>
            </a:extLst>
          </p:cNvPr>
          <p:cNvSpPr txBox="1">
            <a:spLocks noChangeArrowheads="1"/>
          </p:cNvSpPr>
          <p:nvPr/>
        </p:nvSpPr>
        <p:spPr bwMode="auto">
          <a:xfrm>
            <a:off x="8983882" y="3167063"/>
            <a:ext cx="1395412" cy="866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ts val="3700"/>
              </a:lnSpc>
            </a:pPr>
            <a:r>
              <a:rPr lang="en-US" altLang="en-US" sz="32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4.5</a:t>
            </a:r>
            <a:endParaRPr lang="en-US" altLang="en-US" sz="32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eaLnBrk="1" hangingPunct="1">
              <a:lnSpc>
                <a:spcPts val="913"/>
              </a:lnSpc>
            </a:pPr>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                    BILLION</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AERONAUTICAL DATA ELEMENTS</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7" name="object 20">
            <a:extLst>
              <a:ext uri="{FF2B5EF4-FFF2-40B4-BE49-F238E27FC236}">
                <a16:creationId xmlns:a16="http://schemas.microsoft.com/office/drawing/2014/main" id="{D7A3553D-113F-415F-B643-D4F02D3B7DBA}"/>
              </a:ext>
            </a:extLst>
          </p:cNvPr>
          <p:cNvSpPr txBox="1">
            <a:spLocks noChangeArrowheads="1"/>
          </p:cNvSpPr>
          <p:nvPr/>
        </p:nvSpPr>
        <p:spPr bwMode="auto">
          <a:xfrm>
            <a:off x="9096594" y="4041775"/>
            <a:ext cx="120015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24+ Million Vertical Obstructions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8" name="object 21">
            <a:extLst>
              <a:ext uri="{FF2B5EF4-FFF2-40B4-BE49-F238E27FC236}">
                <a16:creationId xmlns:a16="http://schemas.microsoft.com/office/drawing/2014/main" id="{C7F1E924-5594-4E99-A64A-A3081B134DD6}"/>
              </a:ext>
            </a:extLst>
          </p:cNvPr>
          <p:cNvSpPr txBox="1">
            <a:spLocks noChangeArrowheads="1"/>
          </p:cNvSpPr>
          <p:nvPr/>
        </p:nvSpPr>
        <p:spPr bwMode="auto">
          <a:xfrm>
            <a:off x="8718769" y="4384675"/>
            <a:ext cx="2144713"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31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49,000+ Airfields in Automated Air Facilities Intelligence File</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69" name="object 22">
            <a:extLst>
              <a:ext uri="{FF2B5EF4-FFF2-40B4-BE49-F238E27FC236}">
                <a16:creationId xmlns:a16="http://schemas.microsoft.com/office/drawing/2014/main" id="{B1F34DAA-E340-4CCA-9A1F-359F969B2773}"/>
              </a:ext>
            </a:extLst>
          </p:cNvPr>
          <p:cNvSpPr txBox="1">
            <a:spLocks noChangeArrowheads="1"/>
          </p:cNvSpPr>
          <p:nvPr/>
        </p:nvSpPr>
        <p:spPr bwMode="auto">
          <a:xfrm>
            <a:off x="8580657" y="4759325"/>
            <a:ext cx="2455862"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9,800+ airfields in the Digital Aeronautical Flight information File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0" name="object 23">
            <a:extLst>
              <a:ext uri="{FF2B5EF4-FFF2-40B4-BE49-F238E27FC236}">
                <a16:creationId xmlns:a16="http://schemas.microsoft.com/office/drawing/2014/main" id="{31012771-C04F-4279-9FD8-20573C3C238E}"/>
              </a:ext>
            </a:extLst>
          </p:cNvPr>
          <p:cNvSpPr txBox="1">
            <a:spLocks noChangeArrowheads="1"/>
          </p:cNvSpPr>
          <p:nvPr/>
        </p:nvSpPr>
        <p:spPr bwMode="auto">
          <a:xfrm>
            <a:off x="8433019" y="4935538"/>
            <a:ext cx="26892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31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13,000 DOD AERO Platforms supported throughout  DOD (title 10)</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1" name="object 24">
            <a:extLst>
              <a:ext uri="{FF2B5EF4-FFF2-40B4-BE49-F238E27FC236}">
                <a16:creationId xmlns:a16="http://schemas.microsoft.com/office/drawing/2014/main" id="{02E40799-1A26-44E7-AEBE-3928D9C3B31E}"/>
              </a:ext>
            </a:extLst>
          </p:cNvPr>
          <p:cNvSpPr txBox="1">
            <a:spLocks noChangeArrowheads="1"/>
          </p:cNvSpPr>
          <p:nvPr/>
        </p:nvSpPr>
        <p:spPr bwMode="auto">
          <a:xfrm>
            <a:off x="1449607" y="3043238"/>
            <a:ext cx="1200150"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ts val="3700"/>
              </a:lnSpc>
            </a:pPr>
            <a:r>
              <a:rPr lang="en-US" altLang="en-US" sz="32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350</a:t>
            </a:r>
            <a:endParaRPr lang="en-US" altLang="en-US" sz="32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eaLnBrk="1" hangingPunct="1">
              <a:lnSpc>
                <a:spcPts val="913"/>
              </a:lnSpc>
            </a:pPr>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MILLION</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SQUARE KILOMETERS OF ELEVATION DATA COVERAGE</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2" name="object 25">
            <a:extLst>
              <a:ext uri="{FF2B5EF4-FFF2-40B4-BE49-F238E27FC236}">
                <a16:creationId xmlns:a16="http://schemas.microsoft.com/office/drawing/2014/main" id="{3B1C11FA-B3E5-464E-ADA7-AEA5D1F7A880}"/>
              </a:ext>
            </a:extLst>
          </p:cNvPr>
          <p:cNvSpPr txBox="1">
            <a:spLocks noChangeArrowheads="1"/>
          </p:cNvSpPr>
          <p:nvPr/>
        </p:nvSpPr>
        <p:spPr bwMode="auto">
          <a:xfrm>
            <a:off x="1387694" y="4024313"/>
            <a:ext cx="116205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200+ Million Gravity Records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3" name="object 26">
            <a:extLst>
              <a:ext uri="{FF2B5EF4-FFF2-40B4-BE49-F238E27FC236}">
                <a16:creationId xmlns:a16="http://schemas.microsoft.com/office/drawing/2014/main" id="{BCC92374-4D08-4885-87A1-A64EB74AEA1B}"/>
              </a:ext>
            </a:extLst>
          </p:cNvPr>
          <p:cNvSpPr txBox="1">
            <a:spLocks noChangeArrowheads="1"/>
          </p:cNvSpPr>
          <p:nvPr/>
        </p:nvSpPr>
        <p:spPr bwMode="auto">
          <a:xfrm>
            <a:off x="1160682" y="5191125"/>
            <a:ext cx="161607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30175" indent="-1222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17 NGA Global Positioning System (GPS) Sites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4" name="object 27">
            <a:extLst>
              <a:ext uri="{FF2B5EF4-FFF2-40B4-BE49-F238E27FC236}">
                <a16:creationId xmlns:a16="http://schemas.microsoft.com/office/drawing/2014/main" id="{E5EBB9B0-F920-448C-957F-6C1192699767}"/>
              </a:ext>
            </a:extLst>
          </p:cNvPr>
          <p:cNvSpPr txBox="1">
            <a:spLocks noChangeArrowheads="1"/>
          </p:cNvSpPr>
          <p:nvPr/>
        </p:nvSpPr>
        <p:spPr bwMode="auto">
          <a:xfrm>
            <a:off x="1100357" y="4262438"/>
            <a:ext cx="17367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9688" indent="-31750"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3,600+ geodetic and geophysical surveys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5" name="object 28">
            <a:extLst>
              <a:ext uri="{FF2B5EF4-FFF2-40B4-BE49-F238E27FC236}">
                <a16:creationId xmlns:a16="http://schemas.microsoft.com/office/drawing/2014/main" id="{207A15A6-37AD-4B88-B9BC-54F2EBC3E719}"/>
              </a:ext>
            </a:extLst>
          </p:cNvPr>
          <p:cNvSpPr txBox="1">
            <a:spLocks noChangeArrowheads="1"/>
          </p:cNvSpPr>
          <p:nvPr/>
        </p:nvSpPr>
        <p:spPr bwMode="auto">
          <a:xfrm>
            <a:off x="1160682" y="4953000"/>
            <a:ext cx="161607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03200" indent="-1936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Space Launch and Weapons Systems Support</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6" name="object 29">
            <a:extLst>
              <a:ext uri="{FF2B5EF4-FFF2-40B4-BE49-F238E27FC236}">
                <a16:creationId xmlns:a16="http://schemas.microsoft.com/office/drawing/2014/main" id="{96A028BC-2808-4140-85AF-4728D71B014E}"/>
              </a:ext>
            </a:extLst>
          </p:cNvPr>
          <p:cNvSpPr txBox="1">
            <a:spLocks noChangeArrowheads="1"/>
          </p:cNvSpPr>
          <p:nvPr/>
        </p:nvSpPr>
        <p:spPr bwMode="auto">
          <a:xfrm>
            <a:off x="5285007" y="3178175"/>
            <a:ext cx="9334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ts val="3700"/>
              </a:lnSpc>
            </a:pPr>
            <a:r>
              <a:rPr lang="en-US" altLang="en-US" sz="32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13.7</a:t>
            </a:r>
            <a:endParaRPr lang="en-US" altLang="en-US" sz="32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lnSpc>
                <a:spcPts val="913"/>
              </a:lnSpc>
            </a:pPr>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MILLION</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a:p>
            <a:pPr algn="ctr" eaLnBrk="1" hangingPunct="1"/>
            <a:r>
              <a:rPr lang="en-US" altLang="en-US" sz="9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GEOGRAPHIC NAMES</a:t>
            </a:r>
            <a:endParaRPr lang="en-US" altLang="en-US" sz="9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7" name="object 30">
            <a:extLst>
              <a:ext uri="{FF2B5EF4-FFF2-40B4-BE49-F238E27FC236}">
                <a16:creationId xmlns:a16="http://schemas.microsoft.com/office/drawing/2014/main" id="{238B0183-F35B-4517-87F0-0EEDBCF2A733}"/>
              </a:ext>
            </a:extLst>
          </p:cNvPr>
          <p:cNvSpPr txBox="1">
            <a:spLocks noChangeArrowheads="1"/>
          </p:cNvSpPr>
          <p:nvPr/>
        </p:nvSpPr>
        <p:spPr bwMode="auto">
          <a:xfrm>
            <a:off x="4607144" y="4610100"/>
            <a:ext cx="2144713"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261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8.4 Million Features in Geographic Names Database</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8" name="object 31">
            <a:extLst>
              <a:ext uri="{FF2B5EF4-FFF2-40B4-BE49-F238E27FC236}">
                <a16:creationId xmlns:a16="http://schemas.microsoft.com/office/drawing/2014/main" id="{160B0870-75F3-42D8-A9AB-2A7EB36CB232}"/>
              </a:ext>
            </a:extLst>
          </p:cNvPr>
          <p:cNvSpPr txBox="1">
            <a:spLocks noChangeArrowheads="1"/>
          </p:cNvSpPr>
          <p:nvPr/>
        </p:nvSpPr>
        <p:spPr bwMode="auto">
          <a:xfrm>
            <a:off x="5031007" y="4024313"/>
            <a:ext cx="14954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1275" indent="-333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2+ Million Human Geography Features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79" name="object 32">
            <a:extLst>
              <a:ext uri="{FF2B5EF4-FFF2-40B4-BE49-F238E27FC236}">
                <a16:creationId xmlns:a16="http://schemas.microsoft.com/office/drawing/2014/main" id="{71E5413C-5CEC-420B-863E-5E839515D568}"/>
              </a:ext>
            </a:extLst>
          </p:cNvPr>
          <p:cNvSpPr txBox="1">
            <a:spLocks noChangeArrowheads="1"/>
          </p:cNvSpPr>
          <p:nvPr/>
        </p:nvSpPr>
        <p:spPr bwMode="auto">
          <a:xfrm>
            <a:off x="4510307" y="4799013"/>
            <a:ext cx="2209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Boundaries ; 900+ International Land and Maritime , 74,000+ Administrative</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80" name="object 33">
            <a:extLst>
              <a:ext uri="{FF2B5EF4-FFF2-40B4-BE49-F238E27FC236}">
                <a16:creationId xmlns:a16="http://schemas.microsoft.com/office/drawing/2014/main" id="{79092D9D-B964-45FF-A8BC-37134C3CB6DA}"/>
              </a:ext>
            </a:extLst>
          </p:cNvPr>
          <p:cNvSpPr txBox="1">
            <a:spLocks noChangeArrowheads="1"/>
          </p:cNvSpPr>
          <p:nvPr/>
        </p:nvSpPr>
        <p:spPr bwMode="auto">
          <a:xfrm>
            <a:off x="4830982" y="4408488"/>
            <a:ext cx="1833562"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16 Million GEOnet Names Servers hits annually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81" name="object 34">
            <a:extLst>
              <a:ext uri="{FF2B5EF4-FFF2-40B4-BE49-F238E27FC236}">
                <a16:creationId xmlns:a16="http://schemas.microsoft.com/office/drawing/2014/main" id="{9D248C70-F6B6-4EFC-B528-39236F2F8099}"/>
              </a:ext>
            </a:extLst>
          </p:cNvPr>
          <p:cNvSpPr txBox="1">
            <a:spLocks noChangeArrowheads="1"/>
          </p:cNvSpPr>
          <p:nvPr/>
        </p:nvSpPr>
        <p:spPr bwMode="auto">
          <a:xfrm>
            <a:off x="4969094" y="4225925"/>
            <a:ext cx="1557338"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37 Foreign Languages Spoken by analysts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82" name="object 35">
            <a:extLst>
              <a:ext uri="{FF2B5EF4-FFF2-40B4-BE49-F238E27FC236}">
                <a16:creationId xmlns:a16="http://schemas.microsoft.com/office/drawing/2014/main" id="{95CA18D7-3C73-4189-A6FF-4B2195226AC0}"/>
              </a:ext>
            </a:extLst>
          </p:cNvPr>
          <p:cNvSpPr txBox="1">
            <a:spLocks noChangeArrowheads="1"/>
          </p:cNvSpPr>
          <p:nvPr/>
        </p:nvSpPr>
        <p:spPr bwMode="auto">
          <a:xfrm>
            <a:off x="4470619" y="5126038"/>
            <a:ext cx="2208213"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36513"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Populated Places Framework: Settlements, Villages and Cities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88" name="object 16">
            <a:extLst>
              <a:ext uri="{FF2B5EF4-FFF2-40B4-BE49-F238E27FC236}">
                <a16:creationId xmlns:a16="http://schemas.microsoft.com/office/drawing/2014/main" id="{112AF274-91E5-4DA6-86EB-0C2FF6473D51}"/>
              </a:ext>
            </a:extLst>
          </p:cNvPr>
          <p:cNvSpPr txBox="1">
            <a:spLocks noChangeArrowheads="1"/>
          </p:cNvSpPr>
          <p:nvPr/>
        </p:nvSpPr>
        <p:spPr bwMode="auto">
          <a:xfrm>
            <a:off x="6997919" y="4751388"/>
            <a:ext cx="1601788"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30213" indent="-4222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11,000 Electronic Navigation Charts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89" name="object 23">
            <a:extLst>
              <a:ext uri="{FF2B5EF4-FFF2-40B4-BE49-F238E27FC236}">
                <a16:creationId xmlns:a16="http://schemas.microsoft.com/office/drawing/2014/main" id="{8EFF3D34-9CF1-44D8-BB11-CBD42474DB07}"/>
              </a:ext>
            </a:extLst>
          </p:cNvPr>
          <p:cNvSpPr txBox="1">
            <a:spLocks noChangeArrowheads="1"/>
          </p:cNvSpPr>
          <p:nvPr/>
        </p:nvSpPr>
        <p:spPr bwMode="auto">
          <a:xfrm>
            <a:off x="8794969" y="4205288"/>
            <a:ext cx="193675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31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18,000+ IFPs in FAA Flight Information Publications</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90" name="object 23">
            <a:extLst>
              <a:ext uri="{FF2B5EF4-FFF2-40B4-BE49-F238E27FC236}">
                <a16:creationId xmlns:a16="http://schemas.microsoft.com/office/drawing/2014/main" id="{C284C73D-0FB4-4A69-BE75-FDD63C2C7D45}"/>
              </a:ext>
            </a:extLst>
          </p:cNvPr>
          <p:cNvSpPr txBox="1">
            <a:spLocks noChangeArrowheads="1"/>
          </p:cNvSpPr>
          <p:nvPr/>
        </p:nvSpPr>
        <p:spPr bwMode="auto">
          <a:xfrm>
            <a:off x="8636219" y="4564063"/>
            <a:ext cx="232727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indent="31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11,600+ Airfields with Airfield Foundation Data vectors collected</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91" name="object 25">
            <a:extLst>
              <a:ext uri="{FF2B5EF4-FFF2-40B4-BE49-F238E27FC236}">
                <a16:creationId xmlns:a16="http://schemas.microsoft.com/office/drawing/2014/main" id="{6C6AAC40-D778-41E6-8B70-8AC6EBC59F49}"/>
              </a:ext>
            </a:extLst>
          </p:cNvPr>
          <p:cNvSpPr txBox="1">
            <a:spLocks noChangeArrowheads="1"/>
          </p:cNvSpPr>
          <p:nvPr/>
        </p:nvSpPr>
        <p:spPr bwMode="auto">
          <a:xfrm>
            <a:off x="1108294" y="5330825"/>
            <a:ext cx="1736725"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118 Million Square Kilometers of Precise Imagery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92" name="object 25">
            <a:extLst>
              <a:ext uri="{FF2B5EF4-FFF2-40B4-BE49-F238E27FC236}">
                <a16:creationId xmlns:a16="http://schemas.microsoft.com/office/drawing/2014/main" id="{9600C6C0-A637-41F2-A956-31F120A5D483}"/>
              </a:ext>
            </a:extLst>
          </p:cNvPr>
          <p:cNvSpPr txBox="1">
            <a:spLocks noChangeArrowheads="1"/>
          </p:cNvSpPr>
          <p:nvPr/>
        </p:nvSpPr>
        <p:spPr bwMode="auto">
          <a:xfrm>
            <a:off x="1284507" y="4456113"/>
            <a:ext cx="1385887"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World Geodetic System 1984 (WGS 84)</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93" name="object 25">
            <a:extLst>
              <a:ext uri="{FF2B5EF4-FFF2-40B4-BE49-F238E27FC236}">
                <a16:creationId xmlns:a16="http://schemas.microsoft.com/office/drawing/2014/main" id="{0D4D5C25-1A75-4266-A93E-DCB835313F34}"/>
              </a:ext>
            </a:extLst>
          </p:cNvPr>
          <p:cNvSpPr txBox="1">
            <a:spLocks noChangeArrowheads="1"/>
          </p:cNvSpPr>
          <p:nvPr/>
        </p:nvSpPr>
        <p:spPr bwMode="auto">
          <a:xfrm>
            <a:off x="1178144" y="4722813"/>
            <a:ext cx="1598613"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938"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350 million square kilometers of elevation data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sp>
        <p:nvSpPr>
          <p:cNvPr id="27694" name="object 16">
            <a:extLst>
              <a:ext uri="{FF2B5EF4-FFF2-40B4-BE49-F238E27FC236}">
                <a16:creationId xmlns:a16="http://schemas.microsoft.com/office/drawing/2014/main" id="{D81008A1-6BF3-4D28-BA04-0348C808BB02}"/>
              </a:ext>
            </a:extLst>
          </p:cNvPr>
          <p:cNvSpPr txBox="1">
            <a:spLocks noChangeArrowheads="1"/>
          </p:cNvSpPr>
          <p:nvPr/>
        </p:nvSpPr>
        <p:spPr bwMode="auto">
          <a:xfrm>
            <a:off x="6424832" y="4162425"/>
            <a:ext cx="2165350" cy="12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30213" indent="-422275" defTabSz="622300">
              <a:defRPr>
                <a:solidFill>
                  <a:schemeClr val="tx1"/>
                </a:solidFill>
                <a:latin typeface="Calibri" panose="020F0502020204030204" pitchFamily="34" charset="0"/>
              </a:defRPr>
            </a:lvl1pPr>
            <a:lvl2pPr marL="742950" indent="-285750" defTabSz="622300">
              <a:defRPr>
                <a:solidFill>
                  <a:schemeClr val="tx1"/>
                </a:solidFill>
                <a:latin typeface="Calibri" panose="020F0502020204030204" pitchFamily="34" charset="0"/>
              </a:defRPr>
            </a:lvl2pPr>
            <a:lvl3pPr marL="1143000" indent="-228600" defTabSz="622300">
              <a:defRPr>
                <a:solidFill>
                  <a:schemeClr val="tx1"/>
                </a:solidFill>
                <a:latin typeface="Calibri" panose="020F0502020204030204" pitchFamily="34" charset="0"/>
              </a:defRPr>
            </a:lvl3pPr>
            <a:lvl4pPr marL="1600200" indent="-228600" defTabSz="622300">
              <a:defRPr>
                <a:solidFill>
                  <a:schemeClr val="tx1"/>
                </a:solidFill>
                <a:latin typeface="Calibri" panose="020F0502020204030204" pitchFamily="34" charset="0"/>
              </a:defRPr>
            </a:lvl4pPr>
            <a:lvl5pPr marL="2057400" indent="-228600" defTabSz="622300">
              <a:defRPr>
                <a:solidFill>
                  <a:schemeClr val="tx1"/>
                </a:solidFill>
                <a:latin typeface="Calibri" panose="020F0502020204030204" pitchFamily="34" charset="0"/>
              </a:defRPr>
            </a:lvl5pPr>
            <a:lvl6pPr marL="2514600" indent="-228600" defTabSz="622300" eaLnBrk="0" fontAlgn="base" hangingPunct="0">
              <a:spcBef>
                <a:spcPct val="0"/>
              </a:spcBef>
              <a:spcAft>
                <a:spcPct val="0"/>
              </a:spcAft>
              <a:defRPr>
                <a:solidFill>
                  <a:schemeClr val="tx1"/>
                </a:solidFill>
                <a:latin typeface="Calibri" panose="020F0502020204030204" pitchFamily="34" charset="0"/>
              </a:defRPr>
            </a:lvl6pPr>
            <a:lvl7pPr marL="2971800" indent="-228600" defTabSz="622300" eaLnBrk="0" fontAlgn="base" hangingPunct="0">
              <a:spcBef>
                <a:spcPct val="0"/>
              </a:spcBef>
              <a:spcAft>
                <a:spcPct val="0"/>
              </a:spcAft>
              <a:defRPr>
                <a:solidFill>
                  <a:schemeClr val="tx1"/>
                </a:solidFill>
                <a:latin typeface="Calibri" panose="020F0502020204030204" pitchFamily="34" charset="0"/>
              </a:defRPr>
            </a:lvl7pPr>
            <a:lvl8pPr marL="3429000" indent="-228600" defTabSz="622300" eaLnBrk="0" fontAlgn="base" hangingPunct="0">
              <a:spcBef>
                <a:spcPct val="0"/>
              </a:spcBef>
              <a:spcAft>
                <a:spcPct val="0"/>
              </a:spcAft>
              <a:defRPr>
                <a:solidFill>
                  <a:schemeClr val="tx1"/>
                </a:solidFill>
                <a:latin typeface="Calibri" panose="020F0502020204030204" pitchFamily="34" charset="0"/>
              </a:defRPr>
            </a:lvl8pPr>
            <a:lvl9pPr marL="3886200" indent="-228600" defTabSz="6223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700">
                <a:solidFill>
                  <a:srgbClr val="414142"/>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rPr>
              <a:t>	15,000 Submarine electronic navigational charts </a:t>
            </a:r>
            <a:endParaRPr lang="en-US" altLang="en-US" sz="700">
              <a:solidFill>
                <a:srgbClr val="000000"/>
              </a:solidFill>
              <a:latin typeface="Franklin Gothic Demi Cond" panose="020B0706030402020204" pitchFamily="34" charset="0"/>
              <a:ea typeface="Franklin Gothic Demi Cond" panose="020B0706030402020204" pitchFamily="34" charset="0"/>
              <a:cs typeface="Franklin Gothic Demi Cond" panose="020B0706030402020204" pitchFamily="34" charset="0"/>
            </a:endParaRPr>
          </a:p>
        </p:txBody>
      </p:sp>
      <p:pic>
        <p:nvPicPr>
          <p:cNvPr id="27695" name="Group 7">
            <a:extLst>
              <a:ext uri="{FF2B5EF4-FFF2-40B4-BE49-F238E27FC236}">
                <a16:creationId xmlns:a16="http://schemas.microsoft.com/office/drawing/2014/main" id="{FBFCEFC4-2779-47AE-9E9D-422508573E9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07707" y="1752600"/>
            <a:ext cx="906462"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Text Placeholder 7">
            <a:extLst>
              <a:ext uri="{FF2B5EF4-FFF2-40B4-BE49-F238E27FC236}">
                <a16:creationId xmlns:a16="http://schemas.microsoft.com/office/drawing/2014/main" id="{DFD02B77-573E-484A-89C9-21E77B885741}"/>
              </a:ext>
            </a:extLst>
          </p:cNvPr>
          <p:cNvSpPr txBox="1">
            <a:spLocks/>
          </p:cNvSpPr>
          <p:nvPr/>
        </p:nvSpPr>
        <p:spPr>
          <a:xfrm>
            <a:off x="-15875" y="249238"/>
            <a:ext cx="12192000" cy="279400"/>
          </a:xfrm>
          <a:prstGeom prst="rect">
            <a:avLst/>
          </a:prstGeom>
        </p:spPr>
        <p:txBody>
          <a:bodyPr anchor="ctr">
            <a:normAutofit fontScale="85000" lnSpcReduction="20000"/>
          </a:bodyPr>
          <a:lstStyle>
            <a:lvl1pPr marL="0" indent="0" algn="l" defTabSz="1219139" rtl="0" eaLnBrk="1" latinLnBrk="0" hangingPunct="1">
              <a:spcBef>
                <a:spcPct val="20000"/>
              </a:spcBef>
              <a:buFont typeface="Arial" panose="020B0604020202020204" pitchFamily="34" charset="0"/>
              <a:buNone/>
              <a:defRPr sz="1733" kern="1200">
                <a:solidFill>
                  <a:srgbClr val="192F43"/>
                </a:solidFill>
                <a:latin typeface="Franklin Gothic Medium Cond" panose="020B06060304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defRPr/>
            </a:pPr>
            <a:r>
              <a:rPr lang="en-US" dirty="0"/>
              <a:t>UNCLASSIFIED</a:t>
            </a:r>
          </a:p>
        </p:txBody>
      </p:sp>
      <p:sp>
        <p:nvSpPr>
          <p:cNvPr id="77" name="Text Placeholder 7">
            <a:extLst>
              <a:ext uri="{FF2B5EF4-FFF2-40B4-BE49-F238E27FC236}">
                <a16:creationId xmlns:a16="http://schemas.microsoft.com/office/drawing/2014/main" id="{E3D5913F-8768-4605-B49D-6D5981CEAEDD}"/>
              </a:ext>
            </a:extLst>
          </p:cNvPr>
          <p:cNvSpPr txBox="1">
            <a:spLocks/>
          </p:cNvSpPr>
          <p:nvPr/>
        </p:nvSpPr>
        <p:spPr>
          <a:xfrm>
            <a:off x="-15875" y="6440488"/>
            <a:ext cx="12192000" cy="279400"/>
          </a:xfrm>
          <a:prstGeom prst="rect">
            <a:avLst/>
          </a:prstGeom>
        </p:spPr>
        <p:txBody>
          <a:bodyPr anchor="ctr">
            <a:normAutofit fontScale="85000" lnSpcReduction="20000"/>
          </a:bodyPr>
          <a:lstStyle>
            <a:lvl1pPr marL="0" indent="0" algn="r" defTabSz="1219139" rtl="0" eaLnBrk="1" latinLnBrk="0" hangingPunct="1">
              <a:spcBef>
                <a:spcPct val="20000"/>
              </a:spcBef>
              <a:buFont typeface="Arial" panose="020B0604020202020204" pitchFamily="34" charset="0"/>
              <a:buNone/>
              <a:defRPr sz="1733" kern="1200">
                <a:solidFill>
                  <a:srgbClr val="192F43"/>
                </a:solidFill>
                <a:latin typeface="Franklin Gothic Medium Cond" panose="020B06060304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defRPr/>
            </a:pPr>
            <a:r>
              <a:rPr lang="en-US" dirty="0"/>
              <a:t>UNCLASSIFIED</a:t>
            </a:r>
          </a:p>
        </p:txBody>
      </p:sp>
      <p:sp>
        <p:nvSpPr>
          <p:cNvPr id="27698" name="TextBox 1">
            <a:extLst>
              <a:ext uri="{FF2B5EF4-FFF2-40B4-BE49-F238E27FC236}">
                <a16:creationId xmlns:a16="http://schemas.microsoft.com/office/drawing/2014/main" id="{229D8D62-688B-4B41-80E7-F70BB1A349B4}"/>
              </a:ext>
            </a:extLst>
          </p:cNvPr>
          <p:cNvSpPr txBox="1">
            <a:spLocks noChangeArrowheads="1"/>
          </p:cNvSpPr>
          <p:nvPr/>
        </p:nvSpPr>
        <p:spPr bwMode="auto">
          <a:xfrm>
            <a:off x="232945" y="5605785"/>
            <a:ext cx="11493500" cy="369888"/>
          </a:xfrm>
          <a:prstGeom prst="rect">
            <a:avLst/>
          </a:prstGeom>
          <a:noFill/>
          <a:ln w="38100">
            <a:solidFill>
              <a:schemeClr val="tx1">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dirty="0"/>
              <a:t>                                                                                 </a:t>
            </a:r>
            <a:r>
              <a:rPr lang="en-US" altLang="en-US" sz="1400" dirty="0">
                <a:latin typeface="Franklin Gothic Medium Cond" panose="020B0606030402020204" pitchFamily="34" charset="0"/>
              </a:rPr>
              <a:t>DISSEMINATION, Software and Common IT support services</a:t>
            </a:r>
          </a:p>
        </p:txBody>
      </p:sp>
      <p:pic>
        <p:nvPicPr>
          <p:cNvPr id="27702" name="Picture 83">
            <a:extLst>
              <a:ext uri="{FF2B5EF4-FFF2-40B4-BE49-F238E27FC236}">
                <a16:creationId xmlns:a16="http://schemas.microsoft.com/office/drawing/2014/main" id="{8A97EE2F-A441-4E9E-919C-8D36E8A440E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176000" y="433388"/>
            <a:ext cx="63182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Text Placeholder 3">
            <a:extLst>
              <a:ext uri="{FF2B5EF4-FFF2-40B4-BE49-F238E27FC236}">
                <a16:creationId xmlns:a16="http://schemas.microsoft.com/office/drawing/2014/main" id="{6A51F1D8-49D9-470C-A196-815C828DE8C6}"/>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endParaRPr lang="en-US" sz="1100" dirty="0">
              <a:solidFill>
                <a:schemeClr val="accent1">
                  <a:lumMod val="50000"/>
                </a:schemeClr>
              </a:solidFill>
              <a:latin typeface="Franklin Gothic Book" panose="020B0503020102020204" pitchFamily="34" charset="0"/>
            </a:endParaRPr>
          </a:p>
        </p:txBody>
      </p:sp>
      <p:sp>
        <p:nvSpPr>
          <p:cNvPr id="72" name="Text Placeholder 3">
            <a:extLst>
              <a:ext uri="{FF2B5EF4-FFF2-40B4-BE49-F238E27FC236}">
                <a16:creationId xmlns:a16="http://schemas.microsoft.com/office/drawing/2014/main" id="{90D1D7A4-30CB-424B-86E1-BFE55D491537}"/>
              </a:ext>
            </a:extLst>
          </p:cNvPr>
          <p:cNvSpPr txBox="1">
            <a:spLocks/>
          </p:cNvSpPr>
          <p:nvPr/>
        </p:nvSpPr>
        <p:spPr>
          <a:xfrm>
            <a:off x="0" y="6561138"/>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a:t>
            </a:r>
          </a:p>
        </p:txBody>
      </p:sp>
      <p:sp>
        <p:nvSpPr>
          <p:cNvPr id="3" name="TextBox 2">
            <a:extLst>
              <a:ext uri="{FF2B5EF4-FFF2-40B4-BE49-F238E27FC236}">
                <a16:creationId xmlns:a16="http://schemas.microsoft.com/office/drawing/2014/main" id="{BCE3F0FB-0B58-584E-4088-2B1B6C38F0A8}"/>
              </a:ext>
            </a:extLst>
          </p:cNvPr>
          <p:cNvSpPr txBox="1"/>
          <p:nvPr/>
        </p:nvSpPr>
        <p:spPr>
          <a:xfrm>
            <a:off x="10352087" y="6119038"/>
            <a:ext cx="1675074" cy="276999"/>
          </a:xfrm>
          <a:prstGeom prst="rect">
            <a:avLst/>
          </a:prstGeom>
          <a:noFill/>
        </p:spPr>
        <p:txBody>
          <a:bodyPr wrap="none" rtlCol="0">
            <a:spAutoFit/>
          </a:bodyPr>
          <a:lstStyle/>
          <a:p>
            <a:r>
              <a:rPr lang="en-US" sz="1200" b="1" i="1" dirty="0"/>
              <a:t>Data as of August 2025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AE633-8167-4E16-AE77-8E47B3D9337D}"/>
              </a:ext>
            </a:extLst>
          </p:cNvPr>
          <p:cNvSpPr>
            <a:spLocks noGrp="1"/>
          </p:cNvSpPr>
          <p:nvPr>
            <p:ph type="title"/>
          </p:nvPr>
        </p:nvSpPr>
        <p:spPr>
          <a:xfrm>
            <a:off x="388537" y="101600"/>
            <a:ext cx="10972800" cy="1143000"/>
          </a:xfrm>
        </p:spPr>
        <p:txBody>
          <a:bodyPr/>
          <a:lstStyle/>
          <a:p>
            <a:r>
              <a:rPr lang="en-US" dirty="0">
                <a:latin typeface="Franklin Gothic Medium" panose="020B0603020102020204" pitchFamily="34" charset="0"/>
                <a:cs typeface="Arial" panose="020B0604020202020204" pitchFamily="34" charset="0"/>
              </a:rPr>
              <a:t>FS3i Background</a:t>
            </a:r>
          </a:p>
        </p:txBody>
      </p:sp>
      <p:sp>
        <p:nvSpPr>
          <p:cNvPr id="3" name="Content Placeholder 2">
            <a:extLst>
              <a:ext uri="{FF2B5EF4-FFF2-40B4-BE49-F238E27FC236}">
                <a16:creationId xmlns:a16="http://schemas.microsoft.com/office/drawing/2014/main" id="{CBD5F152-8BF2-41C7-9D68-3E2412F33D77}"/>
              </a:ext>
            </a:extLst>
          </p:cNvPr>
          <p:cNvSpPr>
            <a:spLocks noGrp="1"/>
          </p:cNvSpPr>
          <p:nvPr>
            <p:ph idx="1"/>
          </p:nvPr>
        </p:nvSpPr>
        <p:spPr>
          <a:xfrm>
            <a:off x="388537" y="1098419"/>
            <a:ext cx="10972800" cy="4165599"/>
          </a:xfrm>
        </p:spPr>
        <p:txBody>
          <a:bodyPr>
            <a:noAutofit/>
          </a:bodyPr>
          <a:lstStyle/>
          <a:p>
            <a:pPr marL="285750" indent="-285750">
              <a:spcBef>
                <a:spcPts val="600"/>
              </a:spcBef>
              <a:spcAft>
                <a:spcPts val="1200"/>
              </a:spcAft>
              <a:buFont typeface="Wingdings" panose="05000000000000000000" pitchFamily="2" charset="2"/>
              <a:buChar char="Ø"/>
            </a:pPr>
            <a:r>
              <a:rPr lang="en-US" sz="2000" dirty="0">
                <a:effectLst/>
                <a:ea typeface="Times New Roman" panose="02020603050405020304" pitchFamily="18" charset="0"/>
              </a:rPr>
              <a:t>Source Foundation GEOINT production methods were developed over many years and are unique to each specific Foundation GEOINT mission area. </a:t>
            </a:r>
          </a:p>
          <a:p>
            <a:pPr marL="285750" indent="-285750">
              <a:spcBef>
                <a:spcPts val="0"/>
              </a:spcBef>
              <a:spcAft>
                <a:spcPts val="1200"/>
              </a:spcAft>
              <a:buFont typeface="Wingdings" panose="05000000000000000000" pitchFamily="2" charset="2"/>
              <a:buChar char="Ø"/>
            </a:pPr>
            <a:r>
              <a:rPr lang="en-US" sz="2000" dirty="0">
                <a:effectLst/>
                <a:ea typeface="Times New Roman" panose="02020603050405020304" pitchFamily="18" charset="0"/>
              </a:rPr>
              <a:t>Current and future demands for Foundation GEOINT mission modernization necessitates continual iterative improvement to NGA’s operational production and dissemination environments.</a:t>
            </a:r>
          </a:p>
          <a:p>
            <a:pPr marL="285750" indent="-285750">
              <a:spcBef>
                <a:spcPts val="0"/>
              </a:spcBef>
              <a:spcAft>
                <a:spcPts val="1200"/>
              </a:spcAft>
              <a:buFont typeface="Wingdings" panose="05000000000000000000" pitchFamily="2" charset="2"/>
              <a:buChar char="Ø"/>
            </a:pPr>
            <a:r>
              <a:rPr lang="en-US" sz="2000" dirty="0"/>
              <a:t>FS3i, follow-on to FS2, is primarily an operations, sustainment and integration focused effort for the Foundation GEOINT’s MC&amp;G mission. The effort will include Software development, engineering (cloud, architecture, cybersecurity, and configuration) support; COTS, Hardware, and Software procurement is also included. </a:t>
            </a:r>
          </a:p>
          <a:p>
            <a:pPr marL="285750" indent="-285750">
              <a:buFont typeface="Wingdings" panose="05000000000000000000" pitchFamily="2" charset="2"/>
              <a:buChar char="Ø"/>
            </a:pPr>
            <a:r>
              <a:rPr lang="en-US" sz="2000" dirty="0"/>
              <a:t>FS3i has a 7-year performance period; and will be focused on modernization and automation capabilities to improve performance and cost delivery. </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The current FS2 contract provides operational sustainment support for over 50 systems.</a:t>
            </a:r>
          </a:p>
        </p:txBody>
      </p:sp>
      <p:sp>
        <p:nvSpPr>
          <p:cNvPr id="4" name="Text Placeholder 3">
            <a:extLst>
              <a:ext uri="{FF2B5EF4-FFF2-40B4-BE49-F238E27FC236}">
                <a16:creationId xmlns:a16="http://schemas.microsoft.com/office/drawing/2014/main" id="{88F742F0-D87C-479D-8906-8827C5DE56BE}"/>
              </a:ext>
            </a:extLst>
          </p:cNvPr>
          <p:cNvSpPr>
            <a:spLocks noGrp="1"/>
          </p:cNvSpPr>
          <p:nvPr>
            <p:ph type="body" sz="quarter" idx="15"/>
          </p:nvPr>
        </p:nvSpPr>
        <p:spPr>
          <a:xfrm>
            <a:off x="0" y="6443661"/>
            <a:ext cx="12192000" cy="279400"/>
          </a:xfrm>
        </p:spPr>
        <p:txBody>
          <a:bodyPr>
            <a:normAutofit fontScale="85000" lnSpcReduction="20000"/>
          </a:bodyPr>
          <a:lstStyle/>
          <a:p>
            <a:r>
              <a:rPr lang="en-US" dirty="0"/>
              <a:t>UNCLASSIFIED</a:t>
            </a:r>
          </a:p>
          <a:p>
            <a:endParaRPr lang="en-US" dirty="0"/>
          </a:p>
        </p:txBody>
      </p:sp>
      <p:sp>
        <p:nvSpPr>
          <p:cNvPr id="5" name="Text Placeholder 4">
            <a:extLst>
              <a:ext uri="{FF2B5EF4-FFF2-40B4-BE49-F238E27FC236}">
                <a16:creationId xmlns:a16="http://schemas.microsoft.com/office/drawing/2014/main" id="{F899DBA9-4FDD-4245-A9E6-4BC67425DDD0}"/>
              </a:ext>
            </a:extLst>
          </p:cNvPr>
          <p:cNvSpPr>
            <a:spLocks noGrp="1"/>
          </p:cNvSpPr>
          <p:nvPr>
            <p:ph type="body" sz="quarter" idx="16"/>
          </p:nvPr>
        </p:nvSpPr>
        <p:spPr/>
        <p:txBody>
          <a:bodyPr>
            <a:normAutofit fontScale="85000" lnSpcReduction="20000"/>
          </a:bodyPr>
          <a:lstStyle/>
          <a:p>
            <a:r>
              <a:rPr lang="en-US" dirty="0"/>
              <a:t>UNCLASSIFIED</a:t>
            </a:r>
          </a:p>
          <a:p>
            <a:endParaRPr lang="en-US" dirty="0"/>
          </a:p>
        </p:txBody>
      </p:sp>
    </p:spTree>
    <p:extLst>
      <p:ext uri="{BB962C8B-B14F-4D97-AF65-F5344CB8AC3E}">
        <p14:creationId xmlns:p14="http://schemas.microsoft.com/office/powerpoint/2010/main" val="2705445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C716-E5F7-C29C-B4AC-341AFBB6D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EF058-5A8B-F854-2621-FD4D55D5BB22}"/>
              </a:ext>
            </a:extLst>
          </p:cNvPr>
          <p:cNvSpPr>
            <a:spLocks noGrp="1"/>
          </p:cNvSpPr>
          <p:nvPr>
            <p:ph type="title"/>
          </p:nvPr>
        </p:nvSpPr>
        <p:spPr>
          <a:xfrm>
            <a:off x="388536" y="228601"/>
            <a:ext cx="10972800" cy="1143000"/>
          </a:xfrm>
        </p:spPr>
        <p:txBody>
          <a:bodyPr>
            <a:normAutofit/>
          </a:bodyPr>
          <a:lstStyle/>
          <a:p>
            <a:r>
              <a:rPr lang="en-US" sz="3600" dirty="0"/>
              <a:t>(U) FS3i Key Focus Areas Across ALL Task Orders</a:t>
            </a:r>
          </a:p>
        </p:txBody>
      </p:sp>
      <p:sp>
        <p:nvSpPr>
          <p:cNvPr id="3" name="Content Placeholder 2">
            <a:extLst>
              <a:ext uri="{FF2B5EF4-FFF2-40B4-BE49-F238E27FC236}">
                <a16:creationId xmlns:a16="http://schemas.microsoft.com/office/drawing/2014/main" id="{AC0C16CC-BD2D-B7F7-A179-8EC021BE31E2}"/>
              </a:ext>
            </a:extLst>
          </p:cNvPr>
          <p:cNvSpPr>
            <a:spLocks noGrp="1"/>
          </p:cNvSpPr>
          <p:nvPr>
            <p:ph idx="1"/>
          </p:nvPr>
        </p:nvSpPr>
        <p:spPr>
          <a:xfrm>
            <a:off x="388536" y="1637602"/>
            <a:ext cx="10972800" cy="4165599"/>
          </a:xfrm>
        </p:spPr>
        <p:txBody>
          <a:bodyPr>
            <a:noAutofit/>
          </a:bodyPr>
          <a:lstStyle/>
          <a:p>
            <a:r>
              <a:rPr lang="en-US" sz="2800" dirty="0"/>
              <a:t>➢ (U) Improvements Sought From FS2 Contract:	</a:t>
            </a:r>
            <a:r>
              <a:rPr lang="en-US" sz="2400" dirty="0"/>
              <a:t>			</a:t>
            </a:r>
          </a:p>
          <a:p>
            <a:pPr lvl="1"/>
            <a:r>
              <a:rPr lang="en-US" sz="2000" dirty="0"/>
              <a:t>Faster Development/Deployment of Technologies and Upgrades Into Operations</a:t>
            </a:r>
          </a:p>
          <a:p>
            <a:pPr lvl="1"/>
            <a:r>
              <a:rPr lang="en-US" sz="2000" dirty="0"/>
              <a:t>More/Better/Faster Integration of Artificial Intelligence/Machine Learning Advancements</a:t>
            </a:r>
          </a:p>
          <a:p>
            <a:pPr lvl="1"/>
            <a:r>
              <a:rPr lang="en-US" sz="2000" dirty="0"/>
              <a:t>Increased Cost Efficiencies while Simultaneously Improving System(s) Performance</a:t>
            </a:r>
          </a:p>
          <a:p>
            <a:pPr lvl="1"/>
            <a:r>
              <a:rPr lang="en-US" sz="2000" dirty="0"/>
              <a:t>Dashboards and Metrics that Constantly Monitor System Performance/Usage, Downtime, and Trouble Ticket Handling/Status Updates</a:t>
            </a:r>
          </a:p>
        </p:txBody>
      </p:sp>
      <p:sp>
        <p:nvSpPr>
          <p:cNvPr id="4" name="Text Placeholder 3">
            <a:extLst>
              <a:ext uri="{FF2B5EF4-FFF2-40B4-BE49-F238E27FC236}">
                <a16:creationId xmlns:a16="http://schemas.microsoft.com/office/drawing/2014/main" id="{B6A7C46E-AC51-35EC-AF8A-032D00AAE2D3}"/>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968EAD6B-306F-CE34-F127-53554F9B7BFA}"/>
              </a:ext>
            </a:extLst>
          </p:cNvPr>
          <p:cNvSpPr>
            <a:spLocks noGrp="1"/>
          </p:cNvSpPr>
          <p:nvPr>
            <p:ph type="body" sz="quarter" idx="16"/>
          </p:nvPr>
        </p:nvSpPr>
        <p:spPr/>
        <p:txBody>
          <a:bodyPr>
            <a:normAutofit fontScale="85000" lnSpcReduction="20000"/>
          </a:bodyPr>
          <a:lstStyle/>
          <a:p>
            <a:r>
              <a:rPr lang="en-US" dirty="0"/>
              <a:t>UNCLASSIFIED</a:t>
            </a:r>
          </a:p>
        </p:txBody>
      </p:sp>
    </p:spTree>
    <p:extLst>
      <p:ext uri="{BB962C8B-B14F-4D97-AF65-F5344CB8AC3E}">
        <p14:creationId xmlns:p14="http://schemas.microsoft.com/office/powerpoint/2010/main" val="3386820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CDFB3E-B139-4A9C-8F29-628E69ABE1C3}"/>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0CBFC4B0-91A3-4CF0-BEE1-2A4580CD24E9}"/>
              </a:ext>
            </a:extLst>
          </p:cNvPr>
          <p:cNvSpPr>
            <a:spLocks noGrp="1"/>
          </p:cNvSpPr>
          <p:nvPr>
            <p:ph type="body" sz="quarter" idx="16"/>
          </p:nvPr>
        </p:nvSpPr>
        <p:spPr/>
        <p:txBody>
          <a:bodyPr>
            <a:normAutofit fontScale="85000" lnSpcReduction="20000"/>
          </a:bodyPr>
          <a:lstStyle/>
          <a:p>
            <a:r>
              <a:rPr lang="en-US" dirty="0"/>
              <a:t>UNCLASSIFIED</a:t>
            </a:r>
          </a:p>
        </p:txBody>
      </p:sp>
      <p:sp>
        <p:nvSpPr>
          <p:cNvPr id="6" name="TextBox 5">
            <a:extLst>
              <a:ext uri="{FF2B5EF4-FFF2-40B4-BE49-F238E27FC236}">
                <a16:creationId xmlns:a16="http://schemas.microsoft.com/office/drawing/2014/main" id="{A6123DAC-D384-4CC1-9CBC-167A25F62121}"/>
              </a:ext>
            </a:extLst>
          </p:cNvPr>
          <p:cNvSpPr txBox="1"/>
          <p:nvPr/>
        </p:nvSpPr>
        <p:spPr>
          <a:xfrm>
            <a:off x="3872485" y="483036"/>
            <a:ext cx="4228915" cy="646331"/>
          </a:xfrm>
          <a:prstGeom prst="rect">
            <a:avLst/>
          </a:prstGeom>
          <a:noFill/>
        </p:spPr>
        <p:txBody>
          <a:bodyPr wrap="none" rtlCol="0">
            <a:spAutoFit/>
          </a:bodyPr>
          <a:lstStyle/>
          <a:p>
            <a:r>
              <a:rPr lang="en-US" sz="3600" dirty="0"/>
              <a:t>RFP Release Schedule</a:t>
            </a:r>
          </a:p>
        </p:txBody>
      </p:sp>
      <p:graphicFrame>
        <p:nvGraphicFramePr>
          <p:cNvPr id="8" name="Table 8">
            <a:extLst>
              <a:ext uri="{FF2B5EF4-FFF2-40B4-BE49-F238E27FC236}">
                <a16:creationId xmlns:a16="http://schemas.microsoft.com/office/drawing/2014/main" id="{1B3722C3-4384-410E-A069-48243E93789E}"/>
              </a:ext>
            </a:extLst>
          </p:cNvPr>
          <p:cNvGraphicFramePr>
            <a:graphicFrameLocks noGrp="1"/>
          </p:cNvGraphicFramePr>
          <p:nvPr>
            <p:extLst>
              <p:ext uri="{D42A27DB-BD31-4B8C-83A1-F6EECF244321}">
                <p14:modId xmlns:p14="http://schemas.microsoft.com/office/powerpoint/2010/main" val="2622989825"/>
              </p:ext>
            </p:extLst>
          </p:nvPr>
        </p:nvGraphicFramePr>
        <p:xfrm>
          <a:off x="2349081" y="1364913"/>
          <a:ext cx="7493837" cy="4389120"/>
        </p:xfrm>
        <a:graphic>
          <a:graphicData uri="http://schemas.openxmlformats.org/drawingml/2006/table">
            <a:tbl>
              <a:tblPr firstRow="1" bandRow="1">
                <a:tableStyleId>{5C22544A-7EE6-4342-B048-85BDC9FD1C3A}</a:tableStyleId>
              </a:tblPr>
              <a:tblGrid>
                <a:gridCol w="2542213">
                  <a:extLst>
                    <a:ext uri="{9D8B030D-6E8A-4147-A177-3AD203B41FA5}">
                      <a16:colId xmlns:a16="http://schemas.microsoft.com/office/drawing/2014/main" val="1343254304"/>
                    </a:ext>
                  </a:extLst>
                </a:gridCol>
                <a:gridCol w="4951624">
                  <a:extLst>
                    <a:ext uri="{9D8B030D-6E8A-4147-A177-3AD203B41FA5}">
                      <a16:colId xmlns:a16="http://schemas.microsoft.com/office/drawing/2014/main" val="3168817250"/>
                    </a:ext>
                  </a:extLst>
                </a:gridCol>
              </a:tblGrid>
              <a:tr h="370840">
                <a:tc>
                  <a:txBody>
                    <a:bodyPr/>
                    <a:lstStyle/>
                    <a:p>
                      <a:r>
                        <a:rPr lang="en-US" dirty="0"/>
                        <a:t>Milestone Dates</a:t>
                      </a:r>
                    </a:p>
                  </a:txBody>
                  <a:tcPr/>
                </a:tc>
                <a:tc>
                  <a:txBody>
                    <a:bodyPr/>
                    <a:lstStyle/>
                    <a:p>
                      <a:r>
                        <a:rPr lang="en-US" dirty="0"/>
                        <a:t>Date</a:t>
                      </a:r>
                    </a:p>
                  </a:txBody>
                  <a:tcPr/>
                </a:tc>
                <a:extLst>
                  <a:ext uri="{0D108BD9-81ED-4DB2-BD59-A6C34878D82A}">
                    <a16:rowId xmlns:a16="http://schemas.microsoft.com/office/drawing/2014/main" val="2000217863"/>
                  </a:ext>
                </a:extLst>
              </a:tr>
              <a:tr h="370840">
                <a:tc>
                  <a:txBody>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lang="en-US" dirty="0"/>
                        <a:t>Draft RFP Release</a:t>
                      </a:r>
                    </a:p>
                    <a:p>
                      <a:pPr marL="0" marR="0" lvl="0" indent="0" algn="l" defTabSz="1219139" rtl="0" eaLnBrk="1" fontAlgn="auto" latinLnBrk="0" hangingPunct="1">
                        <a:lnSpc>
                          <a:spcPct val="100000"/>
                        </a:lnSpc>
                        <a:spcBef>
                          <a:spcPts val="0"/>
                        </a:spcBef>
                        <a:spcAft>
                          <a:spcPts val="0"/>
                        </a:spcAft>
                        <a:buClrTx/>
                        <a:buSzTx/>
                        <a:buFontTx/>
                        <a:buNone/>
                        <a:tabLst/>
                        <a:defRPr/>
                      </a:pPr>
                      <a:r>
                        <a:rPr lang="en-US" dirty="0"/>
                        <a:t>(Common </a:t>
                      </a:r>
                      <a:r>
                        <a:rPr lang="en-US" dirty="0" err="1"/>
                        <a:t>Svcs</a:t>
                      </a:r>
                      <a:r>
                        <a:rPr lang="en-US" dirty="0"/>
                        <a:t> &amp; Air)</a:t>
                      </a:r>
                    </a:p>
                  </a:txBody>
                  <a:tcPr/>
                </a:tc>
                <a:tc>
                  <a:txBody>
                    <a:bodyPr/>
                    <a:lstStyle/>
                    <a:p>
                      <a:r>
                        <a:rPr lang="en-US" dirty="0"/>
                        <a:t>January 5, 2026</a:t>
                      </a:r>
                    </a:p>
                  </a:txBody>
                  <a:tcPr/>
                </a:tc>
                <a:extLst>
                  <a:ext uri="{0D108BD9-81ED-4DB2-BD59-A6C34878D82A}">
                    <a16:rowId xmlns:a16="http://schemas.microsoft.com/office/drawing/2014/main" val="3869981153"/>
                  </a:ext>
                </a:extLst>
              </a:tr>
              <a:tr h="370840">
                <a:tc>
                  <a:txBody>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lang="en-US" dirty="0"/>
                        <a:t>Questions Due</a:t>
                      </a:r>
                    </a:p>
                  </a:txBody>
                  <a:tcPr/>
                </a:tc>
                <a:tc>
                  <a:txBody>
                    <a:bodyPr/>
                    <a:lstStyle/>
                    <a:p>
                      <a:r>
                        <a:rPr lang="en-US" dirty="0"/>
                        <a:t>January 23, 2026</a:t>
                      </a:r>
                    </a:p>
                  </a:txBody>
                  <a:tcPr/>
                </a:tc>
                <a:extLst>
                  <a:ext uri="{0D108BD9-81ED-4DB2-BD59-A6C34878D82A}">
                    <a16:rowId xmlns:a16="http://schemas.microsoft.com/office/drawing/2014/main" val="1109585315"/>
                  </a:ext>
                </a:extLst>
              </a:tr>
              <a:tr h="370840">
                <a:tc>
                  <a:txBody>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lang="en-US" dirty="0"/>
                        <a:t>Industry Day(s)</a:t>
                      </a:r>
                    </a:p>
                  </a:txBody>
                  <a:tcPr/>
                </a:tc>
                <a:tc>
                  <a:txBody>
                    <a:bodyPr/>
                    <a:lstStyle/>
                    <a:p>
                      <a:r>
                        <a:rPr lang="en-US" dirty="0"/>
                        <a:t>February 2 – 3, 2026</a:t>
                      </a:r>
                    </a:p>
                  </a:txBody>
                  <a:tcPr/>
                </a:tc>
                <a:extLst>
                  <a:ext uri="{0D108BD9-81ED-4DB2-BD59-A6C34878D82A}">
                    <a16:rowId xmlns:a16="http://schemas.microsoft.com/office/drawing/2014/main" val="3927586224"/>
                  </a:ext>
                </a:extLst>
              </a:tr>
              <a:tr h="370840">
                <a:tc>
                  <a:txBody>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lang="en-US" dirty="0"/>
                        <a:t>Final RFP Release  </a:t>
                      </a:r>
                    </a:p>
                  </a:txBody>
                  <a:tcPr/>
                </a:tc>
                <a:tc>
                  <a:txBody>
                    <a:bodyPr/>
                    <a:lstStyle/>
                    <a:p>
                      <a:r>
                        <a:rPr lang="en-US" dirty="0"/>
                        <a:t>June 2026 TBR</a:t>
                      </a:r>
                    </a:p>
                  </a:txBody>
                  <a:tcPr/>
                </a:tc>
                <a:extLst>
                  <a:ext uri="{0D108BD9-81ED-4DB2-BD59-A6C34878D82A}">
                    <a16:rowId xmlns:a16="http://schemas.microsoft.com/office/drawing/2014/main" val="2360050907"/>
                  </a:ext>
                </a:extLst>
              </a:tr>
              <a:tr h="370840">
                <a:tc>
                  <a:txBody>
                    <a:bodyPr/>
                    <a:lstStyle/>
                    <a:p>
                      <a:r>
                        <a:rPr lang="en-US" dirty="0"/>
                        <a:t>Questions Due</a:t>
                      </a:r>
                    </a:p>
                  </a:txBody>
                  <a:tcPr/>
                </a:tc>
                <a:tc>
                  <a:txBody>
                    <a:bodyPr/>
                    <a:lstStyle/>
                    <a:p>
                      <a:r>
                        <a:rPr lang="en-US" dirty="0"/>
                        <a:t>July 2026 TBR</a:t>
                      </a:r>
                    </a:p>
                  </a:txBody>
                  <a:tcPr/>
                </a:tc>
                <a:extLst>
                  <a:ext uri="{0D108BD9-81ED-4DB2-BD59-A6C34878D82A}">
                    <a16:rowId xmlns:a16="http://schemas.microsoft.com/office/drawing/2014/main" val="1596765091"/>
                  </a:ext>
                </a:extLst>
              </a:tr>
              <a:tr h="370840">
                <a:tc>
                  <a:txBody>
                    <a:bodyPr/>
                    <a:lstStyle/>
                    <a:p>
                      <a:r>
                        <a:rPr lang="en-US" dirty="0"/>
                        <a:t>Proposals Due</a:t>
                      </a:r>
                    </a:p>
                  </a:txBody>
                  <a:tcPr/>
                </a:tc>
                <a:tc>
                  <a:txBody>
                    <a:bodyPr/>
                    <a:lstStyle/>
                    <a:p>
                      <a:r>
                        <a:rPr lang="en-US" dirty="0"/>
                        <a:t>August 2026 TBR</a:t>
                      </a:r>
                    </a:p>
                  </a:txBody>
                  <a:tcPr/>
                </a:tc>
                <a:extLst>
                  <a:ext uri="{0D108BD9-81ED-4DB2-BD59-A6C34878D82A}">
                    <a16:rowId xmlns:a16="http://schemas.microsoft.com/office/drawing/2014/main" val="3048686836"/>
                  </a:ext>
                </a:extLst>
              </a:tr>
              <a:tr h="370840">
                <a:tc>
                  <a:txBody>
                    <a:bodyPr/>
                    <a:lstStyle/>
                    <a:p>
                      <a:r>
                        <a:rPr lang="en-US" dirty="0"/>
                        <a:t>Contract Award</a:t>
                      </a:r>
                    </a:p>
                  </a:txBody>
                  <a:tcPr/>
                </a:tc>
                <a:tc>
                  <a:txBody>
                    <a:bodyPr/>
                    <a:lstStyle/>
                    <a:p>
                      <a:r>
                        <a:rPr lang="en-US" dirty="0"/>
                        <a:t>Target Date: December 2026</a:t>
                      </a:r>
                    </a:p>
                  </a:txBody>
                  <a:tcPr/>
                </a:tc>
                <a:extLst>
                  <a:ext uri="{0D108BD9-81ED-4DB2-BD59-A6C34878D82A}">
                    <a16:rowId xmlns:a16="http://schemas.microsoft.com/office/drawing/2014/main" val="1299663500"/>
                  </a:ext>
                </a:extLst>
              </a:tr>
            </a:tbl>
          </a:graphicData>
        </a:graphic>
      </p:graphicFrame>
    </p:spTree>
    <p:extLst>
      <p:ext uri="{BB962C8B-B14F-4D97-AF65-F5344CB8AC3E}">
        <p14:creationId xmlns:p14="http://schemas.microsoft.com/office/powerpoint/2010/main" val="2236299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8CC2-BB19-440B-86BB-DEF458BDE560}"/>
              </a:ext>
            </a:extLst>
          </p:cNvPr>
          <p:cNvSpPr>
            <a:spLocks noGrp="1"/>
          </p:cNvSpPr>
          <p:nvPr>
            <p:ph type="title"/>
          </p:nvPr>
        </p:nvSpPr>
        <p:spPr>
          <a:xfrm>
            <a:off x="479840" y="387123"/>
            <a:ext cx="10972800" cy="774906"/>
          </a:xfrm>
        </p:spPr>
        <p:txBody>
          <a:bodyPr/>
          <a:lstStyle/>
          <a:p>
            <a:r>
              <a:rPr lang="en-US" dirty="0"/>
              <a:t>FS3i Scope</a:t>
            </a:r>
          </a:p>
        </p:txBody>
      </p:sp>
      <p:sp>
        <p:nvSpPr>
          <p:cNvPr id="3" name="Content Placeholder 2">
            <a:extLst>
              <a:ext uri="{FF2B5EF4-FFF2-40B4-BE49-F238E27FC236}">
                <a16:creationId xmlns:a16="http://schemas.microsoft.com/office/drawing/2014/main" id="{6F3C7A33-BB67-4CF4-A28D-E89F790E1DD9}"/>
              </a:ext>
            </a:extLst>
          </p:cNvPr>
          <p:cNvSpPr>
            <a:spLocks noGrp="1"/>
          </p:cNvSpPr>
          <p:nvPr>
            <p:ph idx="1"/>
          </p:nvPr>
        </p:nvSpPr>
        <p:spPr>
          <a:xfrm>
            <a:off x="69099" y="1371600"/>
            <a:ext cx="2656397" cy="1242646"/>
          </a:xfrm>
          <a:noFill/>
        </p:spPr>
        <p:txBody>
          <a:bodyPr>
            <a:noAutofit/>
          </a:bodyPr>
          <a:lstStyle/>
          <a:p>
            <a:r>
              <a:rPr lang="en-US" sz="1400" b="1" dirty="0">
                <a:solidFill>
                  <a:schemeClr val="accent1">
                    <a:lumMod val="50000"/>
                  </a:schemeClr>
                </a:solidFill>
              </a:rPr>
              <a:t>1 - Software Development</a:t>
            </a:r>
          </a:p>
          <a:p>
            <a:pPr marL="182880" indent="-182880">
              <a:spcBef>
                <a:spcPts val="600"/>
              </a:spcBef>
              <a:buFont typeface="Wingdings" panose="05000000000000000000" pitchFamily="2" charset="2"/>
              <a:buChar char="§"/>
            </a:pPr>
            <a:r>
              <a:rPr lang="en-US" sz="1400" dirty="0"/>
              <a:t>Select new software development to enhance the value to the MC&amp;G mission customer.</a:t>
            </a:r>
          </a:p>
          <a:p>
            <a:r>
              <a:rPr lang="en-US" sz="2000" dirty="0"/>
              <a:t>           	</a:t>
            </a:r>
          </a:p>
          <a:p>
            <a:endParaRPr lang="en-US" sz="1600" dirty="0"/>
          </a:p>
          <a:p>
            <a:endParaRPr lang="en-US" dirty="0"/>
          </a:p>
        </p:txBody>
      </p:sp>
      <p:sp>
        <p:nvSpPr>
          <p:cNvPr id="4" name="Text Placeholder 3">
            <a:extLst>
              <a:ext uri="{FF2B5EF4-FFF2-40B4-BE49-F238E27FC236}">
                <a16:creationId xmlns:a16="http://schemas.microsoft.com/office/drawing/2014/main" id="{EDD61E81-B009-4991-911C-AED6816DD1EF}"/>
              </a:ext>
            </a:extLst>
          </p:cNvPr>
          <p:cNvSpPr>
            <a:spLocks noGrp="1"/>
          </p:cNvSpPr>
          <p:nvPr>
            <p:ph type="body" sz="quarter" idx="15"/>
          </p:nvPr>
        </p:nvSpPr>
        <p:spPr/>
        <p:txBody>
          <a:bodyPr>
            <a:normAutofit fontScale="85000" lnSpcReduction="20000"/>
          </a:bodyPr>
          <a:lstStyle/>
          <a:p>
            <a:r>
              <a:rPr lang="en-US" dirty="0"/>
              <a:t>UNCLASSIFIED</a:t>
            </a:r>
          </a:p>
        </p:txBody>
      </p:sp>
      <p:sp>
        <p:nvSpPr>
          <p:cNvPr id="5" name="Text Placeholder 4">
            <a:extLst>
              <a:ext uri="{FF2B5EF4-FFF2-40B4-BE49-F238E27FC236}">
                <a16:creationId xmlns:a16="http://schemas.microsoft.com/office/drawing/2014/main" id="{32E3BEF3-EF78-45E3-A943-0325DB384207}"/>
              </a:ext>
            </a:extLst>
          </p:cNvPr>
          <p:cNvSpPr>
            <a:spLocks noGrp="1"/>
          </p:cNvSpPr>
          <p:nvPr>
            <p:ph type="body" sz="quarter" idx="16"/>
          </p:nvPr>
        </p:nvSpPr>
        <p:spPr/>
        <p:txBody>
          <a:bodyPr>
            <a:normAutofit fontScale="85000" lnSpcReduction="20000"/>
          </a:bodyPr>
          <a:lstStyle/>
          <a:p>
            <a:r>
              <a:rPr lang="en-US" dirty="0"/>
              <a:t>UNCLASSIFIED</a:t>
            </a:r>
          </a:p>
        </p:txBody>
      </p:sp>
      <p:sp>
        <p:nvSpPr>
          <p:cNvPr id="6" name="Content Placeholder 2">
            <a:extLst>
              <a:ext uri="{FF2B5EF4-FFF2-40B4-BE49-F238E27FC236}">
                <a16:creationId xmlns:a16="http://schemas.microsoft.com/office/drawing/2014/main" id="{F5BF4848-C224-48F3-88D8-CDC83C60C9CC}"/>
              </a:ext>
            </a:extLst>
          </p:cNvPr>
          <p:cNvSpPr txBox="1">
            <a:spLocks/>
          </p:cNvSpPr>
          <p:nvPr/>
        </p:nvSpPr>
        <p:spPr>
          <a:xfrm>
            <a:off x="2994902" y="1347354"/>
            <a:ext cx="2414180" cy="1226047"/>
          </a:xfrm>
          <a:prstGeom prst="rect">
            <a:avLst/>
          </a:prstGeom>
          <a:noFill/>
        </p:spPr>
        <p:txBody>
          <a:bodyPr vert="horz" lIns="91440" tIns="45720" rIns="91440" bIns="45720" rtlCol="0">
            <a:no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sz="1400" b="1" dirty="0">
                <a:solidFill>
                  <a:schemeClr val="accent1">
                    <a:lumMod val="50000"/>
                  </a:schemeClr>
                </a:solidFill>
              </a:rPr>
              <a:t>2 - Integration</a:t>
            </a:r>
          </a:p>
          <a:p>
            <a:pPr marL="182880" indent="-182880">
              <a:spcBef>
                <a:spcPts val="600"/>
              </a:spcBef>
              <a:buFont typeface="Wingdings" panose="05000000000000000000" pitchFamily="2" charset="2"/>
              <a:buChar char="§"/>
            </a:pPr>
            <a:r>
              <a:rPr lang="en-US" sz="1400" dirty="0"/>
              <a:t>Integrate FS3i capabilities into the greater MC&amp;G and NGA enterprise solution architectures.</a:t>
            </a:r>
          </a:p>
          <a:p>
            <a:r>
              <a:rPr lang="en-US" sz="2000" dirty="0"/>
              <a:t>           	</a:t>
            </a:r>
          </a:p>
          <a:p>
            <a:endParaRPr lang="en-US" sz="1600" dirty="0"/>
          </a:p>
          <a:p>
            <a:endParaRPr lang="en-US" dirty="0"/>
          </a:p>
        </p:txBody>
      </p:sp>
      <p:sp>
        <p:nvSpPr>
          <p:cNvPr id="7" name="Content Placeholder 2">
            <a:extLst>
              <a:ext uri="{FF2B5EF4-FFF2-40B4-BE49-F238E27FC236}">
                <a16:creationId xmlns:a16="http://schemas.microsoft.com/office/drawing/2014/main" id="{5478544D-9333-44CC-85A1-BB39F18B3369}"/>
              </a:ext>
            </a:extLst>
          </p:cNvPr>
          <p:cNvSpPr txBox="1">
            <a:spLocks/>
          </p:cNvSpPr>
          <p:nvPr/>
        </p:nvSpPr>
        <p:spPr>
          <a:xfrm>
            <a:off x="5678488" y="1371600"/>
            <a:ext cx="3104785" cy="1218851"/>
          </a:xfrm>
          <a:prstGeom prst="rect">
            <a:avLst/>
          </a:prstGeom>
          <a:noFill/>
        </p:spPr>
        <p:txBody>
          <a:bodyPr vert="horz" lIns="91440" tIns="45720" rIns="91440" bIns="45720" rtlCol="0">
            <a:no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sz="1400" b="1" dirty="0">
                <a:solidFill>
                  <a:schemeClr val="accent1">
                    <a:lumMod val="50000"/>
                  </a:schemeClr>
                </a:solidFill>
              </a:rPr>
              <a:t>3 - Software Maintenance</a:t>
            </a:r>
          </a:p>
          <a:p>
            <a:pPr marL="182880" indent="-182880">
              <a:spcBef>
                <a:spcPts val="600"/>
              </a:spcBef>
              <a:buFont typeface="Wingdings" panose="05000000000000000000" pitchFamily="2" charset="2"/>
              <a:buChar char="§"/>
            </a:pPr>
            <a:r>
              <a:rPr lang="en-US" sz="1400" dirty="0"/>
              <a:t>Maintain select legacy code bases to continue to be performant in the evolving MC&amp;G and NGA enterprise solution architectures.</a:t>
            </a:r>
          </a:p>
          <a:p>
            <a:r>
              <a:rPr lang="en-US" sz="2000" dirty="0"/>
              <a:t>           	</a:t>
            </a:r>
          </a:p>
          <a:p>
            <a:endParaRPr lang="en-US" sz="1600" dirty="0"/>
          </a:p>
          <a:p>
            <a:endParaRPr lang="en-US" dirty="0"/>
          </a:p>
        </p:txBody>
      </p:sp>
      <p:sp>
        <p:nvSpPr>
          <p:cNvPr id="8" name="Content Placeholder 2">
            <a:extLst>
              <a:ext uri="{FF2B5EF4-FFF2-40B4-BE49-F238E27FC236}">
                <a16:creationId xmlns:a16="http://schemas.microsoft.com/office/drawing/2014/main" id="{7BA657AB-6C96-40C7-B533-58656F3104EE}"/>
              </a:ext>
            </a:extLst>
          </p:cNvPr>
          <p:cNvSpPr txBox="1">
            <a:spLocks/>
          </p:cNvSpPr>
          <p:nvPr/>
        </p:nvSpPr>
        <p:spPr>
          <a:xfrm>
            <a:off x="8917497" y="1377000"/>
            <a:ext cx="2978091" cy="1208050"/>
          </a:xfrm>
          <a:prstGeom prst="rect">
            <a:avLst/>
          </a:prstGeom>
          <a:noFill/>
        </p:spPr>
        <p:txBody>
          <a:bodyPr vert="horz" lIns="91440" tIns="45720" rIns="91440" bIns="45720" rtlCol="0">
            <a:no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sz="1400" b="1" dirty="0">
                <a:solidFill>
                  <a:schemeClr val="accent1">
                    <a:lumMod val="50000"/>
                  </a:schemeClr>
                </a:solidFill>
              </a:rPr>
              <a:t>4 - Operations &amp; Sustainment</a:t>
            </a:r>
          </a:p>
          <a:p>
            <a:pPr marL="182880" indent="-182880">
              <a:spcBef>
                <a:spcPts val="600"/>
              </a:spcBef>
              <a:buFont typeface="Wingdings" panose="05000000000000000000" pitchFamily="2" charset="2"/>
              <a:buChar char="§"/>
            </a:pPr>
            <a:r>
              <a:rPr lang="en-US" sz="1400" dirty="0"/>
              <a:t>Operate and sustain the FS3i capabilities in production at a mission-ready performance level.</a:t>
            </a:r>
          </a:p>
          <a:p>
            <a:r>
              <a:rPr lang="en-US" sz="2000" dirty="0"/>
              <a:t>           	</a:t>
            </a:r>
          </a:p>
          <a:p>
            <a:endParaRPr lang="en-US" sz="1600" dirty="0"/>
          </a:p>
          <a:p>
            <a:endParaRPr lang="en-US" dirty="0"/>
          </a:p>
        </p:txBody>
      </p:sp>
      <p:sp>
        <p:nvSpPr>
          <p:cNvPr id="9" name="Content Placeholder 2">
            <a:extLst>
              <a:ext uri="{FF2B5EF4-FFF2-40B4-BE49-F238E27FC236}">
                <a16:creationId xmlns:a16="http://schemas.microsoft.com/office/drawing/2014/main" id="{9F21C66C-8CCC-4A9C-AD6D-3AE55421CF84}"/>
              </a:ext>
            </a:extLst>
          </p:cNvPr>
          <p:cNvSpPr txBox="1">
            <a:spLocks/>
          </p:cNvSpPr>
          <p:nvPr/>
        </p:nvSpPr>
        <p:spPr>
          <a:xfrm>
            <a:off x="198664" y="3543300"/>
            <a:ext cx="2526832" cy="2552429"/>
          </a:xfrm>
          <a:prstGeom prst="rect">
            <a:avLst/>
          </a:prstGeom>
          <a:noFill/>
        </p:spPr>
        <p:txBody>
          <a:bodyPr vert="horz" lIns="91440" tIns="45720" rIns="91440" bIns="45720" rtlCol="0">
            <a:noAutofit/>
          </a:bodyPr>
          <a:lstStyle>
            <a:lvl1pPr indent="0" defTabSz="1219139">
              <a:spcBef>
                <a:spcPct val="20000"/>
              </a:spcBef>
              <a:buFont typeface="Arial" panose="020B0604020202020204" pitchFamily="34" charset="0"/>
              <a:buNone/>
              <a:defRPr sz="1400" b="1">
                <a:solidFill>
                  <a:schemeClr val="accent2">
                    <a:lumMod val="75000"/>
                  </a:schemeClr>
                </a:solidFill>
                <a:latin typeface="Arial" panose="020B0604020202020204" pitchFamily="34" charset="0"/>
                <a:cs typeface="Arial" panose="020B0604020202020204" pitchFamily="34" charset="0"/>
              </a:defRPr>
            </a:lvl1pPr>
            <a:lvl2pPr marL="990551" indent="-380982" defTabSz="1219139">
              <a:spcBef>
                <a:spcPct val="20000"/>
              </a:spcBef>
              <a:buClr>
                <a:srgbClr val="37A5AC"/>
              </a:buClr>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2pPr>
            <a:lvl3pPr marL="1600121" indent="-380982" defTabSz="1219139">
              <a:spcBef>
                <a:spcPct val="20000"/>
              </a:spcBef>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3pPr>
            <a:lvl4pPr marL="1828709" indent="0" defTabSz="1219139">
              <a:spcBef>
                <a:spcPct val="20000"/>
              </a:spcBef>
              <a:buFont typeface="Arial" panose="020B0604020202020204" pitchFamily="34" charset="0"/>
              <a:buNone/>
              <a:defRPr sz="1867">
                <a:solidFill>
                  <a:schemeClr val="tx1">
                    <a:lumMod val="75000"/>
                    <a:lumOff val="25000"/>
                  </a:schemeClr>
                </a:solidFill>
                <a:latin typeface="Arial" panose="020B0604020202020204" pitchFamily="34" charset="0"/>
                <a:cs typeface="Arial" panose="020B0604020202020204" pitchFamily="34" charset="0"/>
              </a:defRPr>
            </a:lvl4pPr>
            <a:lvl5pPr marL="2743063" indent="-304784" defTabSz="1219139">
              <a:spcBef>
                <a:spcPct val="20000"/>
              </a:spcBef>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5pPr>
            <a:lvl6pPr marL="3352632" indent="-304784" defTabSz="1219139">
              <a:spcBef>
                <a:spcPct val="20000"/>
              </a:spcBef>
              <a:buFont typeface="Arial" panose="020B0604020202020204" pitchFamily="34" charset="0"/>
              <a:buChar char="•"/>
              <a:defRPr sz="2667"/>
            </a:lvl6pPr>
            <a:lvl7pPr marL="3962202" indent="-304784" defTabSz="1219139">
              <a:spcBef>
                <a:spcPct val="20000"/>
              </a:spcBef>
              <a:buFont typeface="Arial" panose="020B0604020202020204" pitchFamily="34" charset="0"/>
              <a:buChar char="•"/>
              <a:defRPr sz="2667"/>
            </a:lvl7pPr>
            <a:lvl8pPr marL="4571771" indent="-304784" defTabSz="1219139">
              <a:spcBef>
                <a:spcPct val="20000"/>
              </a:spcBef>
              <a:buFont typeface="Arial" panose="020B0604020202020204" pitchFamily="34" charset="0"/>
              <a:buChar char="•"/>
              <a:defRPr sz="2667"/>
            </a:lvl8pPr>
            <a:lvl9pPr marL="5181341" indent="-304784" defTabSz="1219139">
              <a:spcBef>
                <a:spcPct val="20000"/>
              </a:spcBef>
              <a:buFont typeface="Arial" panose="020B0604020202020204" pitchFamily="34" charset="0"/>
              <a:buChar char="•"/>
              <a:defRPr sz="2667"/>
            </a:lvl9pPr>
          </a:lstStyle>
          <a:p>
            <a:r>
              <a:rPr lang="en-US" dirty="0">
                <a:solidFill>
                  <a:schemeClr val="accent1">
                    <a:lumMod val="50000"/>
                  </a:schemeClr>
                </a:solidFill>
              </a:rPr>
              <a:t>5 - Foundation GEOINT IT Procurement</a:t>
            </a:r>
          </a:p>
          <a:p>
            <a:pPr marL="182880" indent="-182880">
              <a:spcBef>
                <a:spcPts val="600"/>
              </a:spcBef>
              <a:buFont typeface="Wingdings" panose="05000000000000000000" pitchFamily="2" charset="2"/>
              <a:buChar char="§"/>
            </a:pPr>
            <a:r>
              <a:rPr lang="en-US" b="0" dirty="0">
                <a:solidFill>
                  <a:schemeClr val="tx1"/>
                </a:solidFill>
              </a:rPr>
              <a:t>Provide the option to acquire select IT physical equipment that cannot be obtained a timely or existing manner through NGA’s equipment procurement processes.</a:t>
            </a:r>
          </a:p>
          <a:p>
            <a:r>
              <a:rPr lang="en-US" dirty="0"/>
              <a:t>           	</a:t>
            </a:r>
          </a:p>
          <a:p>
            <a:endParaRPr lang="en-US" dirty="0"/>
          </a:p>
          <a:p>
            <a:endParaRPr lang="en-US" dirty="0"/>
          </a:p>
        </p:txBody>
      </p:sp>
      <p:sp>
        <p:nvSpPr>
          <p:cNvPr id="10" name="Content Placeholder 2">
            <a:extLst>
              <a:ext uri="{FF2B5EF4-FFF2-40B4-BE49-F238E27FC236}">
                <a16:creationId xmlns:a16="http://schemas.microsoft.com/office/drawing/2014/main" id="{1166FB13-2B96-44BB-B5C0-25BFB7B978F2}"/>
              </a:ext>
            </a:extLst>
          </p:cNvPr>
          <p:cNvSpPr txBox="1">
            <a:spLocks/>
          </p:cNvSpPr>
          <p:nvPr/>
        </p:nvSpPr>
        <p:spPr>
          <a:xfrm>
            <a:off x="9219501" y="3523585"/>
            <a:ext cx="2773835" cy="2011360"/>
          </a:xfrm>
          <a:prstGeom prst="rect">
            <a:avLst/>
          </a:prstGeom>
          <a:noFill/>
        </p:spPr>
        <p:txBody>
          <a:bodyPr vert="horz" lIns="91440" tIns="45720" rIns="91440" bIns="45720" rtlCol="0">
            <a:noAutofit/>
          </a:bodyPr>
          <a:lstStyle>
            <a:defPPr>
              <a:defRPr lang="en-US"/>
            </a:defPPr>
            <a:lvl1pPr indent="0" defTabSz="1219139">
              <a:spcBef>
                <a:spcPct val="20000"/>
              </a:spcBef>
              <a:buFont typeface="Arial" panose="020B0604020202020204" pitchFamily="34" charset="0"/>
              <a:buNone/>
              <a:defRPr sz="1400" b="1">
                <a:solidFill>
                  <a:schemeClr val="accent2">
                    <a:lumMod val="75000"/>
                  </a:schemeClr>
                </a:solidFill>
                <a:latin typeface="Arial" panose="020B0604020202020204" pitchFamily="34" charset="0"/>
                <a:cs typeface="Arial" panose="020B0604020202020204" pitchFamily="34" charset="0"/>
              </a:defRPr>
            </a:lvl1pPr>
            <a:lvl2pPr marL="990551" indent="-380982" defTabSz="1219139">
              <a:spcBef>
                <a:spcPct val="20000"/>
              </a:spcBef>
              <a:buClr>
                <a:srgbClr val="37A5AC"/>
              </a:buClr>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2pPr>
            <a:lvl3pPr marL="1600121" indent="-380982" defTabSz="1219139">
              <a:spcBef>
                <a:spcPct val="20000"/>
              </a:spcBef>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3pPr>
            <a:lvl4pPr marL="1828709" indent="0" defTabSz="1219139">
              <a:spcBef>
                <a:spcPct val="20000"/>
              </a:spcBef>
              <a:buFont typeface="Arial" panose="020B0604020202020204" pitchFamily="34" charset="0"/>
              <a:buNone/>
              <a:defRPr sz="1867">
                <a:solidFill>
                  <a:schemeClr val="tx1">
                    <a:lumMod val="75000"/>
                    <a:lumOff val="25000"/>
                  </a:schemeClr>
                </a:solidFill>
                <a:latin typeface="Arial" panose="020B0604020202020204" pitchFamily="34" charset="0"/>
                <a:cs typeface="Arial" panose="020B0604020202020204" pitchFamily="34" charset="0"/>
              </a:defRPr>
            </a:lvl4pPr>
            <a:lvl5pPr marL="2743063" indent="-304784" defTabSz="1219139">
              <a:spcBef>
                <a:spcPct val="20000"/>
              </a:spcBef>
              <a:buFont typeface="Arial" panose="020B0604020202020204" pitchFamily="34" charset="0"/>
              <a:buChar char="»"/>
              <a:defRPr sz="1867">
                <a:solidFill>
                  <a:schemeClr val="tx1">
                    <a:lumMod val="75000"/>
                    <a:lumOff val="25000"/>
                  </a:schemeClr>
                </a:solidFill>
                <a:latin typeface="Arial" panose="020B0604020202020204" pitchFamily="34" charset="0"/>
                <a:cs typeface="Arial" panose="020B0604020202020204" pitchFamily="34" charset="0"/>
              </a:defRPr>
            </a:lvl5pPr>
            <a:lvl6pPr marL="3352632" indent="-304784" defTabSz="1219139">
              <a:spcBef>
                <a:spcPct val="20000"/>
              </a:spcBef>
              <a:buFont typeface="Arial" panose="020B0604020202020204" pitchFamily="34" charset="0"/>
              <a:buChar char="•"/>
              <a:defRPr sz="2667"/>
            </a:lvl6pPr>
            <a:lvl7pPr marL="3962202" indent="-304784" defTabSz="1219139">
              <a:spcBef>
                <a:spcPct val="20000"/>
              </a:spcBef>
              <a:buFont typeface="Arial" panose="020B0604020202020204" pitchFamily="34" charset="0"/>
              <a:buChar char="•"/>
              <a:defRPr sz="2667"/>
            </a:lvl7pPr>
            <a:lvl8pPr marL="4571771" indent="-304784" defTabSz="1219139">
              <a:spcBef>
                <a:spcPct val="20000"/>
              </a:spcBef>
              <a:buFont typeface="Arial" panose="020B0604020202020204" pitchFamily="34" charset="0"/>
              <a:buChar char="•"/>
              <a:defRPr sz="2667"/>
            </a:lvl8pPr>
            <a:lvl9pPr marL="5181341" indent="-304784" defTabSz="1219139">
              <a:spcBef>
                <a:spcPct val="20000"/>
              </a:spcBef>
              <a:buFont typeface="Arial" panose="020B0604020202020204" pitchFamily="34" charset="0"/>
              <a:buChar char="•"/>
              <a:defRPr sz="2667"/>
            </a:lvl9pPr>
          </a:lstStyle>
          <a:p>
            <a:r>
              <a:rPr lang="en-US" dirty="0">
                <a:solidFill>
                  <a:schemeClr val="accent1">
                    <a:lumMod val="50000"/>
                  </a:schemeClr>
                </a:solidFill>
              </a:rPr>
              <a:t>6 – Foundation GEOINT COTS and Common Services Procurement</a:t>
            </a:r>
          </a:p>
          <a:p>
            <a:pPr marL="182880" indent="-182880">
              <a:spcBef>
                <a:spcPts val="600"/>
              </a:spcBef>
              <a:buFont typeface="Wingdings" panose="05000000000000000000" pitchFamily="2" charset="2"/>
              <a:buChar char="§"/>
            </a:pPr>
            <a:r>
              <a:rPr lang="en-US" b="0" dirty="0">
                <a:solidFill>
                  <a:schemeClr val="tx1"/>
                </a:solidFill>
              </a:rPr>
              <a:t>Provide the option to acquire select IT COTS software that cannot be obtained in either a timely or existing manner through NGA’s equipment procurement processes.</a:t>
            </a:r>
          </a:p>
          <a:p>
            <a:r>
              <a:rPr lang="en-US" dirty="0"/>
              <a:t>           	</a:t>
            </a:r>
          </a:p>
          <a:p>
            <a:endParaRPr lang="en-US" dirty="0"/>
          </a:p>
          <a:p>
            <a:endParaRPr lang="en-US" dirty="0"/>
          </a:p>
        </p:txBody>
      </p:sp>
      <p:pic>
        <p:nvPicPr>
          <p:cNvPr id="11" name="Picture 10">
            <a:extLst>
              <a:ext uri="{FF2B5EF4-FFF2-40B4-BE49-F238E27FC236}">
                <a16:creationId xmlns:a16="http://schemas.microsoft.com/office/drawing/2014/main" id="{C8AF7A81-D7E7-4D42-8CB9-BA49C2FDA8A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854105" y="3008431"/>
            <a:ext cx="6224270" cy="2910048"/>
          </a:xfrm>
          <a:prstGeom prst="rect">
            <a:avLst/>
          </a:prstGeo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3247627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608A3B-74DE-4F13-BD88-5D795582C2A5}"/>
              </a:ext>
            </a:extLst>
          </p:cNvPr>
          <p:cNvSpPr>
            <a:spLocks noGrp="1"/>
          </p:cNvSpPr>
          <p:nvPr>
            <p:ph type="body" sz="quarter" idx="15"/>
          </p:nvPr>
        </p:nvSpPr>
        <p:spPr/>
        <p:txBody>
          <a:bodyPr>
            <a:normAutofit fontScale="85000" lnSpcReduction="20000"/>
          </a:bodyPr>
          <a:lstStyle/>
          <a:p>
            <a:r>
              <a:rPr lang="en-US" dirty="0"/>
              <a:t>UNCLASSIFIED</a:t>
            </a:r>
          </a:p>
        </p:txBody>
      </p:sp>
      <p:sp>
        <p:nvSpPr>
          <p:cNvPr id="3" name="Text Placeholder 2">
            <a:extLst>
              <a:ext uri="{FF2B5EF4-FFF2-40B4-BE49-F238E27FC236}">
                <a16:creationId xmlns:a16="http://schemas.microsoft.com/office/drawing/2014/main" id="{856D939E-D250-4340-B3FA-C93AB17E9B07}"/>
              </a:ext>
            </a:extLst>
          </p:cNvPr>
          <p:cNvSpPr>
            <a:spLocks noGrp="1"/>
          </p:cNvSpPr>
          <p:nvPr>
            <p:ph type="body" sz="quarter" idx="16"/>
          </p:nvPr>
        </p:nvSpPr>
        <p:spPr/>
        <p:txBody>
          <a:bodyPr>
            <a:normAutofit fontScale="85000" lnSpcReduction="20000"/>
          </a:bodyPr>
          <a:lstStyle/>
          <a:p>
            <a:r>
              <a:rPr lang="en-US" dirty="0"/>
              <a:t>UNCLASSIFIED</a:t>
            </a:r>
          </a:p>
        </p:txBody>
      </p:sp>
      <p:pic>
        <p:nvPicPr>
          <p:cNvPr id="13" name="Picture 12">
            <a:extLst>
              <a:ext uri="{FF2B5EF4-FFF2-40B4-BE49-F238E27FC236}">
                <a16:creationId xmlns:a16="http://schemas.microsoft.com/office/drawing/2014/main" id="{D0668FD8-23D9-4421-868C-4A3338C01636}"/>
              </a:ext>
            </a:extLst>
          </p:cNvPr>
          <p:cNvPicPr>
            <a:picLocks noChangeAspect="1"/>
          </p:cNvPicPr>
          <p:nvPr/>
        </p:nvPicPr>
        <p:blipFill>
          <a:blip r:embed="rId2"/>
          <a:stretch>
            <a:fillRect/>
          </a:stretch>
        </p:blipFill>
        <p:spPr>
          <a:xfrm>
            <a:off x="234912" y="347816"/>
            <a:ext cx="11161478" cy="6154584"/>
          </a:xfrm>
          <a:prstGeom prst="rect">
            <a:avLst/>
          </a:prstGeom>
        </p:spPr>
      </p:pic>
    </p:spTree>
    <p:extLst>
      <p:ext uri="{BB962C8B-B14F-4D97-AF65-F5344CB8AC3E}">
        <p14:creationId xmlns:p14="http://schemas.microsoft.com/office/powerpoint/2010/main" val="482202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557A4C-C1F5-4168-A951-AC06582E256B}"/>
              </a:ext>
            </a:extLst>
          </p:cNvPr>
          <p:cNvSpPr>
            <a:spLocks noGrp="1"/>
          </p:cNvSpPr>
          <p:nvPr>
            <p:ph type="body" sz="quarter" idx="15"/>
          </p:nvPr>
        </p:nvSpPr>
        <p:spPr/>
        <p:txBody>
          <a:bodyPr>
            <a:normAutofit fontScale="85000" lnSpcReduction="20000"/>
          </a:bodyPr>
          <a:lstStyle/>
          <a:p>
            <a:r>
              <a:rPr lang="en-US" dirty="0"/>
              <a:t>UNCLASSIFIED</a:t>
            </a:r>
          </a:p>
        </p:txBody>
      </p:sp>
      <p:sp>
        <p:nvSpPr>
          <p:cNvPr id="3" name="Text Placeholder 2">
            <a:extLst>
              <a:ext uri="{FF2B5EF4-FFF2-40B4-BE49-F238E27FC236}">
                <a16:creationId xmlns:a16="http://schemas.microsoft.com/office/drawing/2014/main" id="{96538110-7761-4094-8520-365122A7CF98}"/>
              </a:ext>
            </a:extLst>
          </p:cNvPr>
          <p:cNvSpPr>
            <a:spLocks noGrp="1"/>
          </p:cNvSpPr>
          <p:nvPr>
            <p:ph type="body" sz="quarter" idx="16"/>
          </p:nvPr>
        </p:nvSpPr>
        <p:spPr/>
        <p:txBody>
          <a:bodyPr>
            <a:normAutofit fontScale="85000" lnSpcReduction="20000"/>
          </a:bodyPr>
          <a:lstStyle/>
          <a:p>
            <a:r>
              <a:rPr lang="en-US" dirty="0"/>
              <a:t>UNCLASSIFIED	</a:t>
            </a:r>
          </a:p>
        </p:txBody>
      </p:sp>
      <p:sp>
        <p:nvSpPr>
          <p:cNvPr id="4" name="TextBox 3">
            <a:extLst>
              <a:ext uri="{FF2B5EF4-FFF2-40B4-BE49-F238E27FC236}">
                <a16:creationId xmlns:a16="http://schemas.microsoft.com/office/drawing/2014/main" id="{AF1C226C-DDFE-48A1-A58F-B2DAFBED3234}"/>
              </a:ext>
            </a:extLst>
          </p:cNvPr>
          <p:cNvSpPr txBox="1"/>
          <p:nvPr/>
        </p:nvSpPr>
        <p:spPr>
          <a:xfrm>
            <a:off x="856648" y="2721114"/>
            <a:ext cx="10289407" cy="707886"/>
          </a:xfrm>
          <a:prstGeom prst="rect">
            <a:avLst/>
          </a:prstGeom>
          <a:noFill/>
        </p:spPr>
        <p:txBody>
          <a:bodyPr wrap="square" rtlCol="0">
            <a:spAutoFit/>
          </a:bodyPr>
          <a:lstStyle/>
          <a:p>
            <a:r>
              <a:rPr lang="en-US" sz="4000" b="1" dirty="0">
                <a:solidFill>
                  <a:srgbClr val="FF0000"/>
                </a:solidFill>
              </a:rPr>
              <a:t>Task Orders That Will Be Released with the RFP</a:t>
            </a:r>
          </a:p>
        </p:txBody>
      </p:sp>
    </p:spTree>
    <p:extLst>
      <p:ext uri="{BB962C8B-B14F-4D97-AF65-F5344CB8AC3E}">
        <p14:creationId xmlns:p14="http://schemas.microsoft.com/office/powerpoint/2010/main" val="3084832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8436CAF-CB55-4D76-A382-F8842921CFC3}"/>
              </a:ext>
            </a:extLst>
          </p:cNvPr>
          <p:cNvSpPr>
            <a:spLocks noGrp="1"/>
          </p:cNvSpPr>
          <p:nvPr>
            <p:ph type="title"/>
          </p:nvPr>
        </p:nvSpPr>
        <p:spPr>
          <a:xfrm>
            <a:off x="190500" y="279400"/>
            <a:ext cx="11299825" cy="563563"/>
          </a:xfrm>
        </p:spPr>
        <p:txBody>
          <a:bodyPr>
            <a:normAutofit fontScale="90000"/>
          </a:bodyPr>
          <a:lstStyle/>
          <a:p>
            <a:pPr eaLnBrk="1" hangingPunct="1"/>
            <a:r>
              <a:rPr lang="en-US" altLang="en-US" dirty="0"/>
              <a:t>(U) COTS Software and Common Services Approved Requirements and Business Case</a:t>
            </a:r>
          </a:p>
        </p:txBody>
      </p:sp>
      <p:sp>
        <p:nvSpPr>
          <p:cNvPr id="7" name="Content Placeholder 2">
            <a:extLst>
              <a:ext uri="{FF2B5EF4-FFF2-40B4-BE49-F238E27FC236}">
                <a16:creationId xmlns:a16="http://schemas.microsoft.com/office/drawing/2014/main" id="{15E2C8B8-DCAD-47F5-84C2-D54DC2940774}"/>
              </a:ext>
            </a:extLst>
          </p:cNvPr>
          <p:cNvSpPr>
            <a:spLocks noGrp="1"/>
          </p:cNvSpPr>
          <p:nvPr>
            <p:ph idx="1"/>
          </p:nvPr>
        </p:nvSpPr>
        <p:spPr>
          <a:xfrm>
            <a:off x="190500" y="1103313"/>
            <a:ext cx="11541125" cy="4876800"/>
          </a:xfrm>
        </p:spPr>
        <p:txBody>
          <a:bodyPr rtlCol="0">
            <a:noAutofit/>
          </a:bodyPr>
          <a:lstStyle/>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900" b="1" dirty="0">
                <a:solidFill>
                  <a:schemeClr val="tx1"/>
                </a:solidFill>
              </a:rPr>
              <a:t>Statement of capabilities</a:t>
            </a:r>
            <a:r>
              <a:rPr lang="en-US" sz="1900" dirty="0">
                <a:solidFill>
                  <a:schemeClr val="tx1"/>
                </a:solidFill>
              </a:rPr>
              <a:t>: </a:t>
            </a:r>
            <a:r>
              <a:rPr lang="en-US" sz="1900" b="1" dirty="0">
                <a:solidFill>
                  <a:schemeClr val="tx1"/>
                </a:solidFill>
              </a:rPr>
              <a:t>Procurement Support: </a:t>
            </a:r>
            <a:r>
              <a:rPr lang="en-US" sz="1900" dirty="0">
                <a:solidFill>
                  <a:schemeClr val="tx1"/>
                </a:solidFill>
              </a:rPr>
              <a:t>Includes all labor required to track, coordinate, and facilitate the acquisition of approved COTS software (coordinated through SAM office). </a:t>
            </a:r>
            <a:r>
              <a:rPr lang="en-US" sz="1900" b="1" dirty="0">
                <a:solidFill>
                  <a:schemeClr val="tx1"/>
                </a:solidFill>
              </a:rPr>
              <a:t>IT &amp; System Support:</a:t>
            </a:r>
            <a:r>
              <a:rPr lang="en-US" sz="1900" dirty="0">
                <a:solidFill>
                  <a:schemeClr val="tx1"/>
                </a:solidFill>
              </a:rPr>
              <a:t> Provides common IT services for production/testing events, configuration management, VDA support, and management of shared data storage needs. </a:t>
            </a:r>
            <a:r>
              <a:rPr lang="en-US" sz="1900" b="1" dirty="0">
                <a:solidFill>
                  <a:schemeClr val="tx1"/>
                </a:solidFill>
              </a:rPr>
              <a:t>Contract-Level Services: </a:t>
            </a:r>
            <a:r>
              <a:rPr lang="en-US" sz="1900" dirty="0">
                <a:solidFill>
                  <a:schemeClr val="tx1"/>
                </a:solidFill>
              </a:rPr>
              <a:t>Delivers a suite of common services that support all task orders under the main FS3i contract.</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900" b="1" dirty="0">
                <a:solidFill>
                  <a:schemeClr val="tx1"/>
                </a:solidFill>
              </a:rPr>
              <a:t>Objectives</a:t>
            </a:r>
            <a:r>
              <a:rPr lang="en-US" sz="1900" dirty="0">
                <a:solidFill>
                  <a:schemeClr val="tx1"/>
                </a:solidFill>
              </a:rPr>
              <a:t>: Provide on time delivery of COTS SW (Via SAM office or FS3i TO) and commonly shared IT (non-UDS IT requirements) services in support of the SF mission.</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900" b="1" dirty="0">
                <a:solidFill>
                  <a:schemeClr val="tx1"/>
                </a:solidFill>
              </a:rPr>
              <a:t>Priorities</a:t>
            </a:r>
            <a:r>
              <a:rPr lang="en-US" sz="1900" dirty="0">
                <a:solidFill>
                  <a:schemeClr val="tx1"/>
                </a:solidFill>
              </a:rPr>
              <a:t>: Deliver COTS SW and Common services to accommodate existing and emergent mission requirements within 30 days of verified mission need; deliver and maintain crucial operational compliance with Cloud and cybersecurity</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900" b="1" dirty="0">
                <a:solidFill>
                  <a:schemeClr val="tx1"/>
                </a:solidFill>
              </a:rPr>
              <a:t>Requirements</a:t>
            </a:r>
            <a:r>
              <a:rPr lang="en-US" sz="1900" dirty="0">
                <a:solidFill>
                  <a:schemeClr val="tx1"/>
                </a:solidFill>
              </a:rPr>
              <a:t>: Purchase pre-authorized COTS SW licenses and IT Common services support</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900" b="1" dirty="0">
                <a:solidFill>
                  <a:schemeClr val="tx1"/>
                </a:solidFill>
              </a:rPr>
              <a:t>Business Case</a:t>
            </a:r>
            <a:r>
              <a:rPr lang="en-US" sz="1900" dirty="0">
                <a:solidFill>
                  <a:schemeClr val="tx1"/>
                </a:solidFill>
              </a:rPr>
              <a:t>: The FS3i will meet the requirements stated above by providing COTS SW and IT Common services support to result in the outcomes stated above approved over the FYDP (FY26 to FY32)</a:t>
            </a:r>
            <a:r>
              <a:rPr lang="en-US" sz="1900" dirty="0">
                <a:solidFill>
                  <a:schemeClr val="tx1"/>
                </a:solidFill>
                <a:highlight>
                  <a:srgbClr val="FFFF00"/>
                </a:highlight>
              </a:rPr>
              <a:t> </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9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9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9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9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9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900" dirty="0">
                <a:solidFill>
                  <a:schemeClr val="tx1"/>
                </a:solidFill>
              </a:rPr>
              <a:t>	</a:t>
            </a:r>
          </a:p>
        </p:txBody>
      </p:sp>
      <p:sp>
        <p:nvSpPr>
          <p:cNvPr id="10" name="Text Placeholder 3">
            <a:extLst>
              <a:ext uri="{FF2B5EF4-FFF2-40B4-BE49-F238E27FC236}">
                <a16:creationId xmlns:a16="http://schemas.microsoft.com/office/drawing/2014/main" id="{C93963AB-0CB1-4DE0-81ED-E09BC4DD2595}"/>
              </a:ext>
            </a:extLst>
          </p:cNvPr>
          <p:cNvSpPr txBox="1">
            <a:spLocks/>
          </p:cNvSpPr>
          <p:nvPr/>
        </p:nvSpPr>
        <p:spPr>
          <a:xfrm>
            <a:off x="0" y="6578600"/>
            <a:ext cx="2940050" cy="279400"/>
          </a:xfrm>
          <a:prstGeom prst="rect">
            <a:avLst/>
          </a:prstGeom>
          <a:solidFill>
            <a:schemeClr val="bg1"/>
          </a:solidFill>
        </p:spPr>
        <p:txBody>
          <a:bodyPr>
            <a:normAutofit fontScale="92500"/>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UNCLASSIFIED  SOURCE SELECTION SENSITIVE</a:t>
            </a:r>
          </a:p>
        </p:txBody>
      </p:sp>
      <p:sp>
        <p:nvSpPr>
          <p:cNvPr id="5" name="Text Placeholder 3">
            <a:extLst>
              <a:ext uri="{FF2B5EF4-FFF2-40B4-BE49-F238E27FC236}">
                <a16:creationId xmlns:a16="http://schemas.microsoft.com/office/drawing/2014/main" id="{FF4BE0F3-2378-41CA-AAF0-F29292F3E908}"/>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 </a:t>
            </a:r>
          </a:p>
        </p:txBody>
      </p:sp>
      <p:sp>
        <p:nvSpPr>
          <p:cNvPr id="6" name="Text Placeholder 3">
            <a:extLst>
              <a:ext uri="{FF2B5EF4-FFF2-40B4-BE49-F238E27FC236}">
                <a16:creationId xmlns:a16="http://schemas.microsoft.com/office/drawing/2014/main" id="{2E07AE05-FA32-44D6-AE20-7938FE719B80}"/>
              </a:ext>
            </a:extLst>
          </p:cNvPr>
          <p:cNvSpPr txBox="1">
            <a:spLocks/>
          </p:cNvSpPr>
          <p:nvPr/>
        </p:nvSpPr>
        <p:spPr>
          <a:xfrm>
            <a:off x="0" y="65722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F3C2B988-6AD9-4B02-AA19-23A8F6AA3A88}"/>
              </a:ext>
            </a:extLst>
          </p:cNvPr>
          <p:cNvSpPr>
            <a:spLocks noGrp="1"/>
          </p:cNvSpPr>
          <p:nvPr>
            <p:ph type="title"/>
          </p:nvPr>
        </p:nvSpPr>
        <p:spPr>
          <a:xfrm>
            <a:off x="431800" y="285750"/>
            <a:ext cx="10139363" cy="563563"/>
          </a:xfrm>
        </p:spPr>
        <p:txBody>
          <a:bodyPr/>
          <a:lstStyle/>
          <a:p>
            <a:pPr eaLnBrk="1" hangingPunct="1"/>
            <a:r>
              <a:rPr lang="en-US" altLang="en-US" sz="2800"/>
              <a:t>(U) Air Approved Requirements and Business Case </a:t>
            </a:r>
          </a:p>
        </p:txBody>
      </p:sp>
      <p:sp>
        <p:nvSpPr>
          <p:cNvPr id="7" name="Content Placeholder 2">
            <a:extLst>
              <a:ext uri="{FF2B5EF4-FFF2-40B4-BE49-F238E27FC236}">
                <a16:creationId xmlns:a16="http://schemas.microsoft.com/office/drawing/2014/main" id="{147DBA29-64B0-485B-B1BA-AF8709278325}"/>
              </a:ext>
            </a:extLst>
          </p:cNvPr>
          <p:cNvSpPr>
            <a:spLocks noGrp="1"/>
          </p:cNvSpPr>
          <p:nvPr>
            <p:ph idx="1"/>
          </p:nvPr>
        </p:nvSpPr>
        <p:spPr>
          <a:xfrm>
            <a:off x="284163" y="1116013"/>
            <a:ext cx="11137900" cy="4876800"/>
          </a:xfrm>
        </p:spPr>
        <p:txBody>
          <a:bodyPr rtlCol="0">
            <a:noAutofit/>
          </a:bodyPr>
          <a:lstStyle/>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Statement of capabilities</a:t>
            </a:r>
            <a:r>
              <a:rPr lang="en-US" sz="1600" b="1" dirty="0">
                <a:solidFill>
                  <a:schemeClr val="tx2">
                    <a:lumMod val="75000"/>
                    <a:lumOff val="25000"/>
                  </a:schemeClr>
                </a:solidFill>
              </a:rPr>
              <a:t>:  </a:t>
            </a:r>
            <a:r>
              <a:rPr lang="en-US" sz="1600" dirty="0">
                <a:solidFill>
                  <a:schemeClr val="tx1"/>
                </a:solidFill>
              </a:rPr>
              <a:t>Air sustains and modernizes the system architectures utilized to produce  aeronautical foundation GEOINT for Aero Safety of Navigation (SoN), Airfield Foundation Data (AFD), Vertical Obstruction (VO), and other contingency requirements for the DoD, US Government Agencies and Allied Partner nations.</a:t>
            </a:r>
          </a:p>
          <a:p>
            <a:pPr marL="342891" lvl="1" indent="-342891" defTabSz="1219108" eaLnBrk="1" fontAlgn="auto" hangingPunct="1">
              <a:lnSpc>
                <a:spcPct val="95000"/>
              </a:lnSpc>
              <a:spcAft>
                <a:spcPts val="0"/>
              </a:spcAft>
              <a:buClr>
                <a:srgbClr val="37A5AC"/>
              </a:buClr>
              <a:buSzPct val="80000"/>
              <a:buFont typeface="Arial" panose="020B0604020202020204" pitchFamily="34" charset="0"/>
              <a:buChar char="►"/>
              <a:defRPr/>
            </a:pPr>
            <a:r>
              <a:rPr lang="en-US" sz="1600" b="1" dirty="0">
                <a:solidFill>
                  <a:schemeClr val="tx1"/>
                </a:solidFill>
              </a:rPr>
              <a:t>Objectives:</a:t>
            </a:r>
            <a:r>
              <a:rPr lang="en-US" sz="1600" dirty="0">
                <a:solidFill>
                  <a:schemeClr val="tx2">
                    <a:lumMod val="75000"/>
                    <a:lumOff val="25000"/>
                  </a:schemeClr>
                </a:solidFill>
              </a:rPr>
              <a:t> </a:t>
            </a:r>
          </a:p>
          <a:p>
            <a:pPr marL="950987" lvl="2" indent="-342900" defTabSz="1219108" eaLnBrk="1" fontAlgn="auto" hangingPunct="1">
              <a:spcBef>
                <a:spcPts val="0"/>
              </a:spcBef>
              <a:spcAft>
                <a:spcPts val="0"/>
              </a:spcAft>
              <a:buClr>
                <a:srgbClr val="37A5AC"/>
              </a:buClr>
              <a:buSzPct val="80000"/>
              <a:buFont typeface="+mj-lt"/>
              <a:buAutoNum type="arabicPeriod"/>
              <a:defRPr/>
            </a:pPr>
            <a:r>
              <a:rPr lang="en-US" sz="1600" dirty="0">
                <a:solidFill>
                  <a:schemeClr val="tx1"/>
                </a:solidFill>
              </a:rPr>
              <a:t>Sustain and maintain the Aeronautical Application Suite (AAS)</a:t>
            </a:r>
          </a:p>
          <a:p>
            <a:pPr marL="950987" lvl="2" indent="-342900" defTabSz="1219108" eaLnBrk="1" fontAlgn="auto" hangingPunct="1">
              <a:spcBef>
                <a:spcPts val="0"/>
              </a:spcBef>
              <a:spcAft>
                <a:spcPts val="0"/>
              </a:spcAft>
              <a:buClr>
                <a:srgbClr val="37A5AC"/>
              </a:buClr>
              <a:buSzPct val="80000"/>
              <a:buFont typeface="+mj-lt"/>
              <a:buAutoNum type="arabicPeriod"/>
              <a:defRPr/>
            </a:pPr>
            <a:r>
              <a:rPr lang="en-US" sz="1600" dirty="0">
                <a:solidFill>
                  <a:schemeClr val="tx1"/>
                </a:solidFill>
              </a:rPr>
              <a:t>Sustain and maintain the Aeronautical Obstruction Environment (AOE)</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Sustain the Web Digital Vertical Obstruction File (WebDVOF) capability</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Sustain the Aeronautical Unclassified Production Environment (UPE)</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Sustain the modernized Geospatial Terminal Operations (GTO) application</a:t>
            </a:r>
          </a:p>
          <a:p>
            <a:pPr marL="608087" lvl="2" indent="0" defTabSz="1219108" eaLnBrk="1" fontAlgn="auto" hangingPunct="1">
              <a:spcBef>
                <a:spcPts val="0"/>
              </a:spcBef>
              <a:spcAft>
                <a:spcPts val="0"/>
              </a:spcAft>
              <a:buClr>
                <a:srgbClr val="37A5AC"/>
              </a:buClr>
              <a:buSzPct val="80000"/>
              <a:buFont typeface="Arial" panose="020B0604020202020204" pitchFamily="34" charset="0"/>
              <a:buNone/>
              <a:defRPr/>
            </a:pPr>
            <a:endParaRPr lang="en-US" sz="1600" dirty="0">
              <a:solidFill>
                <a:schemeClr val="tx1"/>
              </a:solidFill>
            </a:endParaRPr>
          </a:p>
          <a:p>
            <a:pPr marL="342891" lvl="1" indent="-342891" defTabSz="1219108" eaLnBrk="1" fontAlgn="auto" hangingPunct="1">
              <a:lnSpc>
                <a:spcPct val="95000"/>
              </a:lnSpc>
              <a:spcBef>
                <a:spcPts val="0"/>
              </a:spcBef>
              <a:spcAft>
                <a:spcPts val="600"/>
              </a:spcAft>
              <a:buClr>
                <a:srgbClr val="37A5AC"/>
              </a:buClr>
              <a:buSzPct val="80000"/>
              <a:buFont typeface="Arial" panose="020B0604020202020204" pitchFamily="34" charset="0"/>
              <a:buChar char="►"/>
              <a:defRPr/>
            </a:pPr>
            <a:r>
              <a:rPr lang="en-US" sz="1600" b="1" dirty="0">
                <a:solidFill>
                  <a:schemeClr val="tx1"/>
                </a:solidFill>
              </a:rPr>
              <a:t>Priorities:</a:t>
            </a:r>
            <a:r>
              <a:rPr lang="en-US" sz="1600" dirty="0">
                <a:solidFill>
                  <a:schemeClr val="tx1"/>
                </a:solidFill>
              </a:rPr>
              <a:t> Operational support for existing SFA mission systems and microservices are the highest priorities. Integrate, refactor, and modernize legacy systems as required and prioritized by SFA </a:t>
            </a:r>
            <a:r>
              <a:rPr lang="en-US" sz="1600">
                <a:solidFill>
                  <a:schemeClr val="tx1"/>
                </a:solidFill>
              </a:rPr>
              <a:t>&amp; PEO-MC&amp;G.</a:t>
            </a:r>
            <a:endParaRPr lang="en-US" sz="1600" dirty="0">
              <a:solidFill>
                <a:schemeClr val="tx1"/>
              </a:solidFill>
            </a:endParaRPr>
          </a:p>
          <a:p>
            <a:pPr marL="342891" lvl="1" indent="-342891" defTabSz="1219108" eaLnBrk="1" fontAlgn="auto" hangingPunct="1">
              <a:lnSpc>
                <a:spcPct val="95000"/>
              </a:lnSpc>
              <a:spcAft>
                <a:spcPts val="200"/>
              </a:spcAft>
              <a:buClr>
                <a:srgbClr val="37A5AC"/>
              </a:buClr>
              <a:buSzPct val="80000"/>
              <a:buFont typeface="Arial" panose="020B0604020202020204" pitchFamily="34" charset="0"/>
              <a:buChar char="►"/>
              <a:defRPr/>
            </a:pPr>
            <a:r>
              <a:rPr lang="en-US" sz="1600" b="1" dirty="0">
                <a:solidFill>
                  <a:schemeClr val="tx1"/>
                </a:solidFill>
              </a:rPr>
              <a:t>Requirements: </a:t>
            </a:r>
            <a:r>
              <a:rPr lang="en-US" sz="1600" dirty="0">
                <a:solidFill>
                  <a:schemeClr val="tx1"/>
                </a:solidFill>
              </a:rPr>
              <a:t>Air</a:t>
            </a:r>
            <a:r>
              <a:rPr lang="en-US" sz="1600" b="1" dirty="0">
                <a:solidFill>
                  <a:schemeClr val="tx1"/>
                </a:solidFill>
              </a:rPr>
              <a:t> </a:t>
            </a:r>
            <a:r>
              <a:rPr lang="en-US" sz="1600" dirty="0">
                <a:solidFill>
                  <a:schemeClr val="tx1"/>
                </a:solidFill>
              </a:rPr>
              <a:t>currently sustains several SFA production baselines in support of the SFA Safety of Navigation mission. Each of these IT capabilities require maintenance, DevOps sustainment and Cybersecurity support, in order to meet the SFA production mission function and availability requirements as well as DoD and IC cyber compliance standards.</a:t>
            </a:r>
            <a:endParaRPr lang="en-US" sz="1600" b="1" dirty="0">
              <a:solidFill>
                <a:schemeClr val="tx1"/>
              </a:solidFill>
            </a:endParaRP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600" b="1" dirty="0">
                <a:solidFill>
                  <a:schemeClr val="tx1"/>
                </a:solidFill>
              </a:rPr>
              <a:t>Business Case:</a:t>
            </a:r>
            <a:r>
              <a:rPr lang="en-US" sz="1600" dirty="0">
                <a:solidFill>
                  <a:schemeClr val="tx1"/>
                </a:solidFill>
              </a:rPr>
              <a:t> Air will meet the requirements stated above by providing software development, integration, and operations &amp; maintenance to result in the outcomes stated above over the FYDP (FY26 –FY32)</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600" dirty="0">
                <a:solidFill>
                  <a:schemeClr val="tx1"/>
                </a:solidFill>
              </a:rPr>
              <a:t>	</a:t>
            </a:r>
          </a:p>
        </p:txBody>
      </p:sp>
      <p:sp>
        <p:nvSpPr>
          <p:cNvPr id="4" name="Text Placeholder 3">
            <a:extLst>
              <a:ext uri="{FF2B5EF4-FFF2-40B4-BE49-F238E27FC236}">
                <a16:creationId xmlns:a16="http://schemas.microsoft.com/office/drawing/2014/main" id="{E385636E-A638-4C0D-9B19-848F6C296D9E}"/>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5" name="Text Placeholder 3">
            <a:extLst>
              <a:ext uri="{FF2B5EF4-FFF2-40B4-BE49-F238E27FC236}">
                <a16:creationId xmlns:a16="http://schemas.microsoft.com/office/drawing/2014/main" id="{E23AE787-E860-4328-AA80-881008F72B43}"/>
              </a:ext>
            </a:extLst>
          </p:cNvPr>
          <p:cNvSpPr txBox="1">
            <a:spLocks/>
          </p:cNvSpPr>
          <p:nvPr/>
        </p:nvSpPr>
        <p:spPr>
          <a:xfrm>
            <a:off x="0" y="657860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557A4C-C1F5-4168-A951-AC06582E256B}"/>
              </a:ext>
            </a:extLst>
          </p:cNvPr>
          <p:cNvSpPr>
            <a:spLocks noGrp="1"/>
          </p:cNvSpPr>
          <p:nvPr>
            <p:ph type="body" sz="quarter" idx="15"/>
          </p:nvPr>
        </p:nvSpPr>
        <p:spPr/>
        <p:txBody>
          <a:bodyPr>
            <a:normAutofit fontScale="85000" lnSpcReduction="20000"/>
          </a:bodyPr>
          <a:lstStyle/>
          <a:p>
            <a:r>
              <a:rPr lang="en-US" dirty="0"/>
              <a:t>UNCLASSIFIED</a:t>
            </a:r>
          </a:p>
        </p:txBody>
      </p:sp>
      <p:sp>
        <p:nvSpPr>
          <p:cNvPr id="3" name="Text Placeholder 2">
            <a:extLst>
              <a:ext uri="{FF2B5EF4-FFF2-40B4-BE49-F238E27FC236}">
                <a16:creationId xmlns:a16="http://schemas.microsoft.com/office/drawing/2014/main" id="{96538110-7761-4094-8520-365122A7CF98}"/>
              </a:ext>
            </a:extLst>
          </p:cNvPr>
          <p:cNvSpPr>
            <a:spLocks noGrp="1"/>
          </p:cNvSpPr>
          <p:nvPr>
            <p:ph type="body" sz="quarter" idx="16"/>
          </p:nvPr>
        </p:nvSpPr>
        <p:spPr>
          <a:xfrm>
            <a:off x="77002" y="65773"/>
            <a:ext cx="12192000" cy="279400"/>
          </a:xfrm>
        </p:spPr>
        <p:txBody>
          <a:bodyPr>
            <a:normAutofit fontScale="85000" lnSpcReduction="20000"/>
          </a:bodyPr>
          <a:lstStyle/>
          <a:p>
            <a:r>
              <a:rPr lang="en-US" dirty="0"/>
              <a:t>UNCLASSIFIED</a:t>
            </a:r>
          </a:p>
        </p:txBody>
      </p:sp>
      <p:sp>
        <p:nvSpPr>
          <p:cNvPr id="4" name="TextBox 3">
            <a:extLst>
              <a:ext uri="{FF2B5EF4-FFF2-40B4-BE49-F238E27FC236}">
                <a16:creationId xmlns:a16="http://schemas.microsoft.com/office/drawing/2014/main" id="{AF1C226C-DDFE-48A1-A58F-B2DAFBED3234}"/>
              </a:ext>
            </a:extLst>
          </p:cNvPr>
          <p:cNvSpPr txBox="1"/>
          <p:nvPr/>
        </p:nvSpPr>
        <p:spPr>
          <a:xfrm>
            <a:off x="881449" y="2997938"/>
            <a:ext cx="10505238" cy="707886"/>
          </a:xfrm>
          <a:prstGeom prst="rect">
            <a:avLst/>
          </a:prstGeom>
          <a:noFill/>
        </p:spPr>
        <p:txBody>
          <a:bodyPr wrap="square" rtlCol="0">
            <a:spAutoFit/>
          </a:bodyPr>
          <a:lstStyle/>
          <a:p>
            <a:r>
              <a:rPr lang="en-US" sz="4000" b="1" dirty="0"/>
              <a:t>Task Orders That </a:t>
            </a:r>
            <a:r>
              <a:rPr lang="en-US" sz="4000" b="1" i="1" u="sng" dirty="0">
                <a:solidFill>
                  <a:srgbClr val="FF0000"/>
                </a:solidFill>
              </a:rPr>
              <a:t>Could</a:t>
            </a:r>
            <a:r>
              <a:rPr lang="en-US" sz="4000" dirty="0">
                <a:solidFill>
                  <a:srgbClr val="FF0000"/>
                </a:solidFill>
              </a:rPr>
              <a:t> </a:t>
            </a:r>
            <a:r>
              <a:rPr lang="en-US" sz="4000" b="1" dirty="0"/>
              <a:t>Be Released After Award</a:t>
            </a:r>
          </a:p>
        </p:txBody>
      </p:sp>
    </p:spTree>
    <p:extLst>
      <p:ext uri="{BB962C8B-B14F-4D97-AF65-F5344CB8AC3E}">
        <p14:creationId xmlns:p14="http://schemas.microsoft.com/office/powerpoint/2010/main" val="2714868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D706CF51-2136-4A96-B6B0-F56ED88A024C}"/>
              </a:ext>
            </a:extLst>
          </p:cNvPr>
          <p:cNvSpPr>
            <a:spLocks noGrp="1"/>
          </p:cNvSpPr>
          <p:nvPr>
            <p:ph type="title"/>
          </p:nvPr>
        </p:nvSpPr>
        <p:spPr>
          <a:xfrm>
            <a:off x="431800" y="285750"/>
            <a:ext cx="10139363" cy="563563"/>
          </a:xfrm>
        </p:spPr>
        <p:txBody>
          <a:bodyPr/>
          <a:lstStyle/>
          <a:p>
            <a:pPr eaLnBrk="1" hangingPunct="1"/>
            <a:r>
              <a:rPr lang="en-US" altLang="en-US" sz="2800" dirty="0"/>
              <a:t>(U) Sea Approved Requirements and Business Case </a:t>
            </a:r>
          </a:p>
        </p:txBody>
      </p:sp>
      <p:sp>
        <p:nvSpPr>
          <p:cNvPr id="7" name="Content Placeholder 2">
            <a:extLst>
              <a:ext uri="{FF2B5EF4-FFF2-40B4-BE49-F238E27FC236}">
                <a16:creationId xmlns:a16="http://schemas.microsoft.com/office/drawing/2014/main" id="{3E8478EF-DF90-41CB-A1B5-12CCFB4B6BAD}"/>
              </a:ext>
            </a:extLst>
          </p:cNvPr>
          <p:cNvSpPr>
            <a:spLocks noGrp="1"/>
          </p:cNvSpPr>
          <p:nvPr>
            <p:ph idx="1"/>
          </p:nvPr>
        </p:nvSpPr>
        <p:spPr>
          <a:xfrm>
            <a:off x="242888" y="909638"/>
            <a:ext cx="11528425" cy="4876800"/>
          </a:xfrm>
        </p:spPr>
        <p:txBody>
          <a:bodyPr rtlCol="0">
            <a:noAutofit/>
          </a:bodyPr>
          <a:lstStyle/>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500" b="1" dirty="0">
                <a:solidFill>
                  <a:schemeClr val="tx1"/>
                </a:solidFill>
              </a:rPr>
              <a:t>Statement of capabilities: </a:t>
            </a:r>
            <a:r>
              <a:rPr lang="en-US" sz="1500" dirty="0">
                <a:solidFill>
                  <a:schemeClr val="tx1"/>
                </a:solidFill>
              </a:rPr>
              <a:t>The Maritime Safety Office produces timely, relevant, validated, and accessible worldwide Maritime foundational Geospatial Intelligence, on-line and on-demand, to meet Safety of Navigation at Sea requirements, joint military operations support, international obligations, and other contingency requirements, for the Department of Defense, other US Government Agencies, and our Allied Partner nations in accordance with Statutory requirements.</a:t>
            </a:r>
          </a:p>
          <a:p>
            <a:pPr marL="342891" lvl="1" indent="-342891" defTabSz="1219108" eaLnBrk="1" fontAlgn="auto" hangingPunct="1">
              <a:lnSpc>
                <a:spcPct val="95000"/>
              </a:lnSpc>
              <a:spcAft>
                <a:spcPts val="0"/>
              </a:spcAft>
              <a:buClr>
                <a:srgbClr val="37A5AC"/>
              </a:buClr>
              <a:buSzPct val="80000"/>
              <a:buFont typeface="Arial" panose="020B0604020202020204" pitchFamily="34" charset="0"/>
              <a:buChar char="►"/>
              <a:defRPr/>
            </a:pPr>
            <a:r>
              <a:rPr lang="en-US" sz="1500" b="1" dirty="0">
                <a:solidFill>
                  <a:schemeClr val="tx1"/>
                </a:solidFill>
              </a:rPr>
              <a:t>Objectives: </a:t>
            </a:r>
          </a:p>
          <a:p>
            <a:pPr marL="950978" lvl="2" indent="-342891" defTabSz="1219108" eaLnBrk="1" fontAlgn="auto" hangingPunct="1">
              <a:lnSpc>
                <a:spcPct val="95000"/>
              </a:lnSpc>
              <a:spcAft>
                <a:spcPts val="0"/>
              </a:spcAft>
              <a:buClr>
                <a:srgbClr val="37A5AC"/>
              </a:buClr>
              <a:buSzPct val="80000"/>
              <a:buFont typeface="Wingdings" panose="05000000000000000000" pitchFamily="2" charset="2"/>
              <a:buChar char="§"/>
              <a:defRPr/>
            </a:pPr>
            <a:r>
              <a:rPr lang="en-US" sz="1500" dirty="0">
                <a:solidFill>
                  <a:schemeClr val="tx1"/>
                </a:solidFill>
              </a:rPr>
              <a:t>Accelerate the support of automation and Artificial Intelligence/Machine Learning (AI/ML) for ENC and other Maritime systems.</a:t>
            </a:r>
          </a:p>
          <a:p>
            <a:pPr marL="950978" lvl="2" indent="-342891" defTabSz="1219108" eaLnBrk="1" fontAlgn="auto" hangingPunct="1">
              <a:lnSpc>
                <a:spcPct val="95000"/>
              </a:lnSpc>
              <a:spcAft>
                <a:spcPts val="0"/>
              </a:spcAft>
              <a:buClr>
                <a:srgbClr val="37A5AC"/>
              </a:buClr>
              <a:buSzPct val="80000"/>
              <a:buFont typeface="Wingdings" panose="05000000000000000000" pitchFamily="2" charset="2"/>
              <a:buChar char="§"/>
              <a:defRPr/>
            </a:pPr>
            <a:r>
              <a:rPr lang="en-US" sz="1500" dirty="0">
                <a:solidFill>
                  <a:schemeClr val="tx1"/>
                </a:solidFill>
              </a:rPr>
              <a:t>Modernize the dissemination of Safety of Nautical Publications, improve source management for Publication production.</a:t>
            </a:r>
          </a:p>
          <a:p>
            <a:pPr marL="950978" lvl="2" indent="-342891" defTabSz="1219108" eaLnBrk="1" fontAlgn="auto" hangingPunct="1">
              <a:lnSpc>
                <a:spcPct val="95000"/>
              </a:lnSpc>
              <a:spcAft>
                <a:spcPts val="0"/>
              </a:spcAft>
              <a:buClr>
                <a:srgbClr val="37A5AC"/>
              </a:buClr>
              <a:buSzPct val="80000"/>
              <a:buFont typeface="Wingdings" panose="05000000000000000000" pitchFamily="2" charset="2"/>
              <a:buChar char="§"/>
              <a:defRPr/>
            </a:pPr>
            <a:r>
              <a:rPr lang="en-US" sz="1500" dirty="0">
                <a:solidFill>
                  <a:schemeClr val="tx1"/>
                </a:solidFill>
              </a:rPr>
              <a:t>Upgrade source acquisition, management, and processing and offer Source as a Service to better support and automate production processes.</a:t>
            </a:r>
          </a:p>
          <a:p>
            <a:pPr marL="950978" lvl="2" indent="-342891" defTabSz="1219108" eaLnBrk="1" fontAlgn="auto" hangingPunct="1">
              <a:lnSpc>
                <a:spcPct val="95000"/>
              </a:lnSpc>
              <a:spcAft>
                <a:spcPts val="0"/>
              </a:spcAft>
              <a:buClr>
                <a:srgbClr val="37A5AC"/>
              </a:buClr>
              <a:buSzPct val="80000"/>
              <a:buFont typeface="Wingdings" panose="05000000000000000000" pitchFamily="2" charset="2"/>
              <a:buChar char="§"/>
              <a:defRPr/>
            </a:pPr>
            <a:r>
              <a:rPr lang="en-US" sz="1500" dirty="0">
                <a:solidFill>
                  <a:schemeClr val="tx1"/>
                </a:solidFill>
              </a:rPr>
              <a:t>Support the non-FS3i Development Teams to move capabilities into production </a:t>
            </a:r>
          </a:p>
          <a:p>
            <a:pPr marL="950978" lvl="2" indent="-342891" defTabSz="1219108" eaLnBrk="1" fontAlgn="auto" hangingPunct="1">
              <a:lnSpc>
                <a:spcPct val="95000"/>
              </a:lnSpc>
              <a:spcAft>
                <a:spcPts val="600"/>
              </a:spcAft>
              <a:buClr>
                <a:srgbClr val="37A5AC"/>
              </a:buClr>
              <a:buSzPct val="80000"/>
              <a:buFont typeface="Wingdings" panose="05000000000000000000" pitchFamily="2" charset="2"/>
              <a:buChar char="§"/>
              <a:defRPr/>
            </a:pPr>
            <a:r>
              <a:rPr lang="en-US" sz="1500" dirty="0">
                <a:solidFill>
                  <a:schemeClr val="tx1"/>
                </a:solidFill>
              </a:rPr>
              <a:t>Meet specific Maritime IMDP requirements, e.g. meeting the requirements levied for surface, sub-surface, and nautical publications.  </a:t>
            </a:r>
          </a:p>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500" b="1" dirty="0">
                <a:solidFill>
                  <a:schemeClr val="tx1"/>
                </a:solidFill>
              </a:rPr>
              <a:t>Priorities: </a:t>
            </a:r>
            <a:r>
              <a:rPr lang="en-US" sz="1500" dirty="0">
                <a:solidFill>
                  <a:schemeClr val="tx1"/>
                </a:solidFill>
              </a:rPr>
              <a:t>Upgrade PUB’s production processes, extend automation, ML and AI to improve accuracy and analysts' productivity.   </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500" b="1" dirty="0">
                <a:solidFill>
                  <a:schemeClr val="tx1"/>
                </a:solidFill>
              </a:rPr>
              <a:t>Requirements: </a:t>
            </a:r>
            <a:r>
              <a:rPr lang="en-US" sz="1500" dirty="0">
                <a:solidFill>
                  <a:schemeClr val="tx1"/>
                </a:solidFill>
              </a:rPr>
              <a:t>Sea baseline requirements are comprised of systems that acquire and process Maritime sources from variety of locations inside and outside of the US, e.g. Maritime Source Processing Services (MSPS). The systems that produce Maritime products using variety of architectures and complex techniques such as change detection, use of ML and AI, e.g. FRED and DALE.  Systems that disseminate data, products, and services such as Source Maritime Automated Processing (SMAPS). And systems such as PMBI that is used to manage the entire production workflow and provide metrics and business intelligence. </a:t>
            </a:r>
          </a:p>
          <a:p>
            <a:pPr marL="342891" lvl="1" indent="-342891" defTabSz="1219108" eaLnBrk="1" fontAlgn="auto" hangingPunct="1">
              <a:lnSpc>
                <a:spcPct val="95000"/>
              </a:lnSpc>
              <a:spcBef>
                <a:spcPts val="0"/>
              </a:spcBef>
              <a:spcAft>
                <a:spcPts val="1200"/>
              </a:spcAft>
              <a:buClr>
                <a:srgbClr val="37A5AC"/>
              </a:buClr>
              <a:buSzPct val="80000"/>
              <a:buFont typeface="Arial" panose="020B0604020202020204" pitchFamily="34" charset="0"/>
              <a:buChar char="►"/>
              <a:defRPr/>
            </a:pPr>
            <a:r>
              <a:rPr lang="en-US" sz="1500" b="1" dirty="0">
                <a:solidFill>
                  <a:schemeClr val="tx1"/>
                </a:solidFill>
              </a:rPr>
              <a:t>Business Case: </a:t>
            </a:r>
            <a:r>
              <a:rPr lang="en-US" sz="1500" dirty="0">
                <a:solidFill>
                  <a:schemeClr val="tx1"/>
                </a:solidFill>
              </a:rPr>
              <a:t>Sea will meet the requirements stated above by providing Software Development, Integration, Software Maintenance, Operations and Sustainment to result in the outcomes stated above over the FYDP (FY26 to FY32)</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4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4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4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4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4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400" dirty="0">
                <a:solidFill>
                  <a:schemeClr val="tx1"/>
                </a:solidFill>
              </a:rPr>
              <a:t>	</a:t>
            </a:r>
          </a:p>
        </p:txBody>
      </p:sp>
      <p:sp>
        <p:nvSpPr>
          <p:cNvPr id="10" name="Text Placeholder 3">
            <a:extLst>
              <a:ext uri="{FF2B5EF4-FFF2-40B4-BE49-F238E27FC236}">
                <a16:creationId xmlns:a16="http://schemas.microsoft.com/office/drawing/2014/main" id="{21C0742F-1EE3-4635-A363-030EC470AF8A}"/>
              </a:ext>
            </a:extLst>
          </p:cNvPr>
          <p:cNvSpPr txBox="1">
            <a:spLocks/>
          </p:cNvSpPr>
          <p:nvPr/>
        </p:nvSpPr>
        <p:spPr>
          <a:xfrm>
            <a:off x="0" y="657860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&lt;Insert classification of slide&gt;</a:t>
            </a:r>
          </a:p>
        </p:txBody>
      </p:sp>
      <p:sp>
        <p:nvSpPr>
          <p:cNvPr id="12" name="Text Placeholder 3">
            <a:extLst>
              <a:ext uri="{FF2B5EF4-FFF2-40B4-BE49-F238E27FC236}">
                <a16:creationId xmlns:a16="http://schemas.microsoft.com/office/drawing/2014/main" id="{BECE9A86-6758-4B2D-9B8C-CA5EB3F62C9D}"/>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6" name="Text Placeholder 3">
            <a:extLst>
              <a:ext uri="{FF2B5EF4-FFF2-40B4-BE49-F238E27FC236}">
                <a16:creationId xmlns:a16="http://schemas.microsoft.com/office/drawing/2014/main" id="{312B9247-0F0F-4031-99B4-F24640511710}"/>
              </a:ext>
            </a:extLst>
          </p:cNvPr>
          <p:cNvSpPr txBox="1">
            <a:spLocks/>
          </p:cNvSpPr>
          <p:nvPr/>
        </p:nvSpPr>
        <p:spPr>
          <a:xfrm>
            <a:off x="0" y="65722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DC925F5-8F2A-404F-9B35-422F8F185667}"/>
              </a:ext>
            </a:extLst>
          </p:cNvPr>
          <p:cNvSpPr>
            <a:spLocks noGrp="1"/>
          </p:cNvSpPr>
          <p:nvPr>
            <p:ph type="title"/>
          </p:nvPr>
        </p:nvSpPr>
        <p:spPr>
          <a:xfrm>
            <a:off x="431800" y="285750"/>
            <a:ext cx="10139363" cy="563563"/>
          </a:xfrm>
        </p:spPr>
        <p:txBody>
          <a:bodyPr/>
          <a:lstStyle/>
          <a:p>
            <a:pPr eaLnBrk="1" hangingPunct="1"/>
            <a:r>
              <a:rPr lang="en-US" altLang="en-US" sz="2800" dirty="0"/>
              <a:t>(U) Science Approved Requirements and Business Case </a:t>
            </a:r>
          </a:p>
        </p:txBody>
      </p:sp>
      <p:sp>
        <p:nvSpPr>
          <p:cNvPr id="7" name="Content Placeholder 2">
            <a:extLst>
              <a:ext uri="{FF2B5EF4-FFF2-40B4-BE49-F238E27FC236}">
                <a16:creationId xmlns:a16="http://schemas.microsoft.com/office/drawing/2014/main" id="{185DE94B-7880-410C-A0D2-51EB38097881}"/>
              </a:ext>
            </a:extLst>
          </p:cNvPr>
          <p:cNvSpPr>
            <a:spLocks noGrp="1"/>
          </p:cNvSpPr>
          <p:nvPr>
            <p:ph idx="1"/>
          </p:nvPr>
        </p:nvSpPr>
        <p:spPr>
          <a:xfrm>
            <a:off x="527050" y="849313"/>
            <a:ext cx="11164888" cy="5654675"/>
          </a:xfrm>
        </p:spPr>
        <p:txBody>
          <a:bodyPr rtlCol="0">
            <a:noAutofit/>
          </a:bodyPr>
          <a:lstStyle/>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Statement of capabilities:  </a:t>
            </a:r>
            <a:r>
              <a:rPr lang="en-US" sz="1600" dirty="0">
                <a:solidFill>
                  <a:schemeClr val="tx1"/>
                </a:solidFill>
              </a:rPr>
              <a:t>Foundation GEOINT – Science enables Geospatial Intelligence (GEOINT) accuracy through functional management of geodetic, geophysical, and photogrammetric sciences and content.  It provides the collection of sciences, technology and tradecraft measuring and modeling the Globe to provide three-dimensional accuracy of every point in, on, or above the Earth.</a:t>
            </a:r>
          </a:p>
          <a:p>
            <a:pPr marL="342891" lvl="1" indent="-342891" defTabSz="1219108" eaLnBrk="1" fontAlgn="auto" hangingPunct="1">
              <a:lnSpc>
                <a:spcPct val="95000"/>
              </a:lnSpc>
              <a:spcAft>
                <a:spcPts val="0"/>
              </a:spcAft>
              <a:buClr>
                <a:srgbClr val="37A5AC"/>
              </a:buClr>
              <a:buSzPct val="80000"/>
              <a:buFont typeface="Arial" panose="020B0604020202020204" pitchFamily="34" charset="0"/>
              <a:buChar char="►"/>
              <a:defRPr/>
            </a:pPr>
            <a:r>
              <a:rPr lang="en-US" sz="1600" b="1" dirty="0">
                <a:solidFill>
                  <a:schemeClr val="tx1"/>
                </a:solidFill>
              </a:rPr>
              <a:t>Objectives:</a:t>
            </a:r>
            <a:r>
              <a:rPr lang="en-US" sz="1600" dirty="0">
                <a:solidFill>
                  <a:schemeClr val="tx1"/>
                </a:solidFill>
              </a:rPr>
              <a:t> </a:t>
            </a:r>
          </a:p>
          <a:p>
            <a:pPr marL="950987" lvl="2" indent="-342900" defTabSz="1219108" eaLnBrk="1" fontAlgn="auto" hangingPunct="1">
              <a:spcBef>
                <a:spcPts val="0"/>
              </a:spcBef>
              <a:spcAft>
                <a:spcPts val="0"/>
              </a:spcAft>
              <a:buClr>
                <a:srgbClr val="37A5AC"/>
              </a:buClr>
              <a:buSzPct val="80000"/>
              <a:buFont typeface="+mj-lt"/>
              <a:buAutoNum type="arabicPeriod"/>
              <a:defRPr/>
            </a:pPr>
            <a:r>
              <a:rPr lang="en-US" sz="1600" dirty="0">
                <a:solidFill>
                  <a:schemeClr val="tx1"/>
                </a:solidFill>
              </a:rPr>
              <a:t>Maintain secure operational reliability and availability of production systems</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Support the GOTS and non-FS3i Development Teams to move capabilities into production</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Provide software development for select capabilities</a:t>
            </a:r>
          </a:p>
          <a:p>
            <a:pPr marL="608087" lvl="2" indent="0" defTabSz="1219108" eaLnBrk="1" fontAlgn="auto" hangingPunct="1">
              <a:spcBef>
                <a:spcPts val="0"/>
              </a:spcBef>
              <a:spcAft>
                <a:spcPts val="0"/>
              </a:spcAft>
              <a:buClr>
                <a:srgbClr val="37A5AC"/>
              </a:buClr>
              <a:buSzPct val="80000"/>
              <a:buFont typeface="Arial" panose="020B0604020202020204" pitchFamily="34" charset="0"/>
              <a:buNone/>
              <a:defRPr/>
            </a:pPr>
            <a:endParaRPr lang="en-US" sz="1600" dirty="0">
              <a:solidFill>
                <a:schemeClr val="tx1"/>
              </a:solidFill>
            </a:endParaRPr>
          </a:p>
          <a:p>
            <a:pPr marL="342891" lvl="1" indent="-342891" defTabSz="1219108" eaLnBrk="1" fontAlgn="auto" hangingPunct="1">
              <a:lnSpc>
                <a:spcPct val="95000"/>
              </a:lnSpc>
              <a:spcBef>
                <a:spcPts val="0"/>
              </a:spcBef>
              <a:spcAft>
                <a:spcPts val="600"/>
              </a:spcAft>
              <a:buClr>
                <a:srgbClr val="37A5AC"/>
              </a:buClr>
              <a:buSzPct val="80000"/>
              <a:buFont typeface="Arial" panose="020B0604020202020204" pitchFamily="34" charset="0"/>
              <a:buChar char="►"/>
              <a:defRPr/>
            </a:pPr>
            <a:r>
              <a:rPr lang="en-US" sz="1600" b="1" dirty="0">
                <a:solidFill>
                  <a:schemeClr val="tx1"/>
                </a:solidFill>
              </a:rPr>
              <a:t>Priorities:</a:t>
            </a:r>
            <a:r>
              <a:rPr lang="en-US" sz="1600" dirty="0">
                <a:solidFill>
                  <a:schemeClr val="tx1"/>
                </a:solidFill>
              </a:rPr>
              <a:t> Production of the earth science models: World Geodetic System (WGS-84), World Magnetic Model (WMM), and Earth Gravitational Model (EGM), are the highest priorities for Science. Production of Elevation Products and Precise Imagery are tied for the second highest priority.</a:t>
            </a:r>
          </a:p>
          <a:p>
            <a:pPr marL="342891" lvl="1" indent="-342891" defTabSz="1219108">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Requirements:</a:t>
            </a:r>
            <a:r>
              <a:rPr lang="en-US" sz="1600" dirty="0">
                <a:solidFill>
                  <a:schemeClr val="tx1"/>
                </a:solidFill>
              </a:rPr>
              <a:t> </a:t>
            </a:r>
            <a:r>
              <a:rPr lang="en-US" sz="1600" dirty="0">
                <a:solidFill>
                  <a:schemeClr val="tx1">
                    <a:lumMod val="50000"/>
                  </a:schemeClr>
                </a:solidFill>
              </a:rPr>
              <a:t>Science currently utilizes a diverse set of Information Technology (IT) baselines, each characterized by distinct hardware and software architectures, to execute its daily mission. The continued relevance and functionality of these IT capabilities are contingent upon dedicated IT development and sustainment services. </a:t>
            </a:r>
          </a:p>
          <a:p>
            <a:pPr marL="342891" lvl="1" indent="-342891" defTabSz="1219108">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Business Case: </a:t>
            </a:r>
            <a:r>
              <a:rPr lang="en-US" sz="1600" dirty="0">
                <a:solidFill>
                  <a:schemeClr val="tx1"/>
                </a:solidFill>
              </a:rPr>
              <a:t>Program will meet the requirements stated above by providing software development, integration, operations &amp; maintenance, and select software acquisition services to result in the outcomes stated above over the FYDP (FY26 –FY32)</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600" dirty="0">
                <a:solidFill>
                  <a:schemeClr val="tx1"/>
                </a:solidFill>
              </a:rPr>
              <a:t>	</a:t>
            </a:r>
          </a:p>
        </p:txBody>
      </p:sp>
      <p:sp>
        <p:nvSpPr>
          <p:cNvPr id="4" name="Text Placeholder 3">
            <a:extLst>
              <a:ext uri="{FF2B5EF4-FFF2-40B4-BE49-F238E27FC236}">
                <a16:creationId xmlns:a16="http://schemas.microsoft.com/office/drawing/2014/main" id="{56C9C914-94B8-4CB2-8300-F43408F08781}"/>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5" name="Text Placeholder 3">
            <a:extLst>
              <a:ext uri="{FF2B5EF4-FFF2-40B4-BE49-F238E27FC236}">
                <a16:creationId xmlns:a16="http://schemas.microsoft.com/office/drawing/2014/main" id="{7DB7FC5A-5591-4741-B20F-9B82BCE6C71C}"/>
              </a:ext>
            </a:extLst>
          </p:cNvPr>
          <p:cNvSpPr txBox="1">
            <a:spLocks/>
          </p:cNvSpPr>
          <p:nvPr/>
        </p:nvSpPr>
        <p:spPr>
          <a:xfrm>
            <a:off x="0" y="657860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8436CAF-CB55-4D76-A382-F8842921CFC3}"/>
              </a:ext>
            </a:extLst>
          </p:cNvPr>
          <p:cNvSpPr>
            <a:spLocks noGrp="1"/>
          </p:cNvSpPr>
          <p:nvPr>
            <p:ph type="title"/>
          </p:nvPr>
        </p:nvSpPr>
        <p:spPr>
          <a:xfrm>
            <a:off x="431800" y="285750"/>
            <a:ext cx="10837863" cy="563563"/>
          </a:xfrm>
        </p:spPr>
        <p:txBody>
          <a:bodyPr/>
          <a:lstStyle/>
          <a:p>
            <a:pPr eaLnBrk="1" hangingPunct="1"/>
            <a:r>
              <a:rPr lang="en-US" altLang="en-US" sz="2800" dirty="0"/>
              <a:t>(U) Land Approved Requirements and Business Case</a:t>
            </a:r>
          </a:p>
        </p:txBody>
      </p:sp>
      <p:sp>
        <p:nvSpPr>
          <p:cNvPr id="7" name="Content Placeholder 2">
            <a:extLst>
              <a:ext uri="{FF2B5EF4-FFF2-40B4-BE49-F238E27FC236}">
                <a16:creationId xmlns:a16="http://schemas.microsoft.com/office/drawing/2014/main" id="{15E2C8B8-DCAD-47F5-84C2-D54DC2940774}"/>
              </a:ext>
            </a:extLst>
          </p:cNvPr>
          <p:cNvSpPr>
            <a:spLocks noGrp="1"/>
          </p:cNvSpPr>
          <p:nvPr>
            <p:ph idx="1"/>
          </p:nvPr>
        </p:nvSpPr>
        <p:spPr>
          <a:xfrm>
            <a:off x="358403" y="893282"/>
            <a:ext cx="11517685" cy="5487421"/>
          </a:xfrm>
        </p:spPr>
        <p:txBody>
          <a:bodyPr rtlCol="0">
            <a:noAutofit/>
          </a:bodyPr>
          <a:lstStyle/>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400" b="1" dirty="0">
                <a:solidFill>
                  <a:schemeClr val="tx1"/>
                </a:solidFill>
              </a:rPr>
              <a:t>Statement of capabilities</a:t>
            </a:r>
            <a:r>
              <a:rPr lang="en-US" sz="1400" dirty="0">
                <a:solidFill>
                  <a:schemeClr val="tx1"/>
                </a:solidFill>
              </a:rPr>
              <a:t>: Foundation GEOINT – Land enables Geospatial Intelligence (GEOINT) accuracy through functional management of topographic, human geography, and geographic names content.  It provides the collection of sciences, technology and tradecraft for the worldwide Land foundational Geospatial Intelligence, on-line and on-demand, to meet Safety of Navigation requirements, joint military operations support, international obligations, and other contingency requirements, for the Department of Defense, other US Government Agencies, and our Allied Partner nations in accordance with Statutory requirements.</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400" dirty="0">
                <a:solidFill>
                  <a:schemeClr val="tx1"/>
                </a:solidFill>
              </a:rPr>
              <a:t> </a:t>
            </a:r>
            <a:r>
              <a:rPr lang="en-US" sz="1400" b="1" dirty="0">
                <a:solidFill>
                  <a:schemeClr val="tx1"/>
                </a:solidFill>
              </a:rPr>
              <a:t>Objectives</a:t>
            </a:r>
            <a:r>
              <a:rPr lang="en-US" sz="1400" dirty="0">
                <a:solidFill>
                  <a:schemeClr val="tx1"/>
                </a:solidFill>
              </a:rPr>
              <a:t>: </a:t>
            </a:r>
          </a:p>
          <a:p>
            <a:pPr marL="950987" lvl="2" indent="-342900" defTabSz="1219108">
              <a:spcBef>
                <a:spcPts val="0"/>
              </a:spcBef>
              <a:spcAft>
                <a:spcPts val="300"/>
              </a:spcAft>
              <a:buClr>
                <a:srgbClr val="37A5AC"/>
              </a:buClr>
              <a:buSzPct val="80000"/>
              <a:buFont typeface="+mj-lt"/>
              <a:buAutoNum type="arabicPeriod"/>
              <a:defRPr/>
            </a:pPr>
            <a:r>
              <a:rPr lang="en-US" sz="1400" dirty="0">
                <a:solidFill>
                  <a:schemeClr val="tx1"/>
                </a:solidFill>
              </a:rPr>
              <a:t>Provide software maintenance and operations and sustainment for select Land mission applications</a:t>
            </a:r>
          </a:p>
          <a:p>
            <a:pPr marL="950987" lvl="2" indent="-342900" defTabSz="1219108">
              <a:spcBef>
                <a:spcPts val="0"/>
              </a:spcBef>
              <a:buClr>
                <a:srgbClr val="37A5AC"/>
              </a:buClr>
              <a:buSzPct val="80000"/>
              <a:buFont typeface="+mj-lt"/>
              <a:buAutoNum type="arabicPeriod"/>
              <a:defRPr/>
            </a:pPr>
            <a:r>
              <a:rPr lang="en-US" sz="1400" dirty="0">
                <a:solidFill>
                  <a:schemeClr val="tx1"/>
                </a:solidFill>
              </a:rPr>
              <a:t>Maintain secure operational reliability and availability of production systems</a:t>
            </a:r>
          </a:p>
          <a:p>
            <a:pPr marL="950987" lvl="2" indent="-342900" defTabSz="1219108" eaLnBrk="1" fontAlgn="auto" hangingPunct="1">
              <a:buClr>
                <a:srgbClr val="37A5AC"/>
              </a:buClr>
              <a:buSzPct val="80000"/>
              <a:buFont typeface="+mj-lt"/>
              <a:buAutoNum type="arabicPeriod"/>
              <a:defRPr/>
            </a:pPr>
            <a:r>
              <a:rPr lang="en-US" sz="1400" dirty="0">
                <a:solidFill>
                  <a:schemeClr val="tx1"/>
                </a:solidFill>
              </a:rPr>
              <a:t>Support the GOTS and non-FS3i Development Teams to move capabilities into production</a:t>
            </a:r>
          </a:p>
          <a:p>
            <a:pPr marL="950987" lvl="2" indent="-342900" defTabSz="1219108" eaLnBrk="1" fontAlgn="auto" hangingPunct="1">
              <a:buClr>
                <a:srgbClr val="37A5AC"/>
              </a:buClr>
              <a:buSzPct val="80000"/>
              <a:buFont typeface="+mj-lt"/>
              <a:buAutoNum type="arabicPeriod"/>
              <a:defRPr/>
            </a:pPr>
            <a:r>
              <a:rPr lang="en-US" sz="1400" dirty="0">
                <a:solidFill>
                  <a:schemeClr val="tx1"/>
                </a:solidFill>
              </a:rPr>
              <a:t>Provide software development for select capabilities</a:t>
            </a:r>
          </a:p>
          <a:p>
            <a:pPr marL="952495" lvl="2" indent="-342900" defTabSz="1219108">
              <a:lnSpc>
                <a:spcPct val="95000"/>
              </a:lnSpc>
              <a:buClr>
                <a:srgbClr val="37A5AC"/>
              </a:buClr>
              <a:buSzPct val="80000"/>
              <a:buFont typeface="+mj-lt"/>
              <a:buAutoNum type="arabicPeriod"/>
              <a:defRPr/>
            </a:pPr>
            <a:endParaRPr lang="en-US" sz="1400" b="1" dirty="0">
              <a:solidFill>
                <a:schemeClr val="tx1"/>
              </a:solidFill>
            </a:endParaRP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400" b="1" dirty="0">
                <a:solidFill>
                  <a:schemeClr val="tx1"/>
                </a:solidFill>
              </a:rPr>
              <a:t>Priorities</a:t>
            </a:r>
            <a:r>
              <a:rPr lang="en-US" sz="1400" dirty="0">
                <a:solidFill>
                  <a:schemeClr val="tx1"/>
                </a:solidFill>
              </a:rPr>
              <a:t>: Production of topographic content and select Land mission-related capabilities to National System for Geospatial Intelligence (NSG) customers</a:t>
            </a:r>
          </a:p>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400" b="1" dirty="0">
                <a:solidFill>
                  <a:schemeClr val="tx1"/>
                </a:solidFill>
              </a:rPr>
              <a:t>Requirements</a:t>
            </a:r>
            <a:r>
              <a:rPr lang="en-US" sz="1400" dirty="0">
                <a:solidFill>
                  <a:schemeClr val="tx1"/>
                </a:solidFill>
              </a:rPr>
              <a:t>: Land predominately relies on the Vector-Cartographic Production System (VCPS) IT baseline  to produce the majority of Land content.  The FS3i scope provides enabling capabilities to augment the VCPS core capabilities.  These are: </a:t>
            </a:r>
            <a:r>
              <a:rPr lang="en-US" sz="1400" dirty="0" err="1">
                <a:solidFill>
                  <a:schemeClr val="tx1"/>
                </a:solidFill>
              </a:rPr>
              <a:t>Basemaps</a:t>
            </a:r>
            <a:r>
              <a:rPr lang="en-US" sz="1400" dirty="0">
                <a:solidFill>
                  <a:schemeClr val="tx1"/>
                </a:solidFill>
              </a:rPr>
              <a:t> / Business Analytics (SFC), Geography Virtual Production (GVP) Unclassified Production Environment (UPE), Transliteration Tool, Non-combatant Evacuation Operations (NEO) UPE, PDF Quality Assurance Tool.</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400" b="1" dirty="0">
                <a:solidFill>
                  <a:schemeClr val="tx1"/>
                </a:solidFill>
              </a:rPr>
              <a:t>Business Case</a:t>
            </a:r>
            <a:r>
              <a:rPr lang="en-US" sz="1400" dirty="0">
                <a:solidFill>
                  <a:schemeClr val="tx1"/>
                </a:solidFill>
              </a:rPr>
              <a:t>: Program will meet the requirements stated above by providing software development, integration, operations &amp; maintenance, and select software acquisition services to result in the outcomes stated above over the FYDP (FY26 –FY32).</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4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4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4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4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400" dirty="0">
                <a:solidFill>
                  <a:schemeClr val="tx1"/>
                </a:solidFill>
              </a:rPr>
              <a:t>	</a:t>
            </a:r>
          </a:p>
        </p:txBody>
      </p:sp>
      <p:sp>
        <p:nvSpPr>
          <p:cNvPr id="10" name="Text Placeholder 3">
            <a:extLst>
              <a:ext uri="{FF2B5EF4-FFF2-40B4-BE49-F238E27FC236}">
                <a16:creationId xmlns:a16="http://schemas.microsoft.com/office/drawing/2014/main" id="{C93963AB-0CB1-4DE0-81ED-E09BC4DD2595}"/>
              </a:ext>
            </a:extLst>
          </p:cNvPr>
          <p:cNvSpPr txBox="1">
            <a:spLocks/>
          </p:cNvSpPr>
          <p:nvPr/>
        </p:nvSpPr>
        <p:spPr>
          <a:xfrm>
            <a:off x="0" y="6578600"/>
            <a:ext cx="2940050" cy="279400"/>
          </a:xfrm>
          <a:prstGeom prst="rect">
            <a:avLst/>
          </a:prstGeom>
          <a:solidFill>
            <a:schemeClr val="bg1"/>
          </a:solidFill>
        </p:spPr>
        <p:txBody>
          <a:bodyPr>
            <a:normAutofit fontScale="92500"/>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UNCLASSIFIED  SOURCE SELECTION SENSITIVE</a:t>
            </a:r>
          </a:p>
        </p:txBody>
      </p:sp>
      <p:sp>
        <p:nvSpPr>
          <p:cNvPr id="5" name="Text Placeholder 3">
            <a:extLst>
              <a:ext uri="{FF2B5EF4-FFF2-40B4-BE49-F238E27FC236}">
                <a16:creationId xmlns:a16="http://schemas.microsoft.com/office/drawing/2014/main" id="{FF4BE0F3-2378-41CA-AAF0-F29292F3E908}"/>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6" name="Text Placeholder 3">
            <a:extLst>
              <a:ext uri="{FF2B5EF4-FFF2-40B4-BE49-F238E27FC236}">
                <a16:creationId xmlns:a16="http://schemas.microsoft.com/office/drawing/2014/main" id="{2E07AE05-FA32-44D6-AE20-7938FE719B80}"/>
              </a:ext>
            </a:extLst>
          </p:cNvPr>
          <p:cNvSpPr txBox="1">
            <a:spLocks/>
          </p:cNvSpPr>
          <p:nvPr/>
        </p:nvSpPr>
        <p:spPr>
          <a:xfrm>
            <a:off x="0" y="65722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a:t>
            </a:r>
          </a:p>
        </p:txBody>
      </p:sp>
    </p:spTree>
    <p:extLst>
      <p:ext uri="{BB962C8B-B14F-4D97-AF65-F5344CB8AC3E}">
        <p14:creationId xmlns:p14="http://schemas.microsoft.com/office/powerpoint/2010/main" val="3470329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CCB924A9-8146-4C9E-9C16-7CAF5161DE47}"/>
              </a:ext>
            </a:extLst>
          </p:cNvPr>
          <p:cNvSpPr>
            <a:spLocks noGrp="1"/>
          </p:cNvSpPr>
          <p:nvPr>
            <p:ph type="title"/>
          </p:nvPr>
        </p:nvSpPr>
        <p:spPr>
          <a:xfrm>
            <a:off x="431800" y="285750"/>
            <a:ext cx="10139363" cy="563563"/>
          </a:xfrm>
        </p:spPr>
        <p:txBody>
          <a:bodyPr/>
          <a:lstStyle/>
          <a:p>
            <a:pPr eaLnBrk="1" hangingPunct="1"/>
            <a:r>
              <a:rPr lang="en-US" altLang="en-US" sz="2800"/>
              <a:t>(U) Dissemination Approved Requirements and Business Case</a:t>
            </a:r>
          </a:p>
        </p:txBody>
      </p:sp>
      <p:sp>
        <p:nvSpPr>
          <p:cNvPr id="7" name="Content Placeholder 2">
            <a:extLst>
              <a:ext uri="{FF2B5EF4-FFF2-40B4-BE49-F238E27FC236}">
                <a16:creationId xmlns:a16="http://schemas.microsoft.com/office/drawing/2014/main" id="{A2AE3627-82B1-4412-A6E9-39C768C5FF5D}"/>
              </a:ext>
            </a:extLst>
          </p:cNvPr>
          <p:cNvSpPr>
            <a:spLocks noGrp="1"/>
          </p:cNvSpPr>
          <p:nvPr>
            <p:ph idx="1"/>
          </p:nvPr>
        </p:nvSpPr>
        <p:spPr>
          <a:xfrm>
            <a:off x="527050" y="849313"/>
            <a:ext cx="11164888" cy="5654675"/>
          </a:xfrm>
        </p:spPr>
        <p:txBody>
          <a:bodyPr rtlCol="0">
            <a:noAutofit/>
          </a:bodyPr>
          <a:lstStyle/>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Statement of capabilities:  </a:t>
            </a:r>
            <a:r>
              <a:rPr lang="en-US" sz="1600" dirty="0">
                <a:solidFill>
                  <a:schemeClr val="tx1"/>
                </a:solidFill>
              </a:rPr>
              <a:t>Foundation GEOINT – Dissemination embodies the IC/DoD definition of dissemination allowing mission partners to discover and retrieve content (pull) and/or a service where NGA sends users content (push).</a:t>
            </a:r>
          </a:p>
          <a:p>
            <a:pPr marL="342891" lvl="1" indent="-342891" defTabSz="1219108" eaLnBrk="1" fontAlgn="auto" hangingPunct="1">
              <a:lnSpc>
                <a:spcPct val="95000"/>
              </a:lnSpc>
              <a:spcAft>
                <a:spcPts val="0"/>
              </a:spcAft>
              <a:buClr>
                <a:srgbClr val="37A5AC"/>
              </a:buClr>
              <a:buSzPct val="80000"/>
              <a:buFont typeface="Arial" panose="020B0604020202020204" pitchFamily="34" charset="0"/>
              <a:buChar char="►"/>
              <a:defRPr/>
            </a:pPr>
            <a:r>
              <a:rPr lang="en-US" sz="1600" b="1" dirty="0">
                <a:solidFill>
                  <a:schemeClr val="tx1"/>
                </a:solidFill>
              </a:rPr>
              <a:t>Objectives:</a:t>
            </a:r>
            <a:r>
              <a:rPr lang="en-US" sz="1600" dirty="0">
                <a:solidFill>
                  <a:schemeClr val="tx1"/>
                </a:solidFill>
              </a:rPr>
              <a:t> </a:t>
            </a:r>
          </a:p>
          <a:p>
            <a:pPr marL="950987" lvl="2" indent="-342900" defTabSz="1219108" eaLnBrk="1" fontAlgn="auto" hangingPunct="1">
              <a:spcBef>
                <a:spcPts val="0"/>
              </a:spcBef>
              <a:spcAft>
                <a:spcPts val="0"/>
              </a:spcAft>
              <a:buClr>
                <a:srgbClr val="37A5AC"/>
              </a:buClr>
              <a:buSzPct val="80000"/>
              <a:buFont typeface="+mj-lt"/>
              <a:buAutoNum type="arabicPeriod"/>
              <a:defRPr/>
            </a:pPr>
            <a:r>
              <a:rPr lang="en-US" sz="1600" dirty="0">
                <a:solidFill>
                  <a:schemeClr val="tx1"/>
                </a:solidFill>
              </a:rPr>
              <a:t>Maintain operational reliability and availability of dissemination systems</a:t>
            </a:r>
          </a:p>
          <a:p>
            <a:pPr marL="950987" lvl="2" indent="-342900" defTabSz="1219108" eaLnBrk="1" fontAlgn="auto" hangingPunct="1">
              <a:spcAft>
                <a:spcPts val="0"/>
              </a:spcAft>
              <a:buClr>
                <a:srgbClr val="37A5AC"/>
              </a:buClr>
              <a:buSzPct val="80000"/>
              <a:buFont typeface="+mj-lt"/>
              <a:buAutoNum type="arabicPeriod"/>
              <a:defRPr/>
            </a:pPr>
            <a:r>
              <a:rPr lang="en-US" sz="1600" dirty="0">
                <a:solidFill>
                  <a:schemeClr val="tx1"/>
                </a:solidFill>
              </a:rPr>
              <a:t>Provide software development for select capabilities</a:t>
            </a:r>
          </a:p>
          <a:p>
            <a:pPr marL="608087" lvl="2" indent="0" defTabSz="1219108" eaLnBrk="1" fontAlgn="auto" hangingPunct="1">
              <a:spcBef>
                <a:spcPts val="0"/>
              </a:spcBef>
              <a:spcAft>
                <a:spcPts val="0"/>
              </a:spcAft>
              <a:buClr>
                <a:srgbClr val="37A5AC"/>
              </a:buClr>
              <a:buSzPct val="80000"/>
              <a:buFont typeface="Arial" panose="020B0604020202020204" pitchFamily="34" charset="0"/>
              <a:buNone/>
              <a:defRPr/>
            </a:pPr>
            <a:endParaRPr lang="en-US" sz="1600" dirty="0">
              <a:solidFill>
                <a:schemeClr val="tx1"/>
              </a:solidFill>
            </a:endParaRPr>
          </a:p>
          <a:p>
            <a:pPr marL="342891" lvl="1" indent="-342891" defTabSz="1219108" eaLnBrk="1" fontAlgn="auto" hangingPunct="1">
              <a:lnSpc>
                <a:spcPct val="95000"/>
              </a:lnSpc>
              <a:spcBef>
                <a:spcPts val="0"/>
              </a:spcBef>
              <a:spcAft>
                <a:spcPts val="600"/>
              </a:spcAft>
              <a:buClr>
                <a:srgbClr val="37A5AC"/>
              </a:buClr>
              <a:buSzPct val="80000"/>
              <a:buFont typeface="Arial" panose="020B0604020202020204" pitchFamily="34" charset="0"/>
              <a:buChar char="►"/>
              <a:defRPr/>
            </a:pPr>
            <a:r>
              <a:rPr lang="en-US" sz="1600" b="1" dirty="0">
                <a:solidFill>
                  <a:schemeClr val="tx1"/>
                </a:solidFill>
              </a:rPr>
              <a:t>Priorities:</a:t>
            </a:r>
            <a:r>
              <a:rPr lang="en-US" sz="1600" dirty="0">
                <a:solidFill>
                  <a:schemeClr val="tx1"/>
                </a:solidFill>
              </a:rPr>
              <a:t> Operational support for NGA Gateway dissemination systems and microservices are the highest priorities. Data Ingest/Management and Tile Services are tied for the second highest priority.</a:t>
            </a:r>
          </a:p>
          <a:p>
            <a:pPr marL="342891" lvl="1" indent="-342891" defTabSz="1219108" eaLnBrk="1" fontAlgn="auto" hangingPunct="1">
              <a:lnSpc>
                <a:spcPct val="95000"/>
              </a:lnSpc>
              <a:spcAft>
                <a:spcPts val="600"/>
              </a:spcAft>
              <a:buClr>
                <a:srgbClr val="37A5AC"/>
              </a:buClr>
              <a:buSzPct val="80000"/>
              <a:buFont typeface="Arial" panose="020B0604020202020204" pitchFamily="34" charset="0"/>
              <a:buChar char="►"/>
              <a:defRPr/>
            </a:pPr>
            <a:r>
              <a:rPr lang="en-US" sz="1600" b="1" dirty="0">
                <a:solidFill>
                  <a:schemeClr val="tx1"/>
                </a:solidFill>
              </a:rPr>
              <a:t>Requirements: </a:t>
            </a:r>
            <a:r>
              <a:rPr lang="en-US" sz="1600" dirty="0">
                <a:solidFill>
                  <a:schemeClr val="tx1"/>
                </a:solidFill>
              </a:rPr>
              <a:t>Dissemination currently relies on many different IT baselines in order to support multiple Foundation GEOINT missions.  Each of these IT capabilities require some level of IT development and sustainment service support, in order to support dissemination to mission partners.</a:t>
            </a:r>
          </a:p>
          <a:p>
            <a:pPr marL="950987" lvl="2" indent="-342900" defTabSz="1219108" eaLnBrk="1" fontAlgn="auto" hangingPunct="1">
              <a:lnSpc>
                <a:spcPct val="95000"/>
              </a:lnSpc>
              <a:spcBef>
                <a:spcPts val="0"/>
              </a:spcBef>
              <a:spcAft>
                <a:spcPts val="0"/>
              </a:spcAft>
              <a:buClr>
                <a:srgbClr val="37A5AC"/>
              </a:buClr>
              <a:buSzPct val="80000"/>
              <a:buFont typeface="+mj-lt"/>
              <a:buAutoNum type="arabicPeriod"/>
              <a:defRPr/>
            </a:pPr>
            <a:r>
              <a:rPr lang="en-US" sz="1600" dirty="0">
                <a:solidFill>
                  <a:schemeClr val="tx1"/>
                </a:solidFill>
              </a:rPr>
              <a:t>Web-based Interfaces to information and data hosted on the Gateway managed servers.</a:t>
            </a:r>
          </a:p>
          <a:p>
            <a:pPr marL="950987" lvl="2" indent="-342900" defTabSz="1219108" eaLnBrk="1" fontAlgn="auto" hangingPunct="1">
              <a:lnSpc>
                <a:spcPct val="95000"/>
              </a:lnSpc>
              <a:spcBef>
                <a:spcPts val="0"/>
              </a:spcBef>
              <a:spcAft>
                <a:spcPts val="0"/>
              </a:spcAft>
              <a:buClr>
                <a:srgbClr val="37A5AC"/>
              </a:buClr>
              <a:buSzPct val="80000"/>
              <a:buFont typeface="+mj-lt"/>
              <a:buAutoNum type="arabicPeriod"/>
              <a:defRPr/>
            </a:pPr>
            <a:r>
              <a:rPr lang="en-US" sz="1600" dirty="0">
                <a:solidFill>
                  <a:schemeClr val="tx1"/>
                </a:solidFill>
              </a:rPr>
              <a:t>Information Discovery and Retrieval - The capability to browse, search, retrieve and download content that has been provided to the Gateway.</a:t>
            </a:r>
          </a:p>
          <a:p>
            <a:pPr marL="950987" lvl="2" indent="-342900" defTabSz="1219108" eaLnBrk="1" fontAlgn="auto" hangingPunct="1">
              <a:lnSpc>
                <a:spcPct val="95000"/>
              </a:lnSpc>
              <a:spcBef>
                <a:spcPts val="0"/>
              </a:spcBef>
              <a:spcAft>
                <a:spcPts val="0"/>
              </a:spcAft>
              <a:buClr>
                <a:srgbClr val="37A5AC"/>
              </a:buClr>
              <a:buSzPct val="80000"/>
              <a:buFont typeface="+mj-lt"/>
              <a:buAutoNum type="arabicPeriod"/>
              <a:defRPr/>
            </a:pPr>
            <a:r>
              <a:rPr lang="en-US" sz="1600" dirty="0">
                <a:solidFill>
                  <a:schemeClr val="tx1"/>
                </a:solidFill>
              </a:rPr>
              <a:t>Tile Services and Tile Generation - The capability to create/generate multi-resolution Vector and Raster map tile cluster sets based on multiple Source Foundation GEOINT content. </a:t>
            </a:r>
          </a:p>
          <a:p>
            <a:pPr marL="342891" lvl="1" indent="-342891" defTabSz="1219108" eaLnBrk="1" fontAlgn="auto" hangingPunct="1">
              <a:lnSpc>
                <a:spcPct val="95000"/>
              </a:lnSpc>
              <a:spcAft>
                <a:spcPts val="1200"/>
              </a:spcAft>
              <a:buClr>
                <a:srgbClr val="37A5AC"/>
              </a:buClr>
              <a:buSzPct val="80000"/>
              <a:buFont typeface="Arial" panose="020B0604020202020204" pitchFamily="34" charset="0"/>
              <a:buChar char="►"/>
              <a:defRPr/>
            </a:pPr>
            <a:r>
              <a:rPr lang="en-US" sz="1600" b="1" dirty="0">
                <a:solidFill>
                  <a:schemeClr val="tx1"/>
                </a:solidFill>
              </a:rPr>
              <a:t>Business Case:</a:t>
            </a:r>
            <a:r>
              <a:rPr lang="en-US" sz="1600" dirty="0">
                <a:solidFill>
                  <a:schemeClr val="tx1"/>
                </a:solidFill>
              </a:rPr>
              <a:t> The FS3i will meet the requirements stated above by providing software development, integration, and operations &amp; maintenance to result in the outcomes stated above over the FYDP (FY26 –FY32)</a:t>
            </a: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952446" lvl="2" indent="-342891" defTabSz="1219108" eaLnBrk="1" fontAlgn="auto" hangingPunct="1">
              <a:lnSpc>
                <a:spcPct val="95000"/>
              </a:lnSpc>
              <a:spcBef>
                <a:spcPts val="0"/>
              </a:spcBef>
              <a:spcAft>
                <a:spcPts val="300"/>
              </a:spcAft>
              <a:buClr>
                <a:srgbClr val="37A5AC"/>
              </a:buClr>
              <a:buSzPct val="80000"/>
              <a:buFont typeface="Arial" panose="020B0604020202020204" pitchFamily="34" charset="0"/>
              <a:buChar char="►"/>
              <a:defRPr/>
            </a:pPr>
            <a:endParaRPr lang="en-US" sz="1600" dirty="0">
              <a:solidFill>
                <a:schemeClr val="tx1"/>
              </a:solidFill>
            </a:endParaRPr>
          </a:p>
          <a:p>
            <a:pPr marL="609555" lvl="2" indent="0" defTabSz="1219108" eaLnBrk="1" fontAlgn="auto" hangingPunct="1">
              <a:lnSpc>
                <a:spcPct val="95000"/>
              </a:lnSpc>
              <a:spcBef>
                <a:spcPts val="0"/>
              </a:spcBef>
              <a:spcAft>
                <a:spcPts val="300"/>
              </a:spcAft>
              <a:buClr>
                <a:srgbClr val="37A5AC"/>
              </a:buClr>
              <a:buSzPct val="80000"/>
              <a:buFont typeface="Arial" panose="020B0604020202020204" pitchFamily="34" charset="0"/>
              <a:buNone/>
              <a:defRPr/>
            </a:pPr>
            <a:endParaRPr lang="en-US" sz="1600" dirty="0">
              <a:solidFill>
                <a:schemeClr val="tx1"/>
              </a:solidFill>
            </a:endParaRPr>
          </a:p>
          <a:p>
            <a:pPr marL="290506" lvl="1" indent="0" defTabSz="1219108" eaLnBrk="1" fontAlgn="auto" hangingPunct="1">
              <a:lnSpc>
                <a:spcPct val="90000"/>
              </a:lnSpc>
              <a:spcBef>
                <a:spcPts val="0"/>
              </a:spcBef>
              <a:spcAft>
                <a:spcPts val="300"/>
              </a:spcAft>
              <a:buFont typeface="Wingdings" panose="05000000000000000000" pitchFamily="2" charset="2"/>
              <a:buNone/>
              <a:defRPr/>
            </a:pPr>
            <a:r>
              <a:rPr lang="en-US" sz="1600" dirty="0">
                <a:solidFill>
                  <a:schemeClr val="tx1"/>
                </a:solidFill>
                <a:latin typeface="+mn-lt"/>
              </a:rPr>
              <a:t>	</a:t>
            </a:r>
          </a:p>
        </p:txBody>
      </p:sp>
      <p:sp>
        <p:nvSpPr>
          <p:cNvPr id="4" name="Text Placeholder 3">
            <a:extLst>
              <a:ext uri="{FF2B5EF4-FFF2-40B4-BE49-F238E27FC236}">
                <a16:creationId xmlns:a16="http://schemas.microsoft.com/office/drawing/2014/main" id="{1DDB18E8-FEEF-4021-AD83-44007DD046DF}"/>
              </a:ext>
            </a:extLst>
          </p:cNvPr>
          <p:cNvSpPr txBox="1">
            <a:spLocks/>
          </p:cNvSpPr>
          <p:nvPr/>
        </p:nvSpPr>
        <p:spPr>
          <a:xfrm>
            <a:off x="8936038" y="1905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r" fontAlgn="auto">
              <a:spcAft>
                <a:spcPts val="0"/>
              </a:spcAft>
              <a:defRPr/>
            </a:pPr>
            <a:r>
              <a:rPr lang="en-US" sz="1100" dirty="0">
                <a:solidFill>
                  <a:schemeClr val="accent1">
                    <a:lumMod val="50000"/>
                  </a:schemeClr>
                </a:solidFill>
                <a:latin typeface="Franklin Gothic Book" panose="020B0503020102020204" pitchFamily="34" charset="0"/>
              </a:rPr>
              <a:t>UNCLASSIFIED</a:t>
            </a:r>
          </a:p>
        </p:txBody>
      </p:sp>
      <p:sp>
        <p:nvSpPr>
          <p:cNvPr id="5" name="Text Placeholder 3">
            <a:extLst>
              <a:ext uri="{FF2B5EF4-FFF2-40B4-BE49-F238E27FC236}">
                <a16:creationId xmlns:a16="http://schemas.microsoft.com/office/drawing/2014/main" id="{FE7F7341-E176-4EC6-ABA3-DDA6A978B91E}"/>
              </a:ext>
            </a:extLst>
          </p:cNvPr>
          <p:cNvSpPr txBox="1">
            <a:spLocks/>
          </p:cNvSpPr>
          <p:nvPr/>
        </p:nvSpPr>
        <p:spPr>
          <a:xfrm>
            <a:off x="0" y="6578600"/>
            <a:ext cx="2940050" cy="279400"/>
          </a:xfrm>
          <a:prstGeom prst="rect">
            <a:avLst/>
          </a:prstGeom>
          <a:solidFill>
            <a:schemeClr val="bg1"/>
          </a:solidFill>
        </p:spPr>
        <p:txBody>
          <a:bodyPr>
            <a:normAutofit/>
          </a:bodyPr>
          <a:lstStyle>
            <a:lvl1pPr marL="0" indent="0" algn="l" defTabSz="1219108"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26" indent="-380973" algn="l" defTabSz="1219108"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081" indent="-380973"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664" indent="0" algn="l" defTabSz="1219108"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2994" indent="-304776" algn="l" defTabSz="1219108"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548"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104"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656"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212" indent="-304776" algn="l" defTabSz="12191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fontAlgn="auto">
              <a:spcAft>
                <a:spcPts val="0"/>
              </a:spcAft>
              <a:defRPr/>
            </a:pPr>
            <a:r>
              <a:rPr lang="en-US" sz="1100" dirty="0">
                <a:solidFill>
                  <a:schemeClr val="accent1">
                    <a:lumMod val="50000"/>
                  </a:schemeClr>
                </a:solidFill>
                <a:latin typeface="Franklin Gothic Book" panose="020B0503020102020204" pitchFamily="34" charset="0"/>
              </a:rPr>
              <a:t>   UNCLASSIFIED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normAutofit fontScale="85000" lnSpcReduction="20000"/>
          </a:bodyPr>
          <a:lstStyle/>
          <a:p>
            <a:r>
              <a:rPr lang="en-US" dirty="0"/>
              <a:t>UNCLASSIFIED</a:t>
            </a:r>
          </a:p>
        </p:txBody>
      </p:sp>
      <p:sp>
        <p:nvSpPr>
          <p:cNvPr id="3" name="Text Placeholder 2"/>
          <p:cNvSpPr>
            <a:spLocks noGrp="1"/>
          </p:cNvSpPr>
          <p:nvPr>
            <p:ph type="body" sz="quarter" idx="16"/>
          </p:nvPr>
        </p:nvSpPr>
        <p:spPr/>
        <p:txBody>
          <a:bodyPr>
            <a:normAutofit fontScale="85000" lnSpcReduction="20000"/>
          </a:bodyPr>
          <a:lstStyle/>
          <a:p>
            <a:r>
              <a:rPr lang="en-US" dirty="0"/>
              <a:t>UNCLASSIFIED</a:t>
            </a:r>
          </a:p>
        </p:txBody>
      </p:sp>
    </p:spTree>
    <p:extLst>
      <p:ext uri="{BB962C8B-B14F-4D97-AF65-F5344CB8AC3E}">
        <p14:creationId xmlns:p14="http://schemas.microsoft.com/office/powerpoint/2010/main" val="37922434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NGA Theme 2016">
  <a:themeElements>
    <a:clrScheme name="NGA Branding">
      <a:dk1>
        <a:srgbClr val="414042"/>
      </a:dk1>
      <a:lt1>
        <a:sysClr val="window" lastClr="FFFFFF"/>
      </a:lt1>
      <a:dk2>
        <a:srgbClr val="192F43"/>
      </a:dk2>
      <a:lt2>
        <a:srgbClr val="D8D8D8"/>
      </a:lt2>
      <a:accent1>
        <a:srgbClr val="1E4D7C"/>
      </a:accent1>
      <a:accent2>
        <a:srgbClr val="37A5AC"/>
      </a:accent2>
      <a:accent3>
        <a:srgbClr val="80C2D4"/>
      </a:accent3>
      <a:accent4>
        <a:srgbClr val="089247"/>
      </a:accent4>
      <a:accent5>
        <a:srgbClr val="8DC63F"/>
      </a:accent5>
      <a:accent6>
        <a:srgbClr val="464646"/>
      </a:accent6>
      <a:hlink>
        <a:srgbClr val="414042"/>
      </a:hlink>
      <a:folHlink>
        <a:srgbClr val="1E4D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GA PowerPoint Template 16x9 Master" id="{17CFE678-AB5D-406A-99AC-1CC6FD027C00}" vid="{176BE88B-DC3E-4778-A53C-431E78155A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8A31F54A2734596851FED77EB86B0" ma:contentTypeVersion="15" ma:contentTypeDescription="Create a new document." ma:contentTypeScope="" ma:versionID="bdc9010ba71c24fdda9f50e51c43701b">
  <xsd:schema xmlns:xsd="http://www.w3.org/2001/XMLSchema" xmlns:xs="http://www.w3.org/2001/XMLSchema" xmlns:p="http://schemas.microsoft.com/office/2006/metadata/properties" xmlns:ns3="90ffc985-2d1c-47c0-8796-d58e64a0e4f1" xmlns:ns4="ce4cbedd-32ef-4994-981c-7f90f609a629" targetNamespace="http://schemas.microsoft.com/office/2006/metadata/properties" ma:root="true" ma:fieldsID="cc263ab701075a796a8bcf5b29f93d1a" ns3:_="" ns4:_="">
    <xsd:import namespace="90ffc985-2d1c-47c0-8796-d58e64a0e4f1"/>
    <xsd:import namespace="ce4cbedd-32ef-4994-981c-7f90f609a629"/>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DateTaken" minOccurs="0"/>
                <xsd:element ref="ns3:MediaServiceObjectDetectorVersions" minOccurs="0"/>
                <xsd:element ref="ns3:MediaServiceAutoTags" minOccurs="0"/>
                <xsd:element ref="ns3:MediaServiceGenerationTime" minOccurs="0"/>
                <xsd:element ref="ns3:MediaServiceEventHashCode" minOccurs="0"/>
                <xsd:element ref="ns3:MediaLengthInSeconds" minOccurs="0"/>
                <xsd:element ref="ns3:MediaServiceSearchProperties"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ffc985-2d1c-47c0-8796-d58e64a0e4f1"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e4cbedd-32ef-4994-981c-7f90f609a629"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class:Classification xmlns:class="urn:us:gov:cia:enterprise:schema:Classification:2.3" dateClassified="2026-01-08" portionMarking="false" caveat="false" tool="Desktop" toolVersion="202520">
  <class:ClassificationMarking type="USClassificationMarking" value="UNCLASSIFIED"/>
  <class:ClassifiedBy/>
  <class:ClassificationHeader>
    <class:ClassificationBanner>UNCLASSIFIED</class:ClassificationBanner>
    <class:DescriptiveMarkings/>
  </class:ClassificationHeader>
  <class:ClassificationFooter>
    <class:DescriptiveMarkings/>
    <class:ClassificationBanner>UNCLASSIFIED</class:ClassificationBanner>
  </class:ClassificationFooter>
</class:Classification>
</file>

<file path=customXml/item3.xml><?xml version="1.0" encoding="utf-8"?>
<p:properties xmlns:p="http://schemas.microsoft.com/office/2006/metadata/properties" xmlns:xsi="http://www.w3.org/2001/XMLSchema-instance" xmlns:pc="http://schemas.microsoft.com/office/infopath/2007/PartnerControls">
  <documentManagement>
    <_activity xmlns="90ffc985-2d1c-47c0-8796-d58e64a0e4f1"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9339DE-510E-415B-95BF-CB42CDDDD1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ffc985-2d1c-47c0-8796-d58e64a0e4f1"/>
    <ds:schemaRef ds:uri="ce4cbedd-32ef-4994-981c-7f90f609a6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E6956A-6721-4D97-910F-4AB98D2A625D}">
  <ds:schemaRefs>
    <ds:schemaRef ds:uri="urn:us:gov:cia:enterprise:schema:Classification:2.3"/>
  </ds:schemaRefs>
</ds:datastoreItem>
</file>

<file path=customXml/itemProps3.xml><?xml version="1.0" encoding="utf-8"?>
<ds:datastoreItem xmlns:ds="http://schemas.openxmlformats.org/officeDocument/2006/customXml" ds:itemID="{F7562A39-E901-461A-A213-A44515D8B018}">
  <ds:schemaRefs>
    <ds:schemaRef ds:uri="http://schemas.openxmlformats.org/package/2006/metadata/core-properties"/>
    <ds:schemaRef ds:uri="http://schemas.microsoft.com/office/2006/metadata/properties"/>
    <ds:schemaRef ds:uri="http://purl.org/dc/dcmitype/"/>
    <ds:schemaRef ds:uri="ce4cbedd-32ef-4994-981c-7f90f609a629"/>
    <ds:schemaRef ds:uri="http://schemas.microsoft.com/office/2006/documentManagement/types"/>
    <ds:schemaRef ds:uri="http://www.w3.org/XML/1998/namespace"/>
    <ds:schemaRef ds:uri="http://purl.org/dc/elements/1.1/"/>
    <ds:schemaRef ds:uri="http://schemas.microsoft.com/office/infopath/2007/PartnerControls"/>
    <ds:schemaRef ds:uri="90ffc985-2d1c-47c0-8796-d58e64a0e4f1"/>
    <ds:schemaRef ds:uri="http://purl.org/dc/terms/"/>
  </ds:schemaRefs>
</ds:datastoreItem>
</file>

<file path=customXml/itemProps4.xml><?xml version="1.0" encoding="utf-8"?>
<ds:datastoreItem xmlns:ds="http://schemas.openxmlformats.org/officeDocument/2006/customXml" ds:itemID="{54558BDD-0510-489B-AA83-6780D053FF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NGA_Powerpoint_16_9_Template</Template>
  <TotalTime>762</TotalTime>
  <Words>3077</Words>
  <Application>Microsoft Office PowerPoint</Application>
  <PresentationFormat>Widescreen</PresentationFormat>
  <Paragraphs>375</Paragraphs>
  <Slides>21</Slides>
  <Notes>15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3" baseType="lpstr">
      <vt:lpstr>HelveticaNeueLT Std Med Cn</vt:lpstr>
      <vt:lpstr>Aptos</vt:lpstr>
      <vt:lpstr>Arial</vt:lpstr>
      <vt:lpstr>Calibri</vt:lpstr>
      <vt:lpstr>Franklin Gothic Book</vt:lpstr>
      <vt:lpstr>Franklin Gothic Demi Cond</vt:lpstr>
      <vt:lpstr>Franklin Gothic Medium</vt:lpstr>
      <vt:lpstr>Franklin Gothic Medium Cond</vt:lpstr>
      <vt:lpstr>Times New Roman</vt:lpstr>
      <vt:lpstr>Wingdings</vt:lpstr>
      <vt:lpstr>NGA Theme 2016</vt:lpstr>
      <vt:lpstr>Image</vt:lpstr>
      <vt:lpstr>PowerPoint Presentation</vt:lpstr>
      <vt:lpstr>(U) Industry Engagement</vt:lpstr>
      <vt:lpstr>(U) Schedule</vt:lpstr>
      <vt:lpstr>(U) Agenda – Program Vision</vt:lpstr>
      <vt:lpstr>(U) Industry Day Purpose</vt:lpstr>
      <vt:lpstr>MC&amp;G|</vt:lpstr>
      <vt:lpstr>PowerPoint Presentation</vt:lpstr>
      <vt:lpstr>FS3i Background</vt:lpstr>
      <vt:lpstr>(U) FS3i Key Focus Areas Across ALL Task Orders</vt:lpstr>
      <vt:lpstr>PowerPoint Presentation</vt:lpstr>
      <vt:lpstr>FS3i Scope</vt:lpstr>
      <vt:lpstr>PowerPoint Presentation</vt:lpstr>
      <vt:lpstr>PowerPoint Presentation</vt:lpstr>
      <vt:lpstr>(U) COTS Software and Common Services Approved Requirements and Business Case</vt:lpstr>
      <vt:lpstr>(U) Air Approved Requirements and Business Case </vt:lpstr>
      <vt:lpstr>PowerPoint Presentation</vt:lpstr>
      <vt:lpstr>(U) Sea Approved Requirements and Business Case </vt:lpstr>
      <vt:lpstr>(U) Science Approved Requirements and Business Case </vt:lpstr>
      <vt:lpstr>(U) Land Approved Requirements and Business Case</vt:lpstr>
      <vt:lpstr>(U) Dissemination Approved Requirements and Business Case</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NGA PowerPoint 16:9 Template</dc:title>
  <dc:creator>Frazier Donna L NGA-PMF USA CIV</dc:creator>
  <cp:lastModifiedBy>Frazier Donna L NGA-PMF USA CIV</cp:lastModifiedBy>
  <cp:revision>93</cp:revision>
  <dcterms:created xsi:type="dcterms:W3CDTF">2020-01-27T21:57:19Z</dcterms:created>
  <dcterms:modified xsi:type="dcterms:W3CDTF">2026-03-18T19:13:33Z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0x01010092E8A31F54A2734596851FED77EB86B0</vt:lpwstr>
  </property>
  <property fmtid="{D5CDD505-2E9C-101B-9397-08002B2CF9AE}" pid="3" name="AACG_OFFICE_DLL">
    <vt:bool>true</vt:bool>
  </property>
  <property fmtid="{D5CDD505-2E9C-101B-9397-08002B2CF9AE}" pid="4" name="AACG_Created">
    <vt:bool>true</vt:bool>
  </property>
  <property fmtid="{D5CDD505-2E9C-101B-9397-08002B2CF9AE}" pid="5" name="AACG_DescMarkings">
    <vt:lpwstr/>
  </property>
  <property fmtid="{D5CDD505-2E9C-101B-9397-08002B2CF9AE}" pid="6" name="AACG_AddMark">
    <vt:lpwstr/>
  </property>
  <property fmtid="{D5CDD505-2E9C-101B-9397-08002B2CF9AE}" pid="7" name="AACG_Header">
    <vt:lpwstr>UNCLASSIFIED</vt:lpwstr>
  </property>
  <property fmtid="{D5CDD505-2E9C-101B-9397-08002B2CF9AE}" pid="8" name="AACG_Footer">
    <vt:lpwstr>_x000d_UNCLASSIFIED</vt:lpwstr>
  </property>
  <property fmtid="{D5CDD505-2E9C-101B-9397-08002B2CF9AE}" pid="9" name="AACG_ClassBlock">
    <vt:lpwstr/>
  </property>
  <property fmtid="{D5CDD505-2E9C-101B-9397-08002B2CF9AE}" pid="10" name="AACG_ClassType">
    <vt:lpwstr>USClassificationMarking</vt:lpwstr>
  </property>
  <property fmtid="{D5CDD505-2E9C-101B-9397-08002B2CF9AE}" pid="11" name="AACG_DeclOnList">
    <vt:lpwstr/>
  </property>
  <property fmtid="{D5CDD505-2E9C-101B-9397-08002B2CF9AE}" pid="12" name="AACG_USAF_Derivatives">
    <vt:lpwstr/>
  </property>
  <property fmtid="{D5CDD505-2E9C-101B-9397-08002B2CF9AE}" pid="13" name="AACG_SCI_Other">
    <vt:lpwstr/>
  </property>
  <property fmtid="{D5CDD505-2E9C-101B-9397-08002B2CF9AE}" pid="14" name="AACG_Dissem_Other">
    <vt:lpwstr/>
  </property>
  <property fmtid="{D5CDD505-2E9C-101B-9397-08002B2CF9AE}" pid="15" name="PortionWaiver">
    <vt:lpwstr/>
  </property>
  <property fmtid="{D5CDD505-2E9C-101B-9397-08002B2CF9AE}" pid="16" name="AACG_OrconOriginator">
    <vt:lpwstr/>
  </property>
  <property fmtid="{D5CDD505-2E9C-101B-9397-08002B2CF9AE}" pid="17" name="AACG_OrconRecipients">
    <vt:lpwstr/>
  </property>
  <property fmtid="{D5CDD505-2E9C-101B-9397-08002B2CF9AE}" pid="18" name="AACG_SatWarningType">
    <vt:lpwstr/>
  </property>
  <property fmtid="{D5CDD505-2E9C-101B-9397-08002B2CF9AE}" pid="19" name="AACG_NatoWarningClassLevel">
    <vt:lpwstr/>
  </property>
  <property fmtid="{D5CDD505-2E9C-101B-9397-08002B2CF9AE}" pid="20" name="AACG_Version">
    <vt:lpwstr>202520</vt:lpwstr>
  </property>
  <property fmtid="{D5CDD505-2E9C-101B-9397-08002B2CF9AE}" pid="21" name="AACG_CustomClassXMLPart">
    <vt:lpwstr>{8AE6956A-6721-4D97-910F-4AB98D2A625D}</vt:lpwstr>
  </property>
</Properties>
</file>