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7"/>
  </p:notesMasterIdLst>
  <p:handoutMasterIdLst>
    <p:handoutMasterId r:id="rId8"/>
  </p:handoutMasterIdLst>
  <p:sldIdLst>
    <p:sldId id="274" r:id="rId5"/>
    <p:sldId id="271" r:id="rId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0" autoAdjust="0"/>
    <p:restoredTop sz="94645" autoAdjust="0"/>
  </p:normalViewPr>
  <p:slideViewPr>
    <p:cSldViewPr showGuides="1">
      <p:cViewPr varScale="1">
        <p:scale>
          <a:sx n="105" d="100"/>
          <a:sy n="105" d="100"/>
        </p:scale>
        <p:origin x="1590" y="96"/>
      </p:cViewPr>
      <p:guideLst>
        <p:guide orient="horz" pos="2162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-2310" y="-12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ness, Felix (contr-bto)" userId="68cd611f-8df0-4958-b1f2-8989c31aea07" providerId="ADAL" clId="{516AF58C-3B80-42F1-8B6F-8A5A1DEE29B3}"/>
    <pc:docChg chg="modSld">
      <pc:chgData name="Ekness, Felix (contr-bto)" userId="68cd611f-8df0-4958-b1f2-8989c31aea07" providerId="ADAL" clId="{516AF58C-3B80-42F1-8B6F-8A5A1DEE29B3}" dt="2026-03-09T19:47:42.329" v="9" actId="20577"/>
      <pc:docMkLst>
        <pc:docMk/>
      </pc:docMkLst>
      <pc:sldChg chg="modSp mod">
        <pc:chgData name="Ekness, Felix (contr-bto)" userId="68cd611f-8df0-4958-b1f2-8989c31aea07" providerId="ADAL" clId="{516AF58C-3B80-42F1-8B6F-8A5A1DEE29B3}" dt="2026-03-09T19:47:42.329" v="9" actId="20577"/>
        <pc:sldMkLst>
          <pc:docMk/>
          <pc:sldMk cId="2072820290" sldId="271"/>
        </pc:sldMkLst>
        <pc:spChg chg="mod">
          <ac:chgData name="Ekness, Felix (contr-bto)" userId="68cd611f-8df0-4958-b1f2-8989c31aea07" providerId="ADAL" clId="{516AF58C-3B80-42F1-8B6F-8A5A1DEE29B3}" dt="2026-03-09T19:47:42.329" v="9" actId="20577"/>
          <ac:spMkLst>
            <pc:docMk/>
            <pc:sldMk cId="2072820290" sldId="271"/>
            <ac:spMk id="30" creationId="{00000000-0000-0000-0000-000000000000}"/>
          </ac:spMkLst>
        </pc:spChg>
        <pc:spChg chg="mod">
          <ac:chgData name="Ekness, Felix (contr-bto)" userId="68cd611f-8df0-4958-b1f2-8989c31aea07" providerId="ADAL" clId="{516AF58C-3B80-42F1-8B6F-8A5A1DEE29B3}" dt="2026-03-09T19:47:25.677" v="0" actId="20577"/>
          <ac:spMkLst>
            <pc:docMk/>
            <pc:sldMk cId="2072820290" sldId="271"/>
            <ac:spMk id="3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45904C4-010F-4896-9D22-0FDDB5A0FF93}" type="datetimeFigureOut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3/9/2026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Distribution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899D1F1-6DC0-4977-808C-FD0BF7AD2565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592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92715C0D-0E45-40B4-BE1B-664AAA8E6B7F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89535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648200"/>
            <a:ext cx="5608320" cy="395097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Distribution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639B577F-6036-4BCD-9021-A736CBC287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63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2625" y="1456511"/>
            <a:ext cx="77724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057400"/>
            <a:ext cx="64008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1979615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280" y="5226161"/>
            <a:ext cx="1241441" cy="74922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75646" y="4049486"/>
            <a:ext cx="6393425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2740025" y="4790048"/>
            <a:ext cx="36575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349861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514600"/>
            <a:ext cx="77724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381000" y="3198815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14" y="130207"/>
            <a:ext cx="1085438" cy="6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8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514600"/>
            <a:ext cx="77724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381000" y="3198815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352798"/>
            <a:ext cx="7772400" cy="465138"/>
          </a:xfrm>
        </p:spPr>
        <p:txBody>
          <a:bodyPr/>
          <a:lstStyle>
            <a:lvl1pPr algn="ctr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14" y="130207"/>
            <a:ext cx="1085438" cy="6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1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419100" y="1143000"/>
            <a:ext cx="83058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622425" y="151418"/>
            <a:ext cx="7140575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0101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7190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and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381000" y="840101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14" y="130207"/>
            <a:ext cx="1085438" cy="655071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622425" y="151418"/>
            <a:ext cx="7140575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4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729431" y="3525877"/>
            <a:ext cx="171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www.darpa.mil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182" y="2531269"/>
            <a:ext cx="1770360" cy="106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8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219200"/>
            <a:ext cx="838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0" y="6550026"/>
            <a:ext cx="6477000" cy="2984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9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02430" y="6553200"/>
            <a:ext cx="762000" cy="29210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fld id="{231CC523-8BC6-4921-807A-66BD262F3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Placeholder 9"/>
          <p:cNvSpPr>
            <a:spLocks noGrp="1"/>
          </p:cNvSpPr>
          <p:nvPr>
            <p:ph type="title"/>
          </p:nvPr>
        </p:nvSpPr>
        <p:spPr bwMode="auto">
          <a:xfrm>
            <a:off x="1622424" y="152400"/>
            <a:ext cx="71405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4E2C-28A1-4ACF-BE1C-DC6E3E3FF6B4}" type="datetimeFigureOut">
              <a:rPr lang="en-US" smtClean="0"/>
              <a:t>3/9/2026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2" r:id="rId3"/>
    <p:sldLayoutId id="2147483721" r:id="rId4"/>
    <p:sldLayoutId id="2147483723" r:id="rId5"/>
    <p:sldLayoutId id="2147483731" r:id="rId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z="1000" smtClean="0"/>
              <a:pPr>
                <a:defRPr/>
              </a:pPr>
              <a:t>1</a:t>
            </a:fld>
            <a:endParaRPr lang="en-US" sz="100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19100" y="1143000"/>
            <a:ext cx="8445330" cy="5334000"/>
          </a:xfrm>
        </p:spPr>
        <p:txBody>
          <a:bodyPr/>
          <a:lstStyle/>
          <a:p>
            <a:r>
              <a:rPr lang="en-US" dirty="0"/>
              <a:t>DARPA strongly encourages establishing teams to ensure that all technical areas are addressed and relevant expertise and capabilities are included to meet the program goals. </a:t>
            </a:r>
          </a:p>
          <a:p>
            <a:r>
              <a:rPr lang="en-US" dirty="0"/>
              <a:t>Follow the general guidance (next slide) to include the information requested.</a:t>
            </a:r>
          </a:p>
          <a:p>
            <a:r>
              <a:rPr lang="en-US" dirty="0"/>
              <a:t>Provide a concise and informative summary of your proposal overview, research capabilities, and teaming needs. </a:t>
            </a:r>
          </a:p>
          <a:p>
            <a:r>
              <a:rPr lang="en-US" dirty="0"/>
              <a:t>Limit content to a single slide. Do not include videos or animations. </a:t>
            </a:r>
          </a:p>
          <a:p>
            <a:r>
              <a:rPr lang="en-US" dirty="0"/>
              <a:t>Include only Unclassified information. Do not include proprietary information.</a:t>
            </a:r>
          </a:p>
          <a:p>
            <a:r>
              <a:rPr lang="en-US" dirty="0"/>
              <a:t>Submit the slide as a PDF file format. The file must be in landscape orientation.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itle 7"/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001713" y="151418"/>
            <a:ext cx="7140575" cy="61264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Guidance for Proposers Day Lightning Profile Slide</a:t>
            </a:r>
          </a:p>
        </p:txBody>
      </p:sp>
    </p:spTree>
    <p:extLst>
      <p:ext uri="{BB962C8B-B14F-4D97-AF65-F5344CB8AC3E}">
        <p14:creationId xmlns:p14="http://schemas.microsoft.com/office/powerpoint/2010/main" val="11979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03225" y="151418"/>
            <a:ext cx="7140575" cy="612648"/>
          </a:xfrm>
        </p:spPr>
        <p:txBody>
          <a:bodyPr>
            <a:normAutofit/>
          </a:bodyPr>
          <a:lstStyle/>
          <a:p>
            <a:r>
              <a:rPr lang="en-US" dirty="0"/>
              <a:t>Name of the PI, Institution, Team</a:t>
            </a:r>
          </a:p>
        </p:txBody>
      </p:sp>
      <p:cxnSp>
        <p:nvCxnSpPr>
          <p:cNvPr id="23" name="Straight Connector 22"/>
          <p:cNvCxnSpPr/>
          <p:nvPr/>
        </p:nvCxnSpPr>
        <p:spPr bwMode="auto">
          <a:xfrm>
            <a:off x="4572000" y="3581400"/>
            <a:ext cx="0" cy="2830165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381000" y="3581400"/>
            <a:ext cx="8382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557560" y="3620756"/>
            <a:ext cx="3690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Teaming Overview and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794" y="879044"/>
            <a:ext cx="4570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Project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999" y="3962400"/>
            <a:ext cx="4091849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Existing team members and partners (PIs, postdocs, etc. Please highlight expertise relevant </a:t>
            </a:r>
            <a:r>
              <a:rPr lang="en-US" sz="1200"/>
              <a:t>to O-CIRCUIT </a:t>
            </a:r>
            <a:r>
              <a:rPr lang="en-US" sz="1200" dirty="0"/>
              <a:t>goals.)</a:t>
            </a:r>
          </a:p>
          <a:p>
            <a:pPr lvl="0"/>
            <a:endParaRPr lang="en-US" sz="1200" dirty="0"/>
          </a:p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Relevant experience (major accomplishments, publications, etc.)</a:t>
            </a:r>
          </a:p>
          <a:p>
            <a:pPr lvl="0"/>
            <a:endParaRPr lang="en-US" sz="1200" dirty="0"/>
          </a:p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Institutional assets and core facilities (specialized facilities, permits in hand, history with the technology of interest, etc.)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0413" y="1413808"/>
            <a:ext cx="4192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Describe clearly (no jargon) what the team is trying to achieve.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Succinctly describe and/or illustrate your proposed approaches to the program technical areas, where you can contribute, and the technical challenges that must be overcome.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Include program phase structure, as necessary. </a:t>
            </a:r>
            <a:endParaRPr lang="en-US" sz="1200" u="sng" dirty="0"/>
          </a:p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What unique metrics and milestones will the team aim to achieve?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3588" y="3570750"/>
            <a:ext cx="4570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/>
          </a:p>
        </p:txBody>
      </p:sp>
      <p:sp>
        <p:nvSpPr>
          <p:cNvPr id="1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333500" y="6550026"/>
            <a:ext cx="6477000" cy="298450"/>
          </a:xfrm>
        </p:spPr>
        <p:txBody>
          <a:bodyPr/>
          <a:lstStyle/>
          <a:p>
            <a:pPr>
              <a:defRPr/>
            </a:pPr>
            <a:r>
              <a:rPr lang="en-US" sz="1000" dirty="0">
                <a:solidFill>
                  <a:schemeClr val="tx1"/>
                </a:solidFill>
              </a:rPr>
              <a:t>Contact Information – Email Address – Phone Number</a:t>
            </a: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8102430" y="6553200"/>
            <a:ext cx="762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z="1000" smtClean="0"/>
              <a:pPr>
                <a:defRPr/>
              </a:pPr>
              <a:t>2</a:t>
            </a:fld>
            <a:endParaRPr lang="en-US" sz="1000" dirty="0"/>
          </a:p>
        </p:txBody>
      </p:sp>
      <p:sp>
        <p:nvSpPr>
          <p:cNvPr id="2" name="Rectangle 1"/>
          <p:cNvSpPr/>
          <p:nvPr/>
        </p:nvSpPr>
        <p:spPr>
          <a:xfrm>
            <a:off x="557560" y="1733319"/>
            <a:ext cx="29718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INSERT TEAM ILLUSTRATION HERE</a:t>
            </a:r>
          </a:p>
          <a:p>
            <a:pPr algn="ctr"/>
            <a:r>
              <a:rPr lang="en-US" dirty="0"/>
              <a:t>(if applicable)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1558" y="3620756"/>
            <a:ext cx="3690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Teaming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0413" y="3854946"/>
            <a:ext cx="41925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buFont typeface="Arial" pitchFamily="34" charset="0"/>
              <a:buChar char="•"/>
            </a:pPr>
            <a:r>
              <a:rPr lang="en-US" sz="1200" dirty="0"/>
              <a:t>For which technical challenges are you seeking </a:t>
            </a:r>
            <a:r>
              <a:rPr lang="en-US" sz="1200"/>
              <a:t>collaborators?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282029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2225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79e462-3a2d-4d5a-8e05-58ac45c301b0" xsi:nil="true"/>
    <lcf76f155ced4ddcb4097134ff3c332f xmlns="9d8941e3-1c89-4902-a8aa-6b70e251ab6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190DD86CFB0F4C8B88A4BB6171568D" ma:contentTypeVersion="12" ma:contentTypeDescription="Create a new document." ma:contentTypeScope="" ma:versionID="932afd063d7b7af291f440a153a3c45f">
  <xsd:schema xmlns:xsd="http://www.w3.org/2001/XMLSchema" xmlns:xs="http://www.w3.org/2001/XMLSchema" xmlns:p="http://schemas.microsoft.com/office/2006/metadata/properties" xmlns:ns2="9d8941e3-1c89-4902-a8aa-6b70e251ab65" xmlns:ns3="cb79e462-3a2d-4d5a-8e05-58ac45c301b0" targetNamespace="http://schemas.microsoft.com/office/2006/metadata/properties" ma:root="true" ma:fieldsID="9bda77cf6cbcd1f0b82e7da99869c303" ns2:_="" ns3:_="">
    <xsd:import namespace="9d8941e3-1c89-4902-a8aa-6b70e251ab65"/>
    <xsd:import namespace="cb79e462-3a2d-4d5a-8e05-58ac45c301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941e3-1c89-4902-a8aa-6b70e251ab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9aa863f-a18b-4de0-9c78-b693d194da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79e462-3a2d-4d5a-8e05-58ac45c301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549f237-0689-4d0f-980e-6c96a3df9bd2}" ma:internalName="TaxCatchAll" ma:showField="CatchAllData" ma:web="cb79e462-3a2d-4d5a-8e05-58ac45c301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AEE8DE-9F51-4E3C-A0E2-A89F7D377E14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b1740a7b-1b94-4726-abbc-83801e89ee49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cb79e462-3a2d-4d5a-8e05-58ac45c301b0"/>
    <ds:schemaRef ds:uri="dc71cdf1-c031-4ca1-9603-958f4ad0f705"/>
    <ds:schemaRef ds:uri="9d8941e3-1c89-4902-a8aa-6b70e251ab65"/>
  </ds:schemaRefs>
</ds:datastoreItem>
</file>

<file path=customXml/itemProps2.xml><?xml version="1.0" encoding="utf-8"?>
<ds:datastoreItem xmlns:ds="http://schemas.openxmlformats.org/officeDocument/2006/customXml" ds:itemID="{BC1D8487-CB0E-489D-8F98-3272CD79463A}"/>
</file>

<file path=customXml/itemProps3.xml><?xml version="1.0" encoding="utf-8"?>
<ds:datastoreItem xmlns:ds="http://schemas.openxmlformats.org/officeDocument/2006/customXml" ds:itemID="{E4F92B10-2703-499A-AC41-C0E2DB641D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825</TotalTime>
  <Words>265</Words>
  <Application>Microsoft Office PowerPoint</Application>
  <PresentationFormat>On-screen Show (4:3)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Tahoma</vt:lpstr>
      <vt:lpstr>blank</vt:lpstr>
      <vt:lpstr>Guidance for Proposers Day Lightning Profile Slide</vt:lpstr>
      <vt:lpstr>Name of the PI, Institution, Team</vt:lpstr>
    </vt:vector>
  </TitlesOfParts>
  <Company>Wyle Information Systems - DARPA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Chang, Tsu-Hsi (contr-mto)</dc:creator>
  <cp:lastModifiedBy>Ekness, Felix (contr-bto)</cp:lastModifiedBy>
  <cp:revision>94</cp:revision>
  <cp:lastPrinted>2016-09-19T14:29:23Z</cp:lastPrinted>
  <dcterms:created xsi:type="dcterms:W3CDTF">2013-01-17T20:00:46Z</dcterms:created>
  <dcterms:modified xsi:type="dcterms:W3CDTF">2026-03-09T19:47:43Z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0x010100DE190DD86CFB0F4C8B88A4BB6171568D</vt:lpwstr>
  </property>
  <property fmtid="{D5CDD505-2E9C-101B-9397-08002B2CF9AE}" pid="3" name="MediaServiceImageTags">
    <vt:lpwstr/>
  </property>
</Properties>
</file>