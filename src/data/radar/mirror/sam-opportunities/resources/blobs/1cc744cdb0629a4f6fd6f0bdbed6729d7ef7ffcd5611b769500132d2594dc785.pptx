
<file path=[Content_Types].xml><?xml version="1.0" encoding="utf-8"?>
<Types xmlns="http://schemas.openxmlformats.org/package/2006/content-types">
  <Default Extension="bin" ContentType="application/vnd.openxmlformats-officedocument.oleObject"/>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6" r:id="rId5"/>
  </p:sldMasterIdLst>
  <p:notesMasterIdLst>
    <p:notesMasterId r:id="rId19"/>
  </p:notesMasterIdLst>
  <p:handoutMasterIdLst>
    <p:handoutMasterId r:id="rId20"/>
  </p:handoutMasterIdLst>
  <p:sldIdLst>
    <p:sldId id="257" r:id="rId6"/>
    <p:sldId id="291" r:id="rId7"/>
    <p:sldId id="2147470624" r:id="rId8"/>
    <p:sldId id="2147470630" r:id="rId9"/>
    <p:sldId id="2147470632" r:id="rId10"/>
    <p:sldId id="282" r:id="rId11"/>
    <p:sldId id="286" r:id="rId12"/>
    <p:sldId id="2147470625" r:id="rId13"/>
    <p:sldId id="2147470627" r:id="rId14"/>
    <p:sldId id="2147470631" r:id="rId15"/>
    <p:sldId id="2147470622" r:id="rId16"/>
    <p:sldId id="2147470620" r:id="rId17"/>
    <p:sldId id="2147470628"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E37CC8-662F-43EB-9B4D-765A0BC8E59F}" v="17" dt="2025-10-31T15:15:42.0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8" d="100"/>
          <a:sy n="158" d="100"/>
        </p:scale>
        <p:origin x="294" y="126"/>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4771150-1BB8-4113-A21A-DAE32FC3FC45}" type="datetimeFigureOut">
              <a:rPr lang="en-US" smtClean="0"/>
              <a:t>4/16/2026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EE52721-6820-4A71-AEA0-0F38A58E0FA4}" type="slidenum">
              <a:rPr lang="en-US" smtClean="0"/>
              <a:t>‹#›</a:t>
            </a:fld>
            <a:endParaRPr lang="en-US"/>
          </a:p>
        </p:txBody>
      </p:sp>
    </p:spTree>
    <p:extLst>
      <p:ext uri="{BB962C8B-B14F-4D97-AF65-F5344CB8AC3E}">
        <p14:creationId xmlns:p14="http://schemas.microsoft.com/office/powerpoint/2010/main" val="30921988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1F81CF-A829-4849-B447-0614EC873AE9}" type="datetimeFigureOut">
              <a:rPr lang="en-US" smtClean="0"/>
              <a:t>4/16/2026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D823D4-F78B-49A2-A147-F12EB6A7FBE2}" type="slidenum">
              <a:rPr lang="en-US" smtClean="0"/>
              <a:t>‹#›</a:t>
            </a:fld>
            <a:endParaRPr lang="en-US"/>
          </a:p>
        </p:txBody>
      </p:sp>
    </p:spTree>
    <p:extLst>
      <p:ext uri="{BB962C8B-B14F-4D97-AF65-F5344CB8AC3E}">
        <p14:creationId xmlns:p14="http://schemas.microsoft.com/office/powerpoint/2010/main" val="1703177598"/>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pPr marL="0" marR="0" lvl="0" indent="0" algn="l" defTabSz="124233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11"/>
          </p:nvPr>
        </p:nvSpPr>
        <p:spPr/>
        <p:txBody>
          <a:bodyPr/>
          <a:lstStyle/>
          <a:p>
            <a:pPr marL="0" marR="0" lvl="0" indent="0" algn="l" defTabSz="1242334"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1242334" rtl="0" eaLnBrk="1" fontAlgn="auto" latinLnBrk="0" hangingPunct="1">
              <a:lnSpc>
                <a:spcPct val="100000"/>
              </a:lnSpc>
              <a:spcBef>
                <a:spcPts val="0"/>
              </a:spcBef>
              <a:spcAft>
                <a:spcPts val="0"/>
              </a:spcAft>
              <a:buClrTx/>
              <a:buSzTx/>
              <a:buFontTx/>
              <a:buNone/>
              <a:tabLst/>
              <a:defRPr/>
            </a:pPr>
            <a:fld id="{321E62D5-5964-4B07-A184-3D2E5EEE538C}"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1242334"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03779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938741" y="2933705"/>
            <a:ext cx="10363200" cy="469900"/>
          </a:xfrm>
        </p:spPr>
        <p:txBody>
          <a:bodyPr anchor="b">
            <a:noAutofit/>
          </a:bodyPr>
          <a:lstStyle>
            <a:lvl1pPr marL="0" indent="0">
              <a:buNone/>
              <a:defRPr sz="1600" baseline="0">
                <a:solidFill>
                  <a:schemeClr val="accent6">
                    <a:lumMod val="75000"/>
                  </a:schemeClr>
                </a:solidFill>
              </a:defRPr>
            </a:lvl1pPr>
            <a:lvl2pPr marL="457178" indent="0">
              <a:buNone/>
              <a:defRPr sz="1800">
                <a:solidFill>
                  <a:schemeClr val="tx1">
                    <a:tint val="75000"/>
                  </a:schemeClr>
                </a:solidFill>
              </a:defRPr>
            </a:lvl2pPr>
            <a:lvl3pPr marL="914354" indent="0">
              <a:buNone/>
              <a:defRPr sz="1600">
                <a:solidFill>
                  <a:schemeClr val="tx1">
                    <a:tint val="75000"/>
                  </a:schemeClr>
                </a:solidFill>
              </a:defRPr>
            </a:lvl3pPr>
            <a:lvl4pPr marL="1371532" indent="0">
              <a:buNone/>
              <a:defRPr sz="1400">
                <a:solidFill>
                  <a:schemeClr val="tx1">
                    <a:tint val="75000"/>
                  </a:schemeClr>
                </a:solidFill>
              </a:defRPr>
            </a:lvl4pPr>
            <a:lvl5pPr marL="1828709" indent="0">
              <a:buNone/>
              <a:defRPr sz="1400">
                <a:solidFill>
                  <a:schemeClr val="tx1">
                    <a:tint val="75000"/>
                  </a:schemeClr>
                </a:solidFill>
              </a:defRPr>
            </a:lvl5pPr>
            <a:lvl6pPr marL="2285886" indent="0">
              <a:buNone/>
              <a:defRPr sz="1400">
                <a:solidFill>
                  <a:schemeClr val="tx1">
                    <a:tint val="75000"/>
                  </a:schemeClr>
                </a:solidFill>
              </a:defRPr>
            </a:lvl6pPr>
            <a:lvl7pPr marL="2743063" indent="0">
              <a:buNone/>
              <a:defRPr sz="1400">
                <a:solidFill>
                  <a:schemeClr val="tx1">
                    <a:tint val="75000"/>
                  </a:schemeClr>
                </a:solidFill>
              </a:defRPr>
            </a:lvl7pPr>
            <a:lvl8pPr marL="3200240" indent="0">
              <a:buNone/>
              <a:defRPr sz="1400">
                <a:solidFill>
                  <a:schemeClr val="tx1">
                    <a:tint val="75000"/>
                  </a:schemeClr>
                </a:solidFill>
              </a:defRPr>
            </a:lvl8pPr>
            <a:lvl9pPr marL="3657418" indent="0">
              <a:buNone/>
              <a:defRPr sz="1400">
                <a:solidFill>
                  <a:schemeClr val="tx1">
                    <a:tint val="75000"/>
                  </a:schemeClr>
                </a:solidFill>
              </a:defRPr>
            </a:lvl9pPr>
          </a:lstStyle>
          <a:p>
            <a:pPr lvl="0"/>
            <a:r>
              <a:rPr lang="en-US"/>
              <a:t>Presenter Name</a:t>
            </a:r>
          </a:p>
        </p:txBody>
      </p:sp>
      <p:sp>
        <p:nvSpPr>
          <p:cNvPr id="9" name="Text Placeholder 8"/>
          <p:cNvSpPr>
            <a:spLocks noGrp="1"/>
          </p:cNvSpPr>
          <p:nvPr>
            <p:ph type="body" sz="quarter" idx="14" hasCustomPrompt="1"/>
          </p:nvPr>
        </p:nvSpPr>
        <p:spPr>
          <a:xfrm>
            <a:off x="938741" y="3429000"/>
            <a:ext cx="10363200" cy="406400"/>
          </a:xfrm>
        </p:spPr>
        <p:txBody>
          <a:bodyPr/>
          <a:lstStyle>
            <a:lvl1pPr>
              <a:defRPr>
                <a:solidFill>
                  <a:schemeClr val="accent6">
                    <a:lumMod val="75000"/>
                  </a:schemeClr>
                </a:solidFill>
              </a:defRPr>
            </a:lvl1pPr>
          </a:lstStyle>
          <a:p>
            <a:pPr lvl="0"/>
            <a:r>
              <a:rPr lang="en-US"/>
              <a:t>Date:</a:t>
            </a:r>
          </a:p>
        </p:txBody>
      </p:sp>
      <p:sp>
        <p:nvSpPr>
          <p:cNvPr id="8" name="Text Placeholder 7"/>
          <p:cNvSpPr>
            <a:spLocks noGrp="1"/>
          </p:cNvSpPr>
          <p:nvPr>
            <p:ph type="body" sz="quarter" idx="15" hasCustomPrompt="1"/>
          </p:nvPr>
        </p:nvSpPr>
        <p:spPr>
          <a:xfrm>
            <a:off x="0" y="6502400"/>
            <a:ext cx="12192000" cy="279400"/>
          </a:xfrm>
        </p:spPr>
        <p:txBody>
          <a:bodyPr anchor="ctr">
            <a:normAutofit/>
          </a:bodyPr>
          <a:lstStyle>
            <a:lvl1pPr algn="r">
              <a:defRPr sz="1300">
                <a:solidFill>
                  <a:srgbClr val="192F43"/>
                </a:solidFill>
                <a:latin typeface="Franklin Gothic Medium Cond" panose="020B0606030402020204" pitchFamily="34" charset="0"/>
              </a:defRPr>
            </a:lvl1pPr>
          </a:lstStyle>
          <a:p>
            <a:pPr lvl="0"/>
            <a:r>
              <a:rPr lang="en-US"/>
              <a:t>UNCLASSIFIED</a:t>
            </a:r>
          </a:p>
        </p:txBody>
      </p:sp>
      <p:sp>
        <p:nvSpPr>
          <p:cNvPr id="11" name="Text Placeholder 7"/>
          <p:cNvSpPr>
            <a:spLocks noGrp="1"/>
          </p:cNvSpPr>
          <p:nvPr>
            <p:ph type="body" sz="quarter" idx="16" hasCustomPrompt="1"/>
          </p:nvPr>
        </p:nvSpPr>
        <p:spPr>
          <a:xfrm>
            <a:off x="0" y="101600"/>
            <a:ext cx="12192000" cy="279400"/>
          </a:xfrm>
        </p:spPr>
        <p:txBody>
          <a:bodyPr anchor="ctr">
            <a:normAutofit/>
          </a:bodyPr>
          <a:lstStyle>
            <a:lvl1pPr>
              <a:defRPr sz="1300">
                <a:solidFill>
                  <a:srgbClr val="192F43"/>
                </a:solidFill>
                <a:latin typeface="Franklin Gothic Medium Cond" panose="020B0606030402020204" pitchFamily="34" charset="0"/>
              </a:defRPr>
            </a:lvl1pPr>
          </a:lstStyle>
          <a:p>
            <a:pPr lvl="0"/>
            <a:r>
              <a:rPr lang="en-US"/>
              <a:t>CLASSIFICATION</a:t>
            </a:r>
          </a:p>
        </p:txBody>
      </p:sp>
      <p:sp>
        <p:nvSpPr>
          <p:cNvPr id="4" name="Text Placeholder 3"/>
          <p:cNvSpPr>
            <a:spLocks noGrp="1"/>
          </p:cNvSpPr>
          <p:nvPr>
            <p:ph type="body" sz="quarter" idx="17" hasCustomPrompt="1"/>
          </p:nvPr>
        </p:nvSpPr>
        <p:spPr>
          <a:xfrm>
            <a:off x="938741" y="2413000"/>
            <a:ext cx="10363200" cy="508000"/>
          </a:xfrm>
        </p:spPr>
        <p:txBody>
          <a:bodyPr>
            <a:noAutofit/>
          </a:bodyPr>
          <a:lstStyle>
            <a:lvl1pPr>
              <a:defRPr sz="2400" baseline="0">
                <a:solidFill>
                  <a:schemeClr val="tx2"/>
                </a:solidFill>
                <a:latin typeface="Franklin Gothic Medium Cond" panose="020B0606030402020204" pitchFamily="34" charset="0"/>
              </a:defRPr>
            </a:lvl1pPr>
          </a:lstStyle>
          <a:p>
            <a:pPr lvl="0"/>
            <a:r>
              <a:rPr lang="en-US"/>
              <a:t>PRESENTATION TITLE</a:t>
            </a:r>
          </a:p>
        </p:txBody>
      </p:sp>
      <p:sp>
        <p:nvSpPr>
          <p:cNvPr id="10" name="Text Placeholder 4"/>
          <p:cNvSpPr>
            <a:spLocks noGrp="1"/>
          </p:cNvSpPr>
          <p:nvPr>
            <p:ph type="body" sz="quarter" idx="13" hasCustomPrompt="1"/>
          </p:nvPr>
        </p:nvSpPr>
        <p:spPr>
          <a:xfrm>
            <a:off x="6626323" y="4359949"/>
            <a:ext cx="5565679" cy="406400"/>
          </a:xfrm>
        </p:spPr>
        <p:txBody>
          <a:bodyPr/>
          <a:lstStyle>
            <a:lvl1pPr algn="l">
              <a:defRPr sz="1400"/>
            </a:lvl1pPr>
          </a:lstStyle>
          <a:p>
            <a:pPr lvl="0"/>
            <a:r>
              <a:rPr lang="en-US"/>
              <a:t>UNCLASSIFIED</a:t>
            </a:r>
          </a:p>
        </p:txBody>
      </p:sp>
      <p:sp>
        <p:nvSpPr>
          <p:cNvPr id="12" name="TextBox 11"/>
          <p:cNvSpPr txBox="1"/>
          <p:nvPr/>
        </p:nvSpPr>
        <p:spPr>
          <a:xfrm>
            <a:off x="6626323" y="4156750"/>
            <a:ext cx="5565679" cy="261610"/>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414042"/>
                </a:solidFill>
                <a:effectLst/>
                <a:uLnTx/>
                <a:uFillTx/>
                <a:latin typeface="Arial" panose="020B0604020202020204" pitchFamily="34" charset="0"/>
                <a:ea typeface="+mn-ea"/>
                <a:cs typeface="Arial" panose="020B0604020202020204" pitchFamily="34" charset="0"/>
              </a:rPr>
              <a:t>The overall classification of this presentation is:</a:t>
            </a:r>
          </a:p>
        </p:txBody>
      </p:sp>
      <p:sp>
        <p:nvSpPr>
          <p:cNvPr id="14" name="Text Placeholder 12"/>
          <p:cNvSpPr>
            <a:spLocks noGrp="1"/>
          </p:cNvSpPr>
          <p:nvPr>
            <p:ph type="body" sz="quarter" idx="18" hasCustomPrompt="1"/>
          </p:nvPr>
        </p:nvSpPr>
        <p:spPr>
          <a:xfrm>
            <a:off x="8116456" y="4799022"/>
            <a:ext cx="2980267" cy="246888"/>
          </a:xfrm>
        </p:spPr>
        <p:txBody>
          <a:bodyPr anchor="ctr">
            <a:noAutofit/>
          </a:bodyPr>
          <a:lstStyle>
            <a:lvl1pPr>
              <a:defRPr sz="1000" baseline="0"/>
            </a:lvl1pPr>
            <a:lvl2pPr>
              <a:defRPr sz="1000"/>
            </a:lvl2pPr>
            <a:lvl3pPr>
              <a:defRPr sz="1000"/>
            </a:lvl3pPr>
            <a:lvl4pPr>
              <a:defRPr sz="1000"/>
            </a:lvl4pPr>
            <a:lvl5pPr>
              <a:defRPr sz="1000"/>
            </a:lvl5pPr>
          </a:lstStyle>
          <a:p>
            <a:pPr lvl="0"/>
            <a:r>
              <a:rPr lang="en-US"/>
              <a:t>Classified by</a:t>
            </a:r>
          </a:p>
        </p:txBody>
      </p:sp>
      <p:sp>
        <p:nvSpPr>
          <p:cNvPr id="15" name="Text Placeholder 14"/>
          <p:cNvSpPr>
            <a:spLocks noGrp="1"/>
          </p:cNvSpPr>
          <p:nvPr>
            <p:ph type="body" sz="quarter" idx="19" hasCustomPrompt="1"/>
          </p:nvPr>
        </p:nvSpPr>
        <p:spPr>
          <a:xfrm>
            <a:off x="8116456" y="4977839"/>
            <a:ext cx="2980267" cy="246888"/>
          </a:xfrm>
        </p:spPr>
        <p:txBody>
          <a:bodyPr anchor="ctr">
            <a:noAutofit/>
          </a:bodyPr>
          <a:lstStyle>
            <a:lvl1pPr>
              <a:defRPr sz="1000"/>
            </a:lvl1pPr>
            <a:lvl2pPr marL="457189" indent="0" algn="l">
              <a:buNone/>
              <a:defRPr sz="1000"/>
            </a:lvl2pPr>
            <a:lvl3pPr>
              <a:defRPr sz="1000"/>
            </a:lvl3pPr>
            <a:lvl4pPr>
              <a:defRPr sz="1000"/>
            </a:lvl4pPr>
            <a:lvl5pPr>
              <a:defRPr sz="1000"/>
            </a:lvl5pPr>
          </a:lstStyle>
          <a:p>
            <a:pPr lvl="0"/>
            <a:r>
              <a:rPr lang="en-US"/>
              <a:t>Derived from</a:t>
            </a:r>
          </a:p>
        </p:txBody>
      </p:sp>
      <p:sp>
        <p:nvSpPr>
          <p:cNvPr id="16" name="Text Placeholder 16"/>
          <p:cNvSpPr>
            <a:spLocks noGrp="1"/>
          </p:cNvSpPr>
          <p:nvPr>
            <p:ph type="body" sz="quarter" idx="20" hasCustomPrompt="1"/>
          </p:nvPr>
        </p:nvSpPr>
        <p:spPr>
          <a:xfrm>
            <a:off x="8116455" y="5156655"/>
            <a:ext cx="2980268" cy="246888"/>
          </a:xfrm>
        </p:spPr>
        <p:txBody>
          <a:bodyPr anchor="ctr">
            <a:normAutofit/>
          </a:bodyPr>
          <a:lstStyle>
            <a:lvl1pPr>
              <a:defRPr sz="1000"/>
            </a:lvl1pPr>
          </a:lstStyle>
          <a:p>
            <a:pPr lvl="0"/>
            <a:r>
              <a:rPr lang="en-US"/>
              <a:t>Declassify on</a:t>
            </a:r>
          </a:p>
        </p:txBody>
      </p:sp>
      <p:pic>
        <p:nvPicPr>
          <p:cNvPr id="17" name="Picture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8743" y="838924"/>
            <a:ext cx="1338113" cy="1096770"/>
          </a:xfrm>
          <a:prstGeom prst="rect">
            <a:avLst/>
          </a:prstGeom>
        </p:spPr>
      </p:pic>
      <p:pic>
        <p:nvPicPr>
          <p:cNvPr id="19" name="Picture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93748" y="6035232"/>
            <a:ext cx="414529" cy="324613"/>
          </a:xfrm>
          <a:prstGeom prst="rect">
            <a:avLst/>
          </a:prstGeom>
        </p:spPr>
      </p:pic>
      <p:pic>
        <p:nvPicPr>
          <p:cNvPr id="20" name="Picture 1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76789" y="6031803"/>
            <a:ext cx="384049" cy="331471"/>
          </a:xfrm>
          <a:prstGeom prst="rect">
            <a:avLst/>
          </a:prstGeom>
        </p:spPr>
      </p:pic>
      <p:pic>
        <p:nvPicPr>
          <p:cNvPr id="21" name="Picture 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47281" y="6024945"/>
            <a:ext cx="377953" cy="345187"/>
          </a:xfrm>
          <a:prstGeom prst="rect">
            <a:avLst/>
          </a:prstGeom>
        </p:spPr>
      </p:pic>
      <p:pic>
        <p:nvPicPr>
          <p:cNvPr id="22" name="Picture 2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5773" y="6157094"/>
            <a:ext cx="10847508" cy="96408"/>
          </a:xfrm>
          <a:prstGeom prst="rect">
            <a:avLst/>
          </a:prstGeom>
        </p:spPr>
      </p:pic>
      <p:sp>
        <p:nvSpPr>
          <p:cNvPr id="2" name="AACG_Title_Header_Shape">
            <a:extLst>
              <a:ext uri="{FF2B5EF4-FFF2-40B4-BE49-F238E27FC236}">
                <a16:creationId xmlns:a16="http://schemas.microsoft.com/office/drawing/2014/main" id="{28A7E1D6-F1D1-9530-C872-6426303D1F1E}"/>
              </a:ext>
            </a:extLst>
          </p:cNvPr>
          <p:cNvSpPr txBox="1"/>
          <p:nvPr userDrawn="1"/>
        </p:nvSpPr>
        <p:spPr>
          <a:xfrm>
            <a:off x="0" y="0"/>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
        <p:nvSpPr>
          <p:cNvPr id="5" name="AACG_Title_Footer_Shape">
            <a:extLst>
              <a:ext uri="{FF2B5EF4-FFF2-40B4-BE49-F238E27FC236}">
                <a16:creationId xmlns:a16="http://schemas.microsoft.com/office/drawing/2014/main" id="{7BF9A79A-5D81-6A01-8CC9-A7CF49DD83A7}"/>
              </a:ext>
            </a:extLst>
          </p:cNvPr>
          <p:cNvSpPr txBox="1"/>
          <p:nvPr userDrawn="1"/>
        </p:nvSpPr>
        <p:spPr>
          <a:xfrm>
            <a:off x="0" y="6568301"/>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Tree>
    <p:extLst>
      <p:ext uri="{BB962C8B-B14F-4D97-AF65-F5344CB8AC3E}">
        <p14:creationId xmlns:p14="http://schemas.microsoft.com/office/powerpoint/2010/main" val="2745111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Content Slide Type 1">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1425765" y="6034255"/>
            <a:ext cx="437911" cy="32546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0" y="1600206"/>
            <a:ext cx="10972800" cy="4165599"/>
          </a:xfrm>
        </p:spPr>
        <p:txBody>
          <a:bodyPr/>
          <a:lstStyle/>
          <a:p>
            <a:pPr lvl="0"/>
            <a:r>
              <a:rPr lang="en-US"/>
              <a:t>Edit Master text styles</a:t>
            </a:r>
          </a:p>
          <a:p>
            <a:pPr lvl="1"/>
            <a:r>
              <a:rPr lang="en-US"/>
              <a:t>Second level</a:t>
            </a:r>
          </a:p>
          <a:p>
            <a:pPr lvl="2"/>
            <a:r>
              <a:rPr lang="en-US"/>
              <a:t>Third level</a:t>
            </a:r>
          </a:p>
        </p:txBody>
      </p:sp>
      <p:pic>
        <p:nvPicPr>
          <p:cNvPr id="17" name="Picture 16"/>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0569674" y="6039166"/>
            <a:ext cx="414529" cy="321254"/>
          </a:xfrm>
          <a:prstGeom prst="rect">
            <a:avLst/>
          </a:prstGeom>
        </p:spPr>
      </p:pic>
      <p:pic>
        <p:nvPicPr>
          <p:cNvPr id="18" name="Picture 17"/>
          <p:cNvPicPr>
            <a:picLocks noChangeAspect="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0993920" y="6035820"/>
            <a:ext cx="384049" cy="328042"/>
          </a:xfrm>
          <a:prstGeom prst="rect">
            <a:avLst/>
          </a:prstGeom>
        </p:spPr>
      </p:pic>
      <p:pic>
        <p:nvPicPr>
          <p:cNvPr id="19" name="Picture 18"/>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0141565" y="6029127"/>
            <a:ext cx="377953" cy="341616"/>
          </a:xfrm>
          <a:prstGeom prst="rect">
            <a:avLst/>
          </a:prstGeom>
        </p:spPr>
      </p:pic>
      <p:sp>
        <p:nvSpPr>
          <p:cNvPr id="5" name="AACG_Title_Header_Shape">
            <a:extLst>
              <a:ext uri="{FF2B5EF4-FFF2-40B4-BE49-F238E27FC236}">
                <a16:creationId xmlns:a16="http://schemas.microsoft.com/office/drawing/2014/main" id="{3E3D8692-1B88-E773-9D5A-DB60BAEB8B0D}"/>
              </a:ext>
            </a:extLst>
          </p:cNvPr>
          <p:cNvSpPr txBox="1"/>
          <p:nvPr userDrawn="1"/>
        </p:nvSpPr>
        <p:spPr>
          <a:xfrm>
            <a:off x="0" y="0"/>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
        <p:nvSpPr>
          <p:cNvPr id="6" name="AACG_Title_Footer_Shape">
            <a:extLst>
              <a:ext uri="{FF2B5EF4-FFF2-40B4-BE49-F238E27FC236}">
                <a16:creationId xmlns:a16="http://schemas.microsoft.com/office/drawing/2014/main" id="{83567266-2315-5887-EE3B-5D3CB34A365B}"/>
              </a:ext>
            </a:extLst>
          </p:cNvPr>
          <p:cNvSpPr txBox="1"/>
          <p:nvPr userDrawn="1"/>
        </p:nvSpPr>
        <p:spPr>
          <a:xfrm>
            <a:off x="0" y="6568301"/>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Tree>
    <p:extLst>
      <p:ext uri="{BB962C8B-B14F-4D97-AF65-F5344CB8AC3E}">
        <p14:creationId xmlns:p14="http://schemas.microsoft.com/office/powerpoint/2010/main" val="306093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ontent Slide Type 1">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1363444" y="101600"/>
            <a:ext cx="437911" cy="325464"/>
          </a:xfrm>
          <a:prstGeom prst="rect">
            <a:avLst/>
          </a:prstGeom>
        </p:spPr>
      </p:pic>
      <p:sp>
        <p:nvSpPr>
          <p:cNvPr id="2" name="Title 1"/>
          <p:cNvSpPr>
            <a:spLocks noGrp="1"/>
          </p:cNvSpPr>
          <p:nvPr>
            <p:ph type="title"/>
          </p:nvPr>
        </p:nvSpPr>
        <p:spPr>
          <a:xfrm>
            <a:off x="609600" y="274639"/>
            <a:ext cx="10972800" cy="588972"/>
          </a:xfrm>
        </p:spPr>
        <p:txBody>
          <a:bodyPr/>
          <a:lstStyle/>
          <a:p>
            <a:r>
              <a:rPr lang="en-US"/>
              <a:t>Click to edit Master title style</a:t>
            </a:r>
          </a:p>
        </p:txBody>
      </p:sp>
      <p:sp>
        <p:nvSpPr>
          <p:cNvPr id="3" name="Content Placeholder 2"/>
          <p:cNvSpPr>
            <a:spLocks noGrp="1"/>
          </p:cNvSpPr>
          <p:nvPr>
            <p:ph idx="1"/>
          </p:nvPr>
        </p:nvSpPr>
        <p:spPr>
          <a:xfrm>
            <a:off x="609600" y="1031740"/>
            <a:ext cx="10972800" cy="5424596"/>
          </a:xfrm>
        </p:spPr>
        <p:txBody>
          <a:bodyPr/>
          <a:lstStyle/>
          <a:p>
            <a:pPr lvl="0"/>
            <a:r>
              <a:rPr lang="en-US"/>
              <a:t>Edit Master text styles</a:t>
            </a:r>
          </a:p>
          <a:p>
            <a:pPr lvl="1"/>
            <a:r>
              <a:rPr lang="en-US"/>
              <a:t>Second level</a:t>
            </a:r>
          </a:p>
          <a:p>
            <a:pPr lvl="2"/>
            <a:r>
              <a:rPr lang="en-US"/>
              <a:t>Third level</a:t>
            </a:r>
          </a:p>
        </p:txBody>
      </p:sp>
      <p:pic>
        <p:nvPicPr>
          <p:cNvPr id="17" name="Picture 16"/>
          <p:cNvPicPr>
            <a:picLocks noChangeAspect="1"/>
          </p:cNvPicPr>
          <p:nvPr/>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0507353" y="106511"/>
            <a:ext cx="414529" cy="321254"/>
          </a:xfrm>
          <a:prstGeom prst="rect">
            <a:avLst/>
          </a:prstGeom>
        </p:spPr>
      </p:pic>
      <p:pic>
        <p:nvPicPr>
          <p:cNvPr id="18" name="Picture 17"/>
          <p:cNvPicPr>
            <a:picLocks noChangeAspect="1"/>
          </p:cNvPicPr>
          <p:nvPr/>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0931599" y="103165"/>
            <a:ext cx="384049" cy="328042"/>
          </a:xfrm>
          <a:prstGeom prst="rect">
            <a:avLst/>
          </a:prstGeom>
        </p:spPr>
      </p:pic>
      <p:pic>
        <p:nvPicPr>
          <p:cNvPr id="19" name="Picture 18"/>
          <p:cNvPicPr>
            <a:picLocks noChangeAspect="1"/>
          </p:cNvPicPr>
          <p:nvPr/>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0079244" y="96472"/>
            <a:ext cx="377953" cy="341616"/>
          </a:xfrm>
          <a:prstGeom prst="rect">
            <a:avLst/>
          </a:prstGeom>
        </p:spPr>
      </p:pic>
      <p:sp>
        <p:nvSpPr>
          <p:cNvPr id="5" name="AACG_Title_Header_Shape">
            <a:extLst>
              <a:ext uri="{FF2B5EF4-FFF2-40B4-BE49-F238E27FC236}">
                <a16:creationId xmlns:a16="http://schemas.microsoft.com/office/drawing/2014/main" id="{8FA7329D-7283-5F9E-55D0-81AFB3D6D63D}"/>
              </a:ext>
            </a:extLst>
          </p:cNvPr>
          <p:cNvSpPr txBox="1"/>
          <p:nvPr userDrawn="1"/>
        </p:nvSpPr>
        <p:spPr>
          <a:xfrm>
            <a:off x="0" y="0"/>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
        <p:nvSpPr>
          <p:cNvPr id="6" name="AACG_Title_Footer_Shape">
            <a:extLst>
              <a:ext uri="{FF2B5EF4-FFF2-40B4-BE49-F238E27FC236}">
                <a16:creationId xmlns:a16="http://schemas.microsoft.com/office/drawing/2014/main" id="{5296B053-0BEE-CD91-2B12-6688E0ACCFCA}"/>
              </a:ext>
            </a:extLst>
          </p:cNvPr>
          <p:cNvSpPr txBox="1"/>
          <p:nvPr userDrawn="1"/>
        </p:nvSpPr>
        <p:spPr>
          <a:xfrm>
            <a:off x="0" y="6568301"/>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Tree>
    <p:extLst>
      <p:ext uri="{BB962C8B-B14F-4D97-AF65-F5344CB8AC3E}">
        <p14:creationId xmlns:p14="http://schemas.microsoft.com/office/powerpoint/2010/main" val="1857294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 column interior">
    <p:spTree>
      <p:nvGrpSpPr>
        <p:cNvPr id="1" name=""/>
        <p:cNvGrpSpPr/>
        <p:nvPr/>
      </p:nvGrpSpPr>
      <p:grpSpPr>
        <a:xfrm>
          <a:off x="0" y="0"/>
          <a:ext cx="0" cy="0"/>
          <a:chOff x="0" y="0"/>
          <a:chExt cx="0" cy="0"/>
        </a:xfrm>
      </p:grpSpPr>
      <p:sp>
        <p:nvSpPr>
          <p:cNvPr id="3" name="Text Placeholder 3"/>
          <p:cNvSpPr>
            <a:spLocks noGrp="1"/>
          </p:cNvSpPr>
          <p:nvPr>
            <p:ph type="body" sz="quarter" idx="13"/>
          </p:nvPr>
        </p:nvSpPr>
        <p:spPr>
          <a:xfrm>
            <a:off x="609600" y="1107894"/>
            <a:ext cx="5096219" cy="4927926"/>
          </a:xfrm>
          <a:prstGeom prst="rect">
            <a:avLst/>
          </a:prstGeom>
        </p:spPr>
        <p:txBody>
          <a:bodyPr lIns="0">
            <a:normAutofit/>
          </a:bodyPr>
          <a:lstStyle>
            <a:lvl1pPr marL="342900" indent="-342900">
              <a:buClr>
                <a:schemeClr val="accent1"/>
              </a:buClr>
              <a:buSzPct val="75000"/>
              <a:buFont typeface="Wingdings 3" pitchFamily="18" charset="2"/>
              <a:buChar char=""/>
              <a:defRPr b="0">
                <a:solidFill>
                  <a:schemeClr val="tx1"/>
                </a:solidFill>
                <a:latin typeface="+mj-lt"/>
              </a:defRPr>
            </a:lvl1pPr>
            <a:lvl2pPr marL="742950" indent="-285750">
              <a:buClr>
                <a:schemeClr val="accent1"/>
              </a:buClr>
              <a:buFont typeface="Arial" pitchFamily="34" charset="0"/>
              <a:buChar char="−"/>
              <a:defRPr b="0" baseline="0">
                <a:solidFill>
                  <a:schemeClr val="tx1"/>
                </a:solidFill>
                <a:latin typeface="+mj-lt"/>
              </a:defRPr>
            </a:lvl2pPr>
            <a:lvl3pPr marL="1143000" indent="-228600">
              <a:buClr>
                <a:schemeClr val="accent1"/>
              </a:buClr>
              <a:buFont typeface="Arial" pitchFamily="34" charset="0"/>
              <a:buChar char="•"/>
              <a:defRPr b="0">
                <a:solidFill>
                  <a:schemeClr val="tx1"/>
                </a:solidFill>
                <a:latin typeface="+mj-lt"/>
              </a:defRPr>
            </a:lvl3pPr>
            <a:lvl4pPr>
              <a:buClr>
                <a:schemeClr val="accent1"/>
              </a:buClr>
              <a:defRPr b="0">
                <a:solidFill>
                  <a:schemeClr val="tx1"/>
                </a:solidFill>
                <a:latin typeface="+mj-lt"/>
              </a:defRPr>
            </a:lvl4pPr>
            <a:lvl5pPr marL="2057400" marR="0" indent="-228600" algn="l" defTabSz="914400" rtl="0" eaLnBrk="1" fontAlgn="auto" latinLnBrk="0" hangingPunct="1">
              <a:lnSpc>
                <a:spcPct val="100000"/>
              </a:lnSpc>
              <a:spcBef>
                <a:spcPct val="20000"/>
              </a:spcBef>
              <a:spcAft>
                <a:spcPts val="0"/>
              </a:spcAft>
              <a:buClr>
                <a:schemeClr val="accent1"/>
              </a:buClr>
              <a:buSzTx/>
              <a:buFont typeface="Arial" pitchFamily="34" charset="0"/>
              <a:buChar char="»"/>
              <a:tabLst/>
              <a:defRPr b="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3">
            <a:extLst>
              <a:ext uri="{FF2B5EF4-FFF2-40B4-BE49-F238E27FC236}">
                <a16:creationId xmlns:a16="http://schemas.microsoft.com/office/drawing/2014/main" id="{69B1347D-C75A-B547-B0D0-45AF804D2802}"/>
              </a:ext>
            </a:extLst>
          </p:cNvPr>
          <p:cNvSpPr>
            <a:spLocks noGrp="1"/>
          </p:cNvSpPr>
          <p:nvPr>
            <p:ph type="body" sz="quarter" idx="17"/>
          </p:nvPr>
        </p:nvSpPr>
        <p:spPr>
          <a:xfrm>
            <a:off x="6107935" y="1107894"/>
            <a:ext cx="5096219" cy="4927926"/>
          </a:xfrm>
          <a:prstGeom prst="rect">
            <a:avLst/>
          </a:prstGeom>
        </p:spPr>
        <p:txBody>
          <a:bodyPr lIns="0">
            <a:normAutofit/>
          </a:bodyPr>
          <a:lstStyle>
            <a:lvl1pPr marL="342900" indent="-342900">
              <a:buSzPct val="75000"/>
              <a:buFont typeface="Wingdings 3" pitchFamily="18" charset="2"/>
              <a:buChar char=""/>
              <a:defRPr b="0">
                <a:solidFill>
                  <a:schemeClr val="tx1"/>
                </a:solidFill>
                <a:latin typeface="+mj-lt"/>
              </a:defRPr>
            </a:lvl1pPr>
            <a:lvl2pPr marL="742950" indent="-285750">
              <a:buFont typeface="Arial" pitchFamily="34" charset="0"/>
              <a:buChar char="−"/>
              <a:defRPr b="0" baseline="0">
                <a:solidFill>
                  <a:schemeClr val="tx1"/>
                </a:solidFill>
                <a:latin typeface="+mj-lt"/>
              </a:defRPr>
            </a:lvl2pPr>
            <a:lvl3pPr marL="1143000" indent="-228600">
              <a:buFont typeface="Arial" pitchFamily="34" charset="0"/>
              <a:buChar char="•"/>
              <a:defRPr b="0">
                <a:solidFill>
                  <a:schemeClr val="tx1"/>
                </a:solidFill>
                <a:latin typeface="+mj-lt"/>
              </a:defRPr>
            </a:lvl3pPr>
            <a:lvl4pPr>
              <a:defRPr b="0">
                <a:solidFill>
                  <a:schemeClr val="tx1"/>
                </a:solidFill>
                <a:latin typeface="+mj-lt"/>
              </a:defRPr>
            </a:lvl4pPr>
            <a:lvl5pPr marL="2057400" marR="0" indent="-228600" algn="l" defTabSz="914400" rtl="0" eaLnBrk="1" fontAlgn="auto" latinLnBrk="0" hangingPunct="1">
              <a:lnSpc>
                <a:spcPct val="100000"/>
              </a:lnSpc>
              <a:spcBef>
                <a:spcPct val="20000"/>
              </a:spcBef>
              <a:spcAft>
                <a:spcPts val="0"/>
              </a:spcAft>
              <a:buClr>
                <a:schemeClr val="accent1"/>
              </a:buClr>
              <a:buSzTx/>
              <a:buFont typeface="Arial" pitchFamily="34" charset="0"/>
              <a:buChar char="»"/>
              <a:tabLst/>
              <a:defRPr b="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4" name="Picture 13"/>
          <p:cNvPicPr>
            <a:picLocks noChangeAspect="1"/>
          </p:cNvPicPr>
          <p:nvPr userDrawn="1"/>
        </p:nvPicPr>
        <p:blipFill>
          <a:blip r:embed="rId2"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1425765" y="6034255"/>
            <a:ext cx="437911" cy="325464"/>
          </a:xfrm>
          <a:prstGeom prst="rect">
            <a:avLst/>
          </a:prstGeom>
        </p:spPr>
      </p:pic>
      <p:pic>
        <p:nvPicPr>
          <p:cNvPr id="15" name="Picture 14"/>
          <p:cNvPicPr>
            <a:picLocks noChangeAspect="1"/>
          </p:cNvPicPr>
          <p:nvPr userDrawn="1"/>
        </p:nvPicPr>
        <p:blipFill>
          <a:blip r:embed="rId3"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0569674" y="6039166"/>
            <a:ext cx="414529" cy="321254"/>
          </a:xfrm>
          <a:prstGeom prst="rect">
            <a:avLst/>
          </a:prstGeom>
        </p:spPr>
      </p:pic>
      <p:pic>
        <p:nvPicPr>
          <p:cNvPr id="16" name="Picture 15"/>
          <p:cNvPicPr>
            <a:picLocks noChangeAspect="1"/>
          </p:cNvPicPr>
          <p:nvPr userDrawn="1"/>
        </p:nvPicPr>
        <p:blipFill>
          <a:blip r:embed="rId4"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0993920" y="6035820"/>
            <a:ext cx="384049" cy="328042"/>
          </a:xfrm>
          <a:prstGeom prst="rect">
            <a:avLst/>
          </a:prstGeom>
        </p:spPr>
      </p:pic>
      <p:pic>
        <p:nvPicPr>
          <p:cNvPr id="17" name="Picture 16"/>
          <p:cNvPicPr>
            <a:picLocks noChangeAspect="1"/>
          </p:cNvPicPr>
          <p:nvPr userDrawn="1"/>
        </p:nvPicPr>
        <p:blipFill>
          <a:blip r:embed="rId5"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0141565" y="6029127"/>
            <a:ext cx="377953" cy="341616"/>
          </a:xfrm>
          <a:prstGeom prst="rect">
            <a:avLst/>
          </a:prstGeom>
        </p:spPr>
      </p:pic>
      <p:sp>
        <p:nvSpPr>
          <p:cNvPr id="2" name="Title 1"/>
          <p:cNvSpPr>
            <a:spLocks noGrp="1"/>
          </p:cNvSpPr>
          <p:nvPr>
            <p:ph type="title"/>
          </p:nvPr>
        </p:nvSpPr>
        <p:spPr>
          <a:xfrm>
            <a:off x="609600" y="343877"/>
            <a:ext cx="10972800" cy="664308"/>
          </a:xfrm>
        </p:spPr>
        <p:txBody>
          <a:bodyPr/>
          <a:lstStyle/>
          <a:p>
            <a:r>
              <a:rPr lang="en-US"/>
              <a:t>Click to edit Master title style</a:t>
            </a:r>
          </a:p>
        </p:txBody>
      </p:sp>
      <p:sp>
        <p:nvSpPr>
          <p:cNvPr id="4" name="AACG_Title_Header_Shape">
            <a:extLst>
              <a:ext uri="{FF2B5EF4-FFF2-40B4-BE49-F238E27FC236}">
                <a16:creationId xmlns:a16="http://schemas.microsoft.com/office/drawing/2014/main" id="{F7313B71-2448-B45A-73B4-CABB9EF8FA0C}"/>
              </a:ext>
            </a:extLst>
          </p:cNvPr>
          <p:cNvSpPr txBox="1"/>
          <p:nvPr userDrawn="1"/>
        </p:nvSpPr>
        <p:spPr>
          <a:xfrm>
            <a:off x="0" y="0"/>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
        <p:nvSpPr>
          <p:cNvPr id="5" name="AACG_Title_Footer_Shape">
            <a:extLst>
              <a:ext uri="{FF2B5EF4-FFF2-40B4-BE49-F238E27FC236}">
                <a16:creationId xmlns:a16="http://schemas.microsoft.com/office/drawing/2014/main" id="{AFAC9C33-E586-B9C6-5B5E-21EE3379E37D}"/>
              </a:ext>
            </a:extLst>
          </p:cNvPr>
          <p:cNvSpPr txBox="1"/>
          <p:nvPr userDrawn="1"/>
        </p:nvSpPr>
        <p:spPr>
          <a:xfrm>
            <a:off x="0" y="6568301"/>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Tree>
    <p:extLst>
      <p:ext uri="{BB962C8B-B14F-4D97-AF65-F5344CB8AC3E}">
        <p14:creationId xmlns:p14="http://schemas.microsoft.com/office/powerpoint/2010/main" val="2511597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84ED4F2-010D-4B61-9E4F-D636B20F3AD9}" type="datetimeFigureOut">
              <a:rPr lang="en-US" smtClean="0"/>
              <a:t>4/16/2026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F0F5D37-15D4-435A-89BB-08D8F63C1A3F}" type="slidenum">
              <a:rPr lang="en-US" smtClean="0"/>
              <a:t>‹#›</a:t>
            </a:fld>
            <a:endParaRPr lang="en-US"/>
          </a:p>
        </p:txBody>
      </p:sp>
      <p:sp>
        <p:nvSpPr>
          <p:cNvPr id="7" name="AACG_Title_Header_Shape">
            <a:extLst>
              <a:ext uri="{FF2B5EF4-FFF2-40B4-BE49-F238E27FC236}">
                <a16:creationId xmlns:a16="http://schemas.microsoft.com/office/drawing/2014/main" id="{0C3032AB-7F6D-E79A-A63D-C061DBA6FB05}"/>
              </a:ext>
            </a:extLst>
          </p:cNvPr>
          <p:cNvSpPr txBox="1"/>
          <p:nvPr userDrawn="1"/>
        </p:nvSpPr>
        <p:spPr>
          <a:xfrm>
            <a:off x="0" y="0"/>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
        <p:nvSpPr>
          <p:cNvPr id="8" name="AACG_Title_Footer_Shape">
            <a:extLst>
              <a:ext uri="{FF2B5EF4-FFF2-40B4-BE49-F238E27FC236}">
                <a16:creationId xmlns:a16="http://schemas.microsoft.com/office/drawing/2014/main" id="{5A37D6C1-7E42-3DE9-E53F-BE4C3E9CF724}"/>
              </a:ext>
            </a:extLst>
          </p:cNvPr>
          <p:cNvSpPr txBox="1"/>
          <p:nvPr userDrawn="1"/>
        </p:nvSpPr>
        <p:spPr>
          <a:xfrm>
            <a:off x="0" y="6568301"/>
            <a:ext cx="12192000" cy="276999"/>
          </a:xfrm>
          <a:prstGeom prst="rect">
            <a:avLst/>
          </a:prstGeom>
          <a:noFill/>
        </p:spPr>
        <p:txBody>
          <a:bodyPr vert="horz" wrap="square" rtlCol="0">
            <a:spAutoFit/>
          </a:bodyPr>
          <a:lstStyle/>
          <a:p>
            <a:pPr algn="ctr"/>
            <a:r>
              <a:rPr lang="en-US" sz="1200" b="0">
                <a:solidFill>
                  <a:srgbClr val="000000"/>
                </a:solidFill>
                <a:latin typeface="Franklin Gothic Medium Cond" panose="020B0606030402020204" pitchFamily="34" charset="0"/>
              </a:rPr>
              <a:t>UNCLASSIFIED</a:t>
            </a:r>
          </a:p>
        </p:txBody>
      </p:sp>
    </p:spTree>
    <p:extLst>
      <p:ext uri="{BB962C8B-B14F-4D97-AF65-F5344CB8AC3E}">
        <p14:creationId xmlns:p14="http://schemas.microsoft.com/office/powerpoint/2010/main" val="37174312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1.wmf"/></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1.wmf"/><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oleObject" Target="../embeddings/oleObject1.bin"/><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6"/>
            <a:ext cx="10972800" cy="41655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p:txBody>
      </p:sp>
      <p:graphicFrame>
        <p:nvGraphicFramePr>
          <p:cNvPr id="9" name="Object 8"/>
          <p:cNvGraphicFramePr>
            <a:graphicFrameLocks noChangeAspect="1"/>
          </p:cNvGraphicFramePr>
          <p:nvPr>
            <p:extLst>
              <p:ext uri="{D42A27DB-BD31-4B8C-83A1-F6EECF244321}">
                <p14:modId xmlns:p14="http://schemas.microsoft.com/office/powerpoint/2010/main" val="1470959287"/>
              </p:ext>
            </p:extLst>
          </p:nvPr>
        </p:nvGraphicFramePr>
        <p:xfrm>
          <a:off x="11936281" y="0"/>
          <a:ext cx="249543" cy="1943558"/>
        </p:xfrm>
        <a:graphic>
          <a:graphicData uri="http://schemas.openxmlformats.org/presentationml/2006/ole">
            <mc:AlternateContent xmlns:mc="http://schemas.openxmlformats.org/markup-compatibility/2006">
              <mc:Choice xmlns:v="urn:schemas-microsoft-com:vml" Requires="v">
                <p:oleObj name="Image" r:id="rId3" imgW="330120" imgH="3428280" progId="Photoshop.Image.13">
                  <p:embed/>
                </p:oleObj>
              </mc:Choice>
              <mc:Fallback>
                <p:oleObj name="Image" r:id="rId3" imgW="330120" imgH="3428280" progId="Photoshop.Image.13">
                  <p:embed/>
                  <p:pic>
                    <p:nvPicPr>
                      <p:cNvPr id="9" name="Object 8"/>
                      <p:cNvPicPr/>
                      <p:nvPr/>
                    </p:nvPicPr>
                    <p:blipFill>
                      <a:blip r:embed="rId4"/>
                      <a:stretch>
                        <a:fillRect/>
                      </a:stretch>
                    </p:blipFill>
                    <p:spPr>
                      <a:xfrm>
                        <a:off x="11936281" y="0"/>
                        <a:ext cx="249543" cy="1943558"/>
                      </a:xfrm>
                      <a:prstGeom prst="rect">
                        <a:avLst/>
                      </a:prstGeom>
                    </p:spPr>
                  </p:pic>
                </p:oleObj>
              </mc:Fallback>
            </mc:AlternateContent>
          </a:graphicData>
        </a:graphic>
      </p:graphicFrame>
      <p:sp>
        <p:nvSpPr>
          <p:cNvPr id="4" name="AACG_Header_Shape">
            <a:extLst>
              <a:ext uri="{FF2B5EF4-FFF2-40B4-BE49-F238E27FC236}">
                <a16:creationId xmlns:a16="http://schemas.microsoft.com/office/drawing/2014/main" id="{E25ED71A-696F-1A8C-120C-FE49876FBA2B}"/>
              </a:ext>
            </a:extLst>
          </p:cNvPr>
          <p:cNvSpPr txBox="1"/>
          <p:nvPr userDrawn="1"/>
        </p:nvSpPr>
        <p:spPr>
          <a:xfrm>
            <a:off x="0" y="0"/>
            <a:ext cx="12192000" cy="276999"/>
          </a:xfrm>
          <a:prstGeom prst="rect">
            <a:avLst/>
          </a:prstGeom>
          <a:noFill/>
        </p:spPr>
        <p:txBody>
          <a:bodyPr vert="horz" wrap="square" rtlCol="0">
            <a:spAutoFit/>
          </a:bodyPr>
          <a:lstStyle/>
          <a:p>
            <a:pPr algn="ctr"/>
            <a:r>
              <a:rPr lang="en-US" sz="1200" b="0">
                <a:solidFill>
                  <a:srgbClr val="192F43"/>
                </a:solidFill>
                <a:latin typeface="Franklin Gothic Medium Cond" panose="020B0606030402020204" pitchFamily="34" charset="0"/>
              </a:rPr>
              <a:t>UNCLASSIFIED</a:t>
            </a:r>
          </a:p>
        </p:txBody>
      </p:sp>
      <p:sp>
        <p:nvSpPr>
          <p:cNvPr id="5" name="AACG_Footer_Shape">
            <a:extLst>
              <a:ext uri="{FF2B5EF4-FFF2-40B4-BE49-F238E27FC236}">
                <a16:creationId xmlns:a16="http://schemas.microsoft.com/office/drawing/2014/main" id="{792FDD44-F428-90F7-4329-6F3EECF35386}"/>
              </a:ext>
            </a:extLst>
          </p:cNvPr>
          <p:cNvSpPr txBox="1"/>
          <p:nvPr userDrawn="1"/>
        </p:nvSpPr>
        <p:spPr>
          <a:xfrm>
            <a:off x="0" y="6568301"/>
            <a:ext cx="12192000" cy="276999"/>
          </a:xfrm>
          <a:prstGeom prst="rect">
            <a:avLst/>
          </a:prstGeom>
          <a:noFill/>
        </p:spPr>
        <p:txBody>
          <a:bodyPr vert="horz" wrap="square" rtlCol="0">
            <a:spAutoFit/>
          </a:bodyPr>
          <a:lstStyle/>
          <a:p>
            <a:pPr algn="ctr"/>
            <a:r>
              <a:rPr lang="en-US" sz="1200" b="0">
                <a:solidFill>
                  <a:srgbClr val="192F43"/>
                </a:solidFill>
                <a:latin typeface="Franklin Gothic Medium Cond" panose="020B0606030402020204" pitchFamily="34" charset="0"/>
              </a:rPr>
              <a:t>UNCLASSIFIED</a:t>
            </a:r>
          </a:p>
        </p:txBody>
      </p:sp>
    </p:spTree>
    <p:extLst>
      <p:ext uri="{BB962C8B-B14F-4D97-AF65-F5344CB8AC3E}">
        <p14:creationId xmlns:p14="http://schemas.microsoft.com/office/powerpoint/2010/main" val="4238074254"/>
      </p:ext>
    </p:extLst>
  </p:cSld>
  <p:clrMap bg1="lt1" tx1="dk1" bg2="lt2" tx2="dk2" accent1="accent1" accent2="accent2" accent3="accent3" accent4="accent4" accent5="accent5" accent6="accent6" hlink="hlink" folHlink="folHlink"/>
  <p:sldLayoutIdLst>
    <p:sldLayoutId id="2147483661"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354" rtl="0" eaLnBrk="1" latinLnBrk="0" hangingPunct="1">
        <a:spcBef>
          <a:spcPct val="0"/>
        </a:spcBef>
        <a:buNone/>
        <a:defRPr sz="2400" kern="1200">
          <a:solidFill>
            <a:srgbClr val="192F43"/>
          </a:solidFill>
          <a:latin typeface="Franklin Gothic Medium Cond" panose="020B0606030402020204" pitchFamily="34" charset="0"/>
          <a:ea typeface="+mj-ea"/>
          <a:cs typeface="+mj-cs"/>
        </a:defRPr>
      </a:lvl1pPr>
    </p:titleStyle>
    <p:bodyStyle>
      <a:lvl1pPr marL="0" indent="0" algn="l" defTabSz="914354" rtl="0" eaLnBrk="1" latinLnBrk="0" hangingPunct="1">
        <a:spcBef>
          <a:spcPct val="200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13" indent="-285737" algn="l" defTabSz="914354" rtl="0" eaLnBrk="1" latinLnBrk="0" hangingPunct="1">
        <a:spcBef>
          <a:spcPct val="20000"/>
        </a:spcBef>
        <a:buClr>
          <a:srgbClr val="37A5AC"/>
        </a:buClr>
        <a:buFont typeface="Arial" panose="020B0604020202020204" pitchFamily="34" charset="0"/>
        <a:buChar char="►"/>
        <a:defRPr sz="14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200091" indent="-285737" algn="l" defTabSz="914354" rtl="0" eaLnBrk="1" latinLnBrk="0" hangingPunct="1">
        <a:spcBef>
          <a:spcPct val="20000"/>
        </a:spcBef>
        <a:buFont typeface="Arial" panose="020B0604020202020204" pitchFamily="34" charset="0"/>
        <a:buChar char="•"/>
        <a:defRPr sz="1400"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371532" indent="0" algn="l" defTabSz="914354" rtl="0" eaLnBrk="1" latinLnBrk="0" hangingPunct="1">
        <a:spcBef>
          <a:spcPct val="20000"/>
        </a:spcBef>
        <a:buFont typeface="Arial" panose="020B0604020202020204" pitchFamily="34" charset="0"/>
        <a:buNone/>
        <a:defRPr sz="1400"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057297" indent="-228588" algn="l" defTabSz="914354" rtl="0" eaLnBrk="1" latinLnBrk="0" hangingPunct="1">
        <a:spcBef>
          <a:spcPct val="20000"/>
        </a:spcBef>
        <a:buFont typeface="Arial" panose="020B0604020202020204" pitchFamily="34" charset="0"/>
        <a:buChar char="»"/>
        <a:defRPr sz="1400"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2514474" indent="-228588"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652" indent="-228588"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828" indent="-228588"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006" indent="-228588"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3"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6"/>
            <a:ext cx="10972800" cy="41655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p:txBody>
      </p:sp>
      <p:graphicFrame>
        <p:nvGraphicFramePr>
          <p:cNvPr id="9" name="Object 8"/>
          <p:cNvGraphicFramePr>
            <a:graphicFrameLocks noChangeAspect="1"/>
          </p:cNvGraphicFramePr>
          <p:nvPr>
            <p:extLst>
              <p:ext uri="{D42A27DB-BD31-4B8C-83A1-F6EECF244321}">
                <p14:modId xmlns:p14="http://schemas.microsoft.com/office/powerpoint/2010/main" val="1620720696"/>
              </p:ext>
            </p:extLst>
          </p:nvPr>
        </p:nvGraphicFramePr>
        <p:xfrm>
          <a:off x="11936281" y="0"/>
          <a:ext cx="249543" cy="1943558"/>
        </p:xfrm>
        <a:graphic>
          <a:graphicData uri="http://schemas.openxmlformats.org/presentationml/2006/ole">
            <mc:AlternateContent xmlns:mc="http://schemas.openxmlformats.org/markup-compatibility/2006">
              <mc:Choice xmlns:v="urn:schemas-microsoft-com:vml" Requires="v">
                <p:oleObj name="Image" r:id="rId6" imgW="330120" imgH="3428280" progId="Photoshop.Image.13">
                  <p:embed/>
                </p:oleObj>
              </mc:Choice>
              <mc:Fallback>
                <p:oleObj name="Image" r:id="rId6" imgW="330120" imgH="3428280" progId="Photoshop.Image.13">
                  <p:embed/>
                  <p:pic>
                    <p:nvPicPr>
                      <p:cNvPr id="9" name="Object 8"/>
                      <p:cNvPicPr/>
                      <p:nvPr/>
                    </p:nvPicPr>
                    <p:blipFill>
                      <a:blip r:embed="rId7"/>
                      <a:stretch>
                        <a:fillRect/>
                      </a:stretch>
                    </p:blipFill>
                    <p:spPr>
                      <a:xfrm>
                        <a:off x="11936281" y="0"/>
                        <a:ext cx="249543" cy="1943558"/>
                      </a:xfrm>
                      <a:prstGeom prst="rect">
                        <a:avLst/>
                      </a:prstGeom>
                    </p:spPr>
                  </p:pic>
                </p:oleObj>
              </mc:Fallback>
            </mc:AlternateContent>
          </a:graphicData>
        </a:graphic>
      </p:graphicFrame>
      <p:sp>
        <p:nvSpPr>
          <p:cNvPr id="13" name="Text Placeholder 7"/>
          <p:cNvSpPr txBox="1">
            <a:spLocks/>
          </p:cNvSpPr>
          <p:nvPr userDrawn="1"/>
        </p:nvSpPr>
        <p:spPr>
          <a:xfrm>
            <a:off x="0" y="6502400"/>
            <a:ext cx="12192000" cy="279400"/>
          </a:xfrm>
          <a:prstGeom prst="rect">
            <a:avLst/>
          </a:prstGeom>
        </p:spPr>
        <p:txBody>
          <a:bodyPr anchor="ctr">
            <a:normAutofit lnSpcReduction="10000"/>
          </a:bodyPr>
          <a:lstStyle>
            <a:lvl1pPr marL="0" indent="0" algn="r" defTabSz="914354" rtl="0" eaLnBrk="1" latinLnBrk="0" hangingPunct="1">
              <a:spcBef>
                <a:spcPct val="20000"/>
              </a:spcBef>
              <a:buFont typeface="Arial" panose="020B0604020202020204" pitchFamily="34" charset="0"/>
              <a:buNone/>
              <a:defRPr sz="1300" kern="1200">
                <a:solidFill>
                  <a:srgbClr val="192F43"/>
                </a:solidFill>
                <a:latin typeface="Franklin Gothic Medium Cond" panose="020B0606030402020204" pitchFamily="34" charset="0"/>
                <a:ea typeface="+mn-ea"/>
                <a:cs typeface="Arial" panose="020B0604020202020204" pitchFamily="34" charset="0"/>
              </a:defRPr>
            </a:lvl1pPr>
            <a:lvl2pPr marL="742913" indent="-285737" algn="l" defTabSz="914354" rtl="0" eaLnBrk="1" latinLnBrk="0" hangingPunct="1">
              <a:spcBef>
                <a:spcPct val="20000"/>
              </a:spcBef>
              <a:buClr>
                <a:srgbClr val="37A5AC"/>
              </a:buClr>
              <a:buFont typeface="Arial" panose="020B0604020202020204" pitchFamily="34" charset="0"/>
              <a:buChar char="►"/>
              <a:defRPr sz="14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200091" indent="-285737" algn="l" defTabSz="914354" rtl="0" eaLnBrk="1" latinLnBrk="0" hangingPunct="1">
              <a:spcBef>
                <a:spcPct val="20000"/>
              </a:spcBef>
              <a:buFont typeface="Arial" panose="020B0604020202020204" pitchFamily="34" charset="0"/>
              <a:buChar char="•"/>
              <a:defRPr sz="1400"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371532" indent="0" algn="l" defTabSz="914354" rtl="0" eaLnBrk="1" latinLnBrk="0" hangingPunct="1">
              <a:spcBef>
                <a:spcPct val="20000"/>
              </a:spcBef>
              <a:buFont typeface="Arial" panose="020B0604020202020204" pitchFamily="34" charset="0"/>
              <a:buNone/>
              <a:defRPr sz="1400"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057297" indent="-228588" algn="l" defTabSz="914354" rtl="0" eaLnBrk="1" latinLnBrk="0" hangingPunct="1">
              <a:spcBef>
                <a:spcPct val="20000"/>
              </a:spcBef>
              <a:buFont typeface="Arial" panose="020B0604020202020204" pitchFamily="34" charset="0"/>
              <a:buChar char="»"/>
              <a:defRPr sz="1400"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2514474" indent="-228588"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652" indent="-228588"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828" indent="-228588"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006" indent="-228588"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t>UNCLASSIFIED</a:t>
            </a:r>
          </a:p>
        </p:txBody>
      </p:sp>
      <p:sp>
        <p:nvSpPr>
          <p:cNvPr id="14" name="TextBox 13"/>
          <p:cNvSpPr txBox="1"/>
          <p:nvPr userDrawn="1"/>
        </p:nvSpPr>
        <p:spPr>
          <a:xfrm>
            <a:off x="101600" y="6513659"/>
            <a:ext cx="3001819" cy="246221"/>
          </a:xfrm>
          <a:prstGeom prst="rect">
            <a:avLst/>
          </a:prstGeom>
          <a:noFill/>
        </p:spPr>
        <p:txBody>
          <a:bodyPr wrap="square" rtlCol="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fld id="{DC3401BA-974E-41E0-B01E-EF44B485DA0B}" type="slidenum">
              <a:rPr kumimoji="0" lang="en-US" sz="1000" b="0" i="0" u="none" strike="noStrike" kern="1200" cap="none" spc="0" normalizeH="0" baseline="0" noProof="0" smtClean="0">
                <a:ln>
                  <a:noFill/>
                </a:ln>
                <a:solidFill>
                  <a:srgbClr val="37A5AC"/>
                </a:solidFill>
                <a:effectLst/>
                <a:uLnTx/>
                <a:uFillTx/>
                <a:latin typeface="Franklin Gothic Book" panose="020B0503020102020204" pitchFamily="34" charset="0"/>
                <a:ea typeface="+mn-ea"/>
                <a:cs typeface="+mn-cs"/>
              </a:rPr>
              <a:pPr marL="0" marR="0" lvl="0" indent="0" algn="l" defTabSz="121917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srgbClr val="37A5AC"/>
              </a:solidFill>
              <a:effectLst/>
              <a:uLnTx/>
              <a:uFillTx/>
              <a:latin typeface="Franklin Gothic Book" panose="020B0503020102020204" pitchFamily="34" charset="0"/>
              <a:ea typeface="+mn-ea"/>
              <a:cs typeface="+mn-cs"/>
            </a:endParaRPr>
          </a:p>
        </p:txBody>
      </p:sp>
      <p:sp>
        <p:nvSpPr>
          <p:cNvPr id="15" name="Text Placeholder 7"/>
          <p:cNvSpPr txBox="1">
            <a:spLocks/>
          </p:cNvSpPr>
          <p:nvPr userDrawn="1"/>
        </p:nvSpPr>
        <p:spPr>
          <a:xfrm>
            <a:off x="0" y="101600"/>
            <a:ext cx="12192000" cy="279400"/>
          </a:xfrm>
          <a:prstGeom prst="rect">
            <a:avLst/>
          </a:prstGeom>
        </p:spPr>
        <p:txBody>
          <a:bodyPr anchor="ctr">
            <a:normAutofit lnSpcReduction="10000"/>
          </a:bodyPr>
          <a:lstStyle>
            <a:lvl1pPr marL="0" indent="0" algn="l" defTabSz="914354" rtl="0" eaLnBrk="1" latinLnBrk="0" hangingPunct="1">
              <a:spcBef>
                <a:spcPct val="20000"/>
              </a:spcBef>
              <a:buFont typeface="Arial" panose="020B0604020202020204" pitchFamily="34" charset="0"/>
              <a:buNone/>
              <a:defRPr sz="1300" kern="1200">
                <a:solidFill>
                  <a:srgbClr val="192F43"/>
                </a:solidFill>
                <a:latin typeface="Franklin Gothic Medium Cond" panose="020B0606030402020204" pitchFamily="34" charset="0"/>
                <a:ea typeface="+mn-ea"/>
                <a:cs typeface="Arial" panose="020B0604020202020204" pitchFamily="34" charset="0"/>
              </a:defRPr>
            </a:lvl1pPr>
            <a:lvl2pPr marL="742913" indent="-285737" algn="l" defTabSz="914354" rtl="0" eaLnBrk="1" latinLnBrk="0" hangingPunct="1">
              <a:spcBef>
                <a:spcPct val="20000"/>
              </a:spcBef>
              <a:buClr>
                <a:srgbClr val="37A5AC"/>
              </a:buClr>
              <a:buFont typeface="Arial" panose="020B0604020202020204" pitchFamily="34" charset="0"/>
              <a:buChar char="►"/>
              <a:defRPr sz="14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200091" indent="-285737" algn="l" defTabSz="914354" rtl="0" eaLnBrk="1" latinLnBrk="0" hangingPunct="1">
              <a:spcBef>
                <a:spcPct val="20000"/>
              </a:spcBef>
              <a:buFont typeface="Arial" panose="020B0604020202020204" pitchFamily="34" charset="0"/>
              <a:buChar char="•"/>
              <a:defRPr sz="1400"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371532" indent="0" algn="l" defTabSz="914354" rtl="0" eaLnBrk="1" latinLnBrk="0" hangingPunct="1">
              <a:spcBef>
                <a:spcPct val="20000"/>
              </a:spcBef>
              <a:buFont typeface="Arial" panose="020B0604020202020204" pitchFamily="34" charset="0"/>
              <a:buNone/>
              <a:defRPr sz="1400"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057297" indent="-228588" algn="l" defTabSz="914354" rtl="0" eaLnBrk="1" latinLnBrk="0" hangingPunct="1">
              <a:spcBef>
                <a:spcPct val="20000"/>
              </a:spcBef>
              <a:buFont typeface="Arial" panose="020B0604020202020204" pitchFamily="34" charset="0"/>
              <a:buChar char="»"/>
              <a:defRPr sz="1400"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2514474" indent="-228588"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652" indent="-228588"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828" indent="-228588"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006" indent="-228588"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a:t>UNCLASSIFIED</a:t>
            </a:r>
          </a:p>
        </p:txBody>
      </p:sp>
      <p:sp>
        <p:nvSpPr>
          <p:cNvPr id="4" name="AACG_Header_Shape">
            <a:extLst>
              <a:ext uri="{FF2B5EF4-FFF2-40B4-BE49-F238E27FC236}">
                <a16:creationId xmlns:a16="http://schemas.microsoft.com/office/drawing/2014/main" id="{1739846B-82EA-B1D0-F5BD-5BC902C46544}"/>
              </a:ext>
            </a:extLst>
          </p:cNvPr>
          <p:cNvSpPr txBox="1"/>
          <p:nvPr userDrawn="1"/>
        </p:nvSpPr>
        <p:spPr>
          <a:xfrm>
            <a:off x="0" y="0"/>
            <a:ext cx="12192000" cy="276999"/>
          </a:xfrm>
          <a:prstGeom prst="rect">
            <a:avLst/>
          </a:prstGeom>
          <a:noFill/>
        </p:spPr>
        <p:txBody>
          <a:bodyPr vert="horz" wrap="square" rtlCol="0">
            <a:spAutoFit/>
          </a:bodyPr>
          <a:lstStyle/>
          <a:p>
            <a:pPr algn="ctr"/>
            <a:r>
              <a:rPr lang="en-US" sz="1200" b="0">
                <a:solidFill>
                  <a:srgbClr val="192F43"/>
                </a:solidFill>
                <a:latin typeface="Franklin Gothic Medium Cond" panose="020B0606030402020204" pitchFamily="34" charset="0"/>
              </a:rPr>
              <a:t>UNCLASSIFIED</a:t>
            </a:r>
          </a:p>
        </p:txBody>
      </p:sp>
      <p:sp>
        <p:nvSpPr>
          <p:cNvPr id="5" name="AACG_Footer_Shape">
            <a:extLst>
              <a:ext uri="{FF2B5EF4-FFF2-40B4-BE49-F238E27FC236}">
                <a16:creationId xmlns:a16="http://schemas.microsoft.com/office/drawing/2014/main" id="{AE1D60B2-45C5-3416-FEE3-18B3DB97F10D}"/>
              </a:ext>
            </a:extLst>
          </p:cNvPr>
          <p:cNvSpPr txBox="1"/>
          <p:nvPr userDrawn="1"/>
        </p:nvSpPr>
        <p:spPr>
          <a:xfrm>
            <a:off x="0" y="6568301"/>
            <a:ext cx="12192000" cy="276999"/>
          </a:xfrm>
          <a:prstGeom prst="rect">
            <a:avLst/>
          </a:prstGeom>
          <a:noFill/>
        </p:spPr>
        <p:txBody>
          <a:bodyPr vert="horz" wrap="square" rtlCol="0">
            <a:spAutoFit/>
          </a:bodyPr>
          <a:lstStyle/>
          <a:p>
            <a:pPr algn="ctr"/>
            <a:r>
              <a:rPr lang="en-US" sz="1200" b="0">
                <a:solidFill>
                  <a:srgbClr val="192F43"/>
                </a:solidFill>
                <a:latin typeface="Franklin Gothic Medium Cond" panose="020B0606030402020204" pitchFamily="34" charset="0"/>
              </a:rPr>
              <a:t>UNCLASSIFIED</a:t>
            </a:r>
          </a:p>
        </p:txBody>
      </p:sp>
    </p:spTree>
    <p:extLst>
      <p:ext uri="{BB962C8B-B14F-4D97-AF65-F5344CB8AC3E}">
        <p14:creationId xmlns:p14="http://schemas.microsoft.com/office/powerpoint/2010/main" val="798177887"/>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354" rtl="0" eaLnBrk="1" latinLnBrk="0" hangingPunct="1">
        <a:spcBef>
          <a:spcPct val="0"/>
        </a:spcBef>
        <a:buNone/>
        <a:defRPr sz="2400" kern="1200">
          <a:solidFill>
            <a:srgbClr val="192F43"/>
          </a:solidFill>
          <a:latin typeface="Franklin Gothic Medium Cond" panose="020B0606030402020204" pitchFamily="34" charset="0"/>
          <a:ea typeface="+mj-ea"/>
          <a:cs typeface="+mj-cs"/>
        </a:defRPr>
      </a:lvl1pPr>
    </p:titleStyle>
    <p:bodyStyle>
      <a:lvl1pPr marL="0" indent="0" algn="l" defTabSz="914354" rtl="0" eaLnBrk="1" latinLnBrk="0" hangingPunct="1">
        <a:spcBef>
          <a:spcPct val="20000"/>
        </a:spcBef>
        <a:buFont typeface="Arial" panose="020B0604020202020204" pitchFamily="34" charset="0"/>
        <a:buNone/>
        <a:defRPr sz="1600" kern="1200">
          <a:solidFill>
            <a:schemeClr val="tx1"/>
          </a:solidFill>
          <a:latin typeface="Arial" panose="020B0604020202020204" pitchFamily="34" charset="0"/>
          <a:ea typeface="+mn-ea"/>
          <a:cs typeface="Arial" panose="020B0604020202020204" pitchFamily="34" charset="0"/>
        </a:defRPr>
      </a:lvl1pPr>
      <a:lvl2pPr marL="742913" indent="-285737" algn="l" defTabSz="914354" rtl="0" eaLnBrk="1" latinLnBrk="0" hangingPunct="1">
        <a:spcBef>
          <a:spcPct val="20000"/>
        </a:spcBef>
        <a:buClr>
          <a:srgbClr val="37A5AC"/>
        </a:buClr>
        <a:buFont typeface="Arial" panose="020B0604020202020204" pitchFamily="34" charset="0"/>
        <a:buChar char="►"/>
        <a:defRPr sz="1400" kern="1200">
          <a:solidFill>
            <a:schemeClr val="tx1">
              <a:lumMod val="75000"/>
              <a:lumOff val="25000"/>
            </a:schemeClr>
          </a:solidFill>
          <a:latin typeface="Arial" panose="020B0604020202020204" pitchFamily="34" charset="0"/>
          <a:ea typeface="+mn-ea"/>
          <a:cs typeface="Arial" panose="020B0604020202020204" pitchFamily="34" charset="0"/>
        </a:defRPr>
      </a:lvl2pPr>
      <a:lvl3pPr marL="1200091" indent="-285737" algn="l" defTabSz="914354" rtl="0" eaLnBrk="1" latinLnBrk="0" hangingPunct="1">
        <a:spcBef>
          <a:spcPct val="20000"/>
        </a:spcBef>
        <a:buFont typeface="Arial" panose="020B0604020202020204" pitchFamily="34" charset="0"/>
        <a:buChar char="•"/>
        <a:defRPr sz="1400" kern="1200">
          <a:solidFill>
            <a:schemeClr val="tx1">
              <a:lumMod val="75000"/>
              <a:lumOff val="25000"/>
            </a:schemeClr>
          </a:solidFill>
          <a:latin typeface="Arial" panose="020B0604020202020204" pitchFamily="34" charset="0"/>
          <a:ea typeface="+mn-ea"/>
          <a:cs typeface="Arial" panose="020B0604020202020204" pitchFamily="34" charset="0"/>
        </a:defRPr>
      </a:lvl3pPr>
      <a:lvl4pPr marL="1371532" indent="0" algn="l" defTabSz="914354" rtl="0" eaLnBrk="1" latinLnBrk="0" hangingPunct="1">
        <a:spcBef>
          <a:spcPct val="20000"/>
        </a:spcBef>
        <a:buFont typeface="Arial" panose="020B0604020202020204" pitchFamily="34" charset="0"/>
        <a:buNone/>
        <a:defRPr sz="1400" kern="1200">
          <a:solidFill>
            <a:schemeClr val="tx1">
              <a:lumMod val="75000"/>
              <a:lumOff val="25000"/>
            </a:schemeClr>
          </a:solidFill>
          <a:latin typeface="Arial" panose="020B0604020202020204" pitchFamily="34" charset="0"/>
          <a:ea typeface="+mn-ea"/>
          <a:cs typeface="Arial" panose="020B0604020202020204" pitchFamily="34" charset="0"/>
        </a:defRPr>
      </a:lvl4pPr>
      <a:lvl5pPr marL="2057297" indent="-228588" algn="l" defTabSz="914354" rtl="0" eaLnBrk="1" latinLnBrk="0" hangingPunct="1">
        <a:spcBef>
          <a:spcPct val="20000"/>
        </a:spcBef>
        <a:buFont typeface="Arial" panose="020B0604020202020204" pitchFamily="34" charset="0"/>
        <a:buChar char="»"/>
        <a:defRPr sz="1400" kern="1200">
          <a:solidFill>
            <a:schemeClr val="tx1">
              <a:lumMod val="75000"/>
              <a:lumOff val="25000"/>
            </a:schemeClr>
          </a:solidFill>
          <a:latin typeface="Arial" panose="020B0604020202020204" pitchFamily="34" charset="0"/>
          <a:ea typeface="+mn-ea"/>
          <a:cs typeface="Arial" panose="020B0604020202020204" pitchFamily="34" charset="0"/>
        </a:defRPr>
      </a:lvl5pPr>
      <a:lvl6pPr marL="2514474" indent="-228588"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652" indent="-228588"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828" indent="-228588"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006" indent="-228588" algn="l" defTabSz="914354"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3"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a:t>Rich Howard </a:t>
            </a:r>
          </a:p>
        </p:txBody>
      </p:sp>
      <p:sp>
        <p:nvSpPr>
          <p:cNvPr id="3" name="Text Placeholder 2"/>
          <p:cNvSpPr>
            <a:spLocks noGrp="1"/>
          </p:cNvSpPr>
          <p:nvPr>
            <p:ph type="body" sz="quarter" idx="14"/>
          </p:nvPr>
        </p:nvSpPr>
        <p:spPr/>
        <p:txBody>
          <a:bodyPr>
            <a:normAutofit/>
          </a:bodyPr>
          <a:lstStyle/>
          <a:p>
            <a:r>
              <a:rPr lang="en-US" dirty="0"/>
              <a:t>11/03/2025</a:t>
            </a:r>
          </a:p>
          <a:p>
            <a:endParaRPr lang="en-US" dirty="0"/>
          </a:p>
        </p:txBody>
      </p:sp>
      <p:sp>
        <p:nvSpPr>
          <p:cNvPr id="4" name="Text Placeholder 3"/>
          <p:cNvSpPr>
            <a:spLocks noGrp="1"/>
          </p:cNvSpPr>
          <p:nvPr>
            <p:ph type="body" sz="quarter" idx="15"/>
          </p:nvPr>
        </p:nvSpPr>
        <p:spPr/>
        <p:txBody>
          <a:bodyPr>
            <a:normAutofit lnSpcReduction="10000"/>
          </a:bodyPr>
          <a:lstStyle/>
          <a:p>
            <a:r>
              <a:rPr lang="en-US"/>
              <a:t>UNCLASSIFIED</a:t>
            </a:r>
          </a:p>
        </p:txBody>
      </p:sp>
      <p:sp>
        <p:nvSpPr>
          <p:cNvPr id="5" name="Text Placeholder 4"/>
          <p:cNvSpPr>
            <a:spLocks noGrp="1"/>
          </p:cNvSpPr>
          <p:nvPr>
            <p:ph type="body" sz="quarter" idx="16"/>
          </p:nvPr>
        </p:nvSpPr>
        <p:spPr/>
        <p:txBody>
          <a:bodyPr>
            <a:normAutofit lnSpcReduction="10000"/>
          </a:bodyPr>
          <a:lstStyle/>
          <a:p>
            <a:r>
              <a:rPr lang="en-US"/>
              <a:t>UNCLASSIFIED</a:t>
            </a:r>
          </a:p>
        </p:txBody>
      </p:sp>
      <p:sp>
        <p:nvSpPr>
          <p:cNvPr id="6" name="Text Placeholder 5"/>
          <p:cNvSpPr>
            <a:spLocks noGrp="1"/>
          </p:cNvSpPr>
          <p:nvPr>
            <p:ph type="body" sz="quarter" idx="17"/>
          </p:nvPr>
        </p:nvSpPr>
        <p:spPr/>
        <p:txBody>
          <a:bodyPr/>
          <a:lstStyle/>
          <a:p>
            <a:r>
              <a:rPr lang="en-US" dirty="0"/>
              <a:t>VCPS Breakout / Storage Pool Overview </a:t>
            </a:r>
          </a:p>
        </p:txBody>
      </p:sp>
      <p:sp>
        <p:nvSpPr>
          <p:cNvPr id="7" name="Text Placeholder 6"/>
          <p:cNvSpPr>
            <a:spLocks noGrp="1"/>
          </p:cNvSpPr>
          <p:nvPr>
            <p:ph type="body" sz="quarter" idx="13"/>
          </p:nvPr>
        </p:nvSpPr>
        <p:spPr/>
        <p:txBody>
          <a:bodyPr/>
          <a:lstStyle/>
          <a:p>
            <a:r>
              <a:rPr lang="en-US"/>
              <a:t>UNCLASSIFIED</a:t>
            </a:r>
          </a:p>
        </p:txBody>
      </p:sp>
      <p:sp>
        <p:nvSpPr>
          <p:cNvPr id="8" name="TextBox 7">
            <a:extLst>
              <a:ext uri="{FF2B5EF4-FFF2-40B4-BE49-F238E27FC236}">
                <a16:creationId xmlns:a16="http://schemas.microsoft.com/office/drawing/2014/main" id="{643399DB-4C75-21C5-CF11-8EF87CB03570}"/>
              </a:ext>
            </a:extLst>
          </p:cNvPr>
          <p:cNvSpPr txBox="1"/>
          <p:nvPr/>
        </p:nvSpPr>
        <p:spPr>
          <a:xfrm>
            <a:off x="938741" y="3835400"/>
            <a:ext cx="1052468" cy="369332"/>
          </a:xfrm>
          <a:prstGeom prst="rect">
            <a:avLst/>
          </a:prstGeom>
          <a:noFill/>
        </p:spPr>
        <p:txBody>
          <a:bodyPr wrap="none" rtlCol="0">
            <a:spAutoFit/>
          </a:bodyPr>
          <a:lstStyle/>
          <a:p>
            <a:r>
              <a:rPr lang="en-US" dirty="0">
                <a:solidFill>
                  <a:schemeClr val="accent2"/>
                </a:solidFill>
              </a:rPr>
              <a:t>Version 2</a:t>
            </a:r>
          </a:p>
        </p:txBody>
      </p:sp>
    </p:spTree>
    <p:extLst>
      <p:ext uri="{BB962C8B-B14F-4D97-AF65-F5344CB8AC3E}">
        <p14:creationId xmlns:p14="http://schemas.microsoft.com/office/powerpoint/2010/main" val="207310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FDD79-09FC-CC89-0C6C-B063487CD845}"/>
              </a:ext>
            </a:extLst>
          </p:cNvPr>
          <p:cNvSpPr>
            <a:spLocks noGrp="1"/>
          </p:cNvSpPr>
          <p:nvPr>
            <p:ph type="title"/>
          </p:nvPr>
        </p:nvSpPr>
        <p:spPr/>
        <p:txBody>
          <a:bodyPr/>
          <a:lstStyle/>
          <a:p>
            <a:r>
              <a:rPr lang="en-US" dirty="0"/>
              <a:t>Change Log</a:t>
            </a:r>
          </a:p>
        </p:txBody>
      </p:sp>
      <p:graphicFrame>
        <p:nvGraphicFramePr>
          <p:cNvPr id="4" name="Content Placeholder 3">
            <a:extLst>
              <a:ext uri="{FF2B5EF4-FFF2-40B4-BE49-F238E27FC236}">
                <a16:creationId xmlns:a16="http://schemas.microsoft.com/office/drawing/2014/main" id="{24498D80-F708-F36C-E934-B4B96F1E37BC}"/>
              </a:ext>
            </a:extLst>
          </p:cNvPr>
          <p:cNvGraphicFramePr>
            <a:graphicFrameLocks noGrp="1"/>
          </p:cNvGraphicFramePr>
          <p:nvPr>
            <p:ph idx="1"/>
            <p:extLst>
              <p:ext uri="{D42A27DB-BD31-4B8C-83A1-F6EECF244321}">
                <p14:modId xmlns:p14="http://schemas.microsoft.com/office/powerpoint/2010/main" val="1556906814"/>
              </p:ext>
            </p:extLst>
          </p:nvPr>
        </p:nvGraphicFramePr>
        <p:xfrm>
          <a:off x="609600" y="1600200"/>
          <a:ext cx="10972797" cy="1854200"/>
        </p:xfrm>
        <a:graphic>
          <a:graphicData uri="http://schemas.openxmlformats.org/drawingml/2006/table">
            <a:tbl>
              <a:tblPr firstRow="1" bandRow="1">
                <a:tableStyleId>{5C22544A-7EE6-4342-B048-85BDC9FD1C3A}</a:tableStyleId>
              </a:tblPr>
              <a:tblGrid>
                <a:gridCol w="1027176">
                  <a:extLst>
                    <a:ext uri="{9D8B030D-6E8A-4147-A177-3AD203B41FA5}">
                      <a16:colId xmlns:a16="http://schemas.microsoft.com/office/drawing/2014/main" val="3771255432"/>
                    </a:ext>
                  </a:extLst>
                </a:gridCol>
                <a:gridCol w="1837944">
                  <a:extLst>
                    <a:ext uri="{9D8B030D-6E8A-4147-A177-3AD203B41FA5}">
                      <a16:colId xmlns:a16="http://schemas.microsoft.com/office/drawing/2014/main" val="111316818"/>
                    </a:ext>
                  </a:extLst>
                </a:gridCol>
                <a:gridCol w="8107677">
                  <a:extLst>
                    <a:ext uri="{9D8B030D-6E8A-4147-A177-3AD203B41FA5}">
                      <a16:colId xmlns:a16="http://schemas.microsoft.com/office/drawing/2014/main" val="2308042115"/>
                    </a:ext>
                  </a:extLst>
                </a:gridCol>
              </a:tblGrid>
              <a:tr h="370840">
                <a:tc>
                  <a:txBody>
                    <a:bodyPr/>
                    <a:lstStyle/>
                    <a:p>
                      <a:r>
                        <a:rPr lang="en-US" dirty="0"/>
                        <a:t>Version</a:t>
                      </a:r>
                    </a:p>
                  </a:txBody>
                  <a:tcPr/>
                </a:tc>
                <a:tc>
                  <a:txBody>
                    <a:bodyPr/>
                    <a:lstStyle/>
                    <a:p>
                      <a:r>
                        <a:rPr lang="en-US" dirty="0"/>
                        <a:t>Date</a:t>
                      </a:r>
                    </a:p>
                  </a:txBody>
                  <a:tcPr/>
                </a:tc>
                <a:tc>
                  <a:txBody>
                    <a:bodyPr/>
                    <a:lstStyle/>
                    <a:p>
                      <a:r>
                        <a:rPr lang="en-US" dirty="0"/>
                        <a:t>Notes</a:t>
                      </a:r>
                    </a:p>
                  </a:txBody>
                  <a:tcPr/>
                </a:tc>
                <a:extLst>
                  <a:ext uri="{0D108BD9-81ED-4DB2-BD59-A6C34878D82A}">
                    <a16:rowId xmlns:a16="http://schemas.microsoft.com/office/drawing/2014/main" val="367888667"/>
                  </a:ext>
                </a:extLst>
              </a:tr>
              <a:tr h="370840">
                <a:tc>
                  <a:txBody>
                    <a:bodyPr/>
                    <a:lstStyle/>
                    <a:p>
                      <a:pPr algn="ctr"/>
                      <a:r>
                        <a:rPr lang="en-US" dirty="0"/>
                        <a:t>1</a:t>
                      </a:r>
                    </a:p>
                  </a:txBody>
                  <a:tcPr/>
                </a:tc>
                <a:tc>
                  <a:txBody>
                    <a:bodyPr/>
                    <a:lstStyle/>
                    <a:p>
                      <a:pPr algn="ctr"/>
                      <a:r>
                        <a:rPr lang="en-US" dirty="0"/>
                        <a:t>10/28/25</a:t>
                      </a:r>
                    </a:p>
                  </a:txBody>
                  <a:tcPr/>
                </a:tc>
                <a:tc>
                  <a:txBody>
                    <a:bodyPr/>
                    <a:lstStyle/>
                    <a:p>
                      <a:r>
                        <a:rPr lang="en-US" dirty="0"/>
                        <a:t>Original</a:t>
                      </a:r>
                    </a:p>
                  </a:txBody>
                  <a:tcPr/>
                </a:tc>
                <a:extLst>
                  <a:ext uri="{0D108BD9-81ED-4DB2-BD59-A6C34878D82A}">
                    <a16:rowId xmlns:a16="http://schemas.microsoft.com/office/drawing/2014/main" val="2740366916"/>
                  </a:ext>
                </a:extLst>
              </a:tr>
              <a:tr h="370840">
                <a:tc>
                  <a:txBody>
                    <a:bodyPr/>
                    <a:lstStyle/>
                    <a:p>
                      <a:pPr algn="ctr"/>
                      <a:r>
                        <a:rPr lang="en-US" dirty="0"/>
                        <a:t>2</a:t>
                      </a:r>
                    </a:p>
                  </a:txBody>
                  <a:tcPr/>
                </a:tc>
                <a:tc>
                  <a:txBody>
                    <a:bodyPr/>
                    <a:lstStyle/>
                    <a:p>
                      <a:pPr algn="ctr"/>
                      <a:r>
                        <a:rPr lang="en-US" dirty="0"/>
                        <a:t>11/3/25</a:t>
                      </a:r>
                    </a:p>
                  </a:txBody>
                  <a:tcPr/>
                </a:tc>
                <a:tc>
                  <a:txBody>
                    <a:bodyPr/>
                    <a:lstStyle/>
                    <a:p>
                      <a:r>
                        <a:rPr lang="en-US" dirty="0"/>
                        <a:t>Minor change to syntax and descriptions</a:t>
                      </a:r>
                    </a:p>
                  </a:txBody>
                  <a:tcPr/>
                </a:tc>
                <a:extLst>
                  <a:ext uri="{0D108BD9-81ED-4DB2-BD59-A6C34878D82A}">
                    <a16:rowId xmlns:a16="http://schemas.microsoft.com/office/drawing/2014/main" val="363636205"/>
                  </a:ext>
                </a:extLst>
              </a:tr>
              <a:tr h="370840">
                <a:tc>
                  <a:txBody>
                    <a:bodyPr/>
                    <a:lstStyle/>
                    <a:p>
                      <a:pPr algn="ctr"/>
                      <a:endParaRPr lang="en-US" dirty="0"/>
                    </a:p>
                  </a:txBody>
                  <a:tcPr/>
                </a:tc>
                <a:tc>
                  <a:txBody>
                    <a:bodyPr/>
                    <a:lstStyle/>
                    <a:p>
                      <a:pPr algn="ctr"/>
                      <a:endParaRPr lang="en-US" dirty="0"/>
                    </a:p>
                  </a:txBody>
                  <a:tcPr/>
                </a:tc>
                <a:tc>
                  <a:txBody>
                    <a:bodyPr/>
                    <a:lstStyle/>
                    <a:p>
                      <a:endParaRPr lang="en-US" dirty="0"/>
                    </a:p>
                  </a:txBody>
                  <a:tcPr/>
                </a:tc>
                <a:extLst>
                  <a:ext uri="{0D108BD9-81ED-4DB2-BD59-A6C34878D82A}">
                    <a16:rowId xmlns:a16="http://schemas.microsoft.com/office/drawing/2014/main" val="2184741024"/>
                  </a:ext>
                </a:extLst>
              </a:tr>
              <a:tr h="370840">
                <a:tc>
                  <a:txBody>
                    <a:bodyPr/>
                    <a:lstStyle/>
                    <a:p>
                      <a:pPr algn="ctr"/>
                      <a:endParaRPr lang="en-US"/>
                    </a:p>
                  </a:txBody>
                  <a:tcPr/>
                </a:tc>
                <a:tc>
                  <a:txBody>
                    <a:bodyPr/>
                    <a:lstStyle/>
                    <a:p>
                      <a:pPr algn="ctr"/>
                      <a:endParaRPr lang="en-US" dirty="0"/>
                    </a:p>
                  </a:txBody>
                  <a:tcPr/>
                </a:tc>
                <a:tc>
                  <a:txBody>
                    <a:bodyPr/>
                    <a:lstStyle/>
                    <a:p>
                      <a:endParaRPr lang="en-US" dirty="0"/>
                    </a:p>
                  </a:txBody>
                  <a:tcPr/>
                </a:tc>
                <a:extLst>
                  <a:ext uri="{0D108BD9-81ED-4DB2-BD59-A6C34878D82A}">
                    <a16:rowId xmlns:a16="http://schemas.microsoft.com/office/drawing/2014/main" val="1575921434"/>
                  </a:ext>
                </a:extLst>
              </a:tr>
            </a:tbl>
          </a:graphicData>
        </a:graphic>
      </p:graphicFrame>
    </p:spTree>
    <p:extLst>
      <p:ext uri="{BB962C8B-B14F-4D97-AF65-F5344CB8AC3E}">
        <p14:creationId xmlns:p14="http://schemas.microsoft.com/office/powerpoint/2010/main" val="3992395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18AA9-EB13-A037-EC92-F67376437E1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4F2AF3F-8B46-5297-95AB-3E3628DBBD45}"/>
              </a:ext>
            </a:extLst>
          </p:cNvPr>
          <p:cNvSpPr>
            <a:spLocks noGrp="1"/>
          </p:cNvSpPr>
          <p:nvPr>
            <p:ph type="body" sz="quarter" idx="13"/>
          </p:nvPr>
        </p:nvSpPr>
        <p:spPr>
          <a:xfrm>
            <a:off x="609600" y="1107893"/>
            <a:ext cx="11244943" cy="5162277"/>
          </a:xfrm>
        </p:spPr>
        <p:txBody>
          <a:bodyPr>
            <a:normAutofit lnSpcReduction="10000"/>
          </a:bodyPr>
          <a:lstStyle/>
          <a:p>
            <a:r>
              <a:rPr lang="en-US" sz="1800" dirty="0">
                <a:latin typeface="+mn-lt"/>
              </a:rPr>
              <a:t>The current VCPS Shared Storage Pool architecture is patterned deployment of Windows Server 2019 on a dedicated EC2 at all security domains (Kr, Ur, Cu, Ti), regions and environments (Sandbox/Development, TP1, Operations)</a:t>
            </a:r>
          </a:p>
          <a:p>
            <a:endParaRPr lang="en-US" sz="1800" dirty="0">
              <a:latin typeface="+mn-lt"/>
            </a:endParaRPr>
          </a:p>
          <a:p>
            <a:r>
              <a:rPr lang="en-US" sz="1800" dirty="0">
                <a:latin typeface="+mn-lt"/>
              </a:rPr>
              <a:t> The Storage Pool is deployed as a shared resource to Mission, FS2 and FGMOD; along with enablement for non-FGMOD UPEs to access and leverage data/artifacts produced by FGMOD mission areas </a:t>
            </a:r>
          </a:p>
          <a:p>
            <a:pPr lvl="1"/>
            <a:r>
              <a:rPr lang="en-US" sz="1600" dirty="0">
                <a:latin typeface="+mn-lt"/>
              </a:rPr>
              <a:t>Expanded use by Mission and coupling of the Storage Pool to Production and Operations processes took place gradually and organically since capability was introduced in 2019</a:t>
            </a:r>
          </a:p>
          <a:p>
            <a:pPr lvl="1"/>
            <a:r>
              <a:rPr lang="en-US" sz="1600" dirty="0">
                <a:latin typeface="+mn-lt"/>
              </a:rPr>
              <a:t>The FS2 approach has been to enable and maintain the storage pool capabilities and instances on behalf of mission, with deference that the data held </a:t>
            </a:r>
            <a:r>
              <a:rPr lang="en-US" sz="1600" b="1" dirty="0">
                <a:latin typeface="+mn-lt"/>
              </a:rPr>
              <a:t>within</a:t>
            </a:r>
            <a:r>
              <a:rPr lang="en-US" sz="1600" dirty="0">
                <a:latin typeface="+mn-lt"/>
              </a:rPr>
              <a:t> the virtual drives by SF (Offices and Missions) is only to be moved/deleted/archived upon approval by SF</a:t>
            </a:r>
          </a:p>
          <a:p>
            <a:endParaRPr lang="en-US" sz="1800" dirty="0">
              <a:latin typeface="+mn-lt"/>
            </a:endParaRPr>
          </a:p>
          <a:p>
            <a:r>
              <a:rPr lang="en-US" sz="1800" dirty="0">
                <a:latin typeface="+mn-lt"/>
              </a:rPr>
              <a:t>Usage patterns/Use-Cases fulfilled by the current Storage Pool design include:</a:t>
            </a:r>
          </a:p>
          <a:p>
            <a:pPr lvl="1"/>
            <a:r>
              <a:rPr lang="en-US" sz="1600" b="1" dirty="0">
                <a:latin typeface="+mn-lt"/>
              </a:rPr>
              <a:t>Mission Users (SF-G, SF-H): </a:t>
            </a:r>
            <a:r>
              <a:rPr lang="en-US" sz="1600" dirty="0">
                <a:latin typeface="+mn-lt"/>
              </a:rPr>
              <a:t>Holdings for Production artifacts, in-work data, outputs (pre/post QA) across Offices, Enterprise Active Directory (AD)-backed/tailored Security Groups and folder structures Mission Areas/Groups</a:t>
            </a:r>
          </a:p>
          <a:p>
            <a:pPr lvl="1"/>
            <a:r>
              <a:rPr lang="en-US" sz="1600" b="1" dirty="0">
                <a:latin typeface="+mn-lt"/>
              </a:rPr>
              <a:t>Mission Users (SF-G, SF-H): </a:t>
            </a:r>
            <a:r>
              <a:rPr lang="en-US" sz="1600" dirty="0">
                <a:latin typeface="+mn-lt"/>
              </a:rPr>
              <a:t>Personal folder holdings, shared artifacts (connection files, NPE certs, documentation) management</a:t>
            </a:r>
          </a:p>
          <a:p>
            <a:pPr lvl="1"/>
            <a:r>
              <a:rPr lang="en-US" sz="1600" b="1" dirty="0">
                <a:latin typeface="+mn-lt"/>
              </a:rPr>
              <a:t>FS2: </a:t>
            </a:r>
            <a:r>
              <a:rPr lang="en-US" sz="1600" dirty="0">
                <a:latin typeface="+mn-lt"/>
              </a:rPr>
              <a:t>Windows Server Shadow Copy support (non-AWS snapshot / intra-day file restoration) on Mission User behalf</a:t>
            </a:r>
            <a:endParaRPr lang="en-US" sz="1600" b="1" dirty="0">
              <a:latin typeface="+mn-lt"/>
            </a:endParaRPr>
          </a:p>
          <a:p>
            <a:pPr lvl="1"/>
            <a:r>
              <a:rPr lang="en-US" sz="1600" b="1" dirty="0">
                <a:latin typeface="+mn-lt"/>
              </a:rPr>
              <a:t>FS2: </a:t>
            </a:r>
            <a:r>
              <a:rPr lang="en-US" sz="1600" dirty="0">
                <a:latin typeface="+mn-lt"/>
              </a:rPr>
              <a:t>Citrix Profile hosting, tailored Virtual Drive (M:/, K:/) mapping based on User/Mission/VDA Group</a:t>
            </a:r>
          </a:p>
          <a:p>
            <a:pPr lvl="1"/>
            <a:r>
              <a:rPr lang="en-US" sz="1600" b="1" dirty="0">
                <a:latin typeface="+mn-lt"/>
              </a:rPr>
              <a:t>FS2: </a:t>
            </a:r>
            <a:r>
              <a:rPr lang="en-US" sz="1600" dirty="0">
                <a:latin typeface="+mn-lt"/>
              </a:rPr>
              <a:t>Systems Team-designed/hosted administrative and patching solutions; some tied to AD Group Policy Objects</a:t>
            </a:r>
            <a:endParaRPr lang="en-US" sz="1800" dirty="0">
              <a:latin typeface="+mn-lt"/>
            </a:endParaRPr>
          </a:p>
          <a:p>
            <a:endParaRPr lang="en-US" sz="1800" dirty="0">
              <a:latin typeface="+mn-lt"/>
            </a:endParaRPr>
          </a:p>
          <a:p>
            <a:endParaRPr lang="en-US" sz="1600" dirty="0">
              <a:latin typeface="+mn-lt"/>
            </a:endParaRPr>
          </a:p>
          <a:p>
            <a:endParaRPr lang="en-US" sz="1600" dirty="0">
              <a:latin typeface="+mn-lt"/>
            </a:endParaRPr>
          </a:p>
          <a:p>
            <a:endParaRPr lang="en-US" sz="1800" dirty="0">
              <a:latin typeface="+mn-lt"/>
            </a:endParaRPr>
          </a:p>
          <a:p>
            <a:endParaRPr lang="en-US" sz="1800" dirty="0">
              <a:latin typeface="+mn-lt"/>
            </a:endParaRPr>
          </a:p>
          <a:p>
            <a:endParaRPr lang="en-US" sz="1800" dirty="0">
              <a:latin typeface="+mn-lt"/>
            </a:endParaRPr>
          </a:p>
          <a:p>
            <a:endParaRPr lang="en-US" dirty="0"/>
          </a:p>
          <a:p>
            <a:pPr lvl="1"/>
            <a:endParaRPr lang="en-US" dirty="0"/>
          </a:p>
        </p:txBody>
      </p:sp>
      <p:sp>
        <p:nvSpPr>
          <p:cNvPr id="4" name="Title 3">
            <a:extLst>
              <a:ext uri="{FF2B5EF4-FFF2-40B4-BE49-F238E27FC236}">
                <a16:creationId xmlns:a16="http://schemas.microsoft.com/office/drawing/2014/main" id="{0B6A5896-E018-CA4B-1E5B-68C8CE6D39AE}"/>
              </a:ext>
            </a:extLst>
          </p:cNvPr>
          <p:cNvSpPr>
            <a:spLocks noGrp="1"/>
          </p:cNvSpPr>
          <p:nvPr>
            <p:ph type="title"/>
          </p:nvPr>
        </p:nvSpPr>
        <p:spPr/>
        <p:txBody>
          <a:bodyPr/>
          <a:lstStyle/>
          <a:p>
            <a:r>
              <a:rPr lang="en-US" dirty="0"/>
              <a:t>VCPS Storage Pool Implementation</a:t>
            </a:r>
          </a:p>
        </p:txBody>
      </p:sp>
    </p:spTree>
    <p:extLst>
      <p:ext uri="{BB962C8B-B14F-4D97-AF65-F5344CB8AC3E}">
        <p14:creationId xmlns:p14="http://schemas.microsoft.com/office/powerpoint/2010/main" val="3322719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5AE7A-1078-55BA-9053-A11F5B9FD29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7427235-957F-CFD1-587C-6E7963D2FC9E}"/>
              </a:ext>
            </a:extLst>
          </p:cNvPr>
          <p:cNvSpPr>
            <a:spLocks noGrp="1"/>
          </p:cNvSpPr>
          <p:nvPr>
            <p:ph type="body" sz="quarter" idx="13"/>
          </p:nvPr>
        </p:nvSpPr>
        <p:spPr>
          <a:xfrm>
            <a:off x="337457" y="1008185"/>
            <a:ext cx="11244943" cy="5162277"/>
          </a:xfrm>
        </p:spPr>
        <p:txBody>
          <a:bodyPr>
            <a:normAutofit/>
          </a:bodyPr>
          <a:lstStyle/>
          <a:p>
            <a:r>
              <a:rPr lang="en-US" sz="1800" dirty="0"/>
              <a:t>VCPS Shared Storage Pools deployments/separate integration of Storage Pool for each environment</a:t>
            </a:r>
          </a:p>
          <a:p>
            <a:pPr lvl="1"/>
            <a:r>
              <a:rPr lang="en-US" sz="1600" dirty="0"/>
              <a:t>Sizing/implementation of EBS storage drives and virtual drives is reflective of the Mission Areas/User base at each domain</a:t>
            </a:r>
          </a:p>
          <a:p>
            <a:pPr lvl="1"/>
            <a:r>
              <a:rPr lang="en-US" sz="1600" dirty="0"/>
              <a:t>These are adapted and aligned for Active Directory implementations at each security Domain (Organizational Units, Security Groups, GPOs)</a:t>
            </a:r>
          </a:p>
          <a:p>
            <a:pPr lvl="1"/>
            <a:endParaRPr lang="en-US" sz="1600" dirty="0"/>
          </a:p>
          <a:p>
            <a:r>
              <a:rPr lang="en-US" sz="1800" dirty="0">
                <a:latin typeface="+mn-lt"/>
              </a:rPr>
              <a:t>Example EBS Drive Alignment to Storage Pool EC2 (m5.4xlarge, sized for instance throughput/performance):</a:t>
            </a:r>
          </a:p>
          <a:p>
            <a:pPr lvl="1"/>
            <a:endParaRPr lang="en-US" sz="1600" dirty="0">
              <a:latin typeface="+mn-lt"/>
            </a:endParaRPr>
          </a:p>
          <a:p>
            <a:endParaRPr lang="en-US" sz="1600" dirty="0">
              <a:latin typeface="+mn-lt"/>
            </a:endParaRPr>
          </a:p>
          <a:p>
            <a:endParaRPr lang="en-US" sz="1800" dirty="0">
              <a:latin typeface="+mn-lt"/>
            </a:endParaRPr>
          </a:p>
          <a:p>
            <a:endParaRPr lang="en-US" sz="1800" dirty="0">
              <a:latin typeface="+mn-lt"/>
            </a:endParaRPr>
          </a:p>
          <a:p>
            <a:endParaRPr lang="en-US" sz="1800" dirty="0">
              <a:latin typeface="+mn-lt"/>
            </a:endParaRPr>
          </a:p>
          <a:p>
            <a:endParaRPr lang="en-US" dirty="0"/>
          </a:p>
          <a:p>
            <a:pPr lvl="1"/>
            <a:endParaRPr lang="en-US" dirty="0"/>
          </a:p>
        </p:txBody>
      </p:sp>
      <p:sp>
        <p:nvSpPr>
          <p:cNvPr id="4" name="Title 3">
            <a:extLst>
              <a:ext uri="{FF2B5EF4-FFF2-40B4-BE49-F238E27FC236}">
                <a16:creationId xmlns:a16="http://schemas.microsoft.com/office/drawing/2014/main" id="{882C5523-7488-7FF8-02CD-330AA0AA9DB7}"/>
              </a:ext>
            </a:extLst>
          </p:cNvPr>
          <p:cNvSpPr>
            <a:spLocks noGrp="1"/>
          </p:cNvSpPr>
          <p:nvPr>
            <p:ph type="title"/>
          </p:nvPr>
        </p:nvSpPr>
        <p:spPr/>
        <p:txBody>
          <a:bodyPr/>
          <a:lstStyle/>
          <a:p>
            <a:r>
              <a:rPr lang="en-US" dirty="0"/>
              <a:t>VCPS Storage Pool Use-Case / Implementation Background</a:t>
            </a:r>
          </a:p>
        </p:txBody>
      </p:sp>
      <p:graphicFrame>
        <p:nvGraphicFramePr>
          <p:cNvPr id="3" name="Table 2">
            <a:extLst>
              <a:ext uri="{FF2B5EF4-FFF2-40B4-BE49-F238E27FC236}">
                <a16:creationId xmlns:a16="http://schemas.microsoft.com/office/drawing/2014/main" id="{0B2F921D-73E2-761B-3B28-0232A650E4CD}"/>
              </a:ext>
            </a:extLst>
          </p:cNvPr>
          <p:cNvGraphicFramePr>
            <a:graphicFrameLocks noGrp="1"/>
          </p:cNvGraphicFramePr>
          <p:nvPr>
            <p:extLst>
              <p:ext uri="{D42A27DB-BD31-4B8C-83A1-F6EECF244321}">
                <p14:modId xmlns:p14="http://schemas.microsoft.com/office/powerpoint/2010/main" val="2046695027"/>
              </p:ext>
            </p:extLst>
          </p:nvPr>
        </p:nvGraphicFramePr>
        <p:xfrm>
          <a:off x="964293" y="2832902"/>
          <a:ext cx="9838869" cy="3404612"/>
        </p:xfrm>
        <a:graphic>
          <a:graphicData uri="http://schemas.openxmlformats.org/drawingml/2006/table">
            <a:tbl>
              <a:tblPr firstRow="1" bandRow="1">
                <a:tableStyleId>{5C22544A-7EE6-4342-B048-85BDC9FD1C3A}</a:tableStyleId>
              </a:tblPr>
              <a:tblGrid>
                <a:gridCol w="3646714">
                  <a:extLst>
                    <a:ext uri="{9D8B030D-6E8A-4147-A177-3AD203B41FA5}">
                      <a16:colId xmlns:a16="http://schemas.microsoft.com/office/drawing/2014/main" val="2654692658"/>
                    </a:ext>
                  </a:extLst>
                </a:gridCol>
                <a:gridCol w="2057400">
                  <a:extLst>
                    <a:ext uri="{9D8B030D-6E8A-4147-A177-3AD203B41FA5}">
                      <a16:colId xmlns:a16="http://schemas.microsoft.com/office/drawing/2014/main" val="3710070276"/>
                    </a:ext>
                  </a:extLst>
                </a:gridCol>
                <a:gridCol w="4134755">
                  <a:extLst>
                    <a:ext uri="{9D8B030D-6E8A-4147-A177-3AD203B41FA5}">
                      <a16:colId xmlns:a16="http://schemas.microsoft.com/office/drawing/2014/main" val="3623745598"/>
                    </a:ext>
                  </a:extLst>
                </a:gridCol>
              </a:tblGrid>
              <a:tr h="370840">
                <a:tc>
                  <a:txBody>
                    <a:bodyPr/>
                    <a:lstStyle/>
                    <a:p>
                      <a:pPr algn="ctr"/>
                      <a:r>
                        <a:rPr lang="en-US" dirty="0"/>
                        <a:t>Storage Pool EBS Drive</a:t>
                      </a:r>
                    </a:p>
                  </a:txBody>
                  <a:tcPr/>
                </a:tc>
                <a:tc>
                  <a:txBody>
                    <a:bodyPr/>
                    <a:lstStyle/>
                    <a:p>
                      <a:pPr algn="ctr"/>
                      <a:r>
                        <a:rPr lang="en-US" dirty="0"/>
                        <a:t>Size</a:t>
                      </a:r>
                    </a:p>
                  </a:txBody>
                  <a:tcPr/>
                </a:tc>
                <a:tc>
                  <a:txBody>
                    <a:bodyPr/>
                    <a:lstStyle/>
                    <a:p>
                      <a:pPr algn="ctr"/>
                      <a:r>
                        <a:rPr lang="en-US" dirty="0"/>
                        <a:t>Configuration</a:t>
                      </a:r>
                    </a:p>
                  </a:txBody>
                  <a:tcPr/>
                </a:tc>
                <a:extLst>
                  <a:ext uri="{0D108BD9-81ED-4DB2-BD59-A6C34878D82A}">
                    <a16:rowId xmlns:a16="http://schemas.microsoft.com/office/drawing/2014/main" val="287991661"/>
                  </a:ext>
                </a:extLst>
              </a:tr>
              <a:tr h="370840">
                <a:tc>
                  <a:txBody>
                    <a:bodyPr/>
                    <a:lstStyle/>
                    <a:p>
                      <a:pPr algn="ctr" fontAlgn="b">
                        <a:buNone/>
                      </a:pPr>
                      <a:r>
                        <a:rPr lang="en-US" sz="1500" b="0" i="0" u="none" strike="noStrike">
                          <a:solidFill>
                            <a:srgbClr val="000000"/>
                          </a:solidFill>
                          <a:effectLst/>
                          <a:latin typeface="+mn-lt"/>
                        </a:rPr>
                        <a:t>M Drive</a:t>
                      </a:r>
                    </a:p>
                  </a:txBody>
                  <a:tcPr marL="6350" marR="6350" marT="6350" marB="0" anchor="b"/>
                </a:tc>
                <a:tc>
                  <a:txBody>
                    <a:bodyPr/>
                    <a:lstStyle/>
                    <a:p>
                      <a:pPr algn="ctr" fontAlgn="b">
                        <a:buNone/>
                      </a:pPr>
                      <a:r>
                        <a:rPr lang="en-US" sz="1500" b="0" i="0" u="none" strike="noStrike" dirty="0">
                          <a:solidFill>
                            <a:srgbClr val="000000"/>
                          </a:solidFill>
                          <a:effectLst/>
                          <a:latin typeface="+mn-lt"/>
                        </a:rPr>
                        <a:t>16 TB*</a:t>
                      </a:r>
                    </a:p>
                  </a:txBody>
                  <a:tcPr marL="6350" marR="6350" marT="6350" marB="0" anchor="b"/>
                </a:tc>
                <a:tc>
                  <a:txBody>
                    <a:bodyPr/>
                    <a:lstStyle/>
                    <a:p>
                      <a:pPr algn="ctr" fontAlgn="b">
                        <a:buNone/>
                      </a:pPr>
                      <a:r>
                        <a:rPr lang="en-US" sz="1500" b="0" i="0" u="none" strike="noStrike" dirty="0">
                          <a:solidFill>
                            <a:srgbClr val="000000"/>
                          </a:solidFill>
                          <a:effectLst/>
                          <a:latin typeface="+mn-lt"/>
                        </a:rPr>
                        <a:t>Mirrored, GP3</a:t>
                      </a:r>
                    </a:p>
                  </a:txBody>
                  <a:tcPr marL="6350" marR="6350" marT="6350" marB="0" anchor="b"/>
                </a:tc>
                <a:extLst>
                  <a:ext uri="{0D108BD9-81ED-4DB2-BD59-A6C34878D82A}">
                    <a16:rowId xmlns:a16="http://schemas.microsoft.com/office/drawing/2014/main" val="3345227227"/>
                  </a:ext>
                </a:extLst>
              </a:tr>
              <a:tr h="370840">
                <a:tc>
                  <a:txBody>
                    <a:bodyPr/>
                    <a:lstStyle/>
                    <a:p>
                      <a:pPr algn="ctr" fontAlgn="b">
                        <a:buNone/>
                      </a:pPr>
                      <a:r>
                        <a:rPr lang="en-US" sz="1500" b="0" i="0" u="none" strike="noStrike">
                          <a:solidFill>
                            <a:srgbClr val="000000"/>
                          </a:solidFill>
                          <a:effectLst/>
                          <a:latin typeface="+mn-lt"/>
                        </a:rPr>
                        <a:t>K Mission Shares</a:t>
                      </a:r>
                    </a:p>
                  </a:txBody>
                  <a:tcPr marL="6350" marR="6350" marT="6350" marB="0" anchor="b"/>
                </a:tc>
                <a:tc>
                  <a:txBody>
                    <a:bodyPr/>
                    <a:lstStyle/>
                    <a:p>
                      <a:pPr algn="ctr" fontAlgn="b">
                        <a:buNone/>
                      </a:pPr>
                      <a:r>
                        <a:rPr lang="en-US" sz="1500" b="0" i="0" u="none" strike="noStrike" dirty="0">
                          <a:solidFill>
                            <a:srgbClr val="000000"/>
                          </a:solidFill>
                          <a:effectLst/>
                          <a:latin typeface="+mn-lt"/>
                        </a:rPr>
                        <a:t>16 TB*</a:t>
                      </a:r>
                    </a:p>
                  </a:txBody>
                  <a:tcPr marL="6350" marR="6350" marT="6350" marB="0" anchor="b"/>
                </a:tc>
                <a:tc>
                  <a:txBody>
                    <a:bodyPr/>
                    <a:lstStyle/>
                    <a:p>
                      <a:pPr algn="ctr" fontAlgn="b">
                        <a:buNone/>
                      </a:pPr>
                      <a:r>
                        <a:rPr lang="en-US" sz="1500" b="0" i="0" u="none" strike="noStrike" dirty="0">
                          <a:solidFill>
                            <a:srgbClr val="000000"/>
                          </a:solidFill>
                          <a:effectLst/>
                          <a:latin typeface="+mn-lt"/>
                        </a:rPr>
                        <a:t>Mirrored, GP3</a:t>
                      </a:r>
                    </a:p>
                  </a:txBody>
                  <a:tcPr marL="6350" marR="6350" marT="6350" marB="0" anchor="b"/>
                </a:tc>
                <a:extLst>
                  <a:ext uri="{0D108BD9-81ED-4DB2-BD59-A6C34878D82A}">
                    <a16:rowId xmlns:a16="http://schemas.microsoft.com/office/drawing/2014/main" val="875704240"/>
                  </a:ext>
                </a:extLst>
              </a:tr>
              <a:tr h="370840">
                <a:tc>
                  <a:txBody>
                    <a:bodyPr/>
                    <a:lstStyle/>
                    <a:p>
                      <a:pPr algn="ctr" fontAlgn="b">
                        <a:buNone/>
                      </a:pPr>
                      <a:r>
                        <a:rPr lang="en-US" sz="1500" b="0" i="0" u="none" strike="noStrike">
                          <a:solidFill>
                            <a:srgbClr val="000000"/>
                          </a:solidFill>
                          <a:effectLst/>
                          <a:latin typeface="+mn-lt"/>
                        </a:rPr>
                        <a:t>Geonames Share</a:t>
                      </a:r>
                    </a:p>
                  </a:txBody>
                  <a:tcPr marL="6350" marR="6350" marT="6350" marB="0" anchor="b"/>
                </a:tc>
                <a:tc>
                  <a:txBody>
                    <a:bodyPr/>
                    <a:lstStyle/>
                    <a:p>
                      <a:pPr algn="ctr" fontAlgn="b">
                        <a:buNone/>
                      </a:pPr>
                      <a:r>
                        <a:rPr lang="en-US" sz="1500" b="0" i="0" u="none" strike="noStrike" dirty="0">
                          <a:solidFill>
                            <a:srgbClr val="000000"/>
                          </a:solidFill>
                          <a:effectLst/>
                          <a:latin typeface="+mn-lt"/>
                        </a:rPr>
                        <a:t>10 TB</a:t>
                      </a:r>
                    </a:p>
                  </a:txBody>
                  <a:tcPr marL="6350" marR="6350" marT="6350" marB="0" anchor="b"/>
                </a:tc>
                <a:tc>
                  <a:txBody>
                    <a:bodyPr/>
                    <a:lstStyle/>
                    <a:p>
                      <a:pPr algn="ctr" fontAlgn="b">
                        <a:buNone/>
                      </a:pPr>
                      <a:r>
                        <a:rPr lang="en-US" sz="1500" b="0" i="0" u="none" strike="noStrike" dirty="0">
                          <a:solidFill>
                            <a:srgbClr val="000000"/>
                          </a:solidFill>
                          <a:effectLst/>
                          <a:latin typeface="+mn-lt"/>
                        </a:rPr>
                        <a:t>Mirrored, GP3</a:t>
                      </a:r>
                    </a:p>
                  </a:txBody>
                  <a:tcPr marL="6350" marR="6350" marT="6350" marB="0" anchor="b"/>
                </a:tc>
                <a:extLst>
                  <a:ext uri="{0D108BD9-81ED-4DB2-BD59-A6C34878D82A}">
                    <a16:rowId xmlns:a16="http://schemas.microsoft.com/office/drawing/2014/main" val="2132941006"/>
                  </a:ext>
                </a:extLst>
              </a:tr>
              <a:tr h="370840">
                <a:tc>
                  <a:txBody>
                    <a:bodyPr/>
                    <a:lstStyle/>
                    <a:p>
                      <a:pPr algn="ctr" fontAlgn="b">
                        <a:buNone/>
                      </a:pPr>
                      <a:r>
                        <a:rPr lang="en-US" sz="1500" b="0" i="0" u="none" strike="noStrike" dirty="0">
                          <a:solidFill>
                            <a:srgbClr val="000000"/>
                          </a:solidFill>
                          <a:effectLst/>
                          <a:latin typeface="+mn-lt"/>
                        </a:rPr>
                        <a:t>Admin Share</a:t>
                      </a:r>
                    </a:p>
                  </a:txBody>
                  <a:tcPr marL="6350" marR="6350" marT="6350" marB="0" anchor="b"/>
                </a:tc>
                <a:tc>
                  <a:txBody>
                    <a:bodyPr/>
                    <a:lstStyle/>
                    <a:p>
                      <a:pPr algn="ctr" fontAlgn="b">
                        <a:buNone/>
                      </a:pPr>
                      <a:r>
                        <a:rPr lang="en-US" sz="1500" b="0" i="0" u="none" strike="noStrike">
                          <a:solidFill>
                            <a:srgbClr val="000000"/>
                          </a:solidFill>
                          <a:effectLst/>
                          <a:latin typeface="+mn-lt"/>
                        </a:rPr>
                        <a:t>1 TB</a:t>
                      </a:r>
                    </a:p>
                  </a:txBody>
                  <a:tcPr marL="6350" marR="6350" marT="6350" marB="0" anchor="b"/>
                </a:tc>
                <a:tc>
                  <a:txBody>
                    <a:bodyPr/>
                    <a:lstStyle/>
                    <a:p>
                      <a:pPr algn="ctr" fontAlgn="b">
                        <a:buNone/>
                      </a:pPr>
                      <a:r>
                        <a:rPr lang="en-US" sz="1500" b="0" i="0" u="none" strike="noStrike" dirty="0">
                          <a:solidFill>
                            <a:srgbClr val="000000"/>
                          </a:solidFill>
                          <a:effectLst/>
                          <a:latin typeface="+mn-lt"/>
                        </a:rPr>
                        <a:t>Not Mirrored, GP3</a:t>
                      </a:r>
                    </a:p>
                  </a:txBody>
                  <a:tcPr marL="6350" marR="6350" marT="6350" marB="0" anchor="b"/>
                </a:tc>
                <a:extLst>
                  <a:ext uri="{0D108BD9-81ED-4DB2-BD59-A6C34878D82A}">
                    <a16:rowId xmlns:a16="http://schemas.microsoft.com/office/drawing/2014/main" val="1352254788"/>
                  </a:ext>
                </a:extLst>
              </a:tr>
              <a:tr h="370840">
                <a:tc>
                  <a:txBody>
                    <a:bodyPr/>
                    <a:lstStyle/>
                    <a:p>
                      <a:pPr algn="ctr" fontAlgn="b">
                        <a:buNone/>
                      </a:pPr>
                      <a:r>
                        <a:rPr lang="en-US" sz="1500" b="0" i="0" u="none" strike="noStrike">
                          <a:solidFill>
                            <a:srgbClr val="000000"/>
                          </a:solidFill>
                          <a:effectLst/>
                          <a:latin typeface="+mn-lt"/>
                        </a:rPr>
                        <a:t>Shadow Copies</a:t>
                      </a:r>
                    </a:p>
                  </a:txBody>
                  <a:tcPr marL="6350" marR="6350" marT="6350" marB="0" anchor="b"/>
                </a:tc>
                <a:tc>
                  <a:txBody>
                    <a:bodyPr/>
                    <a:lstStyle/>
                    <a:p>
                      <a:pPr algn="ctr" fontAlgn="b">
                        <a:buNone/>
                      </a:pPr>
                      <a:r>
                        <a:rPr lang="en-US" sz="1500" b="0" i="0" u="none" strike="noStrike" dirty="0">
                          <a:solidFill>
                            <a:srgbClr val="000000"/>
                          </a:solidFill>
                          <a:effectLst/>
                          <a:latin typeface="+mn-lt"/>
                        </a:rPr>
                        <a:t>5 TB</a:t>
                      </a:r>
                    </a:p>
                  </a:txBody>
                  <a:tcPr marL="6350" marR="6350" marT="6350" marB="0" anchor="b"/>
                </a:tc>
                <a:tc>
                  <a:txBody>
                    <a:bodyPr/>
                    <a:lstStyle/>
                    <a:p>
                      <a:pPr algn="ctr" fontAlgn="b">
                        <a:buNone/>
                      </a:pPr>
                      <a:r>
                        <a:rPr lang="en-US" sz="1500" b="0" i="0" u="none" strike="noStrike" dirty="0">
                          <a:solidFill>
                            <a:srgbClr val="000000"/>
                          </a:solidFill>
                          <a:effectLst/>
                          <a:latin typeface="+mn-lt"/>
                        </a:rPr>
                        <a:t>Not Mirrored, GP3</a:t>
                      </a:r>
                    </a:p>
                  </a:txBody>
                  <a:tcPr marL="6350" marR="6350" marT="6350" marB="0" anchor="b"/>
                </a:tc>
                <a:extLst>
                  <a:ext uri="{0D108BD9-81ED-4DB2-BD59-A6C34878D82A}">
                    <a16:rowId xmlns:a16="http://schemas.microsoft.com/office/drawing/2014/main" val="1818885400"/>
                  </a:ext>
                </a:extLst>
              </a:tr>
              <a:tr h="370840">
                <a:tc>
                  <a:txBody>
                    <a:bodyPr/>
                    <a:lstStyle/>
                    <a:p>
                      <a:pPr algn="ctr" fontAlgn="b">
                        <a:buNone/>
                      </a:pPr>
                      <a:r>
                        <a:rPr lang="en-US" sz="1500" b="0" i="0" u="none" strike="noStrike">
                          <a:solidFill>
                            <a:srgbClr val="000000"/>
                          </a:solidFill>
                          <a:effectLst/>
                          <a:latin typeface="+mn-lt"/>
                        </a:rPr>
                        <a:t>Citrix Profiles</a:t>
                      </a:r>
                    </a:p>
                  </a:txBody>
                  <a:tcPr marL="6350" marR="6350" marT="6350" marB="0" anchor="b"/>
                </a:tc>
                <a:tc>
                  <a:txBody>
                    <a:bodyPr/>
                    <a:lstStyle/>
                    <a:p>
                      <a:pPr algn="ctr" fontAlgn="b">
                        <a:buNone/>
                      </a:pPr>
                      <a:r>
                        <a:rPr lang="en-US" sz="1500" b="0" i="0" u="none" strike="noStrike">
                          <a:solidFill>
                            <a:srgbClr val="000000"/>
                          </a:solidFill>
                          <a:effectLst/>
                          <a:latin typeface="+mn-lt"/>
                        </a:rPr>
                        <a:t>2 TB</a:t>
                      </a:r>
                    </a:p>
                  </a:txBody>
                  <a:tcPr marL="6350" marR="6350" marT="6350" marB="0" anchor="b"/>
                </a:tc>
                <a:tc>
                  <a:txBody>
                    <a:bodyPr/>
                    <a:lstStyle/>
                    <a:p>
                      <a:pPr algn="ctr" fontAlgn="b">
                        <a:buNone/>
                      </a:pPr>
                      <a:r>
                        <a:rPr lang="en-US" sz="1500" b="0" i="0" u="none" strike="noStrike" dirty="0">
                          <a:solidFill>
                            <a:srgbClr val="000000"/>
                          </a:solidFill>
                          <a:effectLst/>
                          <a:latin typeface="+mn-lt"/>
                        </a:rPr>
                        <a:t>Not Mirrored, GP3</a:t>
                      </a:r>
                    </a:p>
                  </a:txBody>
                  <a:tcPr marL="6350" marR="6350" marT="6350" marB="0" anchor="b"/>
                </a:tc>
                <a:extLst>
                  <a:ext uri="{0D108BD9-81ED-4DB2-BD59-A6C34878D82A}">
                    <a16:rowId xmlns:a16="http://schemas.microsoft.com/office/drawing/2014/main" val="1457274366"/>
                  </a:ext>
                </a:extLst>
              </a:tr>
              <a:tr h="370840">
                <a:tc>
                  <a:txBody>
                    <a:bodyPr/>
                    <a:lstStyle/>
                    <a:p>
                      <a:pPr algn="ctr" fontAlgn="b">
                        <a:buNone/>
                      </a:pPr>
                      <a:r>
                        <a:rPr lang="en-US" sz="1500" b="0" i="0" u="none" strike="noStrike" dirty="0">
                          <a:solidFill>
                            <a:srgbClr val="000000"/>
                          </a:solidFill>
                          <a:effectLst/>
                          <a:latin typeface="+mn-lt"/>
                        </a:rPr>
                        <a:t>Boundaries Personal</a:t>
                      </a:r>
                    </a:p>
                  </a:txBody>
                  <a:tcPr marL="6350" marR="6350" marT="6350" marB="0" anchor="b"/>
                </a:tc>
                <a:tc>
                  <a:txBody>
                    <a:bodyPr/>
                    <a:lstStyle/>
                    <a:p>
                      <a:pPr algn="ctr" fontAlgn="b">
                        <a:buNone/>
                      </a:pPr>
                      <a:r>
                        <a:rPr lang="en-US" sz="1500" b="0" i="0" u="none" strike="noStrike">
                          <a:solidFill>
                            <a:srgbClr val="000000"/>
                          </a:solidFill>
                          <a:effectLst/>
                          <a:latin typeface="+mn-lt"/>
                        </a:rPr>
                        <a:t>3 TB</a:t>
                      </a:r>
                    </a:p>
                  </a:txBody>
                  <a:tcPr marL="6350" marR="6350" marT="6350" marB="0" anchor="b"/>
                </a:tc>
                <a:tc>
                  <a:txBody>
                    <a:bodyPr/>
                    <a:lstStyle/>
                    <a:p>
                      <a:pPr algn="ctr" fontAlgn="b">
                        <a:buNone/>
                      </a:pPr>
                      <a:r>
                        <a:rPr lang="en-US" sz="1500" b="0" i="0" u="none" strike="noStrike" dirty="0">
                          <a:solidFill>
                            <a:srgbClr val="000000"/>
                          </a:solidFill>
                          <a:effectLst/>
                          <a:latin typeface="+mn-lt"/>
                        </a:rPr>
                        <a:t>Not Mirrored, GP3</a:t>
                      </a:r>
                    </a:p>
                  </a:txBody>
                  <a:tcPr marL="6350" marR="6350" marT="6350" marB="0" anchor="b"/>
                </a:tc>
                <a:extLst>
                  <a:ext uri="{0D108BD9-81ED-4DB2-BD59-A6C34878D82A}">
                    <a16:rowId xmlns:a16="http://schemas.microsoft.com/office/drawing/2014/main" val="2411969377"/>
                  </a:ext>
                </a:extLst>
              </a:tr>
              <a:tr h="437892">
                <a:tc>
                  <a:txBody>
                    <a:bodyPr/>
                    <a:lstStyle/>
                    <a:p>
                      <a:pPr algn="ctr" fontAlgn="b">
                        <a:buNone/>
                      </a:pPr>
                      <a:r>
                        <a:rPr lang="en-US" sz="1500" b="0" i="0" u="none" strike="noStrike" dirty="0">
                          <a:solidFill>
                            <a:srgbClr val="000000"/>
                          </a:solidFill>
                          <a:effectLst/>
                          <a:latin typeface="+mn-lt"/>
                        </a:rPr>
                        <a:t>Maritime Personal </a:t>
                      </a:r>
                    </a:p>
                  </a:txBody>
                  <a:tcPr marL="6350" marR="6350" marT="6350" marB="0" anchor="b"/>
                </a:tc>
                <a:tc>
                  <a:txBody>
                    <a:bodyPr/>
                    <a:lstStyle/>
                    <a:p>
                      <a:pPr algn="ctr" fontAlgn="b">
                        <a:buNone/>
                      </a:pPr>
                      <a:r>
                        <a:rPr lang="en-US" sz="1500" b="0" i="0" u="none" strike="noStrike" dirty="0">
                          <a:solidFill>
                            <a:srgbClr val="000000"/>
                          </a:solidFill>
                          <a:effectLst/>
                          <a:latin typeface="+mn-lt"/>
                        </a:rPr>
                        <a:t>3 TB</a:t>
                      </a:r>
                    </a:p>
                  </a:txBody>
                  <a:tcPr marL="6350" marR="6350" marT="6350" marB="0" anchor="b"/>
                </a:tc>
                <a:tc>
                  <a:txBody>
                    <a:bodyPr/>
                    <a:lstStyle/>
                    <a:p>
                      <a:pPr algn="ctr" fontAlgn="b">
                        <a:buNone/>
                      </a:pPr>
                      <a:r>
                        <a:rPr lang="en-US" sz="1500" b="0" i="0" u="none" strike="noStrike" dirty="0">
                          <a:solidFill>
                            <a:srgbClr val="000000"/>
                          </a:solidFill>
                          <a:effectLst/>
                          <a:latin typeface="+mn-lt"/>
                        </a:rPr>
                        <a:t>Not Mirrored, GP3</a:t>
                      </a:r>
                    </a:p>
                  </a:txBody>
                  <a:tcPr marL="6350" marR="6350" marT="6350" marB="0" anchor="b"/>
                </a:tc>
                <a:extLst>
                  <a:ext uri="{0D108BD9-81ED-4DB2-BD59-A6C34878D82A}">
                    <a16:rowId xmlns:a16="http://schemas.microsoft.com/office/drawing/2014/main" val="935173863"/>
                  </a:ext>
                </a:extLst>
              </a:tr>
            </a:tbl>
          </a:graphicData>
        </a:graphic>
      </p:graphicFrame>
      <p:sp>
        <p:nvSpPr>
          <p:cNvPr id="5" name="TextBox 4">
            <a:extLst>
              <a:ext uri="{FF2B5EF4-FFF2-40B4-BE49-F238E27FC236}">
                <a16:creationId xmlns:a16="http://schemas.microsoft.com/office/drawing/2014/main" id="{E2983999-32AE-EB28-8FF0-D036130DE4E4}"/>
              </a:ext>
            </a:extLst>
          </p:cNvPr>
          <p:cNvSpPr txBox="1"/>
          <p:nvPr/>
        </p:nvSpPr>
        <p:spPr>
          <a:xfrm>
            <a:off x="964293" y="6170462"/>
            <a:ext cx="5800883" cy="338554"/>
          </a:xfrm>
          <a:prstGeom prst="rect">
            <a:avLst/>
          </a:prstGeom>
          <a:noFill/>
        </p:spPr>
        <p:txBody>
          <a:bodyPr wrap="none" rtlCol="0">
            <a:spAutoFit/>
          </a:bodyPr>
          <a:lstStyle/>
          <a:p>
            <a:r>
              <a:rPr lang="en-US" sz="1600" dirty="0"/>
              <a:t>*Expanded to largest addressable size available for Windows Server</a:t>
            </a:r>
          </a:p>
        </p:txBody>
      </p:sp>
    </p:spTree>
    <p:extLst>
      <p:ext uri="{BB962C8B-B14F-4D97-AF65-F5344CB8AC3E}">
        <p14:creationId xmlns:p14="http://schemas.microsoft.com/office/powerpoint/2010/main" val="1689205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3AEB1-F4DC-9123-3969-DD4E670E7E3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2E414B9-8D56-6D5D-7483-985CE9C30AD2}"/>
              </a:ext>
            </a:extLst>
          </p:cNvPr>
          <p:cNvSpPr>
            <a:spLocks noGrp="1"/>
          </p:cNvSpPr>
          <p:nvPr>
            <p:ph type="body" sz="quarter" idx="13"/>
          </p:nvPr>
        </p:nvSpPr>
        <p:spPr>
          <a:xfrm>
            <a:off x="337457" y="1008185"/>
            <a:ext cx="11244943" cy="5162277"/>
          </a:xfrm>
        </p:spPr>
        <p:txBody>
          <a:bodyPr>
            <a:normAutofit fontScale="92500" lnSpcReduction="20000"/>
          </a:bodyPr>
          <a:lstStyle/>
          <a:p>
            <a:r>
              <a:rPr lang="en-US" sz="1800" dirty="0"/>
              <a:t>Active Directory Organization Unit / Mission Security Group Dependencies:</a:t>
            </a:r>
          </a:p>
          <a:p>
            <a:pPr lvl="1"/>
            <a:r>
              <a:rPr lang="en-US" sz="1600" dirty="0"/>
              <a:t>Virtual Desktop logon scripts developed and assigned per-mission team (Virtual drive mounting and assignment)</a:t>
            </a:r>
          </a:p>
          <a:p>
            <a:pPr lvl="1"/>
            <a:r>
              <a:rPr lang="en-US" sz="1600" dirty="0"/>
              <a:t>Security Groups are aligned to Mission Offices, with User Domain credentials requiring approval from Mission Offices prior to user access</a:t>
            </a:r>
          </a:p>
          <a:p>
            <a:pPr lvl="1"/>
            <a:r>
              <a:rPr lang="en-US" sz="1600" dirty="0"/>
              <a:t>Within virtual drives (ex: M:\ or K:\) the root of the share drive is accessible to all authenticated users, with the ability to create folders. Access to subfolders is locked down by mission and controlled by Active Directory Security Groups.</a:t>
            </a:r>
          </a:p>
          <a:p>
            <a:pPr lvl="1"/>
            <a:r>
              <a:rPr lang="en-US" sz="1600" dirty="0">
                <a:latin typeface="+mn-lt"/>
              </a:rPr>
              <a:t>Permission structures are not fully administered by the FS2 team; Folders are created with creator owner permission, allowing the folder owner to manage permissions to their data.</a:t>
            </a:r>
          </a:p>
          <a:p>
            <a:pPr lvl="1"/>
            <a:endParaRPr lang="en-US" sz="1600" dirty="0">
              <a:latin typeface="+mn-lt"/>
            </a:endParaRPr>
          </a:p>
          <a:p>
            <a:r>
              <a:rPr lang="en-US" sz="1800" dirty="0">
                <a:latin typeface="+mn-lt"/>
              </a:rPr>
              <a:t>Data Maintenance: </a:t>
            </a:r>
          </a:p>
          <a:p>
            <a:pPr lvl="1"/>
            <a:r>
              <a:rPr lang="en-US" sz="1600" dirty="0">
                <a:latin typeface="+mn-lt"/>
              </a:rPr>
              <a:t>FS2 Operations directly monitors the AWS Instance and attached EBS volumes through </a:t>
            </a:r>
            <a:r>
              <a:rPr lang="en-US" sz="1600" dirty="0" err="1">
                <a:latin typeface="+mn-lt"/>
              </a:rPr>
              <a:t>Cloudwatch</a:t>
            </a:r>
            <a:r>
              <a:rPr lang="en-US" sz="1600" dirty="0">
                <a:latin typeface="+mn-lt"/>
              </a:rPr>
              <a:t> and AWS Console</a:t>
            </a:r>
          </a:p>
          <a:p>
            <a:pPr lvl="1"/>
            <a:r>
              <a:rPr lang="en-US" sz="1600" dirty="0">
                <a:latin typeface="+mn-lt"/>
              </a:rPr>
              <a:t>Additional checks for storage space utilization are managed by FS2 Ops, as well as snapshot status </a:t>
            </a:r>
          </a:p>
          <a:p>
            <a:pPr lvl="1"/>
            <a:r>
              <a:rPr lang="en-US" sz="1600" dirty="0">
                <a:latin typeface="+mn-lt"/>
              </a:rPr>
              <a:t>When increased use/space limitations are approached, FS2 notifies affected mission to manage their data (</a:t>
            </a:r>
            <a:r>
              <a:rPr lang="en-US" sz="1600" dirty="0" err="1">
                <a:latin typeface="+mn-lt"/>
              </a:rPr>
              <a:t>eg</a:t>
            </a:r>
            <a:r>
              <a:rPr lang="en-US" sz="1600" dirty="0">
                <a:latin typeface="+mn-lt"/>
              </a:rPr>
              <a:t> remove, archive to s3, compress). If required and approved, FS2 can allocate more space to the drive, or additional drives to the mission.</a:t>
            </a:r>
          </a:p>
          <a:p>
            <a:pPr lvl="1"/>
            <a:r>
              <a:rPr lang="en-US" sz="1600" dirty="0">
                <a:latin typeface="+mn-lt"/>
              </a:rPr>
              <a:t>FS2 does not institute space quotas on drive use to a given office or Group</a:t>
            </a:r>
          </a:p>
          <a:p>
            <a:endParaRPr lang="en-US" sz="1600" dirty="0">
              <a:latin typeface="+mn-lt"/>
            </a:endParaRPr>
          </a:p>
          <a:p>
            <a:r>
              <a:rPr lang="en-US" sz="1800" dirty="0">
                <a:latin typeface="+mn-lt"/>
              </a:rPr>
              <a:t>Windows Shadow Copy / File Restoration </a:t>
            </a:r>
          </a:p>
          <a:p>
            <a:pPr lvl="1"/>
            <a:r>
              <a:rPr lang="en-US" sz="1600" dirty="0">
                <a:latin typeface="+mn-lt"/>
              </a:rPr>
              <a:t>Operations Team provides escalation support to restore files (intra-day Shadow Copy) or snapshot restoration, with minimal disruption</a:t>
            </a:r>
          </a:p>
          <a:p>
            <a:pPr lvl="1"/>
            <a:r>
              <a:rPr lang="en-US" sz="1600" dirty="0">
                <a:latin typeface="+mn-lt"/>
              </a:rPr>
              <a:t>Used/requested frequently</a:t>
            </a:r>
          </a:p>
          <a:p>
            <a:pPr lvl="1"/>
            <a:r>
              <a:rPr lang="en-US" sz="1600" dirty="0">
                <a:latin typeface="+mn-lt"/>
              </a:rPr>
              <a:t>Dedicated EBS storage supports shadow copy files and management </a:t>
            </a:r>
          </a:p>
          <a:p>
            <a:pPr lvl="1"/>
            <a:r>
              <a:rPr lang="en-US" sz="1600" dirty="0">
                <a:latin typeface="+mn-lt"/>
              </a:rPr>
              <a:t>Details on the structure of the Windows Server Shadow Copy are provided in backup slides</a:t>
            </a:r>
          </a:p>
          <a:p>
            <a:endParaRPr lang="en-US" sz="1800" dirty="0">
              <a:latin typeface="+mn-lt"/>
            </a:endParaRPr>
          </a:p>
          <a:p>
            <a:endParaRPr lang="en-US" sz="1800" dirty="0">
              <a:latin typeface="+mn-lt"/>
            </a:endParaRPr>
          </a:p>
          <a:p>
            <a:endParaRPr lang="en-US" sz="1800" dirty="0">
              <a:latin typeface="+mn-lt"/>
            </a:endParaRPr>
          </a:p>
          <a:p>
            <a:endParaRPr lang="en-US" dirty="0"/>
          </a:p>
          <a:p>
            <a:pPr lvl="1"/>
            <a:endParaRPr lang="en-US" dirty="0"/>
          </a:p>
        </p:txBody>
      </p:sp>
      <p:sp>
        <p:nvSpPr>
          <p:cNvPr id="4" name="Title 3">
            <a:extLst>
              <a:ext uri="{FF2B5EF4-FFF2-40B4-BE49-F238E27FC236}">
                <a16:creationId xmlns:a16="http://schemas.microsoft.com/office/drawing/2014/main" id="{6698B18F-3214-C696-FFDA-3B21B84C76AE}"/>
              </a:ext>
            </a:extLst>
          </p:cNvPr>
          <p:cNvSpPr>
            <a:spLocks noGrp="1"/>
          </p:cNvSpPr>
          <p:nvPr>
            <p:ph type="title"/>
          </p:nvPr>
        </p:nvSpPr>
        <p:spPr/>
        <p:txBody>
          <a:bodyPr/>
          <a:lstStyle/>
          <a:p>
            <a:r>
              <a:rPr lang="en-US" dirty="0"/>
              <a:t>VCPS Storage Pool Use-Case / Implementation Background (Cont’d)</a:t>
            </a:r>
          </a:p>
        </p:txBody>
      </p:sp>
    </p:spTree>
    <p:extLst>
      <p:ext uri="{BB962C8B-B14F-4D97-AF65-F5344CB8AC3E}">
        <p14:creationId xmlns:p14="http://schemas.microsoft.com/office/powerpoint/2010/main" val="75912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59104C9-2F56-CA19-CD62-FE872BCFB4D7}"/>
              </a:ext>
            </a:extLst>
          </p:cNvPr>
          <p:cNvSpPr>
            <a:spLocks noGrp="1"/>
          </p:cNvSpPr>
          <p:nvPr>
            <p:ph type="body" sz="quarter" idx="13"/>
          </p:nvPr>
        </p:nvSpPr>
        <p:spPr>
          <a:xfrm>
            <a:off x="609600" y="1107894"/>
            <a:ext cx="11244943" cy="4927926"/>
          </a:xfrm>
        </p:spPr>
        <p:txBody>
          <a:bodyPr>
            <a:normAutofit/>
          </a:bodyPr>
          <a:lstStyle/>
          <a:p>
            <a:r>
              <a:rPr lang="en-US" sz="1700" dirty="0">
                <a:latin typeface="+mn-lt"/>
              </a:rPr>
              <a:t>Common Services Breakout (Phase 1) of VCPS Breakout does not have a direct impact on the existing VCPS Storage Pool, target VDA locations/servicing  </a:t>
            </a:r>
          </a:p>
          <a:p>
            <a:endParaRPr lang="en-US" sz="1700" dirty="0">
              <a:latin typeface="+mn-lt"/>
            </a:endParaRPr>
          </a:p>
          <a:p>
            <a:r>
              <a:rPr lang="en-US" sz="1700" dirty="0">
                <a:latin typeface="+mn-lt"/>
              </a:rPr>
              <a:t>As </a:t>
            </a:r>
            <a:r>
              <a:rPr lang="en-US" sz="1700" b="1" dirty="0">
                <a:latin typeface="+mn-lt"/>
              </a:rPr>
              <a:t>Mission Systems</a:t>
            </a:r>
            <a:r>
              <a:rPr lang="en-US" sz="1700" dirty="0">
                <a:latin typeface="+mn-lt"/>
              </a:rPr>
              <a:t> (TD-X, UPEs, BPS, GEMS VDA) move into their own accounts (Phase 2):</a:t>
            </a:r>
          </a:p>
          <a:p>
            <a:pPr lvl="1"/>
            <a:r>
              <a:rPr lang="en-US" sz="1600" dirty="0">
                <a:latin typeface="+mn-lt"/>
              </a:rPr>
              <a:t>New Citrix Profiles will be established within their breakout AWS account. (</a:t>
            </a:r>
            <a:r>
              <a:rPr lang="en-US" sz="1600" b="1" dirty="0">
                <a:latin typeface="+mn-lt"/>
              </a:rPr>
              <a:t>Possible impact, in plan</a:t>
            </a:r>
            <a:r>
              <a:rPr lang="en-US" sz="1600" dirty="0">
                <a:latin typeface="+mn-lt"/>
              </a:rPr>
              <a:t>)</a:t>
            </a:r>
          </a:p>
          <a:p>
            <a:pPr lvl="1"/>
            <a:r>
              <a:rPr lang="en-US" sz="1600" dirty="0">
                <a:latin typeface="+mn-lt"/>
              </a:rPr>
              <a:t>Access to Storage Pool Mission Shares in VCPS must be maintained (UPEs) </a:t>
            </a:r>
            <a:r>
              <a:rPr lang="en-US" sz="1600" b="1" dirty="0">
                <a:latin typeface="+mn-lt"/>
              </a:rPr>
              <a:t>(No VCPS Impact, UPE Account connection validation)</a:t>
            </a:r>
          </a:p>
          <a:p>
            <a:pPr lvl="1"/>
            <a:r>
              <a:rPr lang="en-US" sz="1600" dirty="0">
                <a:latin typeface="+mn-lt"/>
              </a:rPr>
              <a:t>Systems with their own dedicated mission storage (TD-X, BPS) FS2 will recreate and migrate that storage into their new account </a:t>
            </a:r>
            <a:r>
              <a:rPr lang="en-US" sz="1600" b="1" dirty="0">
                <a:latin typeface="+mn-lt"/>
              </a:rPr>
              <a:t>(No impact, in plan)</a:t>
            </a:r>
            <a:r>
              <a:rPr lang="en-US" sz="1600" dirty="0">
                <a:latin typeface="+mn-lt"/>
              </a:rPr>
              <a:t> </a:t>
            </a:r>
          </a:p>
          <a:p>
            <a:pPr lvl="1"/>
            <a:endParaRPr lang="en-US" sz="1600" dirty="0">
              <a:latin typeface="+mn-lt"/>
            </a:endParaRPr>
          </a:p>
          <a:p>
            <a:r>
              <a:rPr lang="en-US" sz="1800" dirty="0">
                <a:latin typeface="+mn-lt"/>
              </a:rPr>
              <a:t>With Phase 3 (VCPS/Common services transition) and Phase 5 (transition out), management of the existing Storage Pool and Citrix profiles is not coupled nor controlled by the Citrix Management environment </a:t>
            </a:r>
          </a:p>
          <a:p>
            <a:pPr lvl="1"/>
            <a:r>
              <a:rPr lang="en-US" sz="1600" dirty="0">
                <a:latin typeface="+mn-lt"/>
              </a:rPr>
              <a:t>Changes to Citrix Profile locations on the Storage Pool and resident environment access must be maintained to make the profiles reachable from external sources (Common Services)</a:t>
            </a:r>
          </a:p>
          <a:p>
            <a:pPr lvl="1"/>
            <a:r>
              <a:rPr lang="en-US" sz="1600" dirty="0">
                <a:latin typeface="+mn-lt"/>
              </a:rPr>
              <a:t>Access (NACL/Security Group) from external UPE accounts into the VCPS Storage Pool to support sharing of mission data must be maintained or transitioned to alternative approach (S3) </a:t>
            </a:r>
          </a:p>
        </p:txBody>
      </p:sp>
      <p:sp>
        <p:nvSpPr>
          <p:cNvPr id="4" name="Title 3">
            <a:extLst>
              <a:ext uri="{FF2B5EF4-FFF2-40B4-BE49-F238E27FC236}">
                <a16:creationId xmlns:a16="http://schemas.microsoft.com/office/drawing/2014/main" id="{CC89E686-1FB4-3AD6-ABF9-0457F3B07138}"/>
              </a:ext>
            </a:extLst>
          </p:cNvPr>
          <p:cNvSpPr>
            <a:spLocks noGrp="1"/>
          </p:cNvSpPr>
          <p:nvPr>
            <p:ph type="title"/>
          </p:nvPr>
        </p:nvSpPr>
        <p:spPr/>
        <p:txBody>
          <a:bodyPr/>
          <a:lstStyle/>
          <a:p>
            <a:r>
              <a:rPr lang="en-US" dirty="0"/>
              <a:t>VCPS Breakout / Storage Pool Impacts</a:t>
            </a:r>
          </a:p>
        </p:txBody>
      </p:sp>
    </p:spTree>
    <p:extLst>
      <p:ext uri="{BB962C8B-B14F-4D97-AF65-F5344CB8AC3E}">
        <p14:creationId xmlns:p14="http://schemas.microsoft.com/office/powerpoint/2010/main" val="491500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4C177D4-0AA1-3851-7927-33ADB87EE66D}"/>
              </a:ext>
            </a:extLst>
          </p:cNvPr>
          <p:cNvSpPr>
            <a:spLocks noGrp="1"/>
          </p:cNvSpPr>
          <p:nvPr>
            <p:ph type="title"/>
          </p:nvPr>
        </p:nvSpPr>
        <p:spPr>
          <a:xfrm>
            <a:off x="0" y="923740"/>
            <a:ext cx="2219093" cy="664308"/>
          </a:xfrm>
        </p:spPr>
        <p:txBody>
          <a:bodyPr>
            <a:normAutofit fontScale="90000"/>
          </a:bodyPr>
          <a:lstStyle/>
          <a:p>
            <a:r>
              <a:rPr lang="en-US" dirty="0"/>
              <a:t>Post VCPS Breakout Storage Pool Alignment</a:t>
            </a:r>
            <a:br>
              <a:rPr lang="en-US" dirty="0"/>
            </a:br>
            <a:r>
              <a:rPr lang="en-US" dirty="0"/>
              <a:t>(Systems Diagram)</a:t>
            </a:r>
          </a:p>
        </p:txBody>
      </p:sp>
      <p:pic>
        <p:nvPicPr>
          <p:cNvPr id="6" name="Picture 5" descr="Graphical user interface&#10;&#10;AI-generated content may be incorrect.">
            <a:extLst>
              <a:ext uri="{FF2B5EF4-FFF2-40B4-BE49-F238E27FC236}">
                <a16:creationId xmlns:a16="http://schemas.microsoft.com/office/drawing/2014/main" id="{BAB45FE1-9A36-8252-7DC9-C7D90611EA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8143" y="0"/>
            <a:ext cx="9080084" cy="6477564"/>
          </a:xfrm>
          <a:prstGeom prst="rect">
            <a:avLst/>
          </a:prstGeom>
        </p:spPr>
      </p:pic>
    </p:spTree>
    <p:extLst>
      <p:ext uri="{BB962C8B-B14F-4D97-AF65-F5344CB8AC3E}">
        <p14:creationId xmlns:p14="http://schemas.microsoft.com/office/powerpoint/2010/main" val="33949546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6EABD-52B8-56AD-BF0A-4192F527B81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2E29DD8-47A7-C17F-A16D-DEF9AE9613CA}"/>
              </a:ext>
            </a:extLst>
          </p:cNvPr>
          <p:cNvSpPr>
            <a:spLocks noGrp="1"/>
          </p:cNvSpPr>
          <p:nvPr>
            <p:ph type="body" sz="quarter" idx="13"/>
          </p:nvPr>
        </p:nvSpPr>
        <p:spPr>
          <a:xfrm>
            <a:off x="609600" y="1008185"/>
            <a:ext cx="11244943" cy="5414386"/>
          </a:xfrm>
        </p:spPr>
        <p:txBody>
          <a:bodyPr>
            <a:normAutofit fontScale="92500" lnSpcReduction="20000"/>
          </a:bodyPr>
          <a:lstStyle/>
          <a:p>
            <a:pPr marL="0" indent="0">
              <a:buNone/>
            </a:pPr>
            <a:r>
              <a:rPr lang="en-US" sz="1800" dirty="0">
                <a:latin typeface="+mn-lt"/>
              </a:rPr>
              <a:t>Storage Pool Data Holdings: </a:t>
            </a:r>
          </a:p>
          <a:p>
            <a:r>
              <a:rPr lang="en-US" sz="1800" dirty="0">
                <a:latin typeface="+mn-lt"/>
              </a:rPr>
              <a:t>FS2 Operations has inquired on multiple occasions with Mission (SF-H and SF-G) on the data holdings and status of items stored in the Shared Storage Pool regarding Record retention </a:t>
            </a:r>
          </a:p>
          <a:p>
            <a:pPr lvl="1"/>
            <a:r>
              <a:rPr lang="en-US" sz="1600" dirty="0">
                <a:latin typeface="+mn-lt"/>
              </a:rPr>
              <a:t>No specific guidance or decisions have been shared from Mission to FS2 on status or management of holdings as records</a:t>
            </a:r>
          </a:p>
          <a:p>
            <a:pPr lvl="1"/>
            <a:r>
              <a:rPr lang="en-US" sz="1600" dirty="0">
                <a:latin typeface="+mn-lt"/>
              </a:rPr>
              <a:t>Out of an abundance of caution, FS2 does not independently archive or remove data in SF virtual drives or personal folders</a:t>
            </a:r>
          </a:p>
          <a:p>
            <a:pPr lvl="1"/>
            <a:r>
              <a:rPr lang="en-US" sz="1600" dirty="0">
                <a:latin typeface="+mn-lt"/>
              </a:rPr>
              <a:t>Risk does exist that partial holdings in the Shared storage pool could be identified for retention </a:t>
            </a:r>
          </a:p>
          <a:p>
            <a:pPr lvl="1"/>
            <a:endParaRPr lang="en-US" sz="1800" dirty="0">
              <a:latin typeface="+mn-lt"/>
            </a:endParaRPr>
          </a:p>
          <a:p>
            <a:r>
              <a:rPr lang="en-US" sz="1800" dirty="0">
                <a:latin typeface="+mn-lt"/>
              </a:rPr>
              <a:t>UPE Storage Pool Access  </a:t>
            </a:r>
          </a:p>
          <a:p>
            <a:pPr lvl="1"/>
            <a:r>
              <a:rPr lang="en-US" sz="1600" dirty="0">
                <a:latin typeface="+mn-lt"/>
              </a:rPr>
              <a:t>Access from outside AWS accounts as part of VCPS breakout is planned as a mitigation to shared mission holdings which UPEs need access to</a:t>
            </a:r>
          </a:p>
          <a:p>
            <a:pPr lvl="1"/>
            <a:r>
              <a:rPr lang="en-US" sz="1600" dirty="0">
                <a:latin typeface="+mn-lt"/>
              </a:rPr>
              <a:t>Alternative approaches (S3 buckets) may be considered to facilitate cross-account communication; but would require input from mission and repeatable/timely replication of data</a:t>
            </a:r>
          </a:p>
          <a:p>
            <a:pPr lvl="1"/>
            <a:endParaRPr lang="en-US" sz="1800" dirty="0">
              <a:latin typeface="+mn-lt"/>
            </a:endParaRPr>
          </a:p>
          <a:p>
            <a:pPr marL="0" indent="0">
              <a:buNone/>
            </a:pPr>
            <a:r>
              <a:rPr lang="en-US" sz="1800" dirty="0">
                <a:latin typeface="+mn-lt"/>
              </a:rPr>
              <a:t>Future Items:</a:t>
            </a:r>
          </a:p>
          <a:p>
            <a:r>
              <a:rPr lang="en-US" sz="1800" dirty="0" err="1">
                <a:latin typeface="+mn-lt"/>
              </a:rPr>
              <a:t>FSx</a:t>
            </a:r>
            <a:r>
              <a:rPr lang="en-US" sz="1800" dirty="0">
                <a:latin typeface="+mn-lt"/>
              </a:rPr>
              <a:t> - Windows</a:t>
            </a:r>
          </a:p>
          <a:p>
            <a:pPr lvl="1"/>
            <a:r>
              <a:rPr lang="en-US" sz="1600" dirty="0">
                <a:latin typeface="+mn-lt"/>
              </a:rPr>
              <a:t>FS2 has performed prototyping of </a:t>
            </a:r>
            <a:r>
              <a:rPr lang="en-US" sz="1600" dirty="0" err="1">
                <a:latin typeface="+mn-lt"/>
              </a:rPr>
              <a:t>FSx</a:t>
            </a:r>
            <a:r>
              <a:rPr lang="en-US" sz="1600" dirty="0">
                <a:latin typeface="+mn-lt"/>
              </a:rPr>
              <a:t> for Windows Server in XC and Ur TP1 as a future replacement of the existing storage pool </a:t>
            </a:r>
          </a:p>
          <a:p>
            <a:pPr lvl="1"/>
            <a:r>
              <a:rPr lang="en-US" sz="1600" dirty="0">
                <a:latin typeface="+mn-lt"/>
              </a:rPr>
              <a:t>This would be considered a Pathfinder effort for Enterprise, novel adoption</a:t>
            </a:r>
          </a:p>
          <a:p>
            <a:pPr lvl="1"/>
            <a:r>
              <a:rPr lang="en-US" sz="1600" dirty="0">
                <a:latin typeface="+mn-lt"/>
              </a:rPr>
              <a:t>Is there is desire to continue that approach or vet with Cloud Ops/TESR?  </a:t>
            </a:r>
          </a:p>
          <a:p>
            <a:pPr lvl="1"/>
            <a:endParaRPr lang="en-US" sz="1600" dirty="0">
              <a:latin typeface="+mn-lt"/>
            </a:endParaRPr>
          </a:p>
          <a:p>
            <a:r>
              <a:rPr lang="en-US" sz="1800" dirty="0">
                <a:latin typeface="+mn-lt"/>
              </a:rPr>
              <a:t>Storage Pool Availability needs for </a:t>
            </a:r>
            <a:r>
              <a:rPr lang="en-US" sz="1800" dirty="0" err="1">
                <a:latin typeface="+mn-lt"/>
              </a:rPr>
              <a:t>ESRi</a:t>
            </a:r>
            <a:r>
              <a:rPr lang="en-US" sz="1800" dirty="0">
                <a:latin typeface="+mn-lt"/>
              </a:rPr>
              <a:t>/K8?</a:t>
            </a:r>
          </a:p>
          <a:p>
            <a:pPr lvl="1"/>
            <a:r>
              <a:rPr lang="en-US" sz="1600" dirty="0">
                <a:latin typeface="+mn-lt"/>
              </a:rPr>
              <a:t>Are there defined use cases for Production or holdings to be transferred from/referenced within the K8 environment?</a:t>
            </a:r>
          </a:p>
          <a:p>
            <a:pPr lvl="1"/>
            <a:endParaRPr lang="en-US" sz="1600" dirty="0">
              <a:latin typeface="+mn-lt"/>
            </a:endParaRPr>
          </a:p>
          <a:p>
            <a:endParaRPr lang="en-US" sz="1800" dirty="0">
              <a:latin typeface="+mn-lt"/>
            </a:endParaRPr>
          </a:p>
          <a:p>
            <a:endParaRPr lang="en-US" sz="1800" dirty="0">
              <a:latin typeface="+mn-lt"/>
            </a:endParaRPr>
          </a:p>
          <a:p>
            <a:endParaRPr lang="en-US" sz="1800" dirty="0">
              <a:latin typeface="+mn-lt"/>
            </a:endParaRPr>
          </a:p>
          <a:p>
            <a:endParaRPr lang="en-US" dirty="0"/>
          </a:p>
          <a:p>
            <a:pPr lvl="1"/>
            <a:endParaRPr lang="en-US" dirty="0"/>
          </a:p>
        </p:txBody>
      </p:sp>
      <p:sp>
        <p:nvSpPr>
          <p:cNvPr id="4" name="Title 3">
            <a:extLst>
              <a:ext uri="{FF2B5EF4-FFF2-40B4-BE49-F238E27FC236}">
                <a16:creationId xmlns:a16="http://schemas.microsoft.com/office/drawing/2014/main" id="{663652C0-C212-2164-3F14-031CCBA5B11F}"/>
              </a:ext>
            </a:extLst>
          </p:cNvPr>
          <p:cNvSpPr>
            <a:spLocks noGrp="1"/>
          </p:cNvSpPr>
          <p:nvPr>
            <p:ph type="title"/>
          </p:nvPr>
        </p:nvSpPr>
        <p:spPr/>
        <p:txBody>
          <a:bodyPr/>
          <a:lstStyle/>
          <a:p>
            <a:r>
              <a:rPr lang="en-US" dirty="0"/>
              <a:t>Considerations </a:t>
            </a:r>
          </a:p>
        </p:txBody>
      </p:sp>
    </p:spTree>
    <p:extLst>
      <p:ext uri="{BB962C8B-B14F-4D97-AF65-F5344CB8AC3E}">
        <p14:creationId xmlns:p14="http://schemas.microsoft.com/office/powerpoint/2010/main" val="3013131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6DFA713-C865-9346-BD4C-37123EBBBAF7}"/>
              </a:ext>
            </a:extLst>
          </p:cNvPr>
          <p:cNvSpPr>
            <a:spLocks noGrp="1"/>
          </p:cNvSpPr>
          <p:nvPr>
            <p:ph type="title"/>
          </p:nvPr>
        </p:nvSpPr>
        <p:spPr/>
        <p:txBody>
          <a:bodyPr/>
          <a:lstStyle/>
          <a:p>
            <a:r>
              <a:rPr lang="en-US" dirty="0"/>
              <a:t>Backup Slides</a:t>
            </a:r>
          </a:p>
        </p:txBody>
      </p:sp>
    </p:spTree>
    <p:extLst>
      <p:ext uri="{BB962C8B-B14F-4D97-AF65-F5344CB8AC3E}">
        <p14:creationId xmlns:p14="http://schemas.microsoft.com/office/powerpoint/2010/main" val="366764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iagram">
            <a:extLst>
              <a:ext uri="{FF2B5EF4-FFF2-40B4-BE49-F238E27FC236}">
                <a16:creationId xmlns:a16="http://schemas.microsoft.com/office/drawing/2014/main" id="{584A6FA4-3A4D-5C7C-D134-6E1A1849CF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9252" y="0"/>
            <a:ext cx="8213495" cy="6858000"/>
          </a:xfrm>
          <a:prstGeom prst="rect">
            <a:avLst/>
          </a:prstGeom>
        </p:spPr>
      </p:pic>
      <p:sp>
        <p:nvSpPr>
          <p:cNvPr id="9" name="Title 3">
            <a:extLst>
              <a:ext uri="{FF2B5EF4-FFF2-40B4-BE49-F238E27FC236}">
                <a16:creationId xmlns:a16="http://schemas.microsoft.com/office/drawing/2014/main" id="{CE41A028-33EF-6506-824D-1C9617C74C8A}"/>
              </a:ext>
            </a:extLst>
          </p:cNvPr>
          <p:cNvSpPr>
            <a:spLocks noGrp="1"/>
          </p:cNvSpPr>
          <p:nvPr>
            <p:ph type="title"/>
          </p:nvPr>
        </p:nvSpPr>
        <p:spPr>
          <a:xfrm>
            <a:off x="0" y="923740"/>
            <a:ext cx="2219093" cy="664308"/>
          </a:xfrm>
        </p:spPr>
        <p:txBody>
          <a:bodyPr>
            <a:normAutofit fontScale="90000"/>
          </a:bodyPr>
          <a:lstStyle/>
          <a:p>
            <a:r>
              <a:rPr lang="en-US" dirty="0"/>
              <a:t>Storage Pool - </a:t>
            </a:r>
            <a:br>
              <a:rPr lang="en-US" dirty="0"/>
            </a:br>
            <a:r>
              <a:rPr lang="en-US" dirty="0"/>
              <a:t>Windows Server</a:t>
            </a:r>
            <a:br>
              <a:rPr lang="en-US" dirty="0"/>
            </a:br>
            <a:r>
              <a:rPr lang="en-US" dirty="0"/>
              <a:t>Shadow Copy </a:t>
            </a:r>
            <a:br>
              <a:rPr lang="en-US" dirty="0"/>
            </a:br>
            <a:r>
              <a:rPr lang="en-US" dirty="0"/>
              <a:t>Architecture</a:t>
            </a:r>
          </a:p>
        </p:txBody>
      </p:sp>
    </p:spTree>
    <p:extLst>
      <p:ext uri="{BB962C8B-B14F-4D97-AF65-F5344CB8AC3E}">
        <p14:creationId xmlns:p14="http://schemas.microsoft.com/office/powerpoint/2010/main" val="7904190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1AE9F-2AAD-8C80-618B-F025342F8BB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36567FC-BF95-E661-24F3-318BB505C147}"/>
              </a:ext>
            </a:extLst>
          </p:cNvPr>
          <p:cNvSpPr>
            <a:spLocks noGrp="1"/>
          </p:cNvSpPr>
          <p:nvPr>
            <p:ph type="title"/>
          </p:nvPr>
        </p:nvSpPr>
        <p:spPr>
          <a:xfrm>
            <a:off x="609600" y="148735"/>
            <a:ext cx="10972800" cy="664308"/>
          </a:xfrm>
        </p:spPr>
        <p:txBody>
          <a:bodyPr/>
          <a:lstStyle/>
          <a:p>
            <a:r>
              <a:rPr lang="en-US" dirty="0"/>
              <a:t>Future - VCPS System Breakout (Systems Diagram)</a:t>
            </a:r>
          </a:p>
        </p:txBody>
      </p:sp>
      <p:pic>
        <p:nvPicPr>
          <p:cNvPr id="6" name="Picture 5" descr="Graphical user interface, application&#10;&#10;AI-generated content may be incorrect.">
            <a:extLst>
              <a:ext uri="{FF2B5EF4-FFF2-40B4-BE49-F238E27FC236}">
                <a16:creationId xmlns:a16="http://schemas.microsoft.com/office/drawing/2014/main" id="{E1CA5099-4FCE-4DD1-E8E1-0C6D5AE5A1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514" y="671530"/>
            <a:ext cx="11887200" cy="5807994"/>
          </a:xfrm>
          <a:prstGeom prst="rect">
            <a:avLst/>
          </a:prstGeom>
        </p:spPr>
      </p:pic>
    </p:spTree>
    <p:extLst>
      <p:ext uri="{BB962C8B-B14F-4D97-AF65-F5344CB8AC3E}">
        <p14:creationId xmlns:p14="http://schemas.microsoft.com/office/powerpoint/2010/main" val="933987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A11B4-716C-7755-E1F4-1BD6090A3995}"/>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E7BCBE39-462E-3392-497F-5AE79CA6B897}"/>
              </a:ext>
            </a:extLst>
          </p:cNvPr>
          <p:cNvSpPr txBox="1"/>
          <p:nvPr/>
        </p:nvSpPr>
        <p:spPr>
          <a:xfrm>
            <a:off x="640080" y="219372"/>
            <a:ext cx="9072880" cy="461665"/>
          </a:xfrm>
          <a:prstGeom prst="rect">
            <a:avLst/>
          </a:prstGeom>
          <a:noFill/>
        </p:spPr>
        <p:txBody>
          <a:bodyPr wrap="square">
            <a:spAutoFit/>
          </a:bodyPr>
          <a:lstStyle/>
          <a:p>
            <a:pPr marL="0" marR="0" lvl="0" indent="0" algn="l" defTabSz="914354"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rgbClr val="192F43"/>
                </a:solidFill>
                <a:effectLst/>
                <a:uLnTx/>
                <a:uFillTx/>
                <a:latin typeface="Franklin Gothic Medium Cond"/>
                <a:ea typeface="+mj-ea"/>
                <a:cs typeface="+mj-cs"/>
              </a:rPr>
              <a:t>VCPS Breakout Project</a:t>
            </a:r>
            <a:r>
              <a:rPr lang="en-US" sz="2400" dirty="0">
                <a:solidFill>
                  <a:srgbClr val="192F43"/>
                </a:solidFill>
                <a:latin typeface="Franklin Gothic Medium Cond"/>
                <a:ea typeface="+mj-ea"/>
                <a:cs typeface="+mj-cs"/>
              </a:rPr>
              <a:t> Overview</a:t>
            </a:r>
            <a:endParaRPr kumimoji="0" lang="en-US" sz="2400" b="0" i="0" u="none" strike="noStrike" kern="1200" cap="none" spc="0" normalizeH="0" baseline="0" noProof="0" dirty="0">
              <a:ln>
                <a:noFill/>
              </a:ln>
              <a:solidFill>
                <a:srgbClr val="192F43"/>
              </a:solidFill>
              <a:effectLst/>
              <a:uLnTx/>
              <a:uFillTx/>
              <a:latin typeface="Franklin Gothic Medium Cond" panose="020B0606030402020204" pitchFamily="34" charset="0"/>
              <a:ea typeface="+mj-ea"/>
              <a:cs typeface="+mj-cs"/>
            </a:endParaRPr>
          </a:p>
        </p:txBody>
      </p:sp>
      <p:sp>
        <p:nvSpPr>
          <p:cNvPr id="6" name="Content Placeholder 5">
            <a:extLst>
              <a:ext uri="{FF2B5EF4-FFF2-40B4-BE49-F238E27FC236}">
                <a16:creationId xmlns:a16="http://schemas.microsoft.com/office/drawing/2014/main" id="{188AAB6A-6721-0ABA-C8C5-B0EF8D2BBF3E}"/>
              </a:ext>
            </a:extLst>
          </p:cNvPr>
          <p:cNvSpPr>
            <a:spLocks noGrp="1"/>
          </p:cNvSpPr>
          <p:nvPr>
            <p:ph idx="1"/>
          </p:nvPr>
        </p:nvSpPr>
        <p:spPr>
          <a:xfrm>
            <a:off x="838200" y="812800"/>
            <a:ext cx="10515600" cy="5364163"/>
          </a:xfrm>
        </p:spPr>
        <p:txBody>
          <a:bodyPr>
            <a:normAutofit fontScale="92500" lnSpcReduction="20000"/>
          </a:bodyPr>
          <a:lstStyle/>
          <a:p>
            <a:pPr marL="0" indent="0">
              <a:buNone/>
            </a:pPr>
            <a:r>
              <a:rPr lang="en-US" sz="1800" dirty="0"/>
              <a:t>Phase 1 – Shared Services and Tandem-X mission breakout (May 2025 – January 2026)</a:t>
            </a:r>
          </a:p>
          <a:p>
            <a:pPr lvl="1"/>
            <a:r>
              <a:rPr lang="en-US" sz="1400" dirty="0"/>
              <a:t>FS2 establishes new AWS accounts and SPIDs at each security fabric (Ur, Ti, Cu, Kr) and environment (TP1, Operations) for redeployment of shared services </a:t>
            </a:r>
          </a:p>
          <a:p>
            <a:pPr lvl="1"/>
            <a:r>
              <a:rPr lang="en-US" sz="1400" dirty="0"/>
              <a:t>All deployments of instances and services are separate and non-impacting to existing shared services including Citrix</a:t>
            </a:r>
          </a:p>
          <a:p>
            <a:pPr lvl="1"/>
            <a:r>
              <a:rPr lang="en-US" sz="1400" dirty="0"/>
              <a:t>Shared services defined as Citrix technical stack, Shared Software artifact S3 buckets, Operations monitoring software/log ingest services, Gx integration proxies) </a:t>
            </a:r>
          </a:p>
          <a:p>
            <a:pPr lvl="1"/>
            <a:r>
              <a:rPr lang="en-US" sz="1400" dirty="0"/>
              <a:t>Tandem-X mission area nominated for first mission breakout due to heavy reliance on Citrix/external interconnectivity </a:t>
            </a:r>
          </a:p>
          <a:p>
            <a:pPr lvl="1"/>
            <a:endParaRPr lang="en-US" sz="1600" dirty="0"/>
          </a:p>
          <a:p>
            <a:pPr marL="0" indent="0">
              <a:buNone/>
            </a:pPr>
            <a:r>
              <a:rPr lang="en-US" sz="1800" dirty="0"/>
              <a:t>Phase 2 – Non-FGMOD Mission Breakout from VCPS Account (January 2026 – June 2026)</a:t>
            </a:r>
          </a:p>
          <a:p>
            <a:pPr lvl="1"/>
            <a:r>
              <a:rPr lang="en-US" sz="1400" dirty="0"/>
              <a:t>Non-FGMOD Mission Areas within VCPS (including User Production Environments [virtual desktops]) are redeployed into new AWS accounts/SPIDS in alignment with COA designations</a:t>
            </a:r>
          </a:p>
          <a:p>
            <a:pPr lvl="1"/>
            <a:r>
              <a:rPr lang="en-US" sz="1400" dirty="0"/>
              <a:t>New accounts integrate directly with Shared Services account vice existing VCPS-based Citrix and shared services</a:t>
            </a:r>
          </a:p>
          <a:p>
            <a:pPr lvl="1"/>
            <a:endParaRPr lang="en-US" sz="1600" dirty="0"/>
          </a:p>
          <a:p>
            <a:pPr marL="0" indent="0">
              <a:buNone/>
            </a:pPr>
            <a:r>
              <a:rPr lang="en-US" sz="1800" dirty="0"/>
              <a:t>Phase 3 – VCPS/FGMOD Citrix cutover to Shared Services Account (January 2026 – March 2026)</a:t>
            </a:r>
          </a:p>
          <a:p>
            <a:pPr lvl="1"/>
            <a:r>
              <a:rPr lang="en-US" sz="1400" b="1" dirty="0"/>
              <a:t>Transition is specifically for Citrix management stack (initial connection to delivery groups, then pointed to existing Virtual Desktops </a:t>
            </a:r>
          </a:p>
          <a:p>
            <a:pPr lvl="1"/>
            <a:r>
              <a:rPr lang="en-US" sz="1400" b="1" dirty="0"/>
              <a:t>No change to FGMOD mission virtual desktop baselines, hosting, or mission configurations</a:t>
            </a:r>
          </a:p>
          <a:p>
            <a:pPr lvl="1"/>
            <a:r>
              <a:rPr lang="en-US" b="1" dirty="0"/>
              <a:t>Earliest Target readiness: </a:t>
            </a:r>
          </a:p>
          <a:p>
            <a:pPr lvl="2"/>
            <a:r>
              <a:rPr lang="en-US" b="1" dirty="0"/>
              <a:t>Ur TP1*: Early December 2025 (*pre-Tandem-X integration)</a:t>
            </a:r>
          </a:p>
          <a:p>
            <a:pPr lvl="2"/>
            <a:r>
              <a:rPr lang="en-US" sz="1400" b="1" dirty="0"/>
              <a:t>Ti TP1: Early January 2026</a:t>
            </a:r>
          </a:p>
          <a:p>
            <a:pPr lvl="2"/>
            <a:r>
              <a:rPr lang="en-US" b="1" dirty="0"/>
              <a:t>Cu TP1: Early February 2026</a:t>
            </a:r>
            <a:endParaRPr lang="en-US" sz="1400" b="1" dirty="0"/>
          </a:p>
          <a:p>
            <a:pPr lvl="1"/>
            <a:endParaRPr lang="en-US" sz="1600" dirty="0"/>
          </a:p>
          <a:p>
            <a:pPr marL="0" indent="0">
              <a:buNone/>
            </a:pPr>
            <a:r>
              <a:rPr lang="en-US" sz="1800" dirty="0"/>
              <a:t>Phase 4 – High Availability Implementation of Citrix within Shared Services (March 2026 – August 2026)</a:t>
            </a:r>
          </a:p>
          <a:p>
            <a:pPr lvl="1"/>
            <a:r>
              <a:rPr lang="en-US" sz="1400" dirty="0"/>
              <a:t>Procure additional Citrix licenses and perform PoC with latest Citrix delivered baseline, transition shared services configuration to H-A</a:t>
            </a:r>
          </a:p>
          <a:p>
            <a:pPr lvl="1"/>
            <a:endParaRPr lang="en-US" sz="1400" dirty="0"/>
          </a:p>
          <a:p>
            <a:pPr lvl="1"/>
            <a:endParaRPr lang="en-US" sz="1600" dirty="0"/>
          </a:p>
        </p:txBody>
      </p:sp>
    </p:spTree>
    <p:extLst>
      <p:ext uri="{BB962C8B-B14F-4D97-AF65-F5344CB8AC3E}">
        <p14:creationId xmlns:p14="http://schemas.microsoft.com/office/powerpoint/2010/main" val="101142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E24A4-0CFE-4829-A792-7F735737CEA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BDD7F99-FEFF-8D4D-82B8-F2748D8E6619}"/>
              </a:ext>
            </a:extLst>
          </p:cNvPr>
          <p:cNvSpPr>
            <a:spLocks noGrp="1"/>
          </p:cNvSpPr>
          <p:nvPr>
            <p:ph type="title"/>
          </p:nvPr>
        </p:nvSpPr>
        <p:spPr>
          <a:xfrm>
            <a:off x="609600" y="245906"/>
            <a:ext cx="10972800" cy="664308"/>
          </a:xfrm>
        </p:spPr>
        <p:txBody>
          <a:bodyPr/>
          <a:lstStyle/>
          <a:p>
            <a:r>
              <a:rPr lang="en-US" dirty="0"/>
              <a:t>Common Services Citrix / VCPS (System Workflow/Segment Arch) </a:t>
            </a:r>
          </a:p>
        </p:txBody>
      </p:sp>
      <p:pic>
        <p:nvPicPr>
          <p:cNvPr id="6" name="Picture 5" descr="Diagram&#10;&#10;AI-generated content may be incorrect.">
            <a:extLst>
              <a:ext uri="{FF2B5EF4-FFF2-40B4-BE49-F238E27FC236}">
                <a16:creationId xmlns:a16="http://schemas.microsoft.com/office/drawing/2014/main" id="{5D4B6FEE-82D4-8551-61B3-C8420D4B2E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5942" y="737123"/>
            <a:ext cx="11854543" cy="5383753"/>
          </a:xfrm>
          <a:prstGeom prst="rect">
            <a:avLst/>
          </a:prstGeom>
        </p:spPr>
      </p:pic>
    </p:spTree>
    <p:extLst>
      <p:ext uri="{BB962C8B-B14F-4D97-AF65-F5344CB8AC3E}">
        <p14:creationId xmlns:p14="http://schemas.microsoft.com/office/powerpoint/2010/main" val="2464876856"/>
      </p:ext>
    </p:extLst>
  </p:cSld>
  <p:clrMapOvr>
    <a:masterClrMapping/>
  </p:clrMapOvr>
</p:sld>
</file>

<file path=ppt/theme/theme1.xml><?xml version="1.0" encoding="utf-8"?>
<a:theme xmlns:a="http://schemas.openxmlformats.org/drawingml/2006/main" name="NGA Theme 4x3 2016">
  <a:themeElements>
    <a:clrScheme name="NGA Branding">
      <a:dk1>
        <a:srgbClr val="414042"/>
      </a:dk1>
      <a:lt1>
        <a:sysClr val="window" lastClr="FFFFFF"/>
      </a:lt1>
      <a:dk2>
        <a:srgbClr val="192F43"/>
      </a:dk2>
      <a:lt2>
        <a:srgbClr val="D8D8D8"/>
      </a:lt2>
      <a:accent1>
        <a:srgbClr val="1E4D7C"/>
      </a:accent1>
      <a:accent2>
        <a:srgbClr val="37A5AC"/>
      </a:accent2>
      <a:accent3>
        <a:srgbClr val="80C2D4"/>
      </a:accent3>
      <a:accent4>
        <a:srgbClr val="089247"/>
      </a:accent4>
      <a:accent5>
        <a:srgbClr val="8DC63F"/>
      </a:accent5>
      <a:accent6>
        <a:srgbClr val="464646"/>
      </a:accent6>
      <a:hlink>
        <a:srgbClr val="414042"/>
      </a:hlink>
      <a:folHlink>
        <a:srgbClr val="1E4D7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NGA_Presentation_Template.potx" id="{64395C71-6383-4CF7-81F8-88B2BEB52891}" vid="{69B331A8-C947-48D0-9D18-AB7B56BA72A3}"/>
    </a:ext>
  </a:extLst>
</a:theme>
</file>

<file path=ppt/theme/theme2.xml><?xml version="1.0" encoding="utf-8"?>
<a:theme xmlns:a="http://schemas.openxmlformats.org/drawingml/2006/main" name="6_NGA Theme 4x3 2016">
  <a:themeElements>
    <a:clrScheme name="NGA Branding">
      <a:dk1>
        <a:srgbClr val="414042"/>
      </a:dk1>
      <a:lt1>
        <a:sysClr val="window" lastClr="FFFFFF"/>
      </a:lt1>
      <a:dk2>
        <a:srgbClr val="192F43"/>
      </a:dk2>
      <a:lt2>
        <a:srgbClr val="D8D8D8"/>
      </a:lt2>
      <a:accent1>
        <a:srgbClr val="1E4D7C"/>
      </a:accent1>
      <a:accent2>
        <a:srgbClr val="37A5AC"/>
      </a:accent2>
      <a:accent3>
        <a:srgbClr val="80C2D4"/>
      </a:accent3>
      <a:accent4>
        <a:srgbClr val="089247"/>
      </a:accent4>
      <a:accent5>
        <a:srgbClr val="8DC63F"/>
      </a:accent5>
      <a:accent6>
        <a:srgbClr val="464646"/>
      </a:accent6>
      <a:hlink>
        <a:srgbClr val="414042"/>
      </a:hlink>
      <a:folHlink>
        <a:srgbClr val="1E4D7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NGA_Presentation_Template.potx" id="{64395C71-6383-4CF7-81F8-88B2BEB52891}" vid="{0270B5A8-AAE6-4E7A-8357-D2238A15127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WrappedLabelHistory xmlns:xsi="http://www.w3.org/2001/XMLSchema-instance" xmlns:xsd="http://www.w3.org/2001/XMLSchema" xmlns="http://www.boldonjames.com/2016/02/Classifier/internal/wrappedLabelHistory">
  <Value>PD94bWwgdmVyc2lvbj0iMS4wIiBlbmNvZGluZz0idXMtYXNjaWkiPz48bGFiZWxIaXN0b3J5IHhtbG5zOnhzaT0iaHR0cDovL3d3dy53My5vcmcvMjAwMS9YTUxTY2hlbWEtaW5zdGFuY2UiIHhtbG5zOnhzZD0iaHR0cDovL3d3dy53My5vcmcvMjAwMS9YTUxTY2hlbWEiIHhtbG5zPSJodHRwOi8vd3d3LmJvbGRvbmphbWVzLmNvbS8yMDE2LzAyL0NsYXNzaWZpZXIvaW50ZXJuYWwvbGFiZWxIaXN0b3J5Ij48aXRlbT48c2lzbCBzaXNsVmVyc2lvbj0iMCIgcG9saWN5PSJjOGQ1NzYwZS02MzhhLTQ3ZTgtOWUyZS0xMjI2YzJjYjI2OGQiIG9yaWdpbj0idXNlclNlbGVjdGVkIj48ZWxlbWVudCB1aWQ9IjQyODM0YmZiLTFlYzEtNGJlYi1iZDY0LWViODNmYjNjYjNmMyIgdmFsdWU9IiIgeG1sbnM9Imh0dHA6Ly93d3cuYm9sZG9uamFtZXMuY29tLzIwMDgvMDEvc2llL2ludGVybmFsL2xhYmVsIiAvPjwvc2lzbD48VXNlck5hbWU+TEVJRE9TLUNPUlBcdmVybmF0PC9Vc2VyTmFtZT48RGF0ZVRpbWU+MTEvMjEvMjAxOCA4OjQxOjM4IFBNPC9EYXRlVGltZT48TGFiZWxTdHJpbmc+VW5yZXN0cmljdGVkPC9MYWJlbFN0cmluZz48L2l0ZW0+PC9sYWJlbEhpc3Rvcnk+</Value>
</WrappedLabelHistory>
</file>

<file path=customXml/item2.xml><?xml version="1.0" encoding="utf-8"?>
<sisl xmlns:xsi="http://www.w3.org/2001/XMLSchema-instance" xmlns:xsd="http://www.w3.org/2001/XMLSchema" xmlns="http://www.boldonjames.com/2008/01/sie/internal/label" sislVersion="0" policy="c8d5760e-638a-47e8-9e2e-1226c2cb268d" origin="userSelected">
  <element uid="42834bfb-1ec1-4beb-bd64-eb83fb3cb3f3" value=""/>
</sisl>
</file>

<file path=customXml/item3.xml><?xml version="1.0" encoding="utf-8"?>
<class:Classification xmlns:class="urn:us:gov:cia:enterprise:schema:Classification:2.3" dateClassified="2026-04-16" portionMarking="false" caveat="false" tool="Desktop" toolVersion="202520">
  <class:ClassificationMarking type="USClassificationMarking" value="UNCLASSIFIED"/>
  <class:ClassifiedBy/>
  <class:ClassificationHeader>
    <class:ClassificationBanner>UNCLASSIFIED</class:ClassificationBanner>
    <class:DescriptiveMarkings/>
  </class:ClassificationHeader>
  <class:ClassificationFooter>
    <class:DescriptiveMarkings/>
    <class:ClassificationBanner>UNCLASSIFIED</class:ClassificationBanner>
  </class:ClassificationFooter>
</class:Classification>
</file>

<file path=customXml/itemProps1.xml><?xml version="1.0" encoding="utf-8"?>
<ds:datastoreItem xmlns:ds="http://schemas.openxmlformats.org/officeDocument/2006/customXml" ds:itemID="{64409C22-FDC9-4250-AC0D-B369CFF1EF4F}">
  <ds:schemaRefs>
    <ds:schemaRef ds:uri="http://www.boldonjames.com/2016/02/Classifier/internal/wrappedLabelHistory"/>
    <ds:schemaRef ds:uri="http://www.w3.org/2001/XMLSchema"/>
  </ds:schemaRefs>
</ds:datastoreItem>
</file>

<file path=customXml/itemProps2.xml><?xml version="1.0" encoding="utf-8"?>
<ds:datastoreItem xmlns:ds="http://schemas.openxmlformats.org/officeDocument/2006/customXml" ds:itemID="{A31292EE-3062-4F28-BAE0-5BCC12FE635B}">
  <ds:schemaRefs>
    <ds:schemaRef ds:uri="http://www.boldonjames.com/2008/01/sie/internal/label"/>
    <ds:schemaRef ds:uri="http://www.w3.org/2001/XMLSchema"/>
  </ds:schemaRefs>
</ds:datastoreItem>
</file>

<file path=customXml/itemProps3.xml><?xml version="1.0" encoding="utf-8"?>
<ds:datastoreItem xmlns:ds="http://schemas.openxmlformats.org/officeDocument/2006/customXml" ds:itemID="{1CCA4C74-6AC3-49AD-9FD0-27EF77657F3E}">
  <ds:schemaRefs>
    <ds:schemaRef ds:uri="urn:us:gov:cia:enterprise:schema:Classification:2.3"/>
  </ds:schemaRefs>
</ds:datastoreItem>
</file>

<file path=docProps/app.xml><?xml version="1.0" encoding="utf-8"?>
<Properties xmlns="http://schemas.openxmlformats.org/officeDocument/2006/extended-properties" xmlns:vt="http://schemas.openxmlformats.org/officeDocument/2006/docPropsVTypes">
  <Template>NGA_Presentation_Template</Template>
  <TotalTime>2021</TotalTime>
  <Words>1570</Words>
  <Application>Microsoft Office PowerPoint</Application>
  <PresentationFormat>Widescreen</PresentationFormat>
  <Paragraphs>157</Paragraphs>
  <Slides>13</Slides>
  <Notes>1</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13</vt:i4>
      </vt:variant>
    </vt:vector>
  </HeadingPairs>
  <TitlesOfParts>
    <vt:vector size="21" baseType="lpstr">
      <vt:lpstr>Arial</vt:lpstr>
      <vt:lpstr>Calibri</vt:lpstr>
      <vt:lpstr>Franklin Gothic Book</vt:lpstr>
      <vt:lpstr>Franklin Gothic Medium Cond</vt:lpstr>
      <vt:lpstr>Wingdings 3</vt:lpstr>
      <vt:lpstr>NGA Theme 4x3 2016</vt:lpstr>
      <vt:lpstr>6_NGA Theme 4x3 2016</vt:lpstr>
      <vt:lpstr>Image</vt:lpstr>
      <vt:lpstr>PowerPoint Presentation</vt:lpstr>
      <vt:lpstr>Change Log</vt:lpstr>
      <vt:lpstr>VCPS Storage Pool Implementation</vt:lpstr>
      <vt:lpstr>VCPS Storage Pool Use-Case / Implementation Background</vt:lpstr>
      <vt:lpstr>VCPS Storage Pool Use-Case / Implementation Background (Cont’d)</vt:lpstr>
      <vt:lpstr>VCPS Breakout / Storage Pool Impacts</vt:lpstr>
      <vt:lpstr>Post VCPS Breakout Storage Pool Alignment (Systems Diagram)</vt:lpstr>
      <vt:lpstr>Considerations </vt:lpstr>
      <vt:lpstr>Backup Slides</vt:lpstr>
      <vt:lpstr>Storage Pool -  Windows Server Shadow Copy  Architecture</vt:lpstr>
      <vt:lpstr>Future - VCPS System Breakout (Systems Diagram)</vt:lpstr>
      <vt:lpstr>PowerPoint Presentation</vt:lpstr>
      <vt:lpstr>Common Services Citrix / VCPS (System Workflow/Segment Arch) </vt:lpstr>
    </vt:vector>
  </TitlesOfParts>
  <Company>Leidos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Bracone, Jeremy E. [US-US]</dc:creator>
  <cp:lastModifiedBy>Hull Timothy J NGA-OCSM USA CIV</cp:lastModifiedBy>
  <cp:revision>6</cp:revision>
  <dcterms:created xsi:type="dcterms:W3CDTF">2024-10-29T16:55:39Z</dcterms:created>
  <dcterms:modified xsi:type="dcterms:W3CDTF">2026-04-16T16:54:54Z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ndexRef">
    <vt:lpwstr>6729cb34-a7b7-497c-88c7-e1519c41c10c</vt:lpwstr>
  </property>
  <property fmtid="{D5CDD505-2E9C-101B-9397-08002B2CF9AE}" pid="3" name="bjSaver">
    <vt:lpwstr>zC4FecPYIDQUofG93hrsGa9S8JzaIpKK</vt:lpwstr>
  </property>
  <property fmtid="{D5CDD505-2E9C-101B-9397-08002B2CF9AE}" pid="4" name="bjDocumentLabelXML">
    <vt:lpwstr>&lt;?xml version="1.0" encoding="us-ascii"?&gt;&lt;sisl xmlns:xsi="http://www.w3.org/2001/XMLSchema-instance" xmlns:xsd="http://www.w3.org/2001/XMLSchema" sislVersion="0" policy="c8d5760e-638a-47e8-9e2e-1226c2cb268d" origin="userSelected" xmlns="http://www.boldonj</vt:lpwstr>
  </property>
  <property fmtid="{D5CDD505-2E9C-101B-9397-08002B2CF9AE}" pid="5" name="bjDocumentLabelXML-0">
    <vt:lpwstr>ames.com/2008/01/sie/internal/label"&gt;&lt;element uid="42834bfb-1ec1-4beb-bd64-eb83fb3cb3f3" value="" /&gt;&lt;/sisl&gt;</vt:lpwstr>
  </property>
  <property fmtid="{D5CDD505-2E9C-101B-9397-08002B2CF9AE}" pid="6" name="bjDocumentSecurityLabel">
    <vt:lpwstr>Unrestricted</vt:lpwstr>
  </property>
  <property fmtid="{D5CDD505-2E9C-101B-9397-08002B2CF9AE}" pid="7" name="bjLabelHistoryID">
    <vt:lpwstr>{64409C22-FDC9-4250-AC0D-B369CFF1EF4F}</vt:lpwstr>
  </property>
  <property fmtid="{D5CDD505-2E9C-101B-9397-08002B2CF9AE}" pid="8" name="MSIP_Label_c968a81f-7ed4-4faa-9408-9652e001dd96_Enabled">
    <vt:lpwstr>true</vt:lpwstr>
  </property>
  <property fmtid="{D5CDD505-2E9C-101B-9397-08002B2CF9AE}" pid="9" name="MSIP_Label_c968a81f-7ed4-4faa-9408-9652e001dd96_SetDate">
    <vt:lpwstr>2024-10-29T18:05:01Z</vt:lpwstr>
  </property>
  <property fmtid="{D5CDD505-2E9C-101B-9397-08002B2CF9AE}" pid="10" name="MSIP_Label_c968a81f-7ed4-4faa-9408-9652e001dd96_Method">
    <vt:lpwstr>Privileged</vt:lpwstr>
  </property>
  <property fmtid="{D5CDD505-2E9C-101B-9397-08002B2CF9AE}" pid="11" name="MSIP_Label_c968a81f-7ed4-4faa-9408-9652e001dd96_Name">
    <vt:lpwstr>Unrestricted</vt:lpwstr>
  </property>
  <property fmtid="{D5CDD505-2E9C-101B-9397-08002B2CF9AE}" pid="12" name="MSIP_Label_c968a81f-7ed4-4faa-9408-9652e001dd96_SiteId">
    <vt:lpwstr>b64da4ac-e800-4cfc-8931-e607f720a1b8</vt:lpwstr>
  </property>
  <property fmtid="{D5CDD505-2E9C-101B-9397-08002B2CF9AE}" pid="13" name="MSIP_Label_c968a81f-7ed4-4faa-9408-9652e001dd96_ActionId">
    <vt:lpwstr>a4e6add0-fc19-4a8c-96d1-dba6c6dcb89f</vt:lpwstr>
  </property>
  <property fmtid="{D5CDD505-2E9C-101B-9397-08002B2CF9AE}" pid="14" name="MSIP_Label_c968a81f-7ed4-4faa-9408-9652e001dd96_ContentBits">
    <vt:lpwstr>0</vt:lpwstr>
  </property>
  <property fmtid="{D5CDD505-2E9C-101B-9397-08002B2CF9AE}" pid="15" name="AACG_OFFICE_DLL">
    <vt:bool>true</vt:bool>
  </property>
  <property fmtid="{D5CDD505-2E9C-101B-9397-08002B2CF9AE}" pid="16" name="AACG_Created">
    <vt:bool>true</vt:bool>
  </property>
  <property fmtid="{D5CDD505-2E9C-101B-9397-08002B2CF9AE}" pid="17" name="AACG_DescMarkings">
    <vt:lpwstr/>
  </property>
  <property fmtid="{D5CDD505-2E9C-101B-9397-08002B2CF9AE}" pid="18" name="AACG_AddMark">
    <vt:lpwstr/>
  </property>
  <property fmtid="{D5CDD505-2E9C-101B-9397-08002B2CF9AE}" pid="19" name="AACG_Header">
    <vt:lpwstr>UNCLASSIFIED</vt:lpwstr>
  </property>
  <property fmtid="{D5CDD505-2E9C-101B-9397-08002B2CF9AE}" pid="20" name="AACG_Footer">
    <vt:lpwstr>_x000d_UNCLASSIFIED</vt:lpwstr>
  </property>
  <property fmtid="{D5CDD505-2E9C-101B-9397-08002B2CF9AE}" pid="21" name="AACG_ClassBlock">
    <vt:lpwstr/>
  </property>
  <property fmtid="{D5CDD505-2E9C-101B-9397-08002B2CF9AE}" pid="22" name="AACG_ClassType">
    <vt:lpwstr>USClassificationMarking</vt:lpwstr>
  </property>
  <property fmtid="{D5CDD505-2E9C-101B-9397-08002B2CF9AE}" pid="23" name="AACG_DeclOnList">
    <vt:lpwstr/>
  </property>
  <property fmtid="{D5CDD505-2E9C-101B-9397-08002B2CF9AE}" pid="24" name="AACG_USAF_Derivatives">
    <vt:lpwstr/>
  </property>
  <property fmtid="{D5CDD505-2E9C-101B-9397-08002B2CF9AE}" pid="25" name="AACG_SCI_Other">
    <vt:lpwstr/>
  </property>
  <property fmtid="{D5CDD505-2E9C-101B-9397-08002B2CF9AE}" pid="26" name="AACG_Dissem_Other">
    <vt:lpwstr/>
  </property>
  <property fmtid="{D5CDD505-2E9C-101B-9397-08002B2CF9AE}" pid="27" name="PortionWaiver">
    <vt:lpwstr/>
  </property>
  <property fmtid="{D5CDD505-2E9C-101B-9397-08002B2CF9AE}" pid="28" name="AACG_OrconOriginator">
    <vt:lpwstr/>
  </property>
  <property fmtid="{D5CDD505-2E9C-101B-9397-08002B2CF9AE}" pid="29" name="AACG_OrconRecipients">
    <vt:lpwstr/>
  </property>
  <property fmtid="{D5CDD505-2E9C-101B-9397-08002B2CF9AE}" pid="30" name="AACG_SatWarningType">
    <vt:lpwstr/>
  </property>
  <property fmtid="{D5CDD505-2E9C-101B-9397-08002B2CF9AE}" pid="31" name="AACG_NatoWarningClassLevel">
    <vt:lpwstr/>
  </property>
  <property fmtid="{D5CDD505-2E9C-101B-9397-08002B2CF9AE}" pid="32" name="AACG_Version">
    <vt:lpwstr>202520</vt:lpwstr>
  </property>
  <property fmtid="{D5CDD505-2E9C-101B-9397-08002B2CF9AE}" pid="33" name="AACG_CustomClassXMLPart">
    <vt:lpwstr>{1CCA4C74-6AC3-49AD-9FD0-27EF77657F3E}</vt:lpwstr>
  </property>
</Properties>
</file>