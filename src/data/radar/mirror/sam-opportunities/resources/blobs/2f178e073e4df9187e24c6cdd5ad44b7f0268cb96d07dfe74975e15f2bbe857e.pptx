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</p:sldMasterIdLst>
  <p:notesMasterIdLst>
    <p:notesMasterId r:id="rId17"/>
  </p:notesMasterIdLst>
  <p:handoutMasterIdLst>
    <p:handoutMasterId r:id="rId18"/>
  </p:handoutMasterIdLst>
  <p:sldIdLst>
    <p:sldId id="257" r:id="rId6"/>
    <p:sldId id="291" r:id="rId7"/>
    <p:sldId id="2147470624" r:id="rId8"/>
    <p:sldId id="286" r:id="rId9"/>
    <p:sldId id="282" r:id="rId10"/>
    <p:sldId id="2147470628" r:id="rId11"/>
    <p:sldId id="2147470625" r:id="rId12"/>
    <p:sldId id="2147470629" r:id="rId13"/>
    <p:sldId id="2147470620" r:id="rId14"/>
    <p:sldId id="2147470627" r:id="rId15"/>
    <p:sldId id="21474706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5E07C-B4D3-46E5-BA72-1F6AA2EAF208}" v="10" dt="2025-09-16T02:31:14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Richard Jr. [US-US]" userId="a75ca68f-64f3-4f1e-baa6-5a8744a90048" providerId="ADAL" clId="{7CB5E07C-B4D3-46E5-BA72-1F6AA2EAF208}"/>
    <pc:docChg chg="undo custSel addSld delSld modSld sldOrd">
      <pc:chgData name="Howard, Richard Jr. [US-US]" userId="a75ca68f-64f3-4f1e-baa6-5a8744a90048" providerId="ADAL" clId="{7CB5E07C-B4D3-46E5-BA72-1F6AA2EAF208}" dt="2025-09-16T02:46:11.869" v="7732" actId="20577"/>
      <pc:docMkLst>
        <pc:docMk/>
      </pc:docMkLst>
      <pc:sldChg chg="modSp mod">
        <pc:chgData name="Howard, Richard Jr. [US-US]" userId="a75ca68f-64f3-4f1e-baa6-5a8744a90048" providerId="ADAL" clId="{7CB5E07C-B4D3-46E5-BA72-1F6AA2EAF208}" dt="2025-09-16T02:46:11.869" v="7732" actId="20577"/>
        <pc:sldMkLst>
          <pc:docMk/>
          <pc:sldMk cId="207310884" sldId="257"/>
        </pc:sldMkLst>
        <pc:spChg chg="mod">
          <ac:chgData name="Howard, Richard Jr. [US-US]" userId="a75ca68f-64f3-4f1e-baa6-5a8744a90048" providerId="ADAL" clId="{7CB5E07C-B4D3-46E5-BA72-1F6AA2EAF208}" dt="2025-09-16T02:46:11.869" v="7732" actId="20577"/>
          <ac:spMkLst>
            <pc:docMk/>
            <pc:sldMk cId="207310884" sldId="257"/>
            <ac:spMk id="3" creationId="{00000000-0000-0000-0000-000000000000}"/>
          </ac:spMkLst>
        </pc:spChg>
        <pc:spChg chg="mod">
          <ac:chgData name="Howard, Richard Jr. [US-US]" userId="a75ca68f-64f3-4f1e-baa6-5a8744a90048" providerId="ADAL" clId="{7CB5E07C-B4D3-46E5-BA72-1F6AA2EAF208}" dt="2025-09-16T02:46:02.524" v="7722" actId="20577"/>
          <ac:spMkLst>
            <pc:docMk/>
            <pc:sldMk cId="207310884" sldId="257"/>
            <ac:spMk id="6" creationId="{00000000-0000-0000-0000-000000000000}"/>
          </ac:spMkLst>
        </pc:spChg>
      </pc:sldChg>
      <pc:sldChg chg="modSp mod ord">
        <pc:chgData name="Howard, Richard Jr. [US-US]" userId="a75ca68f-64f3-4f1e-baa6-5a8744a90048" providerId="ADAL" clId="{7CB5E07C-B4D3-46E5-BA72-1F6AA2EAF208}" dt="2025-09-16T02:45:05.675" v="7690" actId="20577"/>
        <pc:sldMkLst>
          <pc:docMk/>
          <pc:sldMk cId="491500509" sldId="282"/>
        </pc:sldMkLst>
        <pc:spChg chg="mod">
          <ac:chgData name="Howard, Richard Jr. [US-US]" userId="a75ca68f-64f3-4f1e-baa6-5a8744a90048" providerId="ADAL" clId="{7CB5E07C-B4D3-46E5-BA72-1F6AA2EAF208}" dt="2025-09-16T02:45:05.675" v="7690" actId="20577"/>
          <ac:spMkLst>
            <pc:docMk/>
            <pc:sldMk cId="491500509" sldId="282"/>
            <ac:spMk id="2" creationId="{F59104C9-2F56-CA19-CD62-FE872BCFB4D7}"/>
          </ac:spMkLst>
        </pc:spChg>
        <pc:spChg chg="mod">
          <ac:chgData name="Howard, Richard Jr. [US-US]" userId="a75ca68f-64f3-4f1e-baa6-5a8744a90048" providerId="ADAL" clId="{7CB5E07C-B4D3-46E5-BA72-1F6AA2EAF208}" dt="2025-09-15T20:47:19.370" v="94" actId="20577"/>
          <ac:spMkLst>
            <pc:docMk/>
            <pc:sldMk cId="491500509" sldId="282"/>
            <ac:spMk id="4" creationId="{CC89E686-1FB4-3AD6-ABF9-0457F3B07138}"/>
          </ac:spMkLst>
        </pc:spChg>
      </pc:sldChg>
      <pc:sldChg chg="modSp mod">
        <pc:chgData name="Howard, Richard Jr. [US-US]" userId="a75ca68f-64f3-4f1e-baa6-5a8744a90048" providerId="ADAL" clId="{7CB5E07C-B4D3-46E5-BA72-1F6AA2EAF208}" dt="2025-09-15T20:46:53.740" v="32" actId="20577"/>
        <pc:sldMkLst>
          <pc:docMk/>
          <pc:sldMk cId="3992395618" sldId="291"/>
        </pc:sldMkLst>
        <pc:graphicFrameChg chg="modGraphic">
          <ac:chgData name="Howard, Richard Jr. [US-US]" userId="a75ca68f-64f3-4f1e-baa6-5a8744a90048" providerId="ADAL" clId="{7CB5E07C-B4D3-46E5-BA72-1F6AA2EAF208}" dt="2025-09-15T20:46:53.740" v="32" actId="20577"/>
          <ac:graphicFrameMkLst>
            <pc:docMk/>
            <pc:sldMk cId="3992395618" sldId="291"/>
            <ac:graphicFrameMk id="4" creationId="{24498D80-F708-F36C-E934-B4B96F1E37BC}"/>
          </ac:graphicFrameMkLst>
        </pc:graphicFrameChg>
      </pc:sldChg>
      <pc:sldChg chg="modSp mod">
        <pc:chgData name="Howard, Richard Jr. [US-US]" userId="a75ca68f-64f3-4f1e-baa6-5a8744a90048" providerId="ADAL" clId="{7CB5E07C-B4D3-46E5-BA72-1F6AA2EAF208}" dt="2025-09-16T02:37:44.468" v="7219" actId="33524"/>
        <pc:sldMkLst>
          <pc:docMk/>
          <pc:sldMk cId="101142188" sldId="2147470620"/>
        </pc:sldMkLst>
        <pc:spChg chg="mod">
          <ac:chgData name="Howard, Richard Jr. [US-US]" userId="a75ca68f-64f3-4f1e-baa6-5a8744a90048" providerId="ADAL" clId="{7CB5E07C-B4D3-46E5-BA72-1F6AA2EAF208}" dt="2025-09-16T02:37:44.468" v="7219" actId="33524"/>
          <ac:spMkLst>
            <pc:docMk/>
            <pc:sldMk cId="101142188" sldId="2147470620"/>
            <ac:spMk id="6" creationId="{188AAB6A-6721-0ABA-C8C5-B0EF8D2BBF3E}"/>
          </ac:spMkLst>
        </pc:spChg>
      </pc:sldChg>
      <pc:sldChg chg="ord">
        <pc:chgData name="Howard, Richard Jr. [US-US]" userId="a75ca68f-64f3-4f1e-baa6-5a8744a90048" providerId="ADAL" clId="{7CB5E07C-B4D3-46E5-BA72-1F6AA2EAF208}" dt="2025-09-15T20:46:20.087" v="17"/>
        <pc:sldMkLst>
          <pc:docMk/>
          <pc:sldMk cId="933987400" sldId="2147470622"/>
        </pc:sldMkLst>
      </pc:sldChg>
      <pc:sldChg chg="modSp mod ord">
        <pc:chgData name="Howard, Richard Jr. [US-US]" userId="a75ca68f-64f3-4f1e-baa6-5a8744a90048" providerId="ADAL" clId="{7CB5E07C-B4D3-46E5-BA72-1F6AA2EAF208}" dt="2025-09-16T02:36:12.950" v="7164" actId="20577"/>
        <pc:sldMkLst>
          <pc:docMk/>
          <pc:sldMk cId="3322719512" sldId="2147470624"/>
        </pc:sldMkLst>
        <pc:spChg chg="mod">
          <ac:chgData name="Howard, Richard Jr. [US-US]" userId="a75ca68f-64f3-4f1e-baa6-5a8744a90048" providerId="ADAL" clId="{7CB5E07C-B4D3-46E5-BA72-1F6AA2EAF208}" dt="2025-09-16T02:36:12.950" v="7164" actId="20577"/>
          <ac:spMkLst>
            <pc:docMk/>
            <pc:sldMk cId="3322719512" sldId="2147470624"/>
            <ac:spMk id="2" creationId="{34F2AF3F-8B46-5297-95AB-3E3628DBBD45}"/>
          </ac:spMkLst>
        </pc:spChg>
        <pc:spChg chg="mod">
          <ac:chgData name="Howard, Richard Jr. [US-US]" userId="a75ca68f-64f3-4f1e-baa6-5a8744a90048" providerId="ADAL" clId="{7CB5E07C-B4D3-46E5-BA72-1F6AA2EAF208}" dt="2025-09-15T20:49:35.412" v="177" actId="20577"/>
          <ac:spMkLst>
            <pc:docMk/>
            <pc:sldMk cId="3322719512" sldId="2147470624"/>
            <ac:spMk id="4" creationId="{0B6A5896-E018-CA4B-1E5B-68C8CE6D39AE}"/>
          </ac:spMkLst>
        </pc:spChg>
      </pc:sldChg>
      <pc:sldChg chg="modSp mod ord">
        <pc:chgData name="Howard, Richard Jr. [US-US]" userId="a75ca68f-64f3-4f1e-baa6-5a8744a90048" providerId="ADAL" clId="{7CB5E07C-B4D3-46E5-BA72-1F6AA2EAF208}" dt="2025-09-16T02:43:46.696" v="7681" actId="27636"/>
        <pc:sldMkLst>
          <pc:docMk/>
          <pc:sldMk cId="3013131529" sldId="2147470625"/>
        </pc:sldMkLst>
        <pc:spChg chg="mod">
          <ac:chgData name="Howard, Richard Jr. [US-US]" userId="a75ca68f-64f3-4f1e-baa6-5a8744a90048" providerId="ADAL" clId="{7CB5E07C-B4D3-46E5-BA72-1F6AA2EAF208}" dt="2025-09-16T02:43:46.696" v="7681" actId="27636"/>
          <ac:spMkLst>
            <pc:docMk/>
            <pc:sldMk cId="3013131529" sldId="2147470625"/>
            <ac:spMk id="2" creationId="{E2E29DD8-47A7-C17F-A16D-DEF9AE9613CA}"/>
          </ac:spMkLst>
        </pc:spChg>
        <pc:spChg chg="mod">
          <ac:chgData name="Howard, Richard Jr. [US-US]" userId="a75ca68f-64f3-4f1e-baa6-5a8744a90048" providerId="ADAL" clId="{7CB5E07C-B4D3-46E5-BA72-1F6AA2EAF208}" dt="2025-09-15T22:07:16.270" v="2766" actId="20577"/>
          <ac:spMkLst>
            <pc:docMk/>
            <pc:sldMk cId="3013131529" sldId="2147470625"/>
            <ac:spMk id="4" creationId="{663652C0-C212-2164-3F14-031CCBA5B11F}"/>
          </ac:spMkLst>
        </pc:spChg>
      </pc:sldChg>
      <pc:sldChg chg="del">
        <pc:chgData name="Howard, Richard Jr. [US-US]" userId="a75ca68f-64f3-4f1e-baa6-5a8744a90048" providerId="ADAL" clId="{7CB5E07C-B4D3-46E5-BA72-1F6AA2EAF208}" dt="2025-09-15T20:47:35.849" v="95" actId="47"/>
        <pc:sldMkLst>
          <pc:docMk/>
          <pc:sldMk cId="2529440047" sldId="2147470626"/>
        </pc:sldMkLst>
      </pc:sldChg>
      <pc:sldChg chg="addSp delSp modSp new mod modClrScheme chgLayout">
        <pc:chgData name="Howard, Richard Jr. [US-US]" userId="a75ca68f-64f3-4f1e-baa6-5a8744a90048" providerId="ADAL" clId="{7CB5E07C-B4D3-46E5-BA72-1F6AA2EAF208}" dt="2025-09-15T20:46:15.372" v="15" actId="478"/>
        <pc:sldMkLst>
          <pc:docMk/>
          <pc:sldMk cId="366764821" sldId="2147470627"/>
        </pc:sldMkLst>
        <pc:spChg chg="del mod ord">
          <ac:chgData name="Howard, Richard Jr. [US-US]" userId="a75ca68f-64f3-4f1e-baa6-5a8744a90048" providerId="ADAL" clId="{7CB5E07C-B4D3-46E5-BA72-1F6AA2EAF208}" dt="2025-09-15T20:46:07.227" v="1" actId="700"/>
          <ac:spMkLst>
            <pc:docMk/>
            <pc:sldMk cId="366764821" sldId="2147470627"/>
            <ac:spMk id="2" creationId="{6010FBAD-8080-EDB6-DE2E-04C3E7664122}"/>
          </ac:spMkLst>
        </pc:spChg>
        <pc:spChg chg="del">
          <ac:chgData name="Howard, Richard Jr. [US-US]" userId="a75ca68f-64f3-4f1e-baa6-5a8744a90048" providerId="ADAL" clId="{7CB5E07C-B4D3-46E5-BA72-1F6AA2EAF208}" dt="2025-09-15T20:46:07.227" v="1" actId="700"/>
          <ac:spMkLst>
            <pc:docMk/>
            <pc:sldMk cId="366764821" sldId="2147470627"/>
            <ac:spMk id="3" creationId="{67991254-8018-7A46-4A5A-026A79A4425C}"/>
          </ac:spMkLst>
        </pc:spChg>
        <pc:spChg chg="del mod ord">
          <ac:chgData name="Howard, Richard Jr. [US-US]" userId="a75ca68f-64f3-4f1e-baa6-5a8744a90048" providerId="ADAL" clId="{7CB5E07C-B4D3-46E5-BA72-1F6AA2EAF208}" dt="2025-09-15T20:46:07.227" v="1" actId="700"/>
          <ac:spMkLst>
            <pc:docMk/>
            <pc:sldMk cId="366764821" sldId="2147470627"/>
            <ac:spMk id="4" creationId="{D3DEBE63-FA83-DC12-0DA5-D10CA1DF078E}"/>
          </ac:spMkLst>
        </pc:spChg>
        <pc:spChg chg="add mod ord">
          <ac:chgData name="Howard, Richard Jr. [US-US]" userId="a75ca68f-64f3-4f1e-baa6-5a8744a90048" providerId="ADAL" clId="{7CB5E07C-B4D3-46E5-BA72-1F6AA2EAF208}" dt="2025-09-15T20:46:12.223" v="14" actId="20577"/>
          <ac:spMkLst>
            <pc:docMk/>
            <pc:sldMk cId="366764821" sldId="2147470627"/>
            <ac:spMk id="5" creationId="{E6DFA713-C865-9346-BD4C-37123EBBBAF7}"/>
          </ac:spMkLst>
        </pc:spChg>
        <pc:spChg chg="add del mod ord">
          <ac:chgData name="Howard, Richard Jr. [US-US]" userId="a75ca68f-64f3-4f1e-baa6-5a8744a90048" providerId="ADAL" clId="{7CB5E07C-B4D3-46E5-BA72-1F6AA2EAF208}" dt="2025-09-15T20:46:15.372" v="15" actId="478"/>
          <ac:spMkLst>
            <pc:docMk/>
            <pc:sldMk cId="366764821" sldId="2147470627"/>
            <ac:spMk id="6" creationId="{6AA22F6A-ED22-3C40-616D-0A490EFB26A6}"/>
          </ac:spMkLst>
        </pc:spChg>
      </pc:sldChg>
      <pc:sldChg chg="addSp delSp modSp add mod">
        <pc:chgData name="Howard, Richard Jr. [US-US]" userId="a75ca68f-64f3-4f1e-baa6-5a8744a90048" providerId="ADAL" clId="{7CB5E07C-B4D3-46E5-BA72-1F6AA2EAF208}" dt="2025-09-15T21:56:34.643" v="2047" actId="20577"/>
        <pc:sldMkLst>
          <pc:docMk/>
          <pc:sldMk cId="2464876856" sldId="2147470628"/>
        </pc:sldMkLst>
        <pc:spChg chg="mod">
          <ac:chgData name="Howard, Richard Jr. [US-US]" userId="a75ca68f-64f3-4f1e-baa6-5a8744a90048" providerId="ADAL" clId="{7CB5E07C-B4D3-46E5-BA72-1F6AA2EAF208}" dt="2025-09-15T21:56:34.643" v="2047" actId="20577"/>
          <ac:spMkLst>
            <pc:docMk/>
            <pc:sldMk cId="2464876856" sldId="2147470628"/>
            <ac:spMk id="4" creationId="{8BDD7F99-FEFF-8D4D-82B8-F2748D8E6619}"/>
          </ac:spMkLst>
        </pc:spChg>
        <pc:picChg chg="add del mod">
          <ac:chgData name="Howard, Richard Jr. [US-US]" userId="a75ca68f-64f3-4f1e-baa6-5a8744a90048" providerId="ADAL" clId="{7CB5E07C-B4D3-46E5-BA72-1F6AA2EAF208}" dt="2025-09-15T21:52:19.244" v="2007" actId="478"/>
          <ac:picMkLst>
            <pc:docMk/>
            <pc:sldMk cId="2464876856" sldId="2147470628"/>
            <ac:picMk id="3" creationId="{8C02C06B-A5F2-C16C-C074-01CDF10741D5}"/>
          </ac:picMkLst>
        </pc:picChg>
        <pc:picChg chg="add mod">
          <ac:chgData name="Howard, Richard Jr. [US-US]" userId="a75ca68f-64f3-4f1e-baa6-5a8744a90048" providerId="ADAL" clId="{7CB5E07C-B4D3-46E5-BA72-1F6AA2EAF208}" dt="2025-09-15T21:56:21.094" v="2012" actId="14100"/>
          <ac:picMkLst>
            <pc:docMk/>
            <pc:sldMk cId="2464876856" sldId="2147470628"/>
            <ac:picMk id="6" creationId="{5D4B6FEE-82D4-8551-61B3-C8420D4B2E61}"/>
          </ac:picMkLst>
        </pc:picChg>
        <pc:picChg chg="del">
          <ac:chgData name="Howard, Richard Jr. [US-US]" userId="a75ca68f-64f3-4f1e-baa6-5a8744a90048" providerId="ADAL" clId="{7CB5E07C-B4D3-46E5-BA72-1F6AA2EAF208}" dt="2025-09-15T21:48:50.782" v="1969" actId="478"/>
          <ac:picMkLst>
            <pc:docMk/>
            <pc:sldMk cId="2464876856" sldId="2147470628"/>
            <ac:picMk id="14" creationId="{795742D8-AD5C-8FEA-CAEA-0806FFF71C30}"/>
          </ac:picMkLst>
        </pc:picChg>
      </pc:sldChg>
      <pc:sldChg chg="addSp delSp modSp add mod">
        <pc:chgData name="Howard, Richard Jr. [US-US]" userId="a75ca68f-64f3-4f1e-baa6-5a8744a90048" providerId="ADAL" clId="{7CB5E07C-B4D3-46E5-BA72-1F6AA2EAF208}" dt="2025-09-16T02:41:50.442" v="7589" actId="20577"/>
        <pc:sldMkLst>
          <pc:docMk/>
          <pc:sldMk cId="3226941405" sldId="2147470629"/>
        </pc:sldMkLst>
        <pc:spChg chg="mod">
          <ac:chgData name="Howard, Richard Jr. [US-US]" userId="a75ca68f-64f3-4f1e-baa6-5a8744a90048" providerId="ADAL" clId="{7CB5E07C-B4D3-46E5-BA72-1F6AA2EAF208}" dt="2025-09-16T02:41:50.442" v="7589" actId="20577"/>
          <ac:spMkLst>
            <pc:docMk/>
            <pc:sldMk cId="3226941405" sldId="2147470629"/>
            <ac:spMk id="4" creationId="{01B2B7B7-3884-4FB3-B1E2-252C0C9F54FB}"/>
          </ac:spMkLst>
        </pc:spChg>
        <pc:picChg chg="add mod">
          <ac:chgData name="Howard, Richard Jr. [US-US]" userId="a75ca68f-64f3-4f1e-baa6-5a8744a90048" providerId="ADAL" clId="{7CB5E07C-B4D3-46E5-BA72-1F6AA2EAF208}" dt="2025-09-16T02:31:25.678" v="6989" actId="1076"/>
          <ac:picMkLst>
            <pc:docMk/>
            <pc:sldMk cId="3226941405" sldId="2147470629"/>
            <ac:picMk id="3" creationId="{FF382795-B398-9494-9F95-2845442DA9F2}"/>
          </ac:picMkLst>
        </pc:picChg>
        <pc:picChg chg="del">
          <ac:chgData name="Howard, Richard Jr. [US-US]" userId="a75ca68f-64f3-4f1e-baa6-5a8744a90048" providerId="ADAL" clId="{7CB5E07C-B4D3-46E5-BA72-1F6AA2EAF208}" dt="2025-09-16T02:29:06.825" v="6912" actId="478"/>
          <ac:picMkLst>
            <pc:docMk/>
            <pc:sldMk cId="3226941405" sldId="2147470629"/>
            <ac:picMk id="6" creationId="{3533AFD4-4F63-5CDE-021F-6CB6EBC39D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71150-1BB8-4113-A21A-DAE32FC3FC4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52721-6820-4A71-AEA0-0F38A58E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9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F81CF-A829-4849-B447-0614EC873A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823D4-F78B-49A2-A147-F12EB6A7F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7759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1242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1242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242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1E62D5-5964-4B07-A184-3D2E5EEE538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423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37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38741" y="2933705"/>
            <a:ext cx="10363200" cy="469900"/>
          </a:xfrm>
        </p:spPr>
        <p:txBody>
          <a:bodyPr anchor="b">
            <a:noAutofit/>
          </a:bodyPr>
          <a:lstStyle>
            <a:lvl1pPr marL="0" indent="0">
              <a:buNone/>
              <a:defRPr sz="1600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938741" y="3429000"/>
            <a:ext cx="10363200" cy="406400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Date: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502400"/>
            <a:ext cx="12192000" cy="279400"/>
          </a:xfrm>
        </p:spPr>
        <p:txBody>
          <a:bodyPr anchor="ctr">
            <a:normAutofit/>
          </a:bodyPr>
          <a:lstStyle>
            <a:lvl1pPr algn="r">
              <a:defRPr sz="1300">
                <a:solidFill>
                  <a:srgbClr val="192F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UNCLASSIFIED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01600"/>
            <a:ext cx="12192000" cy="279400"/>
          </a:xfrm>
        </p:spPr>
        <p:txBody>
          <a:bodyPr anchor="ctr">
            <a:normAutofit/>
          </a:bodyPr>
          <a:lstStyle>
            <a:lvl1pPr>
              <a:defRPr sz="1300">
                <a:solidFill>
                  <a:srgbClr val="192F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CLASSIFICATION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38741" y="2413000"/>
            <a:ext cx="10363200" cy="508000"/>
          </a:xfrm>
        </p:spPr>
        <p:txBody>
          <a:bodyPr>
            <a:noAutofit/>
          </a:bodyPr>
          <a:lstStyle>
            <a:lvl1pPr>
              <a:defRPr sz="2400" baseline="0">
                <a:solidFill>
                  <a:schemeClr val="tx2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626323" y="4359949"/>
            <a:ext cx="5565679" cy="406400"/>
          </a:xfrm>
        </p:spPr>
        <p:txBody>
          <a:bodyPr/>
          <a:lstStyle>
            <a:lvl1pPr algn="l">
              <a:defRPr sz="1400"/>
            </a:lvl1pPr>
          </a:lstStyle>
          <a:p>
            <a:pPr lvl="0"/>
            <a:r>
              <a:rPr lang="en-US"/>
              <a:t>UNCLASSIFIED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6323" y="4156750"/>
            <a:ext cx="5565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140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overall classification of this presentation is: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8116456" y="4799022"/>
            <a:ext cx="2980267" cy="246888"/>
          </a:xfrm>
        </p:spPr>
        <p:txBody>
          <a:bodyPr anchor="ctr">
            <a:noAutofit/>
          </a:bodyPr>
          <a:lstStyle>
            <a:lvl1pPr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Classified by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8116456" y="4977839"/>
            <a:ext cx="2980267" cy="246888"/>
          </a:xfrm>
        </p:spPr>
        <p:txBody>
          <a:bodyPr anchor="ctr">
            <a:noAutofit/>
          </a:bodyPr>
          <a:lstStyle>
            <a:lvl1pPr>
              <a:defRPr sz="1000"/>
            </a:lvl1pPr>
            <a:lvl2pPr marL="457189" indent="0" algn="l">
              <a:buNone/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Derived from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116455" y="5156655"/>
            <a:ext cx="2980268" cy="246888"/>
          </a:xfr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pPr lvl="0"/>
            <a:r>
              <a:rPr lang="en-US"/>
              <a:t>Declassify 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43" y="838924"/>
            <a:ext cx="1338113" cy="109677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748" y="6035232"/>
            <a:ext cx="414529" cy="32461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789" y="6031803"/>
            <a:ext cx="384049" cy="3314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281" y="6024945"/>
            <a:ext cx="377953" cy="34518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73" y="6157094"/>
            <a:ext cx="10847508" cy="96408"/>
          </a:xfrm>
          <a:prstGeom prst="rect">
            <a:avLst/>
          </a:prstGeom>
        </p:spPr>
      </p:pic>
      <p:sp>
        <p:nvSpPr>
          <p:cNvPr id="2" name="AACG_Title_Header_Shape">
            <a:extLst>
              <a:ext uri="{FF2B5EF4-FFF2-40B4-BE49-F238E27FC236}">
                <a16:creationId xmlns:a16="http://schemas.microsoft.com/office/drawing/2014/main" id="{4874D0F6-19A7-C06D-554A-3DC6F6CCE69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5" name="AACG_Title_Footer_Shape">
            <a:extLst>
              <a:ext uri="{FF2B5EF4-FFF2-40B4-BE49-F238E27FC236}">
                <a16:creationId xmlns:a16="http://schemas.microsoft.com/office/drawing/2014/main" id="{2BBC3501-CD46-8B6D-2C6C-ABA0E256A541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274511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765" y="6034255"/>
            <a:ext cx="437911" cy="325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165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674" y="6039166"/>
            <a:ext cx="414529" cy="3212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920" y="6035820"/>
            <a:ext cx="384049" cy="32804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565" y="6029127"/>
            <a:ext cx="377953" cy="341616"/>
          </a:xfrm>
          <a:prstGeom prst="rect">
            <a:avLst/>
          </a:prstGeom>
        </p:spPr>
      </p:pic>
      <p:sp>
        <p:nvSpPr>
          <p:cNvPr id="5" name="AACG_Title_Header_Shape">
            <a:extLst>
              <a:ext uri="{FF2B5EF4-FFF2-40B4-BE49-F238E27FC236}">
                <a16:creationId xmlns:a16="http://schemas.microsoft.com/office/drawing/2014/main" id="{586252E1-523D-26BF-7A0D-F290807DB7D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6" name="AACG_Title_Footer_Shape">
            <a:extLst>
              <a:ext uri="{FF2B5EF4-FFF2-40B4-BE49-F238E27FC236}">
                <a16:creationId xmlns:a16="http://schemas.microsoft.com/office/drawing/2014/main" id="{8726870D-B764-1CBD-1B9F-6A1893424510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0609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444" y="101600"/>
            <a:ext cx="437911" cy="325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5889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31740"/>
            <a:ext cx="10972800" cy="54245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353" y="106511"/>
            <a:ext cx="414529" cy="3212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9" y="103165"/>
            <a:ext cx="384049" cy="32804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244" y="96472"/>
            <a:ext cx="377953" cy="341616"/>
          </a:xfrm>
          <a:prstGeom prst="rect">
            <a:avLst/>
          </a:prstGeom>
        </p:spPr>
      </p:pic>
      <p:sp>
        <p:nvSpPr>
          <p:cNvPr id="5" name="AACG_Title_Header_Shape">
            <a:extLst>
              <a:ext uri="{FF2B5EF4-FFF2-40B4-BE49-F238E27FC236}">
                <a16:creationId xmlns:a16="http://schemas.microsoft.com/office/drawing/2014/main" id="{C69C493D-C447-4BD0-2385-3511E86BA10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6" name="AACG_Title_Footer_Shape">
            <a:extLst>
              <a:ext uri="{FF2B5EF4-FFF2-40B4-BE49-F238E27FC236}">
                <a16:creationId xmlns:a16="http://schemas.microsoft.com/office/drawing/2014/main" id="{4F538FE0-6044-95F4-EFC6-8C598F18530E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85729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1107894"/>
            <a:ext cx="5096219" cy="4927926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>
              <a:buClr>
                <a:schemeClr val="accent1"/>
              </a:buClr>
              <a:buSzPct val="75000"/>
              <a:buFont typeface="Wingdings 3" pitchFamily="18" charset="2"/>
              <a:buChar char=""/>
              <a:defRPr b="0">
                <a:solidFill>
                  <a:schemeClr val="tx1"/>
                </a:solidFill>
                <a:latin typeface="+mj-lt"/>
              </a:defRPr>
            </a:lvl1pPr>
            <a:lvl2pPr marL="742950" indent="-285750">
              <a:buClr>
                <a:schemeClr val="accent1"/>
              </a:buClr>
              <a:buFont typeface="Arial" pitchFamily="34" charset="0"/>
              <a:buChar char="−"/>
              <a:defRPr b="0" baseline="0">
                <a:solidFill>
                  <a:schemeClr val="tx1"/>
                </a:solidFill>
                <a:latin typeface="+mj-lt"/>
              </a:defRPr>
            </a:lvl2pPr>
            <a:lvl3pPr marL="1143000" indent="-228600">
              <a:buClr>
                <a:schemeClr val="accent1"/>
              </a:buClr>
              <a:buFont typeface="Arial" pitchFamily="34" charset="0"/>
              <a:buChar char="•"/>
              <a:defRPr b="0">
                <a:solidFill>
                  <a:schemeClr val="tx1"/>
                </a:solidFill>
                <a:latin typeface="+mj-lt"/>
              </a:defRPr>
            </a:lvl3pPr>
            <a:lvl4pPr>
              <a:buClr>
                <a:schemeClr val="accent1"/>
              </a:buClr>
              <a:defRPr b="0">
                <a:solidFill>
                  <a:schemeClr val="tx1"/>
                </a:solidFill>
                <a:latin typeface="+mj-lt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»"/>
              <a:tabLst/>
              <a:defRPr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9B1347D-C75A-B547-B0D0-45AF804D28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07935" y="1107894"/>
            <a:ext cx="5096219" cy="4927926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>
              <a:buSzPct val="75000"/>
              <a:buFont typeface="Wingdings 3" pitchFamily="18" charset="2"/>
              <a:buChar char=""/>
              <a:defRPr b="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Arial" pitchFamily="34" charset="0"/>
              <a:buChar char="−"/>
              <a:defRPr b="0" baseline="0">
                <a:solidFill>
                  <a:schemeClr val="tx1"/>
                </a:solidFill>
                <a:latin typeface="+mj-lt"/>
              </a:defRPr>
            </a:lvl2pPr>
            <a:lvl3pPr marL="1143000" indent="-228600">
              <a:buFont typeface="Arial" pitchFamily="34" charset="0"/>
              <a:buChar char="•"/>
              <a:defRPr b="0">
                <a:solidFill>
                  <a:schemeClr val="tx1"/>
                </a:solidFill>
                <a:latin typeface="+mj-lt"/>
              </a:defRPr>
            </a:lvl3pPr>
            <a:lvl4pPr>
              <a:defRPr b="0">
                <a:solidFill>
                  <a:schemeClr val="tx1"/>
                </a:solidFill>
                <a:latin typeface="+mj-lt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»"/>
              <a:tabLst/>
              <a:defRPr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765" y="6034255"/>
            <a:ext cx="437911" cy="325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674" y="6039166"/>
            <a:ext cx="414529" cy="3212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920" y="6035820"/>
            <a:ext cx="384049" cy="3280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565" y="6029127"/>
            <a:ext cx="377953" cy="3416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3877"/>
            <a:ext cx="10972800" cy="6643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AACG_Title_Header_Shape">
            <a:extLst>
              <a:ext uri="{FF2B5EF4-FFF2-40B4-BE49-F238E27FC236}">
                <a16:creationId xmlns:a16="http://schemas.microsoft.com/office/drawing/2014/main" id="{9F43A8DD-E3A3-B364-D803-63DBA7AACFA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5" name="AACG_Title_Footer_Shape">
            <a:extLst>
              <a:ext uri="{FF2B5EF4-FFF2-40B4-BE49-F238E27FC236}">
                <a16:creationId xmlns:a16="http://schemas.microsoft.com/office/drawing/2014/main" id="{C6B471A8-2C14-8E68-9769-557400F0C0D1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251159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D4F2-010D-4B61-9E4F-D636B20F3AD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5D37-15D4-435A-89BB-08D8F63C1A3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ACG_Title_Header_Shape">
            <a:extLst>
              <a:ext uri="{FF2B5EF4-FFF2-40B4-BE49-F238E27FC236}">
                <a16:creationId xmlns:a16="http://schemas.microsoft.com/office/drawing/2014/main" id="{0CBBDB33-6B36-131F-94CC-A3121455E99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8" name="AACG_Title_Footer_Shape">
            <a:extLst>
              <a:ext uri="{FF2B5EF4-FFF2-40B4-BE49-F238E27FC236}">
                <a16:creationId xmlns:a16="http://schemas.microsoft.com/office/drawing/2014/main" id="{2D134F54-C9F0-D0BC-E698-98FA9FC8D0A6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0000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71743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16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959287"/>
              </p:ext>
            </p:extLst>
          </p:nvPr>
        </p:nvGraphicFramePr>
        <p:xfrm>
          <a:off x="11936281" y="0"/>
          <a:ext cx="249543" cy="1943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30120" imgH="3428280" progId="Photoshop.Image.13">
                  <p:embed/>
                </p:oleObj>
              </mc:Choice>
              <mc:Fallback>
                <p:oleObj name="Image" r:id="rId3" imgW="330120" imgH="3428280" progId="Photoshop.Image.1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36281" y="0"/>
                        <a:ext cx="249543" cy="1943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ACG_Header_Shape">
            <a:extLst>
              <a:ext uri="{FF2B5EF4-FFF2-40B4-BE49-F238E27FC236}">
                <a16:creationId xmlns:a16="http://schemas.microsoft.com/office/drawing/2014/main" id="{4755DCB9-3435-9457-95C2-FE145BEF8AF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192F43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5" name="AACG_Footer_Shape">
            <a:extLst>
              <a:ext uri="{FF2B5EF4-FFF2-40B4-BE49-F238E27FC236}">
                <a16:creationId xmlns:a16="http://schemas.microsoft.com/office/drawing/2014/main" id="{87CD6368-4281-F46F-C6C1-EEF822F82D3C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192F43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42380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54" rtl="0" eaLnBrk="1" latinLnBrk="0" hangingPunct="1">
        <a:spcBef>
          <a:spcPct val="0"/>
        </a:spcBef>
        <a:buNone/>
        <a:defRPr sz="2400" kern="1200">
          <a:solidFill>
            <a:srgbClr val="192F43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Clr>
          <a:srgbClr val="37A5AC"/>
        </a:buClr>
        <a:buFont typeface="Arial" panose="020B0604020202020204" pitchFamily="34" charset="0"/>
        <a:buChar char="►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091" indent="-285737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532" indent="0" algn="l" defTabSz="914354" rtl="0" eaLnBrk="1" latinLnBrk="0" hangingPunct="1"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4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8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16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720696"/>
              </p:ext>
            </p:extLst>
          </p:nvPr>
        </p:nvGraphicFramePr>
        <p:xfrm>
          <a:off x="11936281" y="0"/>
          <a:ext cx="249543" cy="1943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330120" imgH="3428280" progId="Photoshop.Image.13">
                  <p:embed/>
                </p:oleObj>
              </mc:Choice>
              <mc:Fallback>
                <p:oleObj name="Image" r:id="rId6" imgW="330120" imgH="3428280" progId="Photoshop.Image.1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36281" y="0"/>
                        <a:ext cx="249543" cy="1943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7"/>
          <p:cNvSpPr txBox="1">
            <a:spLocks/>
          </p:cNvSpPr>
          <p:nvPr userDrawn="1"/>
        </p:nvSpPr>
        <p:spPr>
          <a:xfrm>
            <a:off x="0" y="6502400"/>
            <a:ext cx="12192000" cy="2794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0" indent="0" algn="r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300" kern="1200">
                <a:solidFill>
                  <a:srgbClr val="192F43"/>
                </a:solidFill>
                <a:latin typeface="Franklin Gothic Medium Cond" panose="020B0606030402020204" pitchFamily="34" charset="0"/>
                <a:ea typeface="+mn-ea"/>
                <a:cs typeface="Arial" panose="020B0604020202020204" pitchFamily="34" charset="0"/>
              </a:defRPr>
            </a:lvl1pPr>
            <a:lvl2pPr marL="742913" indent="-285737" algn="l" defTabSz="914354" rtl="0" eaLnBrk="1" latinLnBrk="0" hangingPunct="1">
              <a:spcBef>
                <a:spcPct val="20000"/>
              </a:spcBef>
              <a:buClr>
                <a:srgbClr val="37A5AC"/>
              </a:buClr>
              <a:buFont typeface="Arial" panose="020B0604020202020204" pitchFamily="34" charset="0"/>
              <a:buChar char="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091" indent="-285737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297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74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8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UNCLASSIFIED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01600" y="6513659"/>
            <a:ext cx="30018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3401BA-974E-41E0-B01E-EF44B485DA0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7A5AC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7A5AC"/>
              </a:solidFill>
              <a:effectLst/>
              <a:uLnTx/>
              <a:uFillTx/>
              <a:latin typeface="Franklin Gothic Book" panose="020B0503020102020204" pitchFamily="34" charset="0"/>
              <a:ea typeface="+mn-ea"/>
              <a:cs typeface="+mn-cs"/>
            </a:endParaRPr>
          </a:p>
        </p:txBody>
      </p:sp>
      <p:sp>
        <p:nvSpPr>
          <p:cNvPr id="15" name="Text Placeholder 7"/>
          <p:cNvSpPr txBox="1">
            <a:spLocks/>
          </p:cNvSpPr>
          <p:nvPr userDrawn="1"/>
        </p:nvSpPr>
        <p:spPr>
          <a:xfrm>
            <a:off x="0" y="101600"/>
            <a:ext cx="12192000" cy="2794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0" indent="0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300" kern="1200">
                <a:solidFill>
                  <a:srgbClr val="192F43"/>
                </a:solidFill>
                <a:latin typeface="Franklin Gothic Medium Cond" panose="020B0606030402020204" pitchFamily="34" charset="0"/>
                <a:ea typeface="+mn-ea"/>
                <a:cs typeface="Arial" panose="020B0604020202020204" pitchFamily="34" charset="0"/>
              </a:defRPr>
            </a:lvl1pPr>
            <a:lvl2pPr marL="742913" indent="-285737" algn="l" defTabSz="914354" rtl="0" eaLnBrk="1" latinLnBrk="0" hangingPunct="1">
              <a:spcBef>
                <a:spcPct val="20000"/>
              </a:spcBef>
              <a:buClr>
                <a:srgbClr val="37A5AC"/>
              </a:buClr>
              <a:buFont typeface="Arial" panose="020B0604020202020204" pitchFamily="34" charset="0"/>
              <a:buChar char="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091" indent="-285737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297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74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8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8" algn="l" defTabSz="91435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UNCLASSIFIED</a:t>
            </a:r>
          </a:p>
        </p:txBody>
      </p:sp>
      <p:sp>
        <p:nvSpPr>
          <p:cNvPr id="4" name="AACG_Header_Shape">
            <a:extLst>
              <a:ext uri="{FF2B5EF4-FFF2-40B4-BE49-F238E27FC236}">
                <a16:creationId xmlns:a16="http://schemas.microsoft.com/office/drawing/2014/main" id="{C196FBC8-31DC-FE5E-C132-113193465B5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192F43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  <p:sp>
        <p:nvSpPr>
          <p:cNvPr id="5" name="AACG_Footer_Shape">
            <a:extLst>
              <a:ext uri="{FF2B5EF4-FFF2-40B4-BE49-F238E27FC236}">
                <a16:creationId xmlns:a16="http://schemas.microsoft.com/office/drawing/2014/main" id="{9ACD02A6-4AD2-DA9D-8D90-E8FE7A22EDA2}"/>
              </a:ext>
            </a:extLst>
          </p:cNvPr>
          <p:cNvSpPr txBox="1"/>
          <p:nvPr userDrawn="1"/>
        </p:nvSpPr>
        <p:spPr>
          <a:xfrm>
            <a:off x="0" y="6568301"/>
            <a:ext cx="1219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192F43"/>
                </a:solidFill>
                <a:latin typeface="Franklin Gothic Medium Cond" panose="020B06060304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817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54" rtl="0" eaLnBrk="1" latinLnBrk="0" hangingPunct="1">
        <a:spcBef>
          <a:spcPct val="0"/>
        </a:spcBef>
        <a:buNone/>
        <a:defRPr sz="2400" kern="1200">
          <a:solidFill>
            <a:srgbClr val="192F43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Clr>
          <a:srgbClr val="37A5AC"/>
        </a:buClr>
        <a:buFont typeface="Arial" panose="020B0604020202020204" pitchFamily="34" charset="0"/>
        <a:buChar char="►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091" indent="-285737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532" indent="0" algn="l" defTabSz="914354" rtl="0" eaLnBrk="1" latinLnBrk="0" hangingPunct="1"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4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8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 Howard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09/15/2025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UNCLASSIFIED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UNCLASSIFIED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VCPS Breakout / Citrix Alignment Discussion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UNCLASSIFIED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399DB-4C75-21C5-CF11-8EF87CB03570}"/>
              </a:ext>
            </a:extLst>
          </p:cNvPr>
          <p:cNvSpPr txBox="1"/>
          <p:nvPr/>
        </p:nvSpPr>
        <p:spPr>
          <a:xfrm>
            <a:off x="938741" y="38354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Version 1</a:t>
            </a:r>
          </a:p>
        </p:txBody>
      </p:sp>
    </p:spTree>
    <p:extLst>
      <p:ext uri="{BB962C8B-B14F-4D97-AF65-F5344CB8AC3E}">
        <p14:creationId xmlns:p14="http://schemas.microsoft.com/office/powerpoint/2010/main" val="20731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DD79-09FC-CC89-0C6C-B063487C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Log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498D80-F708-F36C-E934-B4B96F1E3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652982"/>
              </p:ext>
            </p:extLst>
          </p:nvPr>
        </p:nvGraphicFramePr>
        <p:xfrm>
          <a:off x="609600" y="1600200"/>
          <a:ext cx="109727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176">
                  <a:extLst>
                    <a:ext uri="{9D8B030D-6E8A-4147-A177-3AD203B41FA5}">
                      <a16:colId xmlns:a16="http://schemas.microsoft.com/office/drawing/2014/main" val="3771255432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111316818"/>
                    </a:ext>
                  </a:extLst>
                </a:gridCol>
                <a:gridCol w="8107677">
                  <a:extLst>
                    <a:ext uri="{9D8B030D-6E8A-4147-A177-3AD203B41FA5}">
                      <a16:colId xmlns:a16="http://schemas.microsoft.com/office/drawing/2014/main" val="2308042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09/12/25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36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4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92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39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8AA9-EB13-A037-EC92-F6737643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F2AF3F-8B46-5297-95AB-3E3628DBBD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107893"/>
            <a:ext cx="11244943" cy="5162277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+mn-lt"/>
              </a:rPr>
              <a:t>Virtual Desktop hosting for mission areas in the VCPS Account is accomplished through multiple points of integration supported by FS2 and Enterprise Services</a:t>
            </a:r>
          </a:p>
          <a:p>
            <a:pPr lvl="1"/>
            <a:r>
              <a:rPr lang="en-US" sz="1600" b="1" dirty="0">
                <a:latin typeface="+mn-lt"/>
              </a:rPr>
              <a:t>FS2: Citrix Management Stack </a:t>
            </a:r>
            <a:r>
              <a:rPr lang="en-US" sz="1600" dirty="0">
                <a:latin typeface="+mn-lt"/>
              </a:rPr>
              <a:t>(</a:t>
            </a:r>
            <a:r>
              <a:rPr lang="en-US" sz="1600" dirty="0" err="1">
                <a:latin typeface="+mn-lt"/>
              </a:rPr>
              <a:t>Netscaler</a:t>
            </a:r>
            <a:r>
              <a:rPr lang="en-US" sz="1600" dirty="0">
                <a:latin typeface="+mn-lt"/>
              </a:rPr>
              <a:t> AMI, Delivery Controller, Storefront, MS-SQL Database, On-Prem licensing server) for authentication, authorization, user routing, management of delivery groups and directed servers</a:t>
            </a:r>
          </a:p>
          <a:p>
            <a:pPr lvl="1"/>
            <a:r>
              <a:rPr lang="en-US" sz="1600" b="1" dirty="0">
                <a:latin typeface="+mn-lt"/>
              </a:rPr>
              <a:t>FS2: Citrix User Profiles, </a:t>
            </a:r>
            <a:r>
              <a:rPr lang="en-US" sz="1600" dirty="0">
                <a:latin typeface="+mn-lt"/>
              </a:rPr>
              <a:t>Hosted on VCPS Shared Storage Pool</a:t>
            </a:r>
          </a:p>
          <a:p>
            <a:pPr lvl="1"/>
            <a:r>
              <a:rPr lang="en-US" sz="1600" b="1" dirty="0">
                <a:latin typeface="+mn-lt"/>
              </a:rPr>
              <a:t>FS2: VDA/Network shares,</a:t>
            </a:r>
            <a:r>
              <a:rPr lang="en-US" sz="1600" dirty="0">
                <a:latin typeface="+mn-lt"/>
              </a:rPr>
              <a:t> implemented on Shared Storage Pool in alignment with User AD Security groups</a:t>
            </a:r>
          </a:p>
          <a:p>
            <a:pPr lvl="1"/>
            <a:r>
              <a:rPr lang="en-US" sz="1600" b="1" dirty="0">
                <a:latin typeface="+mn-lt"/>
              </a:rPr>
              <a:t>FS2: VDA Servers, </a:t>
            </a:r>
            <a:r>
              <a:rPr lang="en-US" sz="1600" dirty="0">
                <a:latin typeface="+mn-lt"/>
              </a:rPr>
              <a:t>deployed and integrated in VCPS accounts and environments </a:t>
            </a:r>
            <a:endParaRPr lang="en-US" sz="1600" b="1" dirty="0">
              <a:latin typeface="+mn-lt"/>
            </a:endParaRPr>
          </a:p>
          <a:p>
            <a:pPr lvl="1"/>
            <a:r>
              <a:rPr lang="en-US" sz="1600" b="1" dirty="0">
                <a:latin typeface="+mn-lt"/>
              </a:rPr>
              <a:t>F5/VDSS </a:t>
            </a:r>
            <a:r>
              <a:rPr lang="en-US" sz="1600" dirty="0">
                <a:latin typeface="+mn-lt"/>
              </a:rPr>
              <a:t>for point of presence (URL, Cert), routing, and support of custom FCRs/rulesets to support break and inspect waiver in VCPS/Citrix configuration </a:t>
            </a:r>
          </a:p>
          <a:p>
            <a:pPr lvl="1"/>
            <a:r>
              <a:rPr lang="en-US" sz="1600" b="1" dirty="0">
                <a:latin typeface="+mn-lt"/>
              </a:rPr>
              <a:t>Enterprise Active Directory </a:t>
            </a:r>
            <a:r>
              <a:rPr lang="en-US" sz="1600" dirty="0">
                <a:latin typeface="+mn-lt"/>
              </a:rPr>
              <a:t>(Server OU, User Security Groups) for alignment with Citrix delivery groups, VDA  network mapping and access. Implemented per domain. </a:t>
            </a:r>
          </a:p>
          <a:p>
            <a:pPr lvl="2"/>
            <a:r>
              <a:rPr lang="en-US" sz="1600" dirty="0">
                <a:latin typeface="+mn-lt"/>
              </a:rPr>
              <a:t>Registration of Virtual Desktops in Enterprise AD is required per Citrix COTS architecture  </a:t>
            </a:r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Management of VCPS-based Virtual Desktops (Delivery Groups, User access) requires alignment of registered/target  instances with User Group membership in Enterprise Active Directory </a:t>
            </a:r>
          </a:p>
          <a:p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Citrix COTS configurations (MCS) and fleet management are deployed alongside existing VCPS Delivery Groups and transitioned per mission area (ENC)</a:t>
            </a:r>
          </a:p>
          <a:p>
            <a:endParaRPr lang="en-US" sz="1600" dirty="0">
              <a:latin typeface="+mn-lt"/>
            </a:endParaRPr>
          </a:p>
          <a:p>
            <a:endParaRPr lang="en-US" sz="16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6A5896-E018-CA4B-1E5B-68C8CE6D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VCPS Citrix Implementation Background</a:t>
            </a:r>
          </a:p>
        </p:txBody>
      </p:sp>
    </p:spTree>
    <p:extLst>
      <p:ext uri="{BB962C8B-B14F-4D97-AF65-F5344CB8AC3E}">
        <p14:creationId xmlns:p14="http://schemas.microsoft.com/office/powerpoint/2010/main" val="332271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C177D4-0AA1-3851-7927-33ADB87E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5906"/>
            <a:ext cx="10972800" cy="664308"/>
          </a:xfrm>
        </p:spPr>
        <p:txBody>
          <a:bodyPr/>
          <a:lstStyle/>
          <a:p>
            <a:r>
              <a:rPr lang="en-US" dirty="0"/>
              <a:t>Current VCPS System (Systems Diagram)</a:t>
            </a:r>
          </a:p>
        </p:txBody>
      </p:sp>
      <p:pic>
        <p:nvPicPr>
          <p:cNvPr id="14" name="Picture 13" descr="Graphical user interface, table&#10;&#10;AI-generated content may be incorrect.">
            <a:extLst>
              <a:ext uri="{FF2B5EF4-FFF2-40B4-BE49-F238E27FC236}">
                <a16:creationId xmlns:a16="http://schemas.microsoft.com/office/drawing/2014/main" id="{79A3DF7D-33AD-BA9B-4A19-28E5C91B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39" y="793297"/>
            <a:ext cx="98107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5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9104C9-2F56-CA19-CD62-FE872BCFB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107894"/>
            <a:ext cx="11244943" cy="4927926"/>
          </a:xfrm>
        </p:spPr>
        <p:txBody>
          <a:bodyPr>
            <a:normAutofit lnSpcReduction="10000"/>
          </a:bodyPr>
          <a:lstStyle/>
          <a:p>
            <a:r>
              <a:rPr lang="en-US" sz="1700" dirty="0">
                <a:latin typeface="+mn-lt"/>
              </a:rPr>
              <a:t>Common Services Breakout (Phase 1) to deploy/host a new Citrix Management Stack apart from VCPS is underway (Ur environment)</a:t>
            </a:r>
          </a:p>
          <a:p>
            <a:pPr lvl="1"/>
            <a:r>
              <a:rPr lang="en-US" sz="1700" dirty="0">
                <a:latin typeface="+mn-lt"/>
              </a:rPr>
              <a:t>Following integration and accreditation of Ur, FS2 plans for Ti and Cu deployments respectfully</a:t>
            </a:r>
          </a:p>
          <a:p>
            <a:pPr lvl="1"/>
            <a:r>
              <a:rPr lang="en-US" sz="1700" dirty="0">
                <a:latin typeface="+mn-lt"/>
              </a:rPr>
              <a:t>Non-FGMOD mission area (Tandem-X) will integrate with Common Services to complete Phase 1</a:t>
            </a:r>
          </a:p>
          <a:p>
            <a:endParaRPr lang="en-US" sz="1700" dirty="0">
              <a:latin typeface="+mn-lt"/>
            </a:endParaRPr>
          </a:p>
          <a:p>
            <a:r>
              <a:rPr lang="en-US" sz="1700" dirty="0">
                <a:latin typeface="+mn-lt"/>
              </a:rPr>
              <a:t>Transition of Citrix-based services from the </a:t>
            </a:r>
            <a:r>
              <a:rPr lang="en-US" sz="1700" b="1" dirty="0">
                <a:latin typeface="+mn-lt"/>
              </a:rPr>
              <a:t>existing VCPS account to Common services  </a:t>
            </a:r>
            <a:r>
              <a:rPr lang="en-US" sz="1700" dirty="0">
                <a:latin typeface="+mn-lt"/>
              </a:rPr>
              <a:t>is targeted to take place after Phase 1 completes</a:t>
            </a:r>
          </a:p>
          <a:p>
            <a:endParaRPr lang="en-US" dirty="0">
              <a:latin typeface="+mn-lt"/>
            </a:endParaRPr>
          </a:p>
          <a:p>
            <a:r>
              <a:rPr lang="en-US" sz="1700" dirty="0">
                <a:latin typeface="+mn-lt"/>
              </a:rPr>
              <a:t>The Citrix transition process for the existing VCPS account is targeted to include:</a:t>
            </a:r>
          </a:p>
          <a:p>
            <a:pPr lvl="1"/>
            <a:r>
              <a:rPr lang="en-US" sz="1700" dirty="0">
                <a:latin typeface="+mn-lt"/>
              </a:rPr>
              <a:t>URL/Storefront established to access Citrix desktops</a:t>
            </a:r>
          </a:p>
          <a:p>
            <a:pPr lvl="1"/>
            <a:r>
              <a:rPr lang="en-US" sz="1700" dirty="0">
                <a:latin typeface="+mn-lt"/>
              </a:rPr>
              <a:t>Coordinated transition of existing delivery groups to the MC&amp;G Common Services VPC (per environment, per fabric)</a:t>
            </a:r>
          </a:p>
          <a:p>
            <a:pPr lvl="2"/>
            <a:r>
              <a:rPr lang="en-US" sz="1700" dirty="0">
                <a:latin typeface="+mn-lt"/>
              </a:rPr>
              <a:t>These are scoped for multiple waves per environment, to include checkout/validation from Mission </a:t>
            </a:r>
          </a:p>
          <a:p>
            <a:pPr lvl="1"/>
            <a:endParaRPr lang="en-US" sz="1600" dirty="0">
              <a:latin typeface="+mn-lt"/>
            </a:endParaRPr>
          </a:p>
          <a:p>
            <a:r>
              <a:rPr lang="en-US" sz="1700" dirty="0"/>
              <a:t>The Citrix transition process for the existing VCPS account does not include:</a:t>
            </a:r>
          </a:p>
          <a:p>
            <a:pPr lvl="1"/>
            <a:r>
              <a:rPr lang="en-US" sz="1700" dirty="0"/>
              <a:t>VDA Server changes (instances, current deployments, software baseline)</a:t>
            </a:r>
          </a:p>
          <a:p>
            <a:pPr lvl="1"/>
            <a:r>
              <a:rPr lang="en-US" sz="1700" dirty="0"/>
              <a:t>Storage pool data/existing Citrix profile changes</a:t>
            </a:r>
          </a:p>
          <a:p>
            <a:pPr lvl="1"/>
            <a:r>
              <a:rPr lang="en-US" sz="1700" dirty="0">
                <a:latin typeface="+mn-lt"/>
              </a:rPr>
              <a:t>MCS-approved baseline changes (ex: ENC)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89E686-1FB4-3AD6-ABF9-0457F3B0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Citrix Environment Breakout Overview</a:t>
            </a:r>
          </a:p>
        </p:txBody>
      </p:sp>
    </p:spTree>
    <p:extLst>
      <p:ext uri="{BB962C8B-B14F-4D97-AF65-F5344CB8AC3E}">
        <p14:creationId xmlns:p14="http://schemas.microsoft.com/office/powerpoint/2010/main" val="49150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24A4-0CFE-4829-A792-7F735737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DD7F99-FEFF-8D4D-82B8-F2748D8E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5906"/>
            <a:ext cx="10972800" cy="664308"/>
          </a:xfrm>
        </p:spPr>
        <p:txBody>
          <a:bodyPr/>
          <a:lstStyle/>
          <a:p>
            <a:r>
              <a:rPr lang="en-US" dirty="0"/>
              <a:t>Common Services Citrix / VCPS (System Workflow/Segment Arch) </a:t>
            </a:r>
          </a:p>
        </p:txBody>
      </p:sp>
      <p:pic>
        <p:nvPicPr>
          <p:cNvPr id="6" name="Picture 5" descr="Diagram&#10;&#10;AI-generated content may be incorrect.">
            <a:extLst>
              <a:ext uri="{FF2B5EF4-FFF2-40B4-BE49-F238E27FC236}">
                <a16:creationId xmlns:a16="http://schemas.microsoft.com/office/drawing/2014/main" id="{5D4B6FEE-82D4-8551-61B3-C8420D4B2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2" y="737123"/>
            <a:ext cx="11854543" cy="538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7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EABD-52B8-56AD-BF0A-4192F527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E29DD8-47A7-C17F-A16D-DEF9AE9613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107893"/>
            <a:ext cx="11244943" cy="51622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</a:rPr>
              <a:t>VDA Management: </a:t>
            </a:r>
          </a:p>
          <a:p>
            <a:r>
              <a:rPr lang="en-US" sz="1800" dirty="0">
                <a:latin typeface="+mn-lt"/>
              </a:rPr>
              <a:t>Per feedback from MC&amp;G Engineering, long-term management of VDA servers will follow along with their resident account ownership after VCPS Breakout completes</a:t>
            </a:r>
          </a:p>
          <a:p>
            <a:pPr lvl="1"/>
            <a:r>
              <a:rPr lang="en-US" sz="1600" dirty="0">
                <a:latin typeface="+mn-lt"/>
              </a:rPr>
              <a:t>In support of this end-state, FS2 has identified OU and Security Group alignments/suggestions for maintainability between Common Services and VCPS</a:t>
            </a:r>
          </a:p>
          <a:p>
            <a:pPr lvl="1"/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Continued coordination efforts will be required between segments (FS2 and FGMOD) to ensure:</a:t>
            </a:r>
          </a:p>
          <a:p>
            <a:pPr lvl="1"/>
            <a:r>
              <a:rPr lang="en-US" sz="1600" dirty="0">
                <a:latin typeface="+mn-lt"/>
              </a:rPr>
              <a:t>Delivery Group/User/OU alignment for inclusion of new/updated servers</a:t>
            </a:r>
          </a:p>
          <a:p>
            <a:pPr lvl="1"/>
            <a:r>
              <a:rPr lang="en-US" sz="1600" dirty="0">
                <a:latin typeface="+mn-lt"/>
              </a:rPr>
              <a:t>Distribution of script updates to VDAs based on COTS (Management stack) upgrades</a:t>
            </a:r>
          </a:p>
          <a:p>
            <a:pPr lvl="1"/>
            <a:r>
              <a:rPr lang="en-US" sz="1600" dirty="0">
                <a:latin typeface="+mn-lt"/>
              </a:rPr>
              <a:t>MCS Baseline Image/Fleet upgrades (see chart)</a:t>
            </a:r>
            <a:endParaRPr lang="en-US" sz="1800" dirty="0">
              <a:latin typeface="+mn-lt"/>
            </a:endParaRPr>
          </a:p>
          <a:p>
            <a:pPr marL="0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Future Items:</a:t>
            </a:r>
          </a:p>
          <a:p>
            <a:r>
              <a:rPr lang="en-US" sz="1800" dirty="0">
                <a:latin typeface="+mn-lt"/>
              </a:rPr>
              <a:t>Virtual Desktop services / FGMOD Kubernetes architecture alignment</a:t>
            </a:r>
          </a:p>
          <a:p>
            <a:pPr lvl="1"/>
            <a:r>
              <a:rPr lang="en-US" sz="1600" dirty="0">
                <a:latin typeface="+mn-lt"/>
              </a:rPr>
              <a:t>Requirements for interconnectivity between current VCPS, Common Services, and K8? </a:t>
            </a:r>
          </a:p>
          <a:p>
            <a:pPr lvl="1"/>
            <a:r>
              <a:rPr lang="en-US" sz="1600" dirty="0">
                <a:latin typeface="+mn-lt"/>
              </a:rPr>
              <a:t>Projected need dates?</a:t>
            </a:r>
          </a:p>
          <a:p>
            <a:pPr lvl="1"/>
            <a:endParaRPr lang="en-US" sz="16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Citrix COTS / Kubernetes virtual desktop deployment and Enterprise integration support</a:t>
            </a:r>
          </a:p>
          <a:p>
            <a:pPr lvl="1"/>
            <a:r>
              <a:rPr lang="en-US" sz="1600" dirty="0">
                <a:latin typeface="+mn-lt"/>
              </a:rPr>
              <a:t>Consideration for deployment of VDAs under containers, requires coordination between Common Services and FGMOD</a:t>
            </a:r>
          </a:p>
          <a:p>
            <a:pPr lvl="1"/>
            <a:r>
              <a:rPr lang="en-US" sz="1600" dirty="0">
                <a:latin typeface="+mn-lt"/>
              </a:rPr>
              <a:t>Citrix COTS capabilities to support Containers along with NGA-specific architecture </a:t>
            </a:r>
          </a:p>
          <a:p>
            <a:pPr lvl="1"/>
            <a:endParaRPr lang="en-US" sz="16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3652C0-C212-2164-3F14-031CCBA5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301313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A8DA-1934-C42E-F1F4-33D84B9B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2B7B7-3884-4FB3-B1E2-252C0C9F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5906"/>
            <a:ext cx="10972800" cy="664308"/>
          </a:xfrm>
        </p:spPr>
        <p:txBody>
          <a:bodyPr/>
          <a:lstStyle/>
          <a:p>
            <a:r>
              <a:rPr lang="en-US" dirty="0"/>
              <a:t>MCS Baseline Update Coordination Workflow (Notional)</a:t>
            </a:r>
          </a:p>
        </p:txBody>
      </p:sp>
      <p:pic>
        <p:nvPicPr>
          <p:cNvPr id="3" name="Picture 2" descr="Diagram&#10;&#10;AI-generated content may be incorrect.">
            <a:extLst>
              <a:ext uri="{FF2B5EF4-FFF2-40B4-BE49-F238E27FC236}">
                <a16:creationId xmlns:a16="http://schemas.microsoft.com/office/drawing/2014/main" id="{FF382795-B398-9494-9F95-2845442DA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107402"/>
            <a:ext cx="7424058" cy="464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A11B4-716C-7755-E1F4-1BD6090A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7BCBE39-462E-3392-497F-5AE79CA6B897}"/>
              </a:ext>
            </a:extLst>
          </p:cNvPr>
          <p:cNvSpPr txBox="1"/>
          <p:nvPr/>
        </p:nvSpPr>
        <p:spPr>
          <a:xfrm>
            <a:off x="640080" y="219372"/>
            <a:ext cx="907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92F43"/>
                </a:solidFill>
                <a:effectLst/>
                <a:uLnTx/>
                <a:uFillTx/>
                <a:latin typeface="Franklin Gothic Medium Cond"/>
                <a:ea typeface="+mj-ea"/>
                <a:cs typeface="+mj-cs"/>
              </a:rPr>
              <a:t>VCPS Breakout Project</a:t>
            </a:r>
            <a:r>
              <a:rPr lang="en-US" sz="2400" dirty="0">
                <a:solidFill>
                  <a:srgbClr val="192F43"/>
                </a:solidFill>
                <a:latin typeface="Franklin Gothic Medium Cond"/>
                <a:ea typeface="+mj-ea"/>
                <a:cs typeface="+mj-cs"/>
              </a:rPr>
              <a:t> Overview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92F43"/>
              </a:solidFill>
              <a:effectLst/>
              <a:uLnTx/>
              <a:uFillTx/>
              <a:latin typeface="Franklin Gothic Medium Cond" panose="020B0606030402020204" pitchFamily="34" charset="0"/>
              <a:ea typeface="+mj-ea"/>
              <a:cs typeface="+mj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AAB6A-6721-0ABA-C8C5-B0EF8D2B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800"/>
            <a:ext cx="10515600" cy="5364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Phase 1 – Shared Services and Tandem-X mission breakout (May 2025 – January 2026)</a:t>
            </a:r>
          </a:p>
          <a:p>
            <a:pPr lvl="1"/>
            <a:r>
              <a:rPr lang="en-US" sz="1400" dirty="0"/>
              <a:t>FS2 establishes new AWS accounts and SPIDs at each security fabric (Ur, Ti, Cu, Kr) and environment (TP1, Operations) for redeployment of shared services </a:t>
            </a:r>
          </a:p>
          <a:p>
            <a:pPr lvl="1"/>
            <a:r>
              <a:rPr lang="en-US" sz="1400" dirty="0"/>
              <a:t>All deployments of instances and services are separate and non-impacting to existing shared services including Citrix</a:t>
            </a:r>
          </a:p>
          <a:p>
            <a:pPr lvl="1"/>
            <a:r>
              <a:rPr lang="en-US" sz="1400" dirty="0"/>
              <a:t>Shared services defined as Citrix technical stack, Shared Software artifact S3 buckets, Operations monitoring software/log ingest services, Gx integration proxies) </a:t>
            </a:r>
          </a:p>
          <a:p>
            <a:pPr lvl="1"/>
            <a:r>
              <a:rPr lang="en-US" sz="1400" dirty="0"/>
              <a:t>Tandem-X mission area nominated for first mission breakout due to heavy reliance on Citrix/external interconnectivity 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sz="1800" dirty="0"/>
              <a:t>Phase 2 – Non-FGMOD Mission Breakout from VCPS Account (January 2026 – June 2026)</a:t>
            </a:r>
          </a:p>
          <a:p>
            <a:pPr lvl="1"/>
            <a:r>
              <a:rPr lang="en-US" sz="1400" dirty="0"/>
              <a:t>Non-FGMOD Mission Areas within VCPS (including User Production Environments [virtual desktops]) are redeployed into new AWS accounts/SPIDS in alignment with COA designations</a:t>
            </a:r>
          </a:p>
          <a:p>
            <a:pPr lvl="1"/>
            <a:r>
              <a:rPr lang="en-US" sz="1400" dirty="0"/>
              <a:t>New accounts integrate directly with Shared Services account vice existing VCPS-based Citrix and shared services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Phase 3 – VCPS/FGMOD Citrix cutover to Shared Services Account (January 2026 – March 2026)</a:t>
            </a:r>
          </a:p>
          <a:p>
            <a:pPr lvl="1"/>
            <a:r>
              <a:rPr lang="en-US" sz="1400" b="1" dirty="0"/>
              <a:t>Transition is specifically for Citrix management stack (initial connection to delivery groups, then pointed to existing Virtual Desktops </a:t>
            </a:r>
          </a:p>
          <a:p>
            <a:pPr lvl="1"/>
            <a:r>
              <a:rPr lang="en-US" sz="1400" b="1" dirty="0"/>
              <a:t>No change to FGMOD mission virtual desktop baselines, hosting, or mission configurations</a:t>
            </a:r>
          </a:p>
          <a:p>
            <a:pPr lvl="1"/>
            <a:r>
              <a:rPr lang="en-US" b="1" dirty="0"/>
              <a:t>Earliest Target readiness: </a:t>
            </a:r>
          </a:p>
          <a:p>
            <a:pPr lvl="2"/>
            <a:r>
              <a:rPr lang="en-US" b="1" dirty="0"/>
              <a:t>Ur TP1*: Early December 2025 (*pre-Tandem-X integration)</a:t>
            </a:r>
          </a:p>
          <a:p>
            <a:pPr lvl="2"/>
            <a:r>
              <a:rPr lang="en-US" sz="1400" b="1" dirty="0"/>
              <a:t>Ti TP1: Early January 2026</a:t>
            </a:r>
          </a:p>
          <a:p>
            <a:pPr lvl="2"/>
            <a:r>
              <a:rPr lang="en-US" b="1" dirty="0"/>
              <a:t>Cu TP1: Early February 2026</a:t>
            </a:r>
            <a:endParaRPr lang="en-US" sz="1400" b="1" dirty="0"/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sz="1800" dirty="0"/>
              <a:t>Phase 4 – High Availability Implementation of Citrix within Shared Services (March 2026 – August 2026)</a:t>
            </a:r>
          </a:p>
          <a:p>
            <a:pPr lvl="1"/>
            <a:r>
              <a:rPr lang="en-US" sz="1400" dirty="0"/>
              <a:t>Procure additional Citrix licenses and perform PoC with latest Citrix delivered baseline, transition shared services configuration to H-A</a:t>
            </a:r>
          </a:p>
          <a:p>
            <a:pPr lvl="1"/>
            <a:endParaRPr lang="en-US" sz="14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14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DFA713-C865-9346-BD4C-37123EBB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6676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AE9F-2AAD-8C80-618B-F025342F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6567FC-BF95-E661-24F3-318BB505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8735"/>
            <a:ext cx="10972800" cy="664308"/>
          </a:xfrm>
        </p:spPr>
        <p:txBody>
          <a:bodyPr/>
          <a:lstStyle/>
          <a:p>
            <a:r>
              <a:rPr lang="en-US" dirty="0"/>
              <a:t>Future - VCPS System Breakout (Systems Diagram)</a:t>
            </a:r>
          </a:p>
        </p:txBody>
      </p:sp>
      <p:pic>
        <p:nvPicPr>
          <p:cNvPr id="6" name="Picture 5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E1CA5099-4FCE-4DD1-E8E1-0C6D5AE5A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" y="671530"/>
            <a:ext cx="11887200" cy="570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87400"/>
      </p:ext>
    </p:extLst>
  </p:cSld>
  <p:clrMapOvr>
    <a:masterClrMapping/>
  </p:clrMapOvr>
</p:sld>
</file>

<file path=ppt/theme/theme1.xml><?xml version="1.0" encoding="utf-8"?>
<a:theme xmlns:a="http://schemas.openxmlformats.org/drawingml/2006/main" name="NGA Theme 4x3 2016">
  <a:themeElements>
    <a:clrScheme name="NGA Branding">
      <a:dk1>
        <a:srgbClr val="414042"/>
      </a:dk1>
      <a:lt1>
        <a:sysClr val="window" lastClr="FFFFFF"/>
      </a:lt1>
      <a:dk2>
        <a:srgbClr val="192F43"/>
      </a:dk2>
      <a:lt2>
        <a:srgbClr val="D8D8D8"/>
      </a:lt2>
      <a:accent1>
        <a:srgbClr val="1E4D7C"/>
      </a:accent1>
      <a:accent2>
        <a:srgbClr val="37A5AC"/>
      </a:accent2>
      <a:accent3>
        <a:srgbClr val="80C2D4"/>
      </a:accent3>
      <a:accent4>
        <a:srgbClr val="089247"/>
      </a:accent4>
      <a:accent5>
        <a:srgbClr val="8DC63F"/>
      </a:accent5>
      <a:accent6>
        <a:srgbClr val="464646"/>
      </a:accent6>
      <a:hlink>
        <a:srgbClr val="414042"/>
      </a:hlink>
      <a:folHlink>
        <a:srgbClr val="1E4D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GA_Presentation_Template.potx" id="{64395C71-6383-4CF7-81F8-88B2BEB52891}" vid="{69B331A8-C947-48D0-9D18-AB7B56BA72A3}"/>
    </a:ext>
  </a:extLst>
</a:theme>
</file>

<file path=ppt/theme/theme2.xml><?xml version="1.0" encoding="utf-8"?>
<a:theme xmlns:a="http://schemas.openxmlformats.org/drawingml/2006/main" name="6_NGA Theme 4x3 2016">
  <a:themeElements>
    <a:clrScheme name="NGA Branding">
      <a:dk1>
        <a:srgbClr val="414042"/>
      </a:dk1>
      <a:lt1>
        <a:sysClr val="window" lastClr="FFFFFF"/>
      </a:lt1>
      <a:dk2>
        <a:srgbClr val="192F43"/>
      </a:dk2>
      <a:lt2>
        <a:srgbClr val="D8D8D8"/>
      </a:lt2>
      <a:accent1>
        <a:srgbClr val="1E4D7C"/>
      </a:accent1>
      <a:accent2>
        <a:srgbClr val="37A5AC"/>
      </a:accent2>
      <a:accent3>
        <a:srgbClr val="80C2D4"/>
      </a:accent3>
      <a:accent4>
        <a:srgbClr val="089247"/>
      </a:accent4>
      <a:accent5>
        <a:srgbClr val="8DC63F"/>
      </a:accent5>
      <a:accent6>
        <a:srgbClr val="464646"/>
      </a:accent6>
      <a:hlink>
        <a:srgbClr val="414042"/>
      </a:hlink>
      <a:folHlink>
        <a:srgbClr val="1E4D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GA_Presentation_Template.potx" id="{64395C71-6383-4CF7-81F8-88B2BEB52891}" vid="{0270B5A8-AAE6-4E7A-8357-D2238A1512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c8d5760e-638a-47e8-9e2e-1226c2cb268d" origin="userSelected">
  <element uid="42834bfb-1ec1-4beb-bd64-eb83fb3cb3f3" value=""/>
</sisl>
</file>

<file path=customXml/item2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OGQ1NzYwZS02MzhhLTQ3ZTgtOWUyZS0xMjI2YzJjYjI2OGQiIG9yaWdpbj0idXNlclNlbGVjdGVkIj48ZWxlbWVudCB1aWQ9IjQyODM0YmZiLTFlYzEtNGJlYi1iZDY0LWViODNmYjNjYjNmMyIgdmFsdWU9IiIgeG1sbnM9Imh0dHA6Ly93d3cuYm9sZG9uamFtZXMuY29tLzIwMDgvMDEvc2llL2ludGVybmFsL2xhYmVsIiAvPjwvc2lzbD48VXNlck5hbWU+TEVJRE9TLUNPUlBcdmVybmF0PC9Vc2VyTmFtZT48RGF0ZVRpbWU+MTEvMjEvMjAxOCA4OjQxOjM4IFBNPC9EYXRlVGltZT48TGFiZWxTdHJpbmc+VW5yZXN0cmljdGVkPC9MYWJlbFN0cmluZz48L2l0ZW0+PC9sYWJlbEhpc3Rvcnk+</Value>
</WrappedLabelHistory>
</file>

<file path=customXml/item3.xml><?xml version="1.0" encoding="utf-8"?>
<class:Classification xmlns:class="urn:us:gov:cia:enterprise:schema:Classification:2.3" dateClassified="2026-04-16" portionMarking="false" caveat="false" tool="Desktop" toolVersion="202520">
  <class:ClassificationMarking type="USClassificationMarking" value="UNCLASSIFIED"/>
  <class:ClassifiedBy/>
  <class:ClassificationHeader>
    <class:ClassificationBanner>UNCLASSIFIED</class:ClassificationBanner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Props1.xml><?xml version="1.0" encoding="utf-8"?>
<ds:datastoreItem xmlns:ds="http://schemas.openxmlformats.org/officeDocument/2006/customXml" ds:itemID="{A31292EE-3062-4F28-BAE0-5BCC12FE635B}">
  <ds:schemaRefs>
    <ds:schemaRef ds:uri="http://www.boldonjames.com/2008/01/sie/internal/label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4409C22-FDC9-4250-AC0D-B369CFF1EF4F}">
  <ds:schemaRefs>
    <ds:schemaRef ds:uri="http://www.boldonjames.com/2016/02/Classifier/internal/wrappedLabelHistory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168CD0-F7ED-41F6-A0E6-4864D3611E20}">
  <ds:schemaRefs>
    <ds:schemaRef ds:uri="urn:us:gov:cia:enterprise:schema:Classification:2.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NGA_Presentation_Template</Template>
  <TotalTime>1023</TotalTime>
  <Words>927</Words>
  <Application>Microsoft Office PowerPoint</Application>
  <PresentationFormat>Widescreen</PresentationFormat>
  <Paragraphs>97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Franklin Gothic Book</vt:lpstr>
      <vt:lpstr>Franklin Gothic Medium Cond</vt:lpstr>
      <vt:lpstr>Wingdings 3</vt:lpstr>
      <vt:lpstr>NGA Theme 4x3 2016</vt:lpstr>
      <vt:lpstr>6_NGA Theme 4x3 2016</vt:lpstr>
      <vt:lpstr>Image</vt:lpstr>
      <vt:lpstr>PowerPoint Presentation</vt:lpstr>
      <vt:lpstr>Change Log</vt:lpstr>
      <vt:lpstr>VCPS Citrix Implementation Background</vt:lpstr>
      <vt:lpstr>Current VCPS System (Systems Diagram)</vt:lpstr>
      <vt:lpstr>Citrix Environment Breakout Overview</vt:lpstr>
      <vt:lpstr>Common Services Citrix / VCPS (System Workflow/Segment Arch) </vt:lpstr>
      <vt:lpstr>Considerations </vt:lpstr>
      <vt:lpstr>MCS Baseline Update Coordination Workflow (Notional)</vt:lpstr>
      <vt:lpstr>PowerPoint Presentation</vt:lpstr>
      <vt:lpstr>Backup Slides</vt:lpstr>
      <vt:lpstr>Future - VCPS System Breakout (Systems Diagram)</vt:lpstr>
    </vt:vector>
  </TitlesOfParts>
  <Company>Leidos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Bracone, Jeremy E. [US-US]</dc:creator>
  <cp:lastModifiedBy>Hull Timothy J NGA-OCSM USA CIV</cp:lastModifiedBy>
  <cp:revision>4</cp:revision>
  <dcterms:created xsi:type="dcterms:W3CDTF">2024-10-29T16:55:39Z</dcterms:created>
  <dcterms:modified xsi:type="dcterms:W3CDTF">2026-04-16T16:55:23Z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6729cb34-a7b7-497c-88c7-e1519c41c10c</vt:lpwstr>
  </property>
  <property fmtid="{D5CDD505-2E9C-101B-9397-08002B2CF9AE}" pid="3" name="bjSaver">
    <vt:lpwstr>zC4FecPYIDQUofG93hrsGa9S8JzaIpKK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policy="c8d5760e-638a-47e8-9e2e-1226c2cb268d" origin="userSelected" xmlns="http://www.boldonj</vt:lpwstr>
  </property>
  <property fmtid="{D5CDD505-2E9C-101B-9397-08002B2CF9AE}" pid="5" name="bjDocumentLabelXML-0">
    <vt:lpwstr>ames.com/2008/01/sie/internal/label"&gt;&lt;element uid="42834bfb-1ec1-4beb-bd64-eb83fb3cb3f3" value="" /&gt;&lt;/sisl&gt;</vt:lpwstr>
  </property>
  <property fmtid="{D5CDD505-2E9C-101B-9397-08002B2CF9AE}" pid="6" name="bjDocumentSecurityLabel">
    <vt:lpwstr>Unrestricted</vt:lpwstr>
  </property>
  <property fmtid="{D5CDD505-2E9C-101B-9397-08002B2CF9AE}" pid="7" name="bjLabelHistoryID">
    <vt:lpwstr>{64409C22-FDC9-4250-AC0D-B369CFF1EF4F}</vt:lpwstr>
  </property>
  <property fmtid="{D5CDD505-2E9C-101B-9397-08002B2CF9AE}" pid="8" name="MSIP_Label_c968a81f-7ed4-4faa-9408-9652e001dd96_Enabled">
    <vt:lpwstr>true</vt:lpwstr>
  </property>
  <property fmtid="{D5CDD505-2E9C-101B-9397-08002B2CF9AE}" pid="9" name="MSIP_Label_c968a81f-7ed4-4faa-9408-9652e001dd96_SetDate">
    <vt:lpwstr>2024-10-29T18:05:01Z</vt:lpwstr>
  </property>
  <property fmtid="{D5CDD505-2E9C-101B-9397-08002B2CF9AE}" pid="10" name="MSIP_Label_c968a81f-7ed4-4faa-9408-9652e001dd96_Method">
    <vt:lpwstr>Privileged</vt:lpwstr>
  </property>
  <property fmtid="{D5CDD505-2E9C-101B-9397-08002B2CF9AE}" pid="11" name="MSIP_Label_c968a81f-7ed4-4faa-9408-9652e001dd96_Name">
    <vt:lpwstr>Unrestricted</vt:lpwstr>
  </property>
  <property fmtid="{D5CDD505-2E9C-101B-9397-08002B2CF9AE}" pid="12" name="MSIP_Label_c968a81f-7ed4-4faa-9408-9652e001dd96_SiteId">
    <vt:lpwstr>b64da4ac-e800-4cfc-8931-e607f720a1b8</vt:lpwstr>
  </property>
  <property fmtid="{D5CDD505-2E9C-101B-9397-08002B2CF9AE}" pid="13" name="MSIP_Label_c968a81f-7ed4-4faa-9408-9652e001dd96_ActionId">
    <vt:lpwstr>a4e6add0-fc19-4a8c-96d1-dba6c6dcb89f</vt:lpwstr>
  </property>
  <property fmtid="{D5CDD505-2E9C-101B-9397-08002B2CF9AE}" pid="14" name="MSIP_Label_c968a81f-7ed4-4faa-9408-9652e001dd96_ContentBits">
    <vt:lpwstr>0</vt:lpwstr>
  </property>
  <property fmtid="{D5CDD505-2E9C-101B-9397-08002B2CF9AE}" pid="15" name="AACG_OFFICE_DLL">
    <vt:bool>true</vt:bool>
  </property>
  <property fmtid="{D5CDD505-2E9C-101B-9397-08002B2CF9AE}" pid="16" name="AACG_Created">
    <vt:bool>true</vt:bool>
  </property>
  <property fmtid="{D5CDD505-2E9C-101B-9397-08002B2CF9AE}" pid="17" name="AACG_DescMarkings">
    <vt:lpwstr/>
  </property>
  <property fmtid="{D5CDD505-2E9C-101B-9397-08002B2CF9AE}" pid="18" name="AACG_AddMark">
    <vt:lpwstr/>
  </property>
  <property fmtid="{D5CDD505-2E9C-101B-9397-08002B2CF9AE}" pid="19" name="AACG_Header">
    <vt:lpwstr>UNCLASSIFIED</vt:lpwstr>
  </property>
  <property fmtid="{D5CDD505-2E9C-101B-9397-08002B2CF9AE}" pid="20" name="AACG_Footer">
    <vt:lpwstr>_x000d_UNCLASSIFIED</vt:lpwstr>
  </property>
  <property fmtid="{D5CDD505-2E9C-101B-9397-08002B2CF9AE}" pid="21" name="AACG_ClassBlock">
    <vt:lpwstr/>
  </property>
  <property fmtid="{D5CDD505-2E9C-101B-9397-08002B2CF9AE}" pid="22" name="AACG_ClassType">
    <vt:lpwstr>USClassificationMarking</vt:lpwstr>
  </property>
  <property fmtid="{D5CDD505-2E9C-101B-9397-08002B2CF9AE}" pid="23" name="AACG_DeclOnList">
    <vt:lpwstr/>
  </property>
  <property fmtid="{D5CDD505-2E9C-101B-9397-08002B2CF9AE}" pid="24" name="AACG_USAF_Derivatives">
    <vt:lpwstr/>
  </property>
  <property fmtid="{D5CDD505-2E9C-101B-9397-08002B2CF9AE}" pid="25" name="AACG_SCI_Other">
    <vt:lpwstr/>
  </property>
  <property fmtid="{D5CDD505-2E9C-101B-9397-08002B2CF9AE}" pid="26" name="AACG_Dissem_Other">
    <vt:lpwstr/>
  </property>
  <property fmtid="{D5CDD505-2E9C-101B-9397-08002B2CF9AE}" pid="27" name="PortionWaiver">
    <vt:lpwstr/>
  </property>
  <property fmtid="{D5CDD505-2E9C-101B-9397-08002B2CF9AE}" pid="28" name="AACG_OrconOriginator">
    <vt:lpwstr/>
  </property>
  <property fmtid="{D5CDD505-2E9C-101B-9397-08002B2CF9AE}" pid="29" name="AACG_OrconRecipients">
    <vt:lpwstr/>
  </property>
  <property fmtid="{D5CDD505-2E9C-101B-9397-08002B2CF9AE}" pid="30" name="AACG_SatWarningType">
    <vt:lpwstr/>
  </property>
  <property fmtid="{D5CDD505-2E9C-101B-9397-08002B2CF9AE}" pid="31" name="AACG_NatoWarningClassLevel">
    <vt:lpwstr/>
  </property>
  <property fmtid="{D5CDD505-2E9C-101B-9397-08002B2CF9AE}" pid="32" name="AACG_Version">
    <vt:lpwstr>202520</vt:lpwstr>
  </property>
  <property fmtid="{D5CDD505-2E9C-101B-9397-08002B2CF9AE}" pid="33" name="AACG_CustomClassXMLPart">
    <vt:lpwstr>{45168CD0-F7ED-41F6-A0E6-4864D3611E20}</vt:lpwstr>
  </property>
</Properties>
</file>