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theme/theme3.xml" ContentType="application/vnd.openxmlformats-officedocument.theme+xml"/>
  <Override PartName="/ppt/slideLayouts/slideLayout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9" r:id="rId4"/>
    <p:sldMasterId id="2147483730" r:id="rId5"/>
    <p:sldMasterId id="2147483727" r:id="rId6"/>
    <p:sldMasterId id="2147483725" r:id="rId7"/>
  </p:sldMasterIdLst>
  <p:notesMasterIdLst>
    <p:notesMasterId r:id="rId23"/>
  </p:notesMasterIdLst>
  <p:handoutMasterIdLst>
    <p:handoutMasterId r:id="rId24"/>
  </p:handoutMasterIdLst>
  <p:sldIdLst>
    <p:sldId id="454" r:id="rId8"/>
    <p:sldId id="480" r:id="rId9"/>
    <p:sldId id="479" r:id="rId10"/>
    <p:sldId id="476" r:id="rId11"/>
    <p:sldId id="463" r:id="rId12"/>
    <p:sldId id="477" r:id="rId13"/>
    <p:sldId id="465" r:id="rId14"/>
    <p:sldId id="478" r:id="rId15"/>
    <p:sldId id="468" r:id="rId16"/>
    <p:sldId id="475" r:id="rId17"/>
    <p:sldId id="471" r:id="rId18"/>
    <p:sldId id="470" r:id="rId19"/>
    <p:sldId id="472" r:id="rId20"/>
    <p:sldId id="473" r:id="rId21"/>
    <p:sldId id="474" r:id="rId22"/>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6600CC"/>
    <a:srgbClr val="FFFF00"/>
    <a:srgbClr val="006600"/>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561" autoAdjust="0"/>
    <p:restoredTop sz="94590" autoAdjust="0"/>
  </p:normalViewPr>
  <p:slideViewPr>
    <p:cSldViewPr>
      <p:cViewPr varScale="1">
        <p:scale>
          <a:sx n="84" d="100"/>
          <a:sy n="84" d="100"/>
        </p:scale>
        <p:origin x="869" y="67"/>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6725"/>
          </a:xfrm>
          <a:prstGeom prst="rect">
            <a:avLst/>
          </a:prstGeom>
        </p:spPr>
        <p:txBody>
          <a:bodyPr vert="horz" lIns="91440" tIns="45720" rIns="91440" bIns="45720" rtlCol="0"/>
          <a:lstStyle>
            <a:lvl1pPr algn="r">
              <a:defRPr sz="1200"/>
            </a:lvl1pPr>
          </a:lstStyle>
          <a:p>
            <a:fld id="{3758E99F-C48A-4CC9-A7E5-8745441DF98A}" type="datetimeFigureOut">
              <a:rPr lang="en-US" smtClean="0"/>
              <a:t>4/4/2018</a:t>
            </a:fld>
            <a:endParaRPr lang="en-US"/>
          </a:p>
        </p:txBody>
      </p:sp>
      <p:sp>
        <p:nvSpPr>
          <p:cNvPr id="4" name="Footer Placeholder 3"/>
          <p:cNvSpPr>
            <a:spLocks noGrp="1"/>
          </p:cNvSpPr>
          <p:nvPr>
            <p:ph type="ftr" sz="quarter" idx="2"/>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6725"/>
          </a:xfrm>
          <a:prstGeom prst="rect">
            <a:avLst/>
          </a:prstGeom>
        </p:spPr>
        <p:txBody>
          <a:bodyPr vert="horz" lIns="91440" tIns="45720" rIns="91440" bIns="45720" rtlCol="0" anchor="b"/>
          <a:lstStyle>
            <a:lvl1pPr algn="r">
              <a:defRPr sz="1200"/>
            </a:lvl1pPr>
          </a:lstStyle>
          <a:p>
            <a:fld id="{FC96F18F-AA4E-4C5C-8349-C9773A981DFA}" type="slidenum">
              <a:rPr lang="en-US" smtClean="0"/>
              <a:t>‹#›</a:t>
            </a:fld>
            <a:endParaRPr lang="en-US"/>
          </a:p>
        </p:txBody>
      </p:sp>
    </p:spTree>
    <p:extLst>
      <p:ext uri="{BB962C8B-B14F-4D97-AF65-F5344CB8AC3E}">
        <p14:creationId xmlns:p14="http://schemas.microsoft.com/office/powerpoint/2010/main" val="34036907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2736" tIns="46368" rIns="92736" bIns="46368" rtlCol="0"/>
          <a:lstStyle>
            <a:lvl1pPr algn="l">
              <a:defRPr sz="1200"/>
            </a:lvl1pPr>
          </a:lstStyle>
          <a:p>
            <a:endParaRPr lang="en-US" dirty="0"/>
          </a:p>
        </p:txBody>
      </p:sp>
      <p:sp>
        <p:nvSpPr>
          <p:cNvPr id="3" name="Date Placeholder 2"/>
          <p:cNvSpPr>
            <a:spLocks noGrp="1"/>
          </p:cNvSpPr>
          <p:nvPr>
            <p:ph type="dt" idx="1"/>
          </p:nvPr>
        </p:nvSpPr>
        <p:spPr>
          <a:xfrm>
            <a:off x="3970940" y="0"/>
            <a:ext cx="3037840" cy="464820"/>
          </a:xfrm>
          <a:prstGeom prst="rect">
            <a:avLst/>
          </a:prstGeom>
        </p:spPr>
        <p:txBody>
          <a:bodyPr vert="horz" lIns="92736" tIns="46368" rIns="92736" bIns="46368" rtlCol="0"/>
          <a:lstStyle>
            <a:lvl1pPr algn="r">
              <a:defRPr sz="1200"/>
            </a:lvl1pPr>
          </a:lstStyle>
          <a:p>
            <a:fld id="{47802B59-CA50-4283-8B53-B06FA28FE7F4}" type="datetimeFigureOut">
              <a:rPr lang="en-US" smtClean="0"/>
              <a:pPr/>
              <a:t>4/4/2018</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2736" tIns="46368" rIns="92736" bIns="46368" rtlCol="0" anchor="ctr"/>
          <a:lstStyle/>
          <a:p>
            <a:endParaRPr lang="en-US" dirty="0"/>
          </a:p>
        </p:txBody>
      </p:sp>
      <p:sp>
        <p:nvSpPr>
          <p:cNvPr id="5" name="Notes Placeholder 4"/>
          <p:cNvSpPr>
            <a:spLocks noGrp="1"/>
          </p:cNvSpPr>
          <p:nvPr>
            <p:ph type="body" sz="quarter" idx="3"/>
          </p:nvPr>
        </p:nvSpPr>
        <p:spPr>
          <a:xfrm>
            <a:off x="701040" y="4415792"/>
            <a:ext cx="5608320" cy="4183380"/>
          </a:xfrm>
          <a:prstGeom prst="rect">
            <a:avLst/>
          </a:prstGeom>
        </p:spPr>
        <p:txBody>
          <a:bodyPr vert="horz" lIns="92736" tIns="46368" rIns="92736" bIns="46368"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9968"/>
            <a:ext cx="3037840" cy="464820"/>
          </a:xfrm>
          <a:prstGeom prst="rect">
            <a:avLst/>
          </a:prstGeom>
        </p:spPr>
        <p:txBody>
          <a:bodyPr vert="horz" lIns="92736" tIns="46368" rIns="92736" bIns="46368"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40" y="8829968"/>
            <a:ext cx="3037840" cy="464820"/>
          </a:xfrm>
          <a:prstGeom prst="rect">
            <a:avLst/>
          </a:prstGeom>
        </p:spPr>
        <p:txBody>
          <a:bodyPr vert="horz" lIns="92736" tIns="46368" rIns="92736" bIns="46368" rtlCol="0" anchor="b"/>
          <a:lstStyle>
            <a:lvl1pPr algn="r">
              <a:defRPr sz="1200"/>
            </a:lvl1pPr>
          </a:lstStyle>
          <a:p>
            <a:fld id="{6C574044-705B-4BA9-9528-EF24541C28D0}" type="slidenum">
              <a:rPr lang="en-US" smtClean="0"/>
              <a:pPr/>
              <a:t>‹#›</a:t>
            </a:fld>
            <a:endParaRPr lang="en-US" dirty="0"/>
          </a:p>
        </p:txBody>
      </p:sp>
    </p:spTree>
    <p:extLst>
      <p:ext uri="{BB962C8B-B14F-4D97-AF65-F5344CB8AC3E}">
        <p14:creationId xmlns:p14="http://schemas.microsoft.com/office/powerpoint/2010/main" val="27251290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C574044-705B-4BA9-9528-EF24541C28D0}" type="slidenum">
              <a:rPr lang="en-US" smtClean="0"/>
              <a:pPr/>
              <a:t>1</a:t>
            </a:fld>
            <a:endParaRPr lang="en-US" dirty="0"/>
          </a:p>
        </p:txBody>
      </p:sp>
    </p:spTree>
    <p:extLst>
      <p:ext uri="{BB962C8B-B14F-4D97-AF65-F5344CB8AC3E}">
        <p14:creationId xmlns:p14="http://schemas.microsoft.com/office/powerpoint/2010/main" val="66659145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 Id="rId5" Type="http://schemas.openxmlformats.org/officeDocument/2006/relationships/image" Target="../media/image9.gif"/><Relationship Id="rId4"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Slide Number Placeholder 3"/>
          <p:cNvSpPr>
            <a:spLocks noGrp="1"/>
          </p:cNvSpPr>
          <p:nvPr>
            <p:ph type="sldNum" sz="quarter" idx="12"/>
          </p:nvPr>
        </p:nvSpPr>
        <p:spPr>
          <a:xfrm>
            <a:off x="8494776" y="6462611"/>
            <a:ext cx="612648" cy="365125"/>
          </a:xfrm>
          <a:prstGeom prst="rect">
            <a:avLst/>
          </a:prstGeom>
        </p:spPr>
        <p:txBody>
          <a:bodyPr/>
          <a:lstStyle/>
          <a:p>
            <a:fld id="{89F2C004-2715-FE49-B628-06E74F704CD7}" type="slidenum">
              <a:rPr lang="en-US" smtClean="0">
                <a:solidFill>
                  <a:prstClr val="white"/>
                </a:solidFill>
              </a:rPr>
              <a:pPr/>
              <a:t>‹#›</a:t>
            </a:fld>
            <a:endParaRPr lang="en-US" dirty="0">
              <a:solidFill>
                <a:prstClr val="white"/>
              </a:solidFill>
            </a:endParaRPr>
          </a:p>
        </p:txBody>
      </p:sp>
      <p:grpSp>
        <p:nvGrpSpPr>
          <p:cNvPr id="3" name="Group 2"/>
          <p:cNvGrpSpPr/>
          <p:nvPr userDrawn="1"/>
        </p:nvGrpSpPr>
        <p:grpSpPr>
          <a:xfrm>
            <a:off x="144954" y="79430"/>
            <a:ext cx="8084889" cy="903338"/>
            <a:chOff x="144954" y="71442"/>
            <a:chExt cx="8084889" cy="903338"/>
          </a:xfrm>
        </p:grpSpPr>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4954" y="71442"/>
              <a:ext cx="699323" cy="903338"/>
            </a:xfrm>
            <a:prstGeom prst="rect">
              <a:avLst/>
            </a:prstGeom>
          </p:spPr>
        </p:pic>
        <p:pic>
          <p:nvPicPr>
            <p:cNvPr id="5" name="Picture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604681" y="105626"/>
              <a:ext cx="625162" cy="735484"/>
            </a:xfrm>
            <a:prstGeom prst="rect">
              <a:avLst/>
            </a:prstGeom>
            <a:effectLst>
              <a:outerShdw blurRad="50800" dist="38100" dir="2700000" algn="tl" rotWithShape="0">
                <a:prstClr val="black">
                  <a:alpha val="40000"/>
                </a:prstClr>
              </a:outerShdw>
            </a:effectLst>
          </p:spPr>
        </p:pic>
      </p:grpSp>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246878" y="105766"/>
            <a:ext cx="784898" cy="784898"/>
          </a:xfrm>
          <a:prstGeom prst="rect">
            <a:avLst/>
          </a:prstGeom>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5" name="Picture 4" descr="PPTCoverBkgrd1b.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ctrTitle"/>
          </p:nvPr>
        </p:nvSpPr>
        <p:spPr>
          <a:xfrm>
            <a:off x="719984" y="2371726"/>
            <a:ext cx="7772400" cy="1470025"/>
          </a:xfrm>
          <a:prstGeom prst="rect">
            <a:avLst/>
          </a:prstGeom>
        </p:spPr>
        <p:txBody>
          <a:bodyPr/>
          <a:lstStyle>
            <a:lvl1pPr>
              <a:defRPr sz="3200">
                <a:solidFill>
                  <a:schemeClr val="tx1"/>
                </a:solidFill>
                <a:effectLst/>
                <a:latin typeface="Arial" pitchFamily="34" charset="0"/>
                <a:cs typeface="Arial" pitchFamily="34" charset="0"/>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pic>
        <p:nvPicPr>
          <p:cNvPr id="8" name="Picture 7" descr="US ARMY Black and Gold.png"/>
          <p:cNvPicPr>
            <a:picLocks noChangeAspect="1"/>
          </p:cNvPicPr>
          <p:nvPr userDrawn="1"/>
        </p:nvPicPr>
        <p:blipFill>
          <a:blip r:embed="rId3" cstate="print"/>
          <a:stretch>
            <a:fillRect/>
          </a:stretch>
        </p:blipFill>
        <p:spPr>
          <a:xfrm>
            <a:off x="304800" y="717686"/>
            <a:ext cx="801518" cy="1000410"/>
          </a:xfrm>
          <a:prstGeom prst="rect">
            <a:avLst/>
          </a:prstGeom>
        </p:spPr>
      </p:pic>
      <p:pic>
        <p:nvPicPr>
          <p:cNvPr id="7" name="Picture 6" descr="AMC_Logo.png"/>
          <p:cNvPicPr>
            <a:picLocks noChangeAspect="1"/>
          </p:cNvPicPr>
          <p:nvPr userDrawn="1"/>
        </p:nvPicPr>
        <p:blipFill>
          <a:blip r:embed="rId4" cstate="print"/>
          <a:stretch>
            <a:fillRect/>
          </a:stretch>
        </p:blipFill>
        <p:spPr>
          <a:xfrm>
            <a:off x="7304395" y="732607"/>
            <a:ext cx="713442" cy="839838"/>
          </a:xfrm>
          <a:prstGeom prst="rect">
            <a:avLst/>
          </a:prstGeom>
          <a:effectLst>
            <a:outerShdw blurRad="50800" dist="38100" dir="2700000" algn="tl" rotWithShape="0">
              <a:prstClr val="black">
                <a:alpha val="40000"/>
              </a:prstClr>
            </a:outerShdw>
          </a:effectLst>
        </p:spPr>
      </p:pic>
      <p:sp>
        <p:nvSpPr>
          <p:cNvPr id="9" name="Footer Placeholder 16"/>
          <p:cNvSpPr txBox="1">
            <a:spLocks/>
          </p:cNvSpPr>
          <p:nvPr userDrawn="1"/>
        </p:nvSpPr>
        <p:spPr>
          <a:xfrm>
            <a:off x="-17930" y="-3890"/>
            <a:ext cx="9144000" cy="231776"/>
          </a:xfrm>
          <a:prstGeom prst="rect">
            <a:avLst/>
          </a:prstGeom>
        </p:spPr>
        <p:txBody>
          <a:bodyPr/>
          <a:lstStyle/>
          <a:p>
            <a:pPr algn="ctr">
              <a:defRPr/>
            </a:pPr>
            <a:r>
              <a:rPr lang="en-US" sz="1000" b="1" dirty="0" smtClean="0">
                <a:solidFill>
                  <a:srgbClr val="000000"/>
                </a:solidFill>
                <a:latin typeface="Arial" pitchFamily="34" charset="0"/>
                <a:ea typeface="MS PGothic" pitchFamily="34" charset="-128"/>
                <a:cs typeface="Arial" pitchFamily="34" charset="0"/>
              </a:rPr>
              <a:t>UNCLASSIFIED//FOUO</a:t>
            </a:r>
            <a:endParaRPr lang="en-US" sz="1000" b="1" dirty="0">
              <a:solidFill>
                <a:srgbClr val="000000"/>
              </a:solidFill>
              <a:latin typeface="Arial" pitchFamily="34" charset="0"/>
              <a:ea typeface="MS PGothic" pitchFamily="34" charset="-128"/>
              <a:cs typeface="Arial" pitchFamily="34" charset="0"/>
            </a:endParaRPr>
          </a:p>
        </p:txBody>
      </p:sp>
      <p:sp>
        <p:nvSpPr>
          <p:cNvPr id="10" name="Footer Placeholder 16"/>
          <p:cNvSpPr txBox="1">
            <a:spLocks/>
          </p:cNvSpPr>
          <p:nvPr userDrawn="1"/>
        </p:nvSpPr>
        <p:spPr>
          <a:xfrm>
            <a:off x="0" y="6629400"/>
            <a:ext cx="1721687" cy="184151"/>
          </a:xfrm>
          <a:prstGeom prst="rect">
            <a:avLst/>
          </a:prstGeom>
        </p:spPr>
        <p:txBody>
          <a:bodyPr/>
          <a:lstStyle/>
          <a:p>
            <a:pPr algn="l">
              <a:defRPr/>
            </a:pPr>
            <a:r>
              <a:rPr lang="en-US" sz="1000" b="1" dirty="0" smtClean="0">
                <a:solidFill>
                  <a:srgbClr val="000000"/>
                </a:solidFill>
                <a:latin typeface="Arial" pitchFamily="34" charset="0"/>
                <a:ea typeface="MS PGothic" pitchFamily="34" charset="-128"/>
                <a:cs typeface="Arial" pitchFamily="34" charset="0"/>
              </a:rPr>
              <a:t>UNCLASSIFIED//FOUO</a:t>
            </a:r>
            <a:endParaRPr lang="en-US" sz="1000" b="1" dirty="0">
              <a:solidFill>
                <a:srgbClr val="000000"/>
              </a:solidFill>
              <a:latin typeface="Arial" pitchFamily="34" charset="0"/>
              <a:ea typeface="MS PGothic" pitchFamily="34" charset="-128"/>
              <a:cs typeface="Arial" pitchFamily="34" charset="0"/>
            </a:endParaRPr>
          </a:p>
        </p:txBody>
      </p:sp>
      <p:pic>
        <p:nvPicPr>
          <p:cNvPr id="4" name="Picture 3"/>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109888" y="729150"/>
            <a:ext cx="793014" cy="794850"/>
          </a:xfrm>
          <a:prstGeom prst="rect">
            <a:avLst/>
          </a:prstGeom>
        </p:spPr>
      </p:pic>
    </p:spTree>
    <p:extLst>
      <p:ext uri="{BB962C8B-B14F-4D97-AF65-F5344CB8AC3E}">
        <p14:creationId xmlns:p14="http://schemas.microsoft.com/office/powerpoint/2010/main" val="1159183650"/>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Slide Number Placeholder 3"/>
          <p:cNvSpPr>
            <a:spLocks noGrp="1"/>
          </p:cNvSpPr>
          <p:nvPr>
            <p:ph type="sldNum" sz="quarter" idx="12"/>
          </p:nvPr>
        </p:nvSpPr>
        <p:spPr>
          <a:xfrm>
            <a:off x="8494776" y="6462611"/>
            <a:ext cx="612648" cy="365125"/>
          </a:xfrm>
          <a:prstGeom prst="rect">
            <a:avLst/>
          </a:prstGeom>
        </p:spPr>
        <p:txBody>
          <a:bodyPr/>
          <a:lstStyle/>
          <a:p>
            <a:fld id="{89F2C004-2715-FE49-B628-06E74F704CD7}" type="slidenum">
              <a:rPr lang="en-US" smtClean="0">
                <a:solidFill>
                  <a:prstClr val="white"/>
                </a:solidFill>
              </a:rPr>
              <a:pPr/>
              <a:t>‹#›</a:t>
            </a:fld>
            <a:endParaRPr lang="en-US" dirty="0">
              <a:solidFill>
                <a:prstClr val="white"/>
              </a:solidFill>
            </a:endParaRPr>
          </a:p>
        </p:txBody>
      </p:sp>
    </p:spTree>
    <p:extLst>
      <p:ext uri="{BB962C8B-B14F-4D97-AF65-F5344CB8AC3E}">
        <p14:creationId xmlns:p14="http://schemas.microsoft.com/office/powerpoint/2010/main" val="1716754312"/>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3_Two Content">
    <p:spTree>
      <p:nvGrpSpPr>
        <p:cNvPr id="1" name=""/>
        <p:cNvGrpSpPr/>
        <p:nvPr/>
      </p:nvGrpSpPr>
      <p:grpSpPr>
        <a:xfrm>
          <a:off x="0" y="0"/>
          <a:ext cx="0" cy="0"/>
          <a:chOff x="0" y="0"/>
          <a:chExt cx="0" cy="0"/>
        </a:xfrm>
      </p:grpSpPr>
      <p:sp>
        <p:nvSpPr>
          <p:cNvPr id="9" name="Rectangle 8"/>
          <p:cNvSpPr/>
          <p:nvPr userDrawn="1"/>
        </p:nvSpPr>
        <p:spPr>
          <a:xfrm>
            <a:off x="140792" y="988541"/>
            <a:ext cx="8862417" cy="5665574"/>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3" name="Content Placeholder 2"/>
          <p:cNvSpPr>
            <a:spLocks noGrp="1"/>
          </p:cNvSpPr>
          <p:nvPr>
            <p:ph sz="half" idx="1"/>
          </p:nvPr>
        </p:nvSpPr>
        <p:spPr>
          <a:xfrm>
            <a:off x="628650" y="1825625"/>
            <a:ext cx="7886700" cy="4351338"/>
          </a:xfrm>
          <a:prstGeom prst="rect">
            <a:avLst/>
          </a:prstGeom>
        </p:spPr>
        <p:txBody>
          <a:bodyPr/>
          <a:lstStyle>
            <a:lvl1pPr>
              <a:defRPr/>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1" name="Date Placeholder 4"/>
          <p:cNvSpPr>
            <a:spLocks noGrp="1"/>
          </p:cNvSpPr>
          <p:nvPr>
            <p:ph type="dt" sz="half" idx="10"/>
          </p:nvPr>
        </p:nvSpPr>
        <p:spPr>
          <a:xfrm>
            <a:off x="11487" y="6467184"/>
            <a:ext cx="2057400" cy="365125"/>
          </a:xfrm>
          <a:prstGeom prst="rect">
            <a:avLst/>
          </a:prstGeom>
        </p:spPr>
        <p:txBody>
          <a:bodyPr anchor="b"/>
          <a:lstStyle>
            <a:lvl1pPr>
              <a:defRPr sz="1100" b="1">
                <a:latin typeface="Franklin Gothic Book" panose="020B0503020102020204" pitchFamily="34" charset="0"/>
              </a:defRPr>
            </a:lvl1pPr>
          </a:lstStyle>
          <a:p>
            <a:endParaRPr lang="en-US" dirty="0"/>
          </a:p>
        </p:txBody>
      </p:sp>
      <p:sp>
        <p:nvSpPr>
          <p:cNvPr id="12" name="Footer Placeholder 5"/>
          <p:cNvSpPr>
            <a:spLocks noGrp="1"/>
          </p:cNvSpPr>
          <p:nvPr>
            <p:ph type="ftr" sz="quarter" idx="11"/>
          </p:nvPr>
        </p:nvSpPr>
        <p:spPr>
          <a:xfrm>
            <a:off x="3028950" y="6467184"/>
            <a:ext cx="3086100" cy="365125"/>
          </a:xfrm>
          <a:prstGeom prst="rect">
            <a:avLst/>
          </a:prstGeom>
        </p:spPr>
        <p:txBody>
          <a:bodyPr anchor="b"/>
          <a:lstStyle>
            <a:lvl1pPr algn="ctr">
              <a:defRPr sz="1100" b="1">
                <a:latin typeface="Franklin Gothic Book" panose="020B0503020102020204" pitchFamily="34" charset="0"/>
              </a:defRPr>
            </a:lvl1pPr>
          </a:lstStyle>
          <a:p>
            <a:endParaRPr lang="en-US" dirty="0"/>
          </a:p>
        </p:txBody>
      </p:sp>
      <p:sp>
        <p:nvSpPr>
          <p:cNvPr id="14" name="Slide Number Placeholder 6"/>
          <p:cNvSpPr>
            <a:spLocks noGrp="1"/>
          </p:cNvSpPr>
          <p:nvPr>
            <p:ph type="sldNum" sz="quarter" idx="12"/>
          </p:nvPr>
        </p:nvSpPr>
        <p:spPr>
          <a:xfrm>
            <a:off x="7065877" y="6451430"/>
            <a:ext cx="2057400" cy="365125"/>
          </a:xfrm>
          <a:prstGeom prst="rect">
            <a:avLst/>
          </a:prstGeom>
        </p:spPr>
        <p:txBody>
          <a:bodyPr anchor="b"/>
          <a:lstStyle>
            <a:lvl1pPr algn="r">
              <a:defRPr sz="1100" b="1">
                <a:latin typeface="Franklin Gothic Book" panose="020B0503020102020204" pitchFamily="34" charset="0"/>
              </a:defRPr>
            </a:lvl1pPr>
          </a:lstStyle>
          <a:p>
            <a:fld id="{9A10A7E2-7F46-414B-AFCE-C9BEAFC48089}" type="slidenum">
              <a:rPr lang="en-US" smtClean="0"/>
              <a:pPr/>
              <a:t>‹#›</a:t>
            </a:fld>
            <a:endParaRPr lang="en-US" dirty="0"/>
          </a:p>
        </p:txBody>
      </p:sp>
      <p:grpSp>
        <p:nvGrpSpPr>
          <p:cNvPr id="4" name="Group 3"/>
          <p:cNvGrpSpPr/>
          <p:nvPr userDrawn="1"/>
        </p:nvGrpSpPr>
        <p:grpSpPr>
          <a:xfrm>
            <a:off x="0" y="0"/>
            <a:ext cx="9144000" cy="1219200"/>
            <a:chOff x="0" y="0"/>
            <a:chExt cx="9144000" cy="1219200"/>
          </a:xfrm>
        </p:grpSpPr>
        <p:grpSp>
          <p:nvGrpSpPr>
            <p:cNvPr id="2" name="Group 1"/>
            <p:cNvGrpSpPr/>
            <p:nvPr userDrawn="1"/>
          </p:nvGrpSpPr>
          <p:grpSpPr>
            <a:xfrm>
              <a:off x="0" y="0"/>
              <a:ext cx="9144000" cy="1219200"/>
              <a:chOff x="0" y="0"/>
              <a:chExt cx="9144000" cy="1219200"/>
            </a:xfrm>
          </p:grpSpPr>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1219200"/>
              </a:xfrm>
              <a:prstGeom prst="rect">
                <a:avLst/>
              </a:prstGeom>
            </p:spPr>
          </p:pic>
          <p:sp>
            <p:nvSpPr>
              <p:cNvPr id="13" name="TextBox 12"/>
              <p:cNvSpPr txBox="1"/>
              <p:nvPr userDrawn="1"/>
            </p:nvSpPr>
            <p:spPr>
              <a:xfrm>
                <a:off x="4026452" y="17826"/>
                <a:ext cx="1125931" cy="246221"/>
              </a:xfrm>
              <a:prstGeom prst="rect">
                <a:avLst/>
              </a:prstGeom>
              <a:noFill/>
            </p:spPr>
            <p:txBody>
              <a:bodyPr wrap="square" rtlCol="0">
                <a:spAutoFit/>
              </a:bodyPr>
              <a:lstStyle/>
              <a:p>
                <a:pPr algn="ctr"/>
                <a:r>
                  <a:rPr lang="en-US" sz="1000" dirty="0" smtClean="0">
                    <a:solidFill>
                      <a:schemeClr val="bg1"/>
                    </a:solidFill>
                    <a:latin typeface="Franklin Gothic Book" panose="020B0503020102020204" pitchFamily="34" charset="0"/>
                  </a:rPr>
                  <a:t>UNCLASSIFIED</a:t>
                </a:r>
                <a:endParaRPr lang="en-US" sz="1000" dirty="0">
                  <a:solidFill>
                    <a:schemeClr val="bg1"/>
                  </a:solidFill>
                  <a:latin typeface="Franklin Gothic Book" panose="020B0503020102020204" pitchFamily="34" charset="0"/>
                </a:endParaRPr>
              </a:p>
            </p:txBody>
          </p:sp>
        </p:grpSp>
        <p:sp>
          <p:nvSpPr>
            <p:cNvPr id="15" name="Title 1"/>
            <p:cNvSpPr txBox="1">
              <a:spLocks/>
            </p:cNvSpPr>
            <p:nvPr userDrawn="1"/>
          </p:nvSpPr>
          <p:spPr>
            <a:xfrm>
              <a:off x="1591331" y="229373"/>
              <a:ext cx="1881541" cy="52164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a:solidFill>
                    <a:schemeClr val="bg1"/>
                  </a:solidFill>
                  <a:latin typeface="Franklin Gothic Medium Cond" panose="020B0606030402020204" pitchFamily="34" charset="0"/>
                </a:rPr>
                <a:t>U.S. Army Contracting </a:t>
              </a:r>
              <a:r>
                <a:rPr lang="en-US" sz="1100" dirty="0" smtClean="0">
                  <a:solidFill>
                    <a:schemeClr val="bg1"/>
                  </a:solidFill>
                  <a:latin typeface="Franklin Gothic Medium Cond" panose="020B0606030402020204" pitchFamily="34" charset="0"/>
                </a:rPr>
                <a:t>Command </a:t>
              </a:r>
            </a:p>
            <a:p>
              <a:r>
                <a:rPr lang="en-US" sz="1100" dirty="0" smtClean="0">
                  <a:solidFill>
                    <a:schemeClr val="bg1"/>
                  </a:solidFill>
                  <a:latin typeface="Franklin Gothic Medium Cond" panose="020B0606030402020204" pitchFamily="34" charset="0"/>
                </a:rPr>
                <a:t>Aberdeen </a:t>
              </a:r>
              <a:r>
                <a:rPr lang="en-US" sz="1100" dirty="0">
                  <a:solidFill>
                    <a:schemeClr val="bg1"/>
                  </a:solidFill>
                  <a:latin typeface="Franklin Gothic Medium Cond" panose="020B0606030402020204" pitchFamily="34" charset="0"/>
                </a:rPr>
                <a:t>Proving Ground</a:t>
              </a:r>
            </a:p>
          </p:txBody>
        </p:sp>
      </p:grpSp>
    </p:spTree>
    <p:extLst>
      <p:ext uri="{BB962C8B-B14F-4D97-AF65-F5344CB8AC3E}">
        <p14:creationId xmlns:p14="http://schemas.microsoft.com/office/powerpoint/2010/main" val="3726299305"/>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28650" y="1825625"/>
            <a:ext cx="7886700" cy="4351338"/>
          </a:xfrm>
          <a:prstGeom prst="rect">
            <a:avLst/>
          </a:prstGeom>
        </p:spPr>
        <p:txBody>
          <a:bodyPr/>
          <a:lstStyle>
            <a:lvl1pPr>
              <a:defRPr/>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2" name="TextBox 11"/>
          <p:cNvSpPr txBox="1"/>
          <p:nvPr userDrawn="1"/>
        </p:nvSpPr>
        <p:spPr>
          <a:xfrm>
            <a:off x="4026452" y="17826"/>
            <a:ext cx="1125931" cy="246221"/>
          </a:xfrm>
          <a:prstGeom prst="rect">
            <a:avLst/>
          </a:prstGeom>
          <a:noFill/>
        </p:spPr>
        <p:txBody>
          <a:bodyPr wrap="square" rtlCol="0">
            <a:spAutoFit/>
          </a:bodyPr>
          <a:lstStyle/>
          <a:p>
            <a:pPr algn="ctr"/>
            <a:r>
              <a:rPr lang="en-US" sz="1000" dirty="0" smtClean="0">
                <a:solidFill>
                  <a:schemeClr val="bg1"/>
                </a:solidFill>
                <a:latin typeface="Franklin Gothic Book" panose="020B0503020102020204" pitchFamily="34" charset="0"/>
              </a:rPr>
              <a:t>UNCLASSIFIED</a:t>
            </a:r>
            <a:endParaRPr lang="en-US" sz="1000" dirty="0">
              <a:solidFill>
                <a:schemeClr val="bg1"/>
              </a:solidFill>
              <a:latin typeface="Franklin Gothic Book" panose="020B0503020102020204" pitchFamily="34" charset="0"/>
            </a:endParaRPr>
          </a:p>
        </p:txBody>
      </p:sp>
      <p:sp>
        <p:nvSpPr>
          <p:cNvPr id="11" name="Date Placeholder 4"/>
          <p:cNvSpPr>
            <a:spLocks noGrp="1"/>
          </p:cNvSpPr>
          <p:nvPr>
            <p:ph type="dt" sz="half" idx="10"/>
          </p:nvPr>
        </p:nvSpPr>
        <p:spPr>
          <a:xfrm>
            <a:off x="11487" y="6467184"/>
            <a:ext cx="2057400" cy="365125"/>
          </a:xfrm>
          <a:prstGeom prst="rect">
            <a:avLst/>
          </a:prstGeom>
        </p:spPr>
        <p:txBody>
          <a:bodyPr anchor="b"/>
          <a:lstStyle>
            <a:lvl1pPr>
              <a:defRPr sz="1100" b="1">
                <a:latin typeface="Franklin Gothic Book" panose="020B0503020102020204" pitchFamily="34" charset="0"/>
              </a:defRPr>
            </a:lvl1pPr>
          </a:lstStyle>
          <a:p>
            <a:endParaRPr lang="en-US" dirty="0"/>
          </a:p>
        </p:txBody>
      </p:sp>
      <p:sp>
        <p:nvSpPr>
          <p:cNvPr id="13" name="Footer Placeholder 5"/>
          <p:cNvSpPr>
            <a:spLocks noGrp="1"/>
          </p:cNvSpPr>
          <p:nvPr>
            <p:ph type="ftr" sz="quarter" idx="11"/>
          </p:nvPr>
        </p:nvSpPr>
        <p:spPr>
          <a:xfrm>
            <a:off x="3028950" y="6467184"/>
            <a:ext cx="3086100" cy="365125"/>
          </a:xfrm>
          <a:prstGeom prst="rect">
            <a:avLst/>
          </a:prstGeom>
        </p:spPr>
        <p:txBody>
          <a:bodyPr anchor="b"/>
          <a:lstStyle>
            <a:lvl1pPr algn="ctr">
              <a:defRPr sz="1100" b="1">
                <a:latin typeface="Franklin Gothic Book" panose="020B0503020102020204" pitchFamily="34" charset="0"/>
              </a:defRPr>
            </a:lvl1pPr>
          </a:lstStyle>
          <a:p>
            <a:endParaRPr lang="en-US" dirty="0"/>
          </a:p>
        </p:txBody>
      </p:sp>
      <p:sp>
        <p:nvSpPr>
          <p:cNvPr id="14" name="Slide Number Placeholder 6"/>
          <p:cNvSpPr>
            <a:spLocks noGrp="1"/>
          </p:cNvSpPr>
          <p:nvPr>
            <p:ph type="sldNum" sz="quarter" idx="12"/>
          </p:nvPr>
        </p:nvSpPr>
        <p:spPr>
          <a:xfrm>
            <a:off x="7065877" y="6451430"/>
            <a:ext cx="2057400" cy="365125"/>
          </a:xfrm>
          <a:prstGeom prst="rect">
            <a:avLst/>
          </a:prstGeom>
        </p:spPr>
        <p:txBody>
          <a:bodyPr anchor="b"/>
          <a:lstStyle>
            <a:lvl1pPr algn="r">
              <a:defRPr sz="1100" b="1">
                <a:latin typeface="Franklin Gothic Book" panose="020B0503020102020204" pitchFamily="34" charset="0"/>
              </a:defRPr>
            </a:lvl1pPr>
          </a:lstStyle>
          <a:p>
            <a:fld id="{9A10A7E2-7F46-414B-AFCE-C9BEAFC48089}" type="slidenum">
              <a:rPr lang="en-US" smtClean="0"/>
              <a:pPr/>
              <a:t>‹#›</a:t>
            </a:fld>
            <a:endParaRPr lang="en-US" dirty="0"/>
          </a:p>
        </p:txBody>
      </p:sp>
      <p:sp>
        <p:nvSpPr>
          <p:cNvPr id="15" name="Title 1"/>
          <p:cNvSpPr txBox="1">
            <a:spLocks/>
          </p:cNvSpPr>
          <p:nvPr userDrawn="1"/>
        </p:nvSpPr>
        <p:spPr>
          <a:xfrm>
            <a:off x="1628276" y="172563"/>
            <a:ext cx="3008376" cy="52164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400" dirty="0">
                <a:solidFill>
                  <a:prstClr val="white"/>
                </a:solidFill>
                <a:latin typeface="Franklin Gothic Medium Cond" panose="020B0606030402020204" pitchFamily="34" charset="0"/>
              </a:rPr>
              <a:t>U.S. Army Contracting </a:t>
            </a:r>
            <a:r>
              <a:rPr lang="en-US" sz="1400" dirty="0" smtClean="0">
                <a:solidFill>
                  <a:prstClr val="white"/>
                </a:solidFill>
                <a:latin typeface="Franklin Gothic Medium Cond" panose="020B0606030402020204" pitchFamily="34" charset="0"/>
              </a:rPr>
              <a:t>Command </a:t>
            </a:r>
          </a:p>
          <a:p>
            <a:r>
              <a:rPr lang="en-US" sz="1400" dirty="0" smtClean="0">
                <a:solidFill>
                  <a:prstClr val="white"/>
                </a:solidFill>
                <a:latin typeface="Franklin Gothic Medium Cond" panose="020B0606030402020204" pitchFamily="34" charset="0"/>
              </a:rPr>
              <a:t>Aberdeen </a:t>
            </a:r>
            <a:r>
              <a:rPr lang="en-US" sz="1400" dirty="0">
                <a:solidFill>
                  <a:prstClr val="white"/>
                </a:solidFill>
                <a:latin typeface="Franklin Gothic Medium Cond" panose="020B0606030402020204" pitchFamily="34" charset="0"/>
              </a:rPr>
              <a:t>Proving Ground</a:t>
            </a:r>
          </a:p>
        </p:txBody>
      </p:sp>
      <p:grpSp>
        <p:nvGrpSpPr>
          <p:cNvPr id="17" name="Group 16"/>
          <p:cNvGrpSpPr/>
          <p:nvPr userDrawn="1"/>
        </p:nvGrpSpPr>
        <p:grpSpPr>
          <a:xfrm>
            <a:off x="0" y="0"/>
            <a:ext cx="9144000" cy="1219200"/>
            <a:chOff x="0" y="0"/>
            <a:chExt cx="9144000" cy="1219200"/>
          </a:xfrm>
        </p:grpSpPr>
        <p:pic>
          <p:nvPicPr>
            <p:cNvPr id="19" name="Picture 1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1219200"/>
            </a:xfrm>
            <a:prstGeom prst="rect">
              <a:avLst/>
            </a:prstGeom>
          </p:spPr>
        </p:pic>
        <p:sp>
          <p:nvSpPr>
            <p:cNvPr id="20" name="TextBox 19"/>
            <p:cNvSpPr txBox="1"/>
            <p:nvPr userDrawn="1"/>
          </p:nvSpPr>
          <p:spPr>
            <a:xfrm>
              <a:off x="4026452" y="17826"/>
              <a:ext cx="1125931" cy="246221"/>
            </a:xfrm>
            <a:prstGeom prst="rect">
              <a:avLst/>
            </a:prstGeom>
            <a:noFill/>
          </p:spPr>
          <p:txBody>
            <a:bodyPr wrap="square" rtlCol="0">
              <a:spAutoFit/>
            </a:bodyPr>
            <a:lstStyle/>
            <a:p>
              <a:pPr algn="ctr"/>
              <a:r>
                <a:rPr lang="en-US" sz="1000" dirty="0" smtClean="0">
                  <a:solidFill>
                    <a:schemeClr val="bg1"/>
                  </a:solidFill>
                  <a:latin typeface="Franklin Gothic Book" panose="020B0503020102020204" pitchFamily="34" charset="0"/>
                </a:rPr>
                <a:t>UNCLASSIFIED</a:t>
              </a:r>
              <a:endParaRPr lang="en-US" sz="1000" dirty="0">
                <a:solidFill>
                  <a:schemeClr val="bg1"/>
                </a:solidFill>
                <a:latin typeface="Franklin Gothic Book" panose="020B0503020102020204" pitchFamily="34" charset="0"/>
              </a:endParaRPr>
            </a:p>
          </p:txBody>
        </p:sp>
      </p:grpSp>
      <p:sp>
        <p:nvSpPr>
          <p:cNvPr id="21" name="Title 1"/>
          <p:cNvSpPr txBox="1">
            <a:spLocks/>
          </p:cNvSpPr>
          <p:nvPr userDrawn="1"/>
        </p:nvSpPr>
        <p:spPr>
          <a:xfrm>
            <a:off x="1591331" y="229373"/>
            <a:ext cx="1881541" cy="52164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a:solidFill>
                  <a:schemeClr val="bg1"/>
                </a:solidFill>
                <a:latin typeface="Franklin Gothic Medium Cond" panose="020B0606030402020204" pitchFamily="34" charset="0"/>
              </a:rPr>
              <a:t>U.S. Army Contracting </a:t>
            </a:r>
            <a:r>
              <a:rPr lang="en-US" sz="1100" dirty="0" smtClean="0">
                <a:solidFill>
                  <a:schemeClr val="bg1"/>
                </a:solidFill>
                <a:latin typeface="Franklin Gothic Medium Cond" panose="020B0606030402020204" pitchFamily="34" charset="0"/>
              </a:rPr>
              <a:t>Command </a:t>
            </a:r>
          </a:p>
          <a:p>
            <a:r>
              <a:rPr lang="en-US" sz="1100" dirty="0" smtClean="0">
                <a:solidFill>
                  <a:schemeClr val="bg1"/>
                </a:solidFill>
                <a:latin typeface="Franklin Gothic Medium Cond" panose="020B0606030402020204" pitchFamily="34" charset="0"/>
              </a:rPr>
              <a:t>Aberdeen </a:t>
            </a:r>
            <a:r>
              <a:rPr lang="en-US" sz="1100" dirty="0">
                <a:solidFill>
                  <a:schemeClr val="bg1"/>
                </a:solidFill>
                <a:latin typeface="Franklin Gothic Medium Cond" panose="020B0606030402020204" pitchFamily="34" charset="0"/>
              </a:rPr>
              <a:t>Proving Ground</a:t>
            </a:r>
          </a:p>
        </p:txBody>
      </p:sp>
    </p:spTree>
    <p:extLst>
      <p:ext uri="{BB962C8B-B14F-4D97-AF65-F5344CB8AC3E}">
        <p14:creationId xmlns:p14="http://schemas.microsoft.com/office/powerpoint/2010/main" val="3251774892"/>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heme" Target="../theme/theme1.xml"/><Relationship Id="rId7"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Layout" Target="../slideLayouts/slideLayout5.xml"/><Relationship Id="rId7" Type="http://schemas.openxmlformats.org/officeDocument/2006/relationships/image" Target="../media/image5.png"/><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image" Target="../media/image2.jpeg"/><Relationship Id="rId5" Type="http://schemas.openxmlformats.org/officeDocument/2006/relationships/image" Target="../media/image1.jpeg"/><Relationship Id="rId4" Type="http://schemas.openxmlformats.org/officeDocument/2006/relationships/theme" Target="../theme/theme2.xml"/><Relationship Id="rId9" Type="http://schemas.openxmlformats.org/officeDocument/2006/relationships/image" Target="../media/image9.gif"/></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3.xml"/><Relationship Id="rId1" Type="http://schemas.openxmlformats.org/officeDocument/2006/relationships/slideLayout" Target="../slideLayouts/slideLayout6.xml"/><Relationship Id="rId6" Type="http://schemas.openxmlformats.org/officeDocument/2006/relationships/image" Target="../media/image9.gif"/><Relationship Id="rId5" Type="http://schemas.openxmlformats.org/officeDocument/2006/relationships/image" Target="../media/image4.png"/><Relationship Id="rId4" Type="http://schemas.openxmlformats.org/officeDocument/2006/relationships/image" Target="../media/image5.png"/></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8" name="Picture 7" descr="Metal Header.jpg"/>
          <p:cNvPicPr>
            <a:picLocks noChangeAspect="1"/>
          </p:cNvPicPr>
          <p:nvPr userDrawn="1"/>
        </p:nvPicPr>
        <p:blipFill>
          <a:blip r:embed="rId4" cstate="print"/>
          <a:stretch>
            <a:fillRect/>
          </a:stretch>
        </p:blipFill>
        <p:spPr>
          <a:xfrm>
            <a:off x="0" y="6443663"/>
            <a:ext cx="9144000" cy="414337"/>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pic>
      <p:pic>
        <p:nvPicPr>
          <p:cNvPr id="9" name="Picture 8" descr="Metal Header.jpg"/>
          <p:cNvPicPr>
            <a:picLocks noChangeAspect="1"/>
          </p:cNvPicPr>
          <p:nvPr userDrawn="1"/>
        </p:nvPicPr>
        <p:blipFill>
          <a:blip r:embed="rId5" cstate="print"/>
          <a:stretch>
            <a:fillRect/>
          </a:stretch>
        </p:blipFill>
        <p:spPr>
          <a:xfrm>
            <a:off x="0" y="159182"/>
            <a:ext cx="9144000" cy="53657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pic>
      <p:sp>
        <p:nvSpPr>
          <p:cNvPr id="10" name="Footer Placeholder 16"/>
          <p:cNvSpPr txBox="1">
            <a:spLocks/>
          </p:cNvSpPr>
          <p:nvPr userDrawn="1"/>
        </p:nvSpPr>
        <p:spPr>
          <a:xfrm>
            <a:off x="-17930" y="-29528"/>
            <a:ext cx="9144000" cy="231776"/>
          </a:xfrm>
          <a:prstGeom prst="rect">
            <a:avLst/>
          </a:prstGeom>
        </p:spPr>
        <p:txBody>
          <a:bodyPr/>
          <a:lstStyle/>
          <a:p>
            <a:pPr algn="ctr">
              <a:defRPr/>
            </a:pPr>
            <a:r>
              <a:rPr lang="en-US" sz="1000" b="1" dirty="0" smtClean="0">
                <a:solidFill>
                  <a:srgbClr val="000000"/>
                </a:solidFill>
                <a:latin typeface="Arial" pitchFamily="34" charset="0"/>
                <a:ea typeface="MS PGothic" pitchFamily="34" charset="-128"/>
                <a:cs typeface="Arial" pitchFamily="34" charset="0"/>
              </a:rPr>
              <a:t>UNCLASSIFIED//FOUO</a:t>
            </a:r>
            <a:endParaRPr lang="en-US" sz="1000" b="1" dirty="0">
              <a:solidFill>
                <a:srgbClr val="000000"/>
              </a:solidFill>
              <a:latin typeface="Arial" pitchFamily="34" charset="0"/>
              <a:ea typeface="MS PGothic" pitchFamily="34" charset="-128"/>
              <a:cs typeface="Arial" pitchFamily="34" charset="0"/>
            </a:endParaRPr>
          </a:p>
        </p:txBody>
      </p:sp>
      <p:sp>
        <p:nvSpPr>
          <p:cNvPr id="11" name="Footer Placeholder 16"/>
          <p:cNvSpPr txBox="1">
            <a:spLocks/>
          </p:cNvSpPr>
          <p:nvPr userDrawn="1"/>
        </p:nvSpPr>
        <p:spPr>
          <a:xfrm>
            <a:off x="39624" y="6620256"/>
            <a:ext cx="1752600" cy="228600"/>
          </a:xfrm>
          <a:prstGeom prst="rect">
            <a:avLst/>
          </a:prstGeom>
        </p:spPr>
        <p:txBody>
          <a:bodyPr/>
          <a:lstStyle/>
          <a:p>
            <a:pPr algn="l">
              <a:defRPr/>
            </a:pPr>
            <a:r>
              <a:rPr lang="en-US" sz="1000" b="1" dirty="0" smtClean="0">
                <a:solidFill>
                  <a:prstClr val="white"/>
                </a:solidFill>
                <a:latin typeface="Arial" pitchFamily="34" charset="0"/>
                <a:ea typeface="MS PGothic" pitchFamily="34" charset="-128"/>
                <a:cs typeface="Arial" pitchFamily="34" charset="0"/>
              </a:rPr>
              <a:t>UNCLASSIFIED//FOUO</a:t>
            </a:r>
            <a:endParaRPr lang="en-US" sz="1000" b="1" dirty="0">
              <a:solidFill>
                <a:prstClr val="white"/>
              </a:solidFill>
              <a:latin typeface="Arial" pitchFamily="34" charset="0"/>
              <a:ea typeface="MS PGothic" pitchFamily="34" charset="-128"/>
              <a:cs typeface="Arial" pitchFamily="34" charset="0"/>
            </a:endParaRPr>
          </a:p>
        </p:txBody>
      </p:sp>
      <p:pic>
        <p:nvPicPr>
          <p:cNvPr id="21" name="Picture 20"/>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246878" y="105766"/>
            <a:ext cx="784898" cy="784898"/>
          </a:xfrm>
          <a:prstGeom prst="rect">
            <a:avLst/>
          </a:prstGeom>
        </p:spPr>
      </p:pic>
      <p:pic>
        <p:nvPicPr>
          <p:cNvPr id="22" name="Picture 21"/>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7604681" y="113614"/>
            <a:ext cx="625162" cy="735484"/>
          </a:xfrm>
          <a:prstGeom prst="rect">
            <a:avLst/>
          </a:prstGeom>
          <a:effectLst>
            <a:outerShdw blurRad="50800" dist="38100" dir="2700000" algn="tl" rotWithShape="0">
              <a:prstClr val="black">
                <a:alpha val="40000"/>
              </a:prstClr>
            </a:outerShdw>
          </a:effectLst>
        </p:spPr>
      </p:pic>
      <p:pic>
        <p:nvPicPr>
          <p:cNvPr id="23" name="Picture 22"/>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44954" y="79430"/>
            <a:ext cx="699323" cy="903338"/>
          </a:xfrm>
          <a:prstGeom prst="rect">
            <a:avLst/>
          </a:prstGeom>
        </p:spPr>
      </p:pic>
    </p:spTree>
  </p:cSld>
  <p:clrMap bg1="lt1" tx1="dk1" bg2="lt2" tx2="dk2" accent1="accent1" accent2="accent2" accent3="accent3" accent4="accent4" accent5="accent5" accent6="accent6" hlink="hlink" folHlink="folHlink"/>
  <p:sldLayoutIdLst>
    <p:sldLayoutId id="2147483710" r:id="rId1"/>
    <p:sldLayoutId id="2147483713" r:id="rId2"/>
  </p:sldLayoutIdLst>
  <p:timing>
    <p:tnLst>
      <p:par>
        <p:cTn id="1" dur="indefinite" restart="never" nodeType="tmRoot"/>
      </p:par>
    </p:tnLst>
  </p:timing>
  <p:hf hdr="0" ftr="0" dt="0"/>
  <p:txStyles>
    <p:titleStyle>
      <a:lvl1pPr algn="ctr" defTabSz="914400" rtl="0" eaLnBrk="1" latinLnBrk="0" hangingPunct="1">
        <a:spcBef>
          <a:spcPct val="0"/>
        </a:spcBef>
        <a:buNone/>
        <a:defRPr sz="2800" b="1" kern="1200" baseline="0">
          <a:solidFill>
            <a:schemeClr val="bg1"/>
          </a:solidFill>
          <a:latin typeface="Comic Sans MS" pitchFamily="66" charset="0"/>
          <a:ea typeface="+mj-ea"/>
          <a:cs typeface="+mj-cs"/>
        </a:defRPr>
      </a:lvl1pPr>
    </p:titleStyle>
    <p:bodyStyle>
      <a:lvl1pPr marL="342900" indent="-342900" algn="l" defTabSz="914400" rtl="0" eaLnBrk="1" latinLnBrk="0" hangingPunct="1">
        <a:spcBef>
          <a:spcPct val="20000"/>
        </a:spcBef>
        <a:buFontTx/>
        <a:buNone/>
        <a:defRPr sz="2000" kern="1200">
          <a:solidFill>
            <a:schemeClr val="tx1"/>
          </a:solidFill>
          <a:latin typeface="Comic Sans MS" pitchFamily="66" charset="0"/>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8" name="Picture 7" descr="Metal Header.jpg"/>
          <p:cNvPicPr>
            <a:picLocks noChangeAspect="1"/>
          </p:cNvPicPr>
          <p:nvPr userDrawn="1"/>
        </p:nvPicPr>
        <p:blipFill>
          <a:blip r:embed="rId5" cstate="print"/>
          <a:stretch>
            <a:fillRect/>
          </a:stretch>
        </p:blipFill>
        <p:spPr>
          <a:xfrm>
            <a:off x="0" y="6443663"/>
            <a:ext cx="9144000" cy="414337"/>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pic>
      <p:pic>
        <p:nvPicPr>
          <p:cNvPr id="9" name="Picture 8" descr="Metal Header.jpg"/>
          <p:cNvPicPr>
            <a:picLocks noChangeAspect="1"/>
          </p:cNvPicPr>
          <p:nvPr userDrawn="1"/>
        </p:nvPicPr>
        <p:blipFill>
          <a:blip r:embed="rId6" cstate="print"/>
          <a:stretch>
            <a:fillRect/>
          </a:stretch>
        </p:blipFill>
        <p:spPr>
          <a:xfrm>
            <a:off x="0" y="159182"/>
            <a:ext cx="9144000" cy="53657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pic>
      <p:sp>
        <p:nvSpPr>
          <p:cNvPr id="10" name="Footer Placeholder 16"/>
          <p:cNvSpPr txBox="1">
            <a:spLocks/>
          </p:cNvSpPr>
          <p:nvPr userDrawn="1"/>
        </p:nvSpPr>
        <p:spPr>
          <a:xfrm>
            <a:off x="-17930" y="-29528"/>
            <a:ext cx="9144000" cy="231776"/>
          </a:xfrm>
          <a:prstGeom prst="rect">
            <a:avLst/>
          </a:prstGeom>
        </p:spPr>
        <p:txBody>
          <a:bodyPr/>
          <a:lstStyle/>
          <a:p>
            <a:pPr algn="ctr">
              <a:defRPr/>
            </a:pPr>
            <a:r>
              <a:rPr lang="en-US" sz="1000" b="1" dirty="0" smtClean="0">
                <a:solidFill>
                  <a:srgbClr val="000000"/>
                </a:solidFill>
                <a:latin typeface="Arial" pitchFamily="34" charset="0"/>
                <a:ea typeface="MS PGothic" pitchFamily="34" charset="-128"/>
                <a:cs typeface="Arial" pitchFamily="34" charset="0"/>
              </a:rPr>
              <a:t>UNCLASSIFIED//FOUO</a:t>
            </a:r>
            <a:endParaRPr lang="en-US" sz="1000" b="1" dirty="0">
              <a:solidFill>
                <a:srgbClr val="000000"/>
              </a:solidFill>
              <a:latin typeface="Arial" pitchFamily="34" charset="0"/>
              <a:ea typeface="MS PGothic" pitchFamily="34" charset="-128"/>
              <a:cs typeface="Arial" pitchFamily="34" charset="0"/>
            </a:endParaRPr>
          </a:p>
        </p:txBody>
      </p:sp>
      <p:sp>
        <p:nvSpPr>
          <p:cNvPr id="11" name="Footer Placeholder 16"/>
          <p:cNvSpPr txBox="1">
            <a:spLocks/>
          </p:cNvSpPr>
          <p:nvPr userDrawn="1"/>
        </p:nvSpPr>
        <p:spPr>
          <a:xfrm>
            <a:off x="39624" y="6620256"/>
            <a:ext cx="1752600" cy="228600"/>
          </a:xfrm>
          <a:prstGeom prst="rect">
            <a:avLst/>
          </a:prstGeom>
        </p:spPr>
        <p:txBody>
          <a:bodyPr/>
          <a:lstStyle/>
          <a:p>
            <a:pPr algn="l">
              <a:defRPr/>
            </a:pPr>
            <a:r>
              <a:rPr lang="en-US" sz="1000" b="1" dirty="0" smtClean="0">
                <a:solidFill>
                  <a:prstClr val="white"/>
                </a:solidFill>
                <a:latin typeface="Arial" pitchFamily="34" charset="0"/>
                <a:ea typeface="MS PGothic" pitchFamily="34" charset="-128"/>
                <a:cs typeface="Arial" pitchFamily="34" charset="0"/>
              </a:rPr>
              <a:t>UNCLASSIFIED//FOUO</a:t>
            </a:r>
            <a:endParaRPr lang="en-US" sz="1000" b="1" dirty="0">
              <a:solidFill>
                <a:prstClr val="white"/>
              </a:solidFill>
              <a:latin typeface="Arial" pitchFamily="34" charset="0"/>
              <a:ea typeface="MS PGothic" pitchFamily="34" charset="-128"/>
              <a:cs typeface="Arial" pitchFamily="34" charset="0"/>
            </a:endParaRPr>
          </a:p>
        </p:txBody>
      </p:sp>
      <p:grpSp>
        <p:nvGrpSpPr>
          <p:cNvPr id="12" name="Group 11"/>
          <p:cNvGrpSpPr/>
          <p:nvPr userDrawn="1"/>
        </p:nvGrpSpPr>
        <p:grpSpPr>
          <a:xfrm>
            <a:off x="144954" y="79430"/>
            <a:ext cx="8084889" cy="903338"/>
            <a:chOff x="144954" y="71442"/>
            <a:chExt cx="8084889" cy="903338"/>
          </a:xfrm>
        </p:grpSpPr>
        <p:pic>
          <p:nvPicPr>
            <p:cNvPr id="13" name="Picture 12"/>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44954" y="71442"/>
              <a:ext cx="699323" cy="903338"/>
            </a:xfrm>
            <a:prstGeom prst="rect">
              <a:avLst/>
            </a:prstGeom>
          </p:spPr>
        </p:pic>
        <p:pic>
          <p:nvPicPr>
            <p:cNvPr id="16" name="Picture 15"/>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7604681" y="105626"/>
              <a:ext cx="625162" cy="735484"/>
            </a:xfrm>
            <a:prstGeom prst="rect">
              <a:avLst/>
            </a:prstGeom>
            <a:effectLst>
              <a:outerShdw blurRad="50800" dist="38100" dir="2700000" algn="tl" rotWithShape="0">
                <a:prstClr val="black">
                  <a:alpha val="40000"/>
                </a:prstClr>
              </a:outerShdw>
            </a:effectLst>
          </p:spPr>
        </p:pic>
      </p:grpSp>
      <p:pic>
        <p:nvPicPr>
          <p:cNvPr id="2" name="Picture 1"/>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8284187" y="112981"/>
            <a:ext cx="723544" cy="725219"/>
          </a:xfrm>
          <a:prstGeom prst="rect">
            <a:avLst/>
          </a:prstGeom>
        </p:spPr>
      </p:pic>
    </p:spTree>
    <p:extLst>
      <p:ext uri="{BB962C8B-B14F-4D97-AF65-F5344CB8AC3E}">
        <p14:creationId xmlns:p14="http://schemas.microsoft.com/office/powerpoint/2010/main" val="1313682540"/>
      </p:ext>
    </p:extLst>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Lst>
  <p:timing>
    <p:tnLst>
      <p:par>
        <p:cTn id="1" dur="indefinite" restart="never" nodeType="tmRoot"/>
      </p:par>
    </p:tnLst>
  </p:timing>
  <p:hf hdr="0" ftr="0" dt="0"/>
  <p:txStyles>
    <p:titleStyle>
      <a:lvl1pPr algn="ctr" defTabSz="914400" rtl="0" eaLnBrk="1" latinLnBrk="0" hangingPunct="1">
        <a:spcBef>
          <a:spcPct val="0"/>
        </a:spcBef>
        <a:buNone/>
        <a:defRPr sz="2800" b="1" kern="1200" baseline="0">
          <a:solidFill>
            <a:schemeClr val="bg1"/>
          </a:solidFill>
          <a:latin typeface="Comic Sans MS" pitchFamily="66" charset="0"/>
          <a:ea typeface="+mj-ea"/>
          <a:cs typeface="+mj-cs"/>
        </a:defRPr>
      </a:lvl1pPr>
    </p:titleStyle>
    <p:bodyStyle>
      <a:lvl1pPr marL="342900" indent="-342900" algn="l" defTabSz="914400" rtl="0" eaLnBrk="1" latinLnBrk="0" hangingPunct="1">
        <a:spcBef>
          <a:spcPct val="20000"/>
        </a:spcBef>
        <a:buFontTx/>
        <a:buNone/>
        <a:defRPr sz="2000" kern="1200">
          <a:solidFill>
            <a:schemeClr val="tx1"/>
          </a:solidFill>
          <a:latin typeface="Comic Sans MS" pitchFamily="66" charset="0"/>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9" name="Rectangle 18"/>
          <p:cNvSpPr/>
          <p:nvPr userDrawn="1"/>
        </p:nvSpPr>
        <p:spPr>
          <a:xfrm>
            <a:off x="27334" y="6611779"/>
            <a:ext cx="1572866" cy="246221"/>
          </a:xfrm>
          <a:prstGeom prst="rect">
            <a:avLst/>
          </a:prstGeom>
        </p:spPr>
        <p:txBody>
          <a:bodyPr wrap="none">
            <a:spAutoFit/>
          </a:bodyPr>
          <a:lstStyle/>
          <a:p>
            <a:pPr>
              <a:defRPr/>
            </a:pPr>
            <a:r>
              <a:rPr lang="en-US" sz="1000" b="1" dirty="0" smtClean="0">
                <a:solidFill>
                  <a:srgbClr val="000000"/>
                </a:solidFill>
                <a:latin typeface="Arial" pitchFamily="34" charset="0"/>
                <a:ea typeface="MS PGothic" pitchFamily="34" charset="-128"/>
                <a:cs typeface="Arial" pitchFamily="34" charset="0"/>
              </a:rPr>
              <a:t>UNCLASSIFIED//FOUO</a:t>
            </a:r>
            <a:endParaRPr lang="en-US" sz="1000" b="1" dirty="0">
              <a:solidFill>
                <a:srgbClr val="000000"/>
              </a:solidFill>
              <a:latin typeface="Arial" pitchFamily="34" charset="0"/>
              <a:ea typeface="MS PGothic" pitchFamily="34" charset="-128"/>
              <a:cs typeface="Arial" pitchFamily="34" charset="0"/>
            </a:endParaRPr>
          </a:p>
        </p:txBody>
      </p:sp>
      <p:pic>
        <p:nvPicPr>
          <p:cNvPr id="20" name="Picture 19" descr="Metal Header.jpg"/>
          <p:cNvPicPr>
            <a:picLocks noChangeAspect="1"/>
          </p:cNvPicPr>
          <p:nvPr userDrawn="1"/>
        </p:nvPicPr>
        <p:blipFill>
          <a:blip r:embed="rId3" cstate="print"/>
          <a:stretch>
            <a:fillRect/>
          </a:stretch>
        </p:blipFill>
        <p:spPr>
          <a:xfrm>
            <a:off x="0" y="159182"/>
            <a:ext cx="9144000" cy="53657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pic>
      <p:sp>
        <p:nvSpPr>
          <p:cNvPr id="21" name="Footer Placeholder 16"/>
          <p:cNvSpPr txBox="1">
            <a:spLocks/>
          </p:cNvSpPr>
          <p:nvPr userDrawn="1"/>
        </p:nvSpPr>
        <p:spPr>
          <a:xfrm>
            <a:off x="-17930" y="-29528"/>
            <a:ext cx="9144000" cy="231776"/>
          </a:xfrm>
          <a:prstGeom prst="rect">
            <a:avLst/>
          </a:prstGeom>
        </p:spPr>
        <p:txBody>
          <a:bodyPr/>
          <a:lstStyle/>
          <a:p>
            <a:pPr algn="ctr">
              <a:defRPr/>
            </a:pPr>
            <a:r>
              <a:rPr lang="en-US" sz="1000" b="1" dirty="0" smtClean="0">
                <a:solidFill>
                  <a:srgbClr val="000000"/>
                </a:solidFill>
                <a:latin typeface="Arial" pitchFamily="34" charset="0"/>
                <a:ea typeface="MS PGothic" pitchFamily="34" charset="-128"/>
                <a:cs typeface="Arial" pitchFamily="34" charset="0"/>
              </a:rPr>
              <a:t>UNCLASSIFIED//FOUO</a:t>
            </a:r>
            <a:endParaRPr lang="en-US" sz="1000" b="1" dirty="0">
              <a:solidFill>
                <a:srgbClr val="000000"/>
              </a:solidFill>
              <a:latin typeface="Arial" pitchFamily="34" charset="0"/>
              <a:ea typeface="MS PGothic" pitchFamily="34" charset="-128"/>
              <a:cs typeface="Arial" pitchFamily="34" charset="0"/>
            </a:endParaRPr>
          </a:p>
        </p:txBody>
      </p:sp>
      <p:grpSp>
        <p:nvGrpSpPr>
          <p:cNvPr id="8" name="Group 7"/>
          <p:cNvGrpSpPr/>
          <p:nvPr userDrawn="1"/>
        </p:nvGrpSpPr>
        <p:grpSpPr>
          <a:xfrm>
            <a:off x="144954" y="79430"/>
            <a:ext cx="8084889" cy="903338"/>
            <a:chOff x="144954" y="71442"/>
            <a:chExt cx="8084889" cy="903338"/>
          </a:xfrm>
        </p:grpSpPr>
        <p:pic>
          <p:nvPicPr>
            <p:cNvPr id="9" name="Picture 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44954" y="71442"/>
              <a:ext cx="699323" cy="903338"/>
            </a:xfrm>
            <a:prstGeom prst="rect">
              <a:avLst/>
            </a:prstGeom>
          </p:spPr>
        </p:pic>
        <p:pic>
          <p:nvPicPr>
            <p:cNvPr id="10" name="Picture 9"/>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7604681" y="105626"/>
              <a:ext cx="625162" cy="735484"/>
            </a:xfrm>
            <a:prstGeom prst="rect">
              <a:avLst/>
            </a:prstGeom>
            <a:effectLst>
              <a:outerShdw blurRad="50800" dist="38100" dir="2700000" algn="tl" rotWithShape="0">
                <a:prstClr val="black">
                  <a:alpha val="40000"/>
                </a:prstClr>
              </a:outerShdw>
            </a:effectLst>
          </p:spPr>
        </p:pic>
      </p:grpSp>
      <p:pic>
        <p:nvPicPr>
          <p:cNvPr id="2" name="Picture 1"/>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305800" y="113614"/>
            <a:ext cx="685800" cy="687388"/>
          </a:xfrm>
          <a:prstGeom prst="rect">
            <a:avLst/>
          </a:prstGeom>
        </p:spPr>
      </p:pic>
    </p:spTree>
  </p:cSld>
  <p:clrMap bg1="lt1" tx1="dk1" bg2="lt2" tx2="dk2" accent1="accent1" accent2="accent2" accent3="accent3" accent4="accent4" accent5="accent5" accent6="accent6" hlink="hlink" folHlink="folHlink"/>
  <p:sldLayoutIdLst>
    <p:sldLayoutId id="2147483728" r:id="rId1"/>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8" name="Footer Placeholder 16"/>
          <p:cNvSpPr txBox="1">
            <a:spLocks/>
          </p:cNvSpPr>
          <p:nvPr userDrawn="1"/>
        </p:nvSpPr>
        <p:spPr>
          <a:xfrm>
            <a:off x="-1" y="0"/>
            <a:ext cx="9144000" cy="231776"/>
          </a:xfrm>
          <a:prstGeom prst="rect">
            <a:avLst/>
          </a:prstGeom>
        </p:spPr>
        <p:txBody>
          <a:bodyPr/>
          <a:lstStyle/>
          <a:p>
            <a:pPr algn="ctr">
              <a:defRPr/>
            </a:pPr>
            <a:r>
              <a:rPr lang="en-US" sz="1000" b="1" dirty="0" smtClean="0">
                <a:solidFill>
                  <a:schemeClr val="bg1"/>
                </a:solidFill>
                <a:latin typeface="Arial" pitchFamily="34" charset="0"/>
                <a:ea typeface="MS PGothic" pitchFamily="34" charset="-128"/>
                <a:cs typeface="Arial" pitchFamily="34" charset="0"/>
              </a:rPr>
              <a:t>UNCLASSIFIED//FOUO</a:t>
            </a:r>
            <a:endParaRPr lang="en-US" sz="1000" b="1" dirty="0">
              <a:solidFill>
                <a:schemeClr val="bg1"/>
              </a:solidFill>
              <a:latin typeface="Arial" pitchFamily="34" charset="0"/>
              <a:ea typeface="MS PGothic" pitchFamily="34" charset="-128"/>
              <a:cs typeface="Arial" pitchFamily="34" charset="0"/>
            </a:endParaRPr>
          </a:p>
        </p:txBody>
      </p:sp>
      <p:sp>
        <p:nvSpPr>
          <p:cNvPr id="19" name="Rectangle 18"/>
          <p:cNvSpPr/>
          <p:nvPr userDrawn="1"/>
        </p:nvSpPr>
        <p:spPr>
          <a:xfrm>
            <a:off x="76200" y="6611779"/>
            <a:ext cx="1572866" cy="246221"/>
          </a:xfrm>
          <a:prstGeom prst="rect">
            <a:avLst/>
          </a:prstGeom>
        </p:spPr>
        <p:txBody>
          <a:bodyPr wrap="none">
            <a:spAutoFit/>
          </a:bodyPr>
          <a:lstStyle/>
          <a:p>
            <a:pPr>
              <a:defRPr/>
            </a:pPr>
            <a:r>
              <a:rPr lang="en-US" sz="1000" b="1" dirty="0" smtClean="0">
                <a:solidFill>
                  <a:schemeClr val="bg1"/>
                </a:solidFill>
                <a:latin typeface="Arial" pitchFamily="34" charset="0"/>
                <a:ea typeface="MS PGothic" pitchFamily="34" charset="-128"/>
                <a:cs typeface="Arial" pitchFamily="34" charset="0"/>
              </a:rPr>
              <a:t>UNCLASSIFIED//FOUO</a:t>
            </a:r>
            <a:endParaRPr lang="en-US" sz="1000" b="1" dirty="0">
              <a:solidFill>
                <a:schemeClr val="bg1"/>
              </a:solidFill>
              <a:latin typeface="Arial" pitchFamily="34" charset="0"/>
              <a:ea typeface="MS PGothic" pitchFamily="34" charset="-128"/>
              <a:cs typeface="Arial" pitchFamily="34" charset="0"/>
            </a:endParaRPr>
          </a:p>
        </p:txBody>
      </p:sp>
    </p:spTree>
  </p:cSld>
  <p:clrMap bg1="lt1" tx1="dk1" bg2="lt2" tx2="dk2" accent1="accent1" accent2="accent2" accent3="accent3" accent4="accent4" accent5="accent5" accent6="accent6" hlink="hlink" folHlink="folHlink"/>
  <p:sldLayoutIdLst>
    <p:sldLayoutId id="2147483729" r:id="rId1"/>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hyperlink" Target="mailto:erin.k.weber.civ@mail.mil" TargetMode="Externa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hyperlink" Target="mailto:Sabrinna.r.cosom.civ@mail.mil" TargetMode="Externa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hyperlink" Target="mailto:alexander.s.Obriwin.civ@mail.mil" TargetMode="Externa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hyperlink" Target="mailto:Sabrinna.r.cosom.civ@mail.mil" TargetMode="Externa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hyperlink" Target="mailto:Sabrinna.r.cosom.civ@mail.mil" TargetMode="Externa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hyperlink" Target="mailto:Sabrinna.r.cosom.civ@mail.mil" TargetMode="Externa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hyperlink" Target="mailto:alexander.s.obriwin.civ@mail.mil" TargetMode="Externa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hyperlink" Target="mailto:lisa.j.Yamakawa.civ@mail.mil" TargetMode="Externa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hyperlink" Target="mailto:lisa.j.Yamakawa.civ@mail.mil" TargetMode="Externa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hyperlink" Target="mailto:David.k.hart.civ@mail.mil" TargetMode="Externa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6271828"/>
            <a:ext cx="1752600" cy="369332"/>
          </a:xfrm>
          <a:prstGeom prst="rect">
            <a:avLst/>
          </a:prstGeom>
          <a:noFill/>
        </p:spPr>
        <p:txBody>
          <a:bodyPr wrap="square" rtlCol="0">
            <a:spAutoFit/>
          </a:bodyPr>
          <a:lstStyle/>
          <a:p>
            <a:r>
              <a:rPr lang="en-US" sz="900" dirty="0" smtClean="0">
                <a:latin typeface="Arial" pitchFamily="34" charset="0"/>
                <a:cs typeface="Arial" pitchFamily="34" charset="0"/>
              </a:rPr>
              <a:t>Version Number 1</a:t>
            </a:r>
          </a:p>
          <a:p>
            <a:r>
              <a:rPr lang="en-US" sz="900" dirty="0" smtClean="0">
                <a:latin typeface="Arial" pitchFamily="34" charset="0"/>
                <a:cs typeface="Arial" pitchFamily="34" charset="0"/>
              </a:rPr>
              <a:t>As of Date: 2 April 2018</a:t>
            </a:r>
            <a:endParaRPr lang="en-US" sz="900" dirty="0">
              <a:latin typeface="Arial" pitchFamily="34" charset="0"/>
              <a:cs typeface="Arial" pitchFamily="34" charset="0"/>
            </a:endParaRPr>
          </a:p>
        </p:txBody>
      </p:sp>
      <p:sp>
        <p:nvSpPr>
          <p:cNvPr id="7" name="TextBox 6"/>
          <p:cNvSpPr txBox="1"/>
          <p:nvPr/>
        </p:nvSpPr>
        <p:spPr>
          <a:xfrm>
            <a:off x="-76200" y="3520953"/>
            <a:ext cx="9144000" cy="646331"/>
          </a:xfrm>
          <a:prstGeom prst="rect">
            <a:avLst/>
          </a:prstGeom>
          <a:noFill/>
        </p:spPr>
        <p:txBody>
          <a:bodyPr wrap="square" rtlCol="0">
            <a:spAutoFit/>
          </a:bodyPr>
          <a:lstStyle/>
          <a:p>
            <a:pPr algn="ctr"/>
            <a:r>
              <a:rPr lang="en-US" sz="3600" b="1" dirty="0" smtClean="0">
                <a:solidFill>
                  <a:srgbClr val="0000FF"/>
                </a:solidFill>
                <a:latin typeface="Arial" pitchFamily="34" charset="0"/>
                <a:cs typeface="Arial" pitchFamily="34" charset="0"/>
              </a:rPr>
              <a:t>ACC-APG Division D</a:t>
            </a:r>
            <a:endParaRPr lang="en-US" sz="3600" b="1" dirty="0">
              <a:solidFill>
                <a:srgbClr val="0000FF"/>
              </a:solidFill>
              <a:latin typeface="Arial" pitchFamily="34" charset="0"/>
              <a:cs typeface="Arial" pitchFamily="34" charset="0"/>
            </a:endParaRPr>
          </a:p>
        </p:txBody>
      </p:sp>
      <p:sp>
        <p:nvSpPr>
          <p:cNvPr id="11" name="Subtitle 8"/>
          <p:cNvSpPr>
            <a:spLocks noGrp="1"/>
          </p:cNvSpPr>
          <p:nvPr>
            <p:ph type="subTitle" idx="1"/>
          </p:nvPr>
        </p:nvSpPr>
        <p:spPr>
          <a:xfrm>
            <a:off x="17705" y="2197027"/>
            <a:ext cx="9126070" cy="876300"/>
          </a:xfrm>
        </p:spPr>
        <p:txBody>
          <a:bodyPr>
            <a:noAutofit/>
          </a:bodyPr>
          <a:lstStyle/>
          <a:p>
            <a:r>
              <a:rPr lang="en-US" sz="3200" b="1" dirty="0" smtClean="0"/>
              <a:t>ACC-APG </a:t>
            </a:r>
            <a:r>
              <a:rPr lang="en-US" sz="3200" b="1" dirty="0"/>
              <a:t>Competitive </a:t>
            </a:r>
            <a:r>
              <a:rPr lang="en-US" sz="3200" b="1" dirty="0" smtClean="0"/>
              <a:t>Industry </a:t>
            </a:r>
            <a:r>
              <a:rPr lang="en-US" sz="3200" b="1" dirty="0"/>
              <a:t>Updates</a:t>
            </a:r>
            <a:endParaRPr lang="en-US" sz="3200" b="1" dirty="0">
              <a:solidFill>
                <a:schemeClr val="tx1"/>
              </a:solidFill>
              <a:latin typeface="Arial" pitchFamily="34" charset="0"/>
              <a:cs typeface="Arial" pitchFamily="34" charset="0"/>
            </a:endParaRPr>
          </a:p>
        </p:txBody>
      </p:sp>
      <p:sp>
        <p:nvSpPr>
          <p:cNvPr id="12" name="TextBox 11"/>
          <p:cNvSpPr txBox="1"/>
          <p:nvPr/>
        </p:nvSpPr>
        <p:spPr>
          <a:xfrm>
            <a:off x="1524000" y="286158"/>
            <a:ext cx="5943600" cy="338554"/>
          </a:xfrm>
          <a:prstGeom prst="rect">
            <a:avLst/>
          </a:prstGeom>
          <a:noFill/>
          <a:effectLst/>
        </p:spPr>
        <p:txBody>
          <a:bodyPr wrap="square" rtlCol="0">
            <a:spAutoFit/>
          </a:bodyPr>
          <a:lstStyle/>
          <a:p>
            <a:pPr algn="ctr"/>
            <a:r>
              <a:rPr lang="en-US" sz="1600" b="1" i="1" dirty="0" smtClean="0">
                <a:solidFill>
                  <a:prstClr val="black"/>
                </a:solidFill>
                <a:latin typeface="Arial" pitchFamily="34" charset="0"/>
                <a:cs typeface="Arial" pitchFamily="34" charset="0"/>
              </a:rPr>
              <a:t>Army Contracting Command – Aberdeen Proving Ground</a:t>
            </a:r>
            <a:endParaRPr lang="en-US" sz="1600" b="1" i="1" dirty="0">
              <a:solidFill>
                <a:prstClr val="black"/>
              </a:solidFill>
              <a:latin typeface="Arial" pitchFamily="34" charset="0"/>
              <a:cs typeface="Arial" pitchFamily="34" charset="0"/>
            </a:endParaRPr>
          </a:p>
        </p:txBody>
      </p:sp>
    </p:spTree>
    <p:extLst>
      <p:ext uri="{BB962C8B-B14F-4D97-AF65-F5344CB8AC3E}">
        <p14:creationId xmlns:p14="http://schemas.microsoft.com/office/powerpoint/2010/main" val="225672745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2</a:t>
            </a:fld>
            <a:endParaRPr lang="en-US" sz="1000" dirty="0">
              <a:solidFill>
                <a:prstClr val="white"/>
              </a:solidFill>
            </a:endParaRPr>
          </a:p>
        </p:txBody>
      </p:sp>
      <p:sp>
        <p:nvSpPr>
          <p:cNvPr id="8" name="TextBox 8"/>
          <p:cNvSpPr txBox="1">
            <a:spLocks noChangeArrowheads="1"/>
          </p:cNvSpPr>
          <p:nvPr/>
        </p:nvSpPr>
        <p:spPr bwMode="auto">
          <a:xfrm>
            <a:off x="0" y="1066800"/>
            <a:ext cx="9144000" cy="338554"/>
          </a:xfrm>
          <a:prstGeom prst="rect">
            <a:avLst/>
          </a:prstGeom>
          <a:noFill/>
          <a:ln w="9525">
            <a:noFill/>
            <a:miter lim="800000"/>
            <a:headEnd/>
            <a:tailEnd/>
          </a:ln>
        </p:spPr>
        <p:txBody>
          <a:bodyPr wrap="square">
            <a:spAutoFit/>
          </a:bodyPr>
          <a:lstStyle/>
          <a:p>
            <a:pPr>
              <a:defRPr/>
            </a:pPr>
            <a:endParaRPr lang="en-US" sz="1600" b="1" dirty="0">
              <a:solidFill>
                <a:prstClr val="black"/>
              </a:solidFill>
              <a:latin typeface=" Arial"/>
            </a:endParaRPr>
          </a:p>
        </p:txBody>
      </p:sp>
      <p:sp>
        <p:nvSpPr>
          <p:cNvPr id="2" name="TextBox 1"/>
          <p:cNvSpPr txBox="1"/>
          <p:nvPr/>
        </p:nvSpPr>
        <p:spPr>
          <a:xfrm>
            <a:off x="838200" y="1722361"/>
            <a:ext cx="7620000" cy="2031325"/>
          </a:xfrm>
          <a:prstGeom prst="rect">
            <a:avLst/>
          </a:prstGeom>
          <a:noFill/>
        </p:spPr>
        <p:txBody>
          <a:bodyPr wrap="square" rtlCol="0">
            <a:spAutoFit/>
          </a:bodyPr>
          <a:lstStyle/>
          <a:p>
            <a:r>
              <a:rPr lang="en-US" dirty="0"/>
              <a:t>The following slides are for informational purposes ONLY. These are NOT formal solicitations / Requests for proposals (RFP) / Requests for Quotes (RFQ). Do NOT submit any formal proposals / quotes to this posting. All information contained in this posting is subject to change without notice. The Government will not respond and/or reimburse for any feedback, questions or documentation provided by Industry in response to this posting. </a:t>
            </a:r>
          </a:p>
          <a:p>
            <a:endParaRPr lang="en-US" dirty="0"/>
          </a:p>
        </p:txBody>
      </p:sp>
    </p:spTree>
    <p:extLst>
      <p:ext uri="{BB962C8B-B14F-4D97-AF65-F5344CB8AC3E}">
        <p14:creationId xmlns:p14="http://schemas.microsoft.com/office/powerpoint/2010/main" val="69418532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Redstone Test Center</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3</a:t>
            </a:fld>
            <a:endParaRPr lang="en-US" sz="1000" dirty="0">
              <a:solidFill>
                <a:prstClr val="white"/>
              </a:solidFill>
            </a:endParaRPr>
          </a:p>
        </p:txBody>
      </p:sp>
      <p:sp>
        <p:nvSpPr>
          <p:cNvPr id="8" name="TextBox 8"/>
          <p:cNvSpPr txBox="1">
            <a:spLocks noChangeArrowheads="1"/>
          </p:cNvSpPr>
          <p:nvPr/>
        </p:nvSpPr>
        <p:spPr bwMode="auto">
          <a:xfrm>
            <a:off x="0" y="1066800"/>
            <a:ext cx="9144000" cy="5324535"/>
          </a:xfrm>
          <a:prstGeom prst="rect">
            <a:avLst/>
          </a:prstGeom>
          <a:noFill/>
          <a:ln w="9525">
            <a:noFill/>
            <a:miter lim="800000"/>
            <a:headEnd/>
            <a:tailEnd/>
          </a:ln>
        </p:spPr>
        <p:txBody>
          <a:bodyPr wrap="square">
            <a:spAutoFit/>
          </a:bodyPr>
          <a:lstStyle/>
          <a:p>
            <a:pPr>
              <a:defRPr/>
            </a:pPr>
            <a:r>
              <a:rPr lang="en-US" u="sng" dirty="0" smtClean="0">
                <a:solidFill>
                  <a:prstClr val="black"/>
                </a:solidFill>
                <a:latin typeface=" Arial"/>
              </a:rPr>
              <a:t>Project Title</a:t>
            </a:r>
            <a:r>
              <a:rPr lang="en-US" dirty="0" smtClean="0">
                <a:solidFill>
                  <a:prstClr val="black"/>
                </a:solidFill>
                <a:latin typeface=" Arial"/>
              </a:rPr>
              <a:t>:  </a:t>
            </a:r>
            <a:r>
              <a:rPr lang="fr-FR" dirty="0">
                <a:solidFill>
                  <a:prstClr val="black"/>
                </a:solidFill>
                <a:latin typeface=" Arial"/>
              </a:rPr>
              <a:t>Aviation Maintenance Support Services (AMSS</a:t>
            </a:r>
            <a:r>
              <a:rPr lang="fr-FR" dirty="0" smtClean="0">
                <a:solidFill>
                  <a:prstClr val="black"/>
                </a:solidFill>
                <a:latin typeface=" Arial"/>
              </a:rPr>
              <a:t>)</a:t>
            </a:r>
          </a:p>
          <a:p>
            <a:endParaRPr lang="en-US" u="sng" dirty="0" smtClean="0">
              <a:solidFill>
                <a:prstClr val="black"/>
              </a:solidFill>
              <a:latin typeface=" Arial"/>
            </a:endParaRPr>
          </a:p>
          <a:p>
            <a:r>
              <a:rPr lang="en-US" u="sng" dirty="0" smtClean="0">
                <a:solidFill>
                  <a:prstClr val="black"/>
                </a:solidFill>
                <a:latin typeface=" Arial"/>
              </a:rPr>
              <a:t>Project Summary</a:t>
            </a:r>
            <a:r>
              <a:rPr lang="en-US" dirty="0" smtClean="0">
                <a:solidFill>
                  <a:prstClr val="black"/>
                </a:solidFill>
              </a:rPr>
              <a:t>: </a:t>
            </a:r>
            <a:r>
              <a:rPr lang="en-US" dirty="0" smtClean="0">
                <a:solidFill>
                  <a:prstClr val="black"/>
                </a:solidFill>
                <a:latin typeface=" Arial"/>
              </a:rPr>
              <a:t>A</a:t>
            </a:r>
            <a:r>
              <a:rPr lang="fr-FR" dirty="0" err="1" smtClean="0">
                <a:solidFill>
                  <a:prstClr val="black"/>
                </a:solidFill>
                <a:latin typeface=" Arial"/>
              </a:rPr>
              <a:t>viation</a:t>
            </a:r>
            <a:r>
              <a:rPr lang="fr-FR" dirty="0" smtClean="0">
                <a:solidFill>
                  <a:prstClr val="black"/>
                </a:solidFill>
                <a:latin typeface=" Arial"/>
              </a:rPr>
              <a:t> </a:t>
            </a:r>
            <a:r>
              <a:rPr lang="fr-FR" dirty="0">
                <a:solidFill>
                  <a:prstClr val="black"/>
                </a:solidFill>
                <a:latin typeface=" Arial"/>
              </a:rPr>
              <a:t>maintenance support services for </a:t>
            </a:r>
            <a:r>
              <a:rPr lang="fr-FR" dirty="0" err="1" smtClean="0">
                <a:solidFill>
                  <a:prstClr val="black"/>
                </a:solidFill>
                <a:latin typeface=" Arial"/>
              </a:rPr>
              <a:t>aircraft</a:t>
            </a:r>
            <a:r>
              <a:rPr lang="fr-FR" dirty="0" smtClean="0">
                <a:solidFill>
                  <a:prstClr val="black"/>
                </a:solidFill>
                <a:latin typeface=" Arial"/>
              </a:rPr>
              <a:t> </a:t>
            </a:r>
            <a:r>
              <a:rPr lang="en-US" dirty="0" smtClean="0">
                <a:solidFill>
                  <a:prstClr val="black"/>
                </a:solidFill>
                <a:latin typeface=" Arial"/>
              </a:rPr>
              <a:t>assigned </a:t>
            </a:r>
            <a:r>
              <a:rPr lang="en-US" dirty="0">
                <a:solidFill>
                  <a:prstClr val="black"/>
                </a:solidFill>
                <a:latin typeface=" Arial"/>
              </a:rPr>
              <a:t>to and aircraft under the control of </a:t>
            </a:r>
            <a:r>
              <a:rPr lang="en-US" dirty="0" smtClean="0">
                <a:solidFill>
                  <a:prstClr val="black"/>
                </a:solidFill>
                <a:latin typeface=" Arial"/>
              </a:rPr>
              <a:t>the Redstone Test Center. </a:t>
            </a:r>
          </a:p>
          <a:p>
            <a:endParaRPr lang="en-US" dirty="0">
              <a:solidFill>
                <a:prstClr val="black"/>
              </a:solidFill>
              <a:latin typeface=" Arial"/>
            </a:endParaRPr>
          </a:p>
          <a:p>
            <a:pPr>
              <a:defRPr/>
            </a:pPr>
            <a:r>
              <a:rPr lang="en-US" u="sng" dirty="0" smtClean="0">
                <a:solidFill>
                  <a:prstClr val="black"/>
                </a:solidFill>
                <a:latin typeface=" Arial"/>
              </a:rPr>
              <a:t>Prior/Current Contract Information</a:t>
            </a:r>
            <a:r>
              <a:rPr lang="en-US" dirty="0" smtClean="0">
                <a:solidFill>
                  <a:prstClr val="black"/>
                </a:solidFill>
                <a:latin typeface=" Arial"/>
              </a:rPr>
              <a:t>:</a:t>
            </a:r>
          </a:p>
          <a:p>
            <a:pPr>
              <a:defRPr/>
            </a:pPr>
            <a:r>
              <a:rPr lang="en-US" dirty="0">
                <a:solidFill>
                  <a:prstClr val="black"/>
                </a:solidFill>
                <a:latin typeface=" Arial"/>
              </a:rPr>
              <a:t>	</a:t>
            </a:r>
            <a:r>
              <a:rPr lang="en-US" dirty="0" smtClean="0">
                <a:solidFill>
                  <a:prstClr val="black"/>
                </a:solidFill>
                <a:latin typeface=" Arial"/>
              </a:rPr>
              <a:t>Contract Number:  W58RGZ-14-C-0007</a:t>
            </a:r>
          </a:p>
          <a:p>
            <a:pPr>
              <a:defRPr/>
            </a:pPr>
            <a:r>
              <a:rPr lang="en-US" dirty="0">
                <a:solidFill>
                  <a:prstClr val="black"/>
                </a:solidFill>
                <a:latin typeface=" Arial"/>
              </a:rPr>
              <a:t>	</a:t>
            </a:r>
            <a:r>
              <a:rPr lang="en-US" dirty="0" smtClean="0">
                <a:solidFill>
                  <a:prstClr val="black"/>
                </a:solidFill>
                <a:latin typeface=" Arial"/>
              </a:rPr>
              <a:t>Incumbent Contractor:  Y-Tech Services Incorporated</a:t>
            </a:r>
          </a:p>
          <a:p>
            <a:pPr>
              <a:defRPr/>
            </a:pPr>
            <a:endParaRPr lang="en-US" dirty="0">
              <a:solidFill>
                <a:prstClr val="black"/>
              </a:solidFill>
              <a:latin typeface=" Arial"/>
            </a:endParaRPr>
          </a:p>
          <a:p>
            <a:pPr>
              <a:defRPr/>
            </a:pPr>
            <a:r>
              <a:rPr lang="en-US" dirty="0" smtClean="0">
                <a:solidFill>
                  <a:prstClr val="black"/>
                </a:solidFill>
                <a:latin typeface=" Arial"/>
              </a:rPr>
              <a:t>“Note: This opportunity will be restricted to 8a small businesses</a:t>
            </a:r>
          </a:p>
          <a:p>
            <a:pPr>
              <a:defRPr/>
            </a:pPr>
            <a:endParaRPr lang="en-US" dirty="0" smtClean="0">
              <a:solidFill>
                <a:prstClr val="black"/>
              </a:solidFill>
              <a:latin typeface=" Arial"/>
            </a:endParaRPr>
          </a:p>
          <a:p>
            <a:pPr>
              <a:defRPr/>
            </a:pPr>
            <a:r>
              <a:rPr lang="en-US" u="sng" dirty="0" smtClean="0">
                <a:solidFill>
                  <a:prstClr val="black"/>
                </a:solidFill>
                <a:latin typeface=" Arial"/>
              </a:rPr>
              <a:t>Contract Type</a:t>
            </a:r>
            <a:r>
              <a:rPr lang="en-US" dirty="0" smtClean="0">
                <a:solidFill>
                  <a:prstClr val="black"/>
                </a:solidFill>
                <a:latin typeface=" Arial"/>
              </a:rPr>
              <a:t>:  CPFF</a:t>
            </a:r>
          </a:p>
          <a:p>
            <a:pPr>
              <a:defRPr/>
            </a:pPr>
            <a:r>
              <a:rPr lang="en-US" u="sng" dirty="0" smtClean="0">
                <a:solidFill>
                  <a:prstClr val="black"/>
                </a:solidFill>
                <a:latin typeface=" Arial"/>
              </a:rPr>
              <a:t>Estimated Value</a:t>
            </a:r>
            <a:r>
              <a:rPr lang="en-US" dirty="0" smtClean="0">
                <a:solidFill>
                  <a:prstClr val="black"/>
                </a:solidFill>
                <a:latin typeface=" Arial"/>
              </a:rPr>
              <a:t>:  $99M</a:t>
            </a:r>
          </a:p>
          <a:p>
            <a:pPr>
              <a:defRPr/>
            </a:pPr>
            <a:r>
              <a:rPr lang="en-US" u="sng" dirty="0" smtClean="0">
                <a:solidFill>
                  <a:prstClr val="black"/>
                </a:solidFill>
                <a:latin typeface=" Arial"/>
              </a:rPr>
              <a:t>Period of Performance</a:t>
            </a:r>
            <a:r>
              <a:rPr lang="en-US" dirty="0" smtClean="0">
                <a:solidFill>
                  <a:prstClr val="black"/>
                </a:solidFill>
                <a:latin typeface=" Arial"/>
              </a:rPr>
              <a:t>:  5 year ordering period</a:t>
            </a:r>
          </a:p>
          <a:p>
            <a:pPr>
              <a:defRPr/>
            </a:pPr>
            <a:r>
              <a:rPr lang="en-US" u="sng" dirty="0" smtClean="0">
                <a:solidFill>
                  <a:prstClr val="black"/>
                </a:solidFill>
                <a:latin typeface=" Arial"/>
              </a:rPr>
              <a:t>Estimated Solicitation Release Date</a:t>
            </a:r>
            <a:r>
              <a:rPr lang="en-US" dirty="0" smtClean="0">
                <a:solidFill>
                  <a:prstClr val="black"/>
                </a:solidFill>
                <a:latin typeface=" Arial"/>
              </a:rPr>
              <a:t>:  4QFY18</a:t>
            </a:r>
          </a:p>
          <a:p>
            <a:pPr>
              <a:defRPr/>
            </a:pPr>
            <a:r>
              <a:rPr lang="en-US" u="sng" dirty="0" smtClean="0">
                <a:solidFill>
                  <a:prstClr val="black"/>
                </a:solidFill>
                <a:latin typeface=" Arial"/>
              </a:rPr>
              <a:t>Contracting Contact</a:t>
            </a:r>
            <a:r>
              <a:rPr lang="en-US" dirty="0" smtClean="0">
                <a:solidFill>
                  <a:prstClr val="black"/>
                </a:solidFill>
                <a:latin typeface=" Arial"/>
              </a:rPr>
              <a:t>:  ACC-APG, Erin Weber, KO, </a:t>
            </a:r>
            <a:r>
              <a:rPr lang="en-US" dirty="0" smtClean="0">
                <a:solidFill>
                  <a:prstClr val="black"/>
                </a:solidFill>
                <a:latin typeface=" Arial"/>
                <a:hlinkClick r:id="rId2"/>
              </a:rPr>
              <a:t>erin.k.weber.civ@mail.mil</a:t>
            </a:r>
            <a:endParaRPr lang="en-US" dirty="0" smtClean="0">
              <a:solidFill>
                <a:prstClr val="black"/>
              </a:solidFill>
              <a:latin typeface=" Arial"/>
            </a:endParaRPr>
          </a:p>
          <a:p>
            <a:pPr>
              <a:defRPr/>
            </a:pPr>
            <a:endParaRPr lang="en-US" dirty="0" smtClean="0">
              <a:solidFill>
                <a:prstClr val="black"/>
              </a:solidFill>
              <a:latin typeface=" Arial"/>
            </a:endParaRPr>
          </a:p>
          <a:p>
            <a:pPr>
              <a:defRPr/>
            </a:pPr>
            <a:endParaRPr lang="en-US" dirty="0">
              <a:solidFill>
                <a:prstClr val="black"/>
              </a:solidFill>
              <a:latin typeface=" Arial"/>
            </a:endParaRPr>
          </a:p>
          <a:p>
            <a:pPr>
              <a:defRPr/>
            </a:pPr>
            <a:r>
              <a:rPr lang="en-US" sz="1600" b="1" dirty="0" smtClean="0">
                <a:solidFill>
                  <a:prstClr val="black"/>
                </a:solidFill>
                <a:latin typeface=" Arial"/>
              </a:rPr>
              <a:t>*Subject to Cancellation</a:t>
            </a:r>
            <a:endParaRPr lang="en-US" sz="1600" b="1" dirty="0">
              <a:solidFill>
                <a:prstClr val="black"/>
              </a:solidFill>
              <a:latin typeface=" Arial"/>
            </a:endParaRPr>
          </a:p>
        </p:txBody>
      </p:sp>
    </p:spTree>
    <p:extLst>
      <p:ext uri="{BB962C8B-B14F-4D97-AF65-F5344CB8AC3E}">
        <p14:creationId xmlns:p14="http://schemas.microsoft.com/office/powerpoint/2010/main" val="212540438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600" b="1" dirty="0">
                <a:solidFill>
                  <a:prstClr val="white"/>
                </a:solidFill>
              </a:rPr>
              <a:t>Assistant Secretary of the </a:t>
            </a:r>
            <a:r>
              <a:rPr lang="en-US" sz="1600" b="1" dirty="0" smtClean="0">
                <a:solidFill>
                  <a:prstClr val="white"/>
                </a:solidFill>
              </a:rPr>
              <a:t>Army Financial Management and Comptroller</a:t>
            </a:r>
          </a:p>
          <a:p>
            <a:pPr algn="ct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4</a:t>
            </a:fld>
            <a:endParaRPr lang="en-US" sz="1000" dirty="0">
              <a:solidFill>
                <a:prstClr val="white"/>
              </a:solidFill>
            </a:endParaRPr>
          </a:p>
        </p:txBody>
      </p:sp>
      <p:sp>
        <p:nvSpPr>
          <p:cNvPr id="8" name="TextBox 8"/>
          <p:cNvSpPr txBox="1">
            <a:spLocks noChangeArrowheads="1"/>
          </p:cNvSpPr>
          <p:nvPr/>
        </p:nvSpPr>
        <p:spPr bwMode="auto">
          <a:xfrm>
            <a:off x="0" y="920889"/>
            <a:ext cx="9144000" cy="5078313"/>
          </a:xfrm>
          <a:prstGeom prst="rect">
            <a:avLst/>
          </a:prstGeom>
          <a:noFill/>
          <a:ln w="9525">
            <a:noFill/>
            <a:miter lim="800000"/>
            <a:headEnd/>
            <a:tailEnd/>
          </a:ln>
        </p:spPr>
        <p:txBody>
          <a:bodyPr wrap="square">
            <a:spAutoFit/>
          </a:bodyPr>
          <a:lstStyle/>
          <a:p>
            <a:pPr>
              <a:defRPr/>
            </a:pPr>
            <a:r>
              <a:rPr lang="en-US" u="sng" dirty="0" smtClean="0">
                <a:solidFill>
                  <a:prstClr val="black"/>
                </a:solidFill>
                <a:latin typeface=" Arial"/>
              </a:rPr>
              <a:t>Project Title</a:t>
            </a:r>
            <a:r>
              <a:rPr lang="en-US" dirty="0" smtClean="0">
                <a:solidFill>
                  <a:prstClr val="black"/>
                </a:solidFill>
                <a:latin typeface=" Arial"/>
              </a:rPr>
              <a:t>:  Army Working Capital Fund (AWCF)</a:t>
            </a:r>
          </a:p>
          <a:p>
            <a:r>
              <a:rPr lang="en-US" u="sng" dirty="0" smtClean="0">
                <a:solidFill>
                  <a:prstClr val="black"/>
                </a:solidFill>
                <a:latin typeface=" Arial"/>
              </a:rPr>
              <a:t>Project Summary</a:t>
            </a:r>
            <a:r>
              <a:rPr lang="en-US" dirty="0" smtClean="0">
                <a:solidFill>
                  <a:prstClr val="black"/>
                </a:solidFill>
                <a:latin typeface=" Arial"/>
              </a:rPr>
              <a:t>:  </a:t>
            </a:r>
            <a:r>
              <a:rPr lang="en-US" dirty="0">
                <a:solidFill>
                  <a:prstClr val="black"/>
                </a:solidFill>
                <a:latin typeface=" Arial"/>
              </a:rPr>
              <a:t>The contractor shall </a:t>
            </a:r>
            <a:r>
              <a:rPr lang="en-US" dirty="0" smtClean="0">
                <a:solidFill>
                  <a:prstClr val="black"/>
                </a:solidFill>
                <a:latin typeface=" Arial"/>
              </a:rPr>
              <a:t>perform AWCF support services which include</a:t>
            </a:r>
            <a:r>
              <a:rPr lang="en-US" dirty="0">
                <a:solidFill>
                  <a:prstClr val="black"/>
                </a:solidFill>
                <a:latin typeface=" Arial"/>
              </a:rPr>
              <a:t>s</a:t>
            </a:r>
            <a:r>
              <a:rPr lang="en-US" dirty="0" smtClean="0">
                <a:solidFill>
                  <a:prstClr val="black"/>
                </a:solidFill>
                <a:latin typeface=" Arial"/>
              </a:rPr>
              <a:t> audit infrastructure to interact with external financial auditors, improve AWCF business processes, improve financial reporting controls and validating corrective actions. Tasks will also include communication and coordinating change management with Army Material Command (AMC) and Headquarters, Department of the Army (HQDA) Senior Leadership.</a:t>
            </a:r>
          </a:p>
          <a:p>
            <a:endParaRPr lang="en-US" sz="800" dirty="0">
              <a:solidFill>
                <a:prstClr val="black"/>
              </a:solidFill>
              <a:latin typeface=" Arial"/>
            </a:endParaRPr>
          </a:p>
          <a:p>
            <a:pPr>
              <a:defRPr/>
            </a:pPr>
            <a:r>
              <a:rPr lang="en-US" u="sng" dirty="0" smtClean="0">
                <a:solidFill>
                  <a:prstClr val="black"/>
                </a:solidFill>
                <a:latin typeface=" Arial"/>
              </a:rPr>
              <a:t>Prior/Current Contract Information</a:t>
            </a:r>
            <a:r>
              <a:rPr lang="en-US" dirty="0" smtClean="0">
                <a:solidFill>
                  <a:prstClr val="black"/>
                </a:solidFill>
                <a:latin typeface=" Arial"/>
              </a:rPr>
              <a:t>:</a:t>
            </a:r>
          </a:p>
          <a:p>
            <a:pPr>
              <a:defRPr/>
            </a:pPr>
            <a:r>
              <a:rPr lang="en-US" dirty="0">
                <a:solidFill>
                  <a:prstClr val="black"/>
                </a:solidFill>
                <a:latin typeface=" Arial"/>
              </a:rPr>
              <a:t>	</a:t>
            </a:r>
            <a:r>
              <a:rPr lang="en-US" dirty="0" smtClean="0">
                <a:solidFill>
                  <a:prstClr val="black"/>
                </a:solidFill>
                <a:latin typeface=" Arial"/>
              </a:rPr>
              <a:t>Contract Number:  W91CRB-16-F-0005</a:t>
            </a:r>
          </a:p>
          <a:p>
            <a:pPr>
              <a:defRPr/>
            </a:pPr>
            <a:r>
              <a:rPr lang="en-US" dirty="0">
                <a:solidFill>
                  <a:prstClr val="black"/>
                </a:solidFill>
                <a:latin typeface=" Arial"/>
              </a:rPr>
              <a:t>	</a:t>
            </a:r>
            <a:r>
              <a:rPr lang="en-US" dirty="0" smtClean="0">
                <a:solidFill>
                  <a:prstClr val="black"/>
                </a:solidFill>
                <a:latin typeface=" Arial"/>
              </a:rPr>
              <a:t>Incumbent Contractor:  PricewaterhouseCoopers</a:t>
            </a:r>
          </a:p>
          <a:p>
            <a:pPr>
              <a:defRPr/>
            </a:pPr>
            <a:endParaRPr lang="en-US" sz="800" dirty="0">
              <a:solidFill>
                <a:prstClr val="black"/>
              </a:solidFill>
              <a:latin typeface=" Arial"/>
            </a:endParaRPr>
          </a:p>
          <a:p>
            <a:pPr>
              <a:defRPr/>
            </a:pPr>
            <a:r>
              <a:rPr lang="en-US" dirty="0" smtClean="0">
                <a:solidFill>
                  <a:prstClr val="black"/>
                </a:solidFill>
                <a:latin typeface=" Arial"/>
              </a:rPr>
              <a:t>Note: This opportunity will be posted unrestricted on GSA.  </a:t>
            </a:r>
          </a:p>
          <a:p>
            <a:pPr>
              <a:defRPr/>
            </a:pPr>
            <a:endParaRPr lang="en-US" sz="800" dirty="0" smtClean="0">
              <a:solidFill>
                <a:prstClr val="black"/>
              </a:solidFill>
              <a:latin typeface=" Arial"/>
            </a:endParaRPr>
          </a:p>
          <a:p>
            <a:pPr>
              <a:defRPr/>
            </a:pPr>
            <a:r>
              <a:rPr lang="en-US" u="sng" dirty="0" smtClean="0">
                <a:solidFill>
                  <a:prstClr val="black"/>
                </a:solidFill>
                <a:latin typeface=" Arial"/>
              </a:rPr>
              <a:t>Contract Type</a:t>
            </a:r>
            <a:r>
              <a:rPr lang="en-US" dirty="0" smtClean="0">
                <a:solidFill>
                  <a:prstClr val="black"/>
                </a:solidFill>
                <a:latin typeface=" Arial"/>
              </a:rPr>
              <a:t>:  T&amp;M</a:t>
            </a:r>
          </a:p>
          <a:p>
            <a:pPr>
              <a:defRPr/>
            </a:pPr>
            <a:r>
              <a:rPr lang="en-US" u="sng" dirty="0" smtClean="0">
                <a:solidFill>
                  <a:prstClr val="black"/>
                </a:solidFill>
                <a:latin typeface=" Arial"/>
              </a:rPr>
              <a:t>Estimated Value</a:t>
            </a:r>
            <a:r>
              <a:rPr lang="en-US" dirty="0" smtClean="0">
                <a:solidFill>
                  <a:prstClr val="black"/>
                </a:solidFill>
                <a:latin typeface=" Arial"/>
              </a:rPr>
              <a:t>:  $41M</a:t>
            </a:r>
          </a:p>
          <a:p>
            <a:pPr>
              <a:defRPr/>
            </a:pPr>
            <a:r>
              <a:rPr lang="en-US" u="sng" dirty="0" smtClean="0">
                <a:solidFill>
                  <a:prstClr val="black"/>
                </a:solidFill>
                <a:latin typeface=" Arial"/>
              </a:rPr>
              <a:t>Period of Performance</a:t>
            </a:r>
            <a:r>
              <a:rPr lang="en-US" dirty="0" smtClean="0">
                <a:solidFill>
                  <a:prstClr val="black"/>
                </a:solidFill>
                <a:latin typeface=" Arial"/>
              </a:rPr>
              <a:t>:  3 year contract</a:t>
            </a:r>
            <a:endParaRPr lang="en-US" dirty="0">
              <a:solidFill>
                <a:prstClr val="black"/>
              </a:solidFill>
              <a:latin typeface=" Arial"/>
            </a:endParaRPr>
          </a:p>
          <a:p>
            <a:pPr>
              <a:defRPr/>
            </a:pPr>
            <a:r>
              <a:rPr lang="en-US" u="sng" dirty="0" smtClean="0">
                <a:solidFill>
                  <a:prstClr val="black"/>
                </a:solidFill>
                <a:latin typeface=" Arial"/>
              </a:rPr>
              <a:t>Estimated Solicitation Release Date</a:t>
            </a:r>
            <a:r>
              <a:rPr lang="en-US" dirty="0" smtClean="0">
                <a:solidFill>
                  <a:prstClr val="black"/>
                </a:solidFill>
                <a:latin typeface=" Arial"/>
              </a:rPr>
              <a:t>:  3QFY18</a:t>
            </a:r>
          </a:p>
          <a:p>
            <a:pPr>
              <a:defRPr/>
            </a:pPr>
            <a:r>
              <a:rPr lang="en-US" u="sng" dirty="0" smtClean="0">
                <a:solidFill>
                  <a:prstClr val="black"/>
                </a:solidFill>
                <a:latin typeface=" Arial"/>
              </a:rPr>
              <a:t>Contracting Contact</a:t>
            </a:r>
            <a:r>
              <a:rPr lang="en-US" dirty="0" smtClean="0">
                <a:solidFill>
                  <a:prstClr val="black"/>
                </a:solidFill>
                <a:latin typeface=" Arial"/>
              </a:rPr>
              <a:t>:  ACC-APG, Sabrinna Cosom, KO, </a:t>
            </a:r>
            <a:r>
              <a:rPr lang="en-US" dirty="0" smtClean="0">
                <a:solidFill>
                  <a:prstClr val="black"/>
                </a:solidFill>
                <a:latin typeface=" Arial"/>
                <a:hlinkClick r:id="rId2"/>
              </a:rPr>
              <a:t>Sabrinna.r.cosom.civ@mail.mil</a:t>
            </a:r>
            <a:r>
              <a:rPr lang="en-US" dirty="0" smtClean="0">
                <a:solidFill>
                  <a:prstClr val="black"/>
                </a:solidFill>
                <a:latin typeface=" Arial"/>
              </a:rPr>
              <a:t> </a:t>
            </a:r>
          </a:p>
          <a:p>
            <a:pPr>
              <a:defRPr/>
            </a:pPr>
            <a:r>
              <a:rPr lang="en-US" sz="1200" b="1" dirty="0" smtClean="0">
                <a:solidFill>
                  <a:prstClr val="black"/>
                </a:solidFill>
                <a:latin typeface=" Arial"/>
              </a:rPr>
              <a:t>*Subject to Cancellation</a:t>
            </a:r>
            <a:endParaRPr lang="en-US" sz="1200" b="1" dirty="0">
              <a:solidFill>
                <a:prstClr val="black"/>
              </a:solidFill>
              <a:latin typeface=" Arial"/>
            </a:endParaRPr>
          </a:p>
        </p:txBody>
      </p:sp>
    </p:spTree>
    <p:extLst>
      <p:ext uri="{BB962C8B-B14F-4D97-AF65-F5344CB8AC3E}">
        <p14:creationId xmlns:p14="http://schemas.microsoft.com/office/powerpoint/2010/main" val="22630045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600" b="1" dirty="0" smtClean="0">
                <a:solidFill>
                  <a:schemeClr val="bg1"/>
                </a:solidFill>
                <a:latin typeface=" Arial"/>
              </a:rPr>
              <a:t>U.S. Army Deputy Chief of Staff, Office of Business Transformation </a:t>
            </a:r>
            <a:endParaRPr lang="en-US" sz="1600" b="1" dirty="0">
              <a:solidFill>
                <a:schemeClr val="bg1"/>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schemeClr val="bg1"/>
                </a:solidFill>
              </a:rPr>
              <a:t>5</a:t>
            </a:fld>
            <a:endParaRPr lang="en-US" sz="1000" dirty="0">
              <a:solidFill>
                <a:schemeClr val="bg1"/>
              </a:solidFill>
            </a:endParaRPr>
          </a:p>
        </p:txBody>
      </p:sp>
      <p:sp>
        <p:nvSpPr>
          <p:cNvPr id="8" name="TextBox 8"/>
          <p:cNvSpPr txBox="1">
            <a:spLocks noChangeArrowheads="1"/>
          </p:cNvSpPr>
          <p:nvPr/>
        </p:nvSpPr>
        <p:spPr bwMode="auto">
          <a:xfrm>
            <a:off x="0" y="1066800"/>
            <a:ext cx="9144000" cy="4978286"/>
          </a:xfrm>
          <a:prstGeom prst="rect">
            <a:avLst/>
          </a:prstGeom>
          <a:noFill/>
          <a:ln w="9525">
            <a:noFill/>
            <a:miter lim="800000"/>
            <a:headEnd/>
            <a:tailEnd/>
          </a:ln>
        </p:spPr>
        <p:txBody>
          <a:bodyPr wrap="square">
            <a:spAutoFit/>
          </a:bodyPr>
          <a:lstStyle/>
          <a:p>
            <a:pPr>
              <a:defRPr/>
            </a:pPr>
            <a:r>
              <a:rPr lang="en-US" u="sng" dirty="0" smtClean="0">
                <a:latin typeface=" Arial"/>
              </a:rPr>
              <a:t>Project Title</a:t>
            </a:r>
            <a:r>
              <a:rPr lang="en-US" dirty="0" smtClean="0">
                <a:latin typeface=" Arial"/>
              </a:rPr>
              <a:t>:  Lean Six Sigma/ Business Transformation Support </a:t>
            </a:r>
          </a:p>
          <a:p>
            <a:r>
              <a:rPr lang="en-US" u="sng" dirty="0" smtClean="0">
                <a:latin typeface=" Arial"/>
              </a:rPr>
              <a:t>Project Summary</a:t>
            </a:r>
            <a:r>
              <a:rPr lang="en-US" dirty="0" smtClean="0">
                <a:latin typeface=" Arial"/>
              </a:rPr>
              <a:t>:  </a:t>
            </a:r>
            <a:r>
              <a:rPr lang="en-US" dirty="0">
                <a:latin typeface=" Arial"/>
              </a:rPr>
              <a:t>The purpose of this </a:t>
            </a:r>
            <a:r>
              <a:rPr lang="en-US" dirty="0" smtClean="0">
                <a:latin typeface=" Arial"/>
              </a:rPr>
              <a:t>effort is </a:t>
            </a:r>
            <a:r>
              <a:rPr lang="en-US" dirty="0">
                <a:latin typeface=" Arial"/>
              </a:rPr>
              <a:t>to improve internal and external processes and capabilities within the business enterprise system of systems.  Work requires researching, developing, testing and evaluating business process performance, root causes, and solutions to enterprise-level business process problems and opportunities. </a:t>
            </a:r>
            <a:endParaRPr lang="en-US" dirty="0" smtClean="0">
              <a:latin typeface=" Arial"/>
            </a:endParaRPr>
          </a:p>
          <a:p>
            <a:endParaRPr lang="en-US" sz="1050" dirty="0">
              <a:latin typeface=" Arial"/>
            </a:endParaRPr>
          </a:p>
          <a:p>
            <a:pPr>
              <a:defRPr/>
            </a:pPr>
            <a:r>
              <a:rPr lang="en-US" u="sng" dirty="0" smtClean="0">
                <a:latin typeface=" Arial"/>
              </a:rPr>
              <a:t>Prior/Current Contract Information</a:t>
            </a:r>
            <a:r>
              <a:rPr lang="en-US" dirty="0" smtClean="0">
                <a:latin typeface=" Arial"/>
              </a:rPr>
              <a:t>:</a:t>
            </a:r>
          </a:p>
          <a:p>
            <a:pPr>
              <a:defRPr/>
            </a:pPr>
            <a:r>
              <a:rPr lang="en-US" dirty="0">
                <a:latin typeface=" Arial"/>
              </a:rPr>
              <a:t>	</a:t>
            </a:r>
            <a:r>
              <a:rPr lang="en-US" dirty="0" smtClean="0">
                <a:latin typeface=" Arial"/>
              </a:rPr>
              <a:t>None</a:t>
            </a:r>
          </a:p>
          <a:p>
            <a:pPr>
              <a:defRPr/>
            </a:pPr>
            <a:endParaRPr lang="en-US" sz="1050" dirty="0">
              <a:latin typeface=" Arial"/>
            </a:endParaRPr>
          </a:p>
          <a:p>
            <a:pPr>
              <a:defRPr/>
            </a:pPr>
            <a:r>
              <a:rPr lang="en-US" dirty="0" smtClean="0">
                <a:latin typeface=" Arial"/>
              </a:rPr>
              <a:t>Note: This opportunity will be set aside for 8(a)</a:t>
            </a:r>
          </a:p>
          <a:p>
            <a:pPr>
              <a:defRPr/>
            </a:pPr>
            <a:endParaRPr lang="en-US" sz="1050" dirty="0" smtClean="0">
              <a:latin typeface=" Arial"/>
            </a:endParaRPr>
          </a:p>
          <a:p>
            <a:pPr>
              <a:defRPr/>
            </a:pPr>
            <a:r>
              <a:rPr lang="en-US" u="sng" dirty="0" smtClean="0">
                <a:latin typeface=" Arial"/>
              </a:rPr>
              <a:t>Contract Type</a:t>
            </a:r>
            <a:r>
              <a:rPr lang="en-US" dirty="0" smtClean="0">
                <a:latin typeface=" Arial"/>
              </a:rPr>
              <a:t>:  CPFF</a:t>
            </a:r>
          </a:p>
          <a:p>
            <a:pPr>
              <a:defRPr/>
            </a:pPr>
            <a:r>
              <a:rPr lang="en-US" u="sng" dirty="0" smtClean="0">
                <a:latin typeface=" Arial"/>
              </a:rPr>
              <a:t>Estimated Value</a:t>
            </a:r>
            <a:r>
              <a:rPr lang="en-US" dirty="0" smtClean="0">
                <a:latin typeface=" Arial"/>
              </a:rPr>
              <a:t>:  $15M</a:t>
            </a:r>
          </a:p>
          <a:p>
            <a:pPr>
              <a:defRPr/>
            </a:pPr>
            <a:r>
              <a:rPr lang="en-US" u="sng" dirty="0" smtClean="0">
                <a:latin typeface=" Arial"/>
              </a:rPr>
              <a:t>Period of Performance</a:t>
            </a:r>
            <a:r>
              <a:rPr lang="en-US" dirty="0" smtClean="0">
                <a:latin typeface=" Arial"/>
              </a:rPr>
              <a:t>:  5 year ordering period</a:t>
            </a:r>
          </a:p>
          <a:p>
            <a:pPr>
              <a:defRPr/>
            </a:pPr>
            <a:r>
              <a:rPr lang="en-US" u="sng" dirty="0" smtClean="0">
                <a:latin typeface=" Arial"/>
              </a:rPr>
              <a:t>Estimated Solicitation Release Date</a:t>
            </a:r>
            <a:r>
              <a:rPr lang="en-US" dirty="0" smtClean="0">
                <a:latin typeface=" Arial"/>
              </a:rPr>
              <a:t>:  3QFY18  (W91CRB-18-R-0030 –Sources Sought)</a:t>
            </a:r>
          </a:p>
          <a:p>
            <a:pPr>
              <a:defRPr/>
            </a:pPr>
            <a:r>
              <a:rPr lang="en-US" u="sng" dirty="0" smtClean="0">
                <a:latin typeface=" Arial"/>
              </a:rPr>
              <a:t>Contracting Contact</a:t>
            </a:r>
            <a:r>
              <a:rPr lang="en-US" dirty="0" smtClean="0">
                <a:latin typeface=" Arial"/>
              </a:rPr>
              <a:t>:  ACC-APG, Alex Obriwin, KO, </a:t>
            </a:r>
            <a:r>
              <a:rPr lang="en-US" dirty="0" smtClean="0">
                <a:latin typeface=" Arial"/>
                <a:hlinkClick r:id="rId2"/>
              </a:rPr>
              <a:t>alexander.s.Obriwin.civ@mail.mil</a:t>
            </a:r>
            <a:r>
              <a:rPr lang="en-US" dirty="0" smtClean="0">
                <a:latin typeface=" Arial"/>
              </a:rPr>
              <a:t> </a:t>
            </a:r>
          </a:p>
          <a:p>
            <a:pPr>
              <a:defRPr/>
            </a:pPr>
            <a:endParaRPr lang="en-US" dirty="0" smtClean="0">
              <a:latin typeface=" Arial"/>
            </a:endParaRPr>
          </a:p>
          <a:p>
            <a:pPr>
              <a:defRPr/>
            </a:pPr>
            <a:r>
              <a:rPr lang="en-US" sz="1600" b="1" dirty="0" smtClean="0">
                <a:latin typeface=" Arial"/>
              </a:rPr>
              <a:t>*Subject to Cancellation</a:t>
            </a:r>
            <a:endParaRPr lang="en-US" sz="1600" b="1" dirty="0">
              <a:latin typeface=" Arial"/>
            </a:endParaRPr>
          </a:p>
        </p:txBody>
      </p:sp>
    </p:spTree>
    <p:extLst>
      <p:ext uri="{BB962C8B-B14F-4D97-AF65-F5344CB8AC3E}">
        <p14:creationId xmlns:p14="http://schemas.microsoft.com/office/powerpoint/2010/main" val="355472121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Chief Staff of the Army, G 3/5/7</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6</a:t>
            </a:fld>
            <a:endParaRPr lang="en-US" sz="1000" dirty="0">
              <a:solidFill>
                <a:prstClr val="white"/>
              </a:solidFill>
            </a:endParaRPr>
          </a:p>
        </p:txBody>
      </p:sp>
      <p:sp>
        <p:nvSpPr>
          <p:cNvPr id="8" name="TextBox 8"/>
          <p:cNvSpPr txBox="1">
            <a:spLocks noChangeArrowheads="1"/>
          </p:cNvSpPr>
          <p:nvPr/>
        </p:nvSpPr>
        <p:spPr bwMode="auto">
          <a:xfrm>
            <a:off x="0" y="1066800"/>
            <a:ext cx="9144000" cy="5047536"/>
          </a:xfrm>
          <a:prstGeom prst="rect">
            <a:avLst/>
          </a:prstGeom>
          <a:noFill/>
          <a:ln w="9525">
            <a:noFill/>
            <a:miter lim="800000"/>
            <a:headEnd/>
            <a:tailEnd/>
          </a:ln>
        </p:spPr>
        <p:txBody>
          <a:bodyPr wrap="square">
            <a:spAutoFit/>
          </a:bodyPr>
          <a:lstStyle/>
          <a:p>
            <a:pPr>
              <a:defRPr/>
            </a:pPr>
            <a:r>
              <a:rPr lang="en-US" u="sng" dirty="0" smtClean="0">
                <a:solidFill>
                  <a:prstClr val="black"/>
                </a:solidFill>
                <a:latin typeface=" Arial"/>
              </a:rPr>
              <a:t>Project Title</a:t>
            </a:r>
            <a:r>
              <a:rPr lang="en-US" dirty="0" smtClean="0">
                <a:solidFill>
                  <a:prstClr val="black"/>
                </a:solidFill>
                <a:latin typeface=" Arial"/>
              </a:rPr>
              <a:t>:  Web Application Development</a:t>
            </a:r>
          </a:p>
          <a:p>
            <a:r>
              <a:rPr lang="en-US" u="sng" dirty="0" smtClean="0">
                <a:solidFill>
                  <a:prstClr val="black"/>
                </a:solidFill>
                <a:latin typeface=" Arial"/>
              </a:rPr>
              <a:t>Project Summary</a:t>
            </a:r>
            <a:r>
              <a:rPr lang="en-US" dirty="0" smtClean="0">
                <a:solidFill>
                  <a:prstClr val="black"/>
                </a:solidFill>
                <a:latin typeface=" Arial"/>
              </a:rPr>
              <a:t>:  </a:t>
            </a:r>
            <a:r>
              <a:rPr lang="en-US" dirty="0">
                <a:latin typeface=" Arial"/>
              </a:rPr>
              <a:t>This is a non-personal services contract to provide ON-SITE Headquarters, Department of the Army (HQDA) G-3/5/7, Command and Control (C2), Business Application, Database and Web Maintenance Services. </a:t>
            </a:r>
          </a:p>
          <a:p>
            <a:endParaRPr lang="en-US" dirty="0">
              <a:solidFill>
                <a:prstClr val="black"/>
              </a:solidFill>
              <a:latin typeface=" Arial"/>
            </a:endParaRPr>
          </a:p>
          <a:p>
            <a:pPr>
              <a:defRPr/>
            </a:pPr>
            <a:r>
              <a:rPr lang="en-US" u="sng" dirty="0" smtClean="0">
                <a:solidFill>
                  <a:prstClr val="black"/>
                </a:solidFill>
                <a:latin typeface=" Arial"/>
              </a:rPr>
              <a:t>Prior/Current Contract Information</a:t>
            </a:r>
            <a:r>
              <a:rPr lang="en-US" dirty="0" smtClean="0">
                <a:solidFill>
                  <a:prstClr val="black"/>
                </a:solidFill>
                <a:latin typeface=" Arial"/>
              </a:rPr>
              <a:t>:</a:t>
            </a:r>
          </a:p>
          <a:p>
            <a:pPr>
              <a:defRPr/>
            </a:pPr>
            <a:r>
              <a:rPr lang="en-US" dirty="0">
                <a:solidFill>
                  <a:prstClr val="black"/>
                </a:solidFill>
                <a:latin typeface=" Arial"/>
              </a:rPr>
              <a:t>	</a:t>
            </a:r>
            <a:r>
              <a:rPr lang="en-US" dirty="0" smtClean="0">
                <a:solidFill>
                  <a:prstClr val="black"/>
                </a:solidFill>
                <a:latin typeface=" Arial"/>
              </a:rPr>
              <a:t>Contract Number:  W91CRB-13-D-0014</a:t>
            </a:r>
          </a:p>
          <a:p>
            <a:pPr>
              <a:defRPr/>
            </a:pPr>
            <a:r>
              <a:rPr lang="en-US" dirty="0" smtClean="0">
                <a:solidFill>
                  <a:prstClr val="black"/>
                </a:solidFill>
                <a:latin typeface=" Arial"/>
              </a:rPr>
              <a:t>	Incumbent Contractor:  SSB, </a:t>
            </a:r>
            <a:r>
              <a:rPr lang="en-US" dirty="0" err="1" smtClean="0">
                <a:solidFill>
                  <a:prstClr val="black"/>
                </a:solidFill>
                <a:latin typeface=" Arial"/>
              </a:rPr>
              <a:t>Inc</a:t>
            </a:r>
            <a:endParaRPr lang="en-US" dirty="0" smtClean="0">
              <a:solidFill>
                <a:prstClr val="black"/>
              </a:solidFill>
              <a:latin typeface=" Arial"/>
            </a:endParaRPr>
          </a:p>
          <a:p>
            <a:pPr>
              <a:defRPr/>
            </a:pPr>
            <a:endParaRPr lang="en-US" dirty="0">
              <a:solidFill>
                <a:prstClr val="black"/>
              </a:solidFill>
              <a:latin typeface=" Arial"/>
            </a:endParaRPr>
          </a:p>
          <a:p>
            <a:pPr>
              <a:defRPr/>
            </a:pPr>
            <a:r>
              <a:rPr lang="en-US" dirty="0" smtClean="0">
                <a:solidFill>
                  <a:prstClr val="black"/>
                </a:solidFill>
                <a:latin typeface=" Arial"/>
              </a:rPr>
              <a:t>Note: This opportunity will be posted on </a:t>
            </a:r>
            <a:r>
              <a:rPr lang="en-US" dirty="0" err="1" smtClean="0">
                <a:solidFill>
                  <a:prstClr val="black"/>
                </a:solidFill>
                <a:latin typeface=" Arial"/>
              </a:rPr>
              <a:t>FedBizOps</a:t>
            </a:r>
            <a:r>
              <a:rPr lang="en-US" dirty="0" smtClean="0">
                <a:solidFill>
                  <a:prstClr val="black"/>
                </a:solidFill>
                <a:latin typeface=" Arial"/>
              </a:rPr>
              <a:t> as a small business set aside. </a:t>
            </a:r>
          </a:p>
          <a:p>
            <a:pPr>
              <a:defRPr/>
            </a:pPr>
            <a:endParaRPr lang="en-US" dirty="0" smtClean="0">
              <a:solidFill>
                <a:prstClr val="black"/>
              </a:solidFill>
              <a:latin typeface=" Arial"/>
            </a:endParaRPr>
          </a:p>
          <a:p>
            <a:pPr>
              <a:defRPr/>
            </a:pPr>
            <a:r>
              <a:rPr lang="en-US" u="sng" dirty="0" smtClean="0">
                <a:solidFill>
                  <a:prstClr val="black"/>
                </a:solidFill>
                <a:latin typeface=" Arial"/>
              </a:rPr>
              <a:t>Contract Type</a:t>
            </a:r>
            <a:r>
              <a:rPr lang="en-US" dirty="0" smtClean="0">
                <a:solidFill>
                  <a:prstClr val="black"/>
                </a:solidFill>
                <a:latin typeface=" Arial"/>
              </a:rPr>
              <a:t>:  CPFF</a:t>
            </a:r>
          </a:p>
          <a:p>
            <a:pPr>
              <a:defRPr/>
            </a:pPr>
            <a:r>
              <a:rPr lang="en-US" u="sng" dirty="0" smtClean="0">
                <a:solidFill>
                  <a:prstClr val="black"/>
                </a:solidFill>
                <a:latin typeface=" Arial"/>
              </a:rPr>
              <a:t>Estimated Value</a:t>
            </a:r>
            <a:r>
              <a:rPr lang="en-US" dirty="0" smtClean="0">
                <a:solidFill>
                  <a:prstClr val="black"/>
                </a:solidFill>
                <a:latin typeface=" Arial"/>
              </a:rPr>
              <a:t>:  $33M</a:t>
            </a:r>
          </a:p>
          <a:p>
            <a:pPr>
              <a:defRPr/>
            </a:pPr>
            <a:r>
              <a:rPr lang="en-US" u="sng" dirty="0" smtClean="0">
                <a:solidFill>
                  <a:prstClr val="black"/>
                </a:solidFill>
                <a:latin typeface=" Arial"/>
              </a:rPr>
              <a:t>Period of Performance</a:t>
            </a:r>
            <a:r>
              <a:rPr lang="en-US" dirty="0" smtClean="0">
                <a:solidFill>
                  <a:prstClr val="black"/>
                </a:solidFill>
                <a:latin typeface=" Arial"/>
              </a:rPr>
              <a:t>:  5 year ordering period</a:t>
            </a:r>
          </a:p>
          <a:p>
            <a:pPr>
              <a:defRPr/>
            </a:pPr>
            <a:r>
              <a:rPr lang="en-US" u="sng" dirty="0" smtClean="0">
                <a:solidFill>
                  <a:prstClr val="black"/>
                </a:solidFill>
                <a:latin typeface=" Arial"/>
              </a:rPr>
              <a:t>Estimated Solicitation Release Date</a:t>
            </a:r>
            <a:r>
              <a:rPr lang="en-US" dirty="0" smtClean="0">
                <a:solidFill>
                  <a:prstClr val="black"/>
                </a:solidFill>
                <a:latin typeface=" Arial"/>
              </a:rPr>
              <a:t>:  1QFY19</a:t>
            </a:r>
          </a:p>
          <a:p>
            <a:pPr>
              <a:defRPr/>
            </a:pPr>
            <a:r>
              <a:rPr lang="en-US" u="sng" dirty="0" smtClean="0">
                <a:solidFill>
                  <a:prstClr val="black"/>
                </a:solidFill>
                <a:latin typeface=" Arial"/>
              </a:rPr>
              <a:t>Contracting Contact</a:t>
            </a:r>
            <a:r>
              <a:rPr lang="en-US" dirty="0" smtClean="0">
                <a:solidFill>
                  <a:prstClr val="black"/>
                </a:solidFill>
                <a:latin typeface=" Arial"/>
              </a:rPr>
              <a:t>:  ACC-APG, Sabrinna Cosom, KO, </a:t>
            </a:r>
            <a:r>
              <a:rPr lang="en-US" dirty="0" smtClean="0">
                <a:solidFill>
                  <a:prstClr val="black"/>
                </a:solidFill>
                <a:latin typeface=" Arial"/>
                <a:hlinkClick r:id="rId2"/>
              </a:rPr>
              <a:t>Sabrinna.r.cosom.civ@mail.mil</a:t>
            </a:r>
            <a:r>
              <a:rPr lang="en-US" dirty="0" smtClean="0">
                <a:solidFill>
                  <a:prstClr val="black"/>
                </a:solidFill>
                <a:latin typeface=" Arial"/>
              </a:rPr>
              <a:t> </a:t>
            </a:r>
          </a:p>
          <a:p>
            <a:pPr>
              <a:defRPr/>
            </a:pPr>
            <a:endParaRPr lang="en-US" dirty="0">
              <a:solidFill>
                <a:prstClr val="black"/>
              </a:solidFill>
              <a:latin typeface=" Arial"/>
            </a:endParaRPr>
          </a:p>
          <a:p>
            <a:pPr>
              <a:defRPr/>
            </a:pPr>
            <a:r>
              <a:rPr lang="en-US" sz="1600" b="1" dirty="0" smtClean="0">
                <a:solidFill>
                  <a:prstClr val="black"/>
                </a:solidFill>
                <a:latin typeface=" Arial"/>
              </a:rPr>
              <a:t>*Subject to Cancellation</a:t>
            </a:r>
            <a:endParaRPr lang="en-US" sz="1600" b="1" dirty="0">
              <a:solidFill>
                <a:prstClr val="black"/>
              </a:solidFill>
              <a:latin typeface=" Arial"/>
            </a:endParaRPr>
          </a:p>
        </p:txBody>
      </p:sp>
    </p:spTree>
    <p:extLst>
      <p:ext uri="{BB962C8B-B14F-4D97-AF65-F5344CB8AC3E}">
        <p14:creationId xmlns:p14="http://schemas.microsoft.com/office/powerpoint/2010/main" val="294317881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schemeClr val="bg1"/>
                </a:solidFill>
                <a:latin typeface=" Arial"/>
              </a:rPr>
              <a:t>Chief Staff of the Army, G 3/5/7</a:t>
            </a:r>
            <a:endParaRPr lang="en-US" sz="2800" b="1" dirty="0">
              <a:solidFill>
                <a:schemeClr val="bg1"/>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schemeClr val="bg1"/>
                </a:solidFill>
              </a:rPr>
              <a:t>7</a:t>
            </a:fld>
            <a:endParaRPr lang="en-US" sz="1000" dirty="0">
              <a:solidFill>
                <a:schemeClr val="bg1"/>
              </a:solidFill>
            </a:endParaRPr>
          </a:p>
        </p:txBody>
      </p:sp>
      <p:sp>
        <p:nvSpPr>
          <p:cNvPr id="8" name="TextBox 8"/>
          <p:cNvSpPr txBox="1">
            <a:spLocks noChangeArrowheads="1"/>
          </p:cNvSpPr>
          <p:nvPr/>
        </p:nvSpPr>
        <p:spPr bwMode="auto">
          <a:xfrm>
            <a:off x="0" y="1066800"/>
            <a:ext cx="9144000" cy="5463034"/>
          </a:xfrm>
          <a:prstGeom prst="rect">
            <a:avLst/>
          </a:prstGeom>
          <a:noFill/>
          <a:ln w="9525">
            <a:noFill/>
            <a:miter lim="800000"/>
            <a:headEnd/>
            <a:tailEnd/>
          </a:ln>
        </p:spPr>
        <p:txBody>
          <a:bodyPr wrap="square">
            <a:spAutoFit/>
          </a:bodyPr>
          <a:lstStyle/>
          <a:p>
            <a:pPr>
              <a:defRPr/>
            </a:pPr>
            <a:r>
              <a:rPr lang="en-US" u="sng" dirty="0" smtClean="0">
                <a:latin typeface=" Arial"/>
              </a:rPr>
              <a:t>Project Title</a:t>
            </a:r>
            <a:r>
              <a:rPr lang="en-US" dirty="0" smtClean="0">
                <a:latin typeface=" Arial"/>
              </a:rPr>
              <a:t>:  Continuity of Operations (COOP) </a:t>
            </a:r>
          </a:p>
          <a:p>
            <a:r>
              <a:rPr lang="en-US" u="sng" dirty="0" smtClean="0">
                <a:latin typeface=" Arial"/>
              </a:rPr>
              <a:t>Project Summary</a:t>
            </a:r>
            <a:r>
              <a:rPr lang="en-US" dirty="0" smtClean="0">
                <a:latin typeface=" Arial"/>
              </a:rPr>
              <a:t>:  </a:t>
            </a:r>
            <a:r>
              <a:rPr lang="en-US" dirty="0">
                <a:latin typeface=" Arial"/>
              </a:rPr>
              <a:t>The contractor shall s</a:t>
            </a:r>
            <a:r>
              <a:rPr lang="en-US" dirty="0" smtClean="0">
                <a:latin typeface=" Arial"/>
              </a:rPr>
              <a:t>upport Headquarters, Department of the Army (HQDA) </a:t>
            </a:r>
            <a:r>
              <a:rPr lang="en-US" dirty="0">
                <a:latin typeface=" Arial"/>
              </a:rPr>
              <a:t>with its COOP policy, plans, operations and training in accordance with AR 500-3, DOD Directive 3020.26, and Federal Continuity Directives One and Two to ensure HQDA Command and Control throughout the “all hazards” threat spectrum of evolving, attack-related, terrorist-related, and catastrophic natural post-Cold War threats.</a:t>
            </a:r>
          </a:p>
          <a:p>
            <a:pPr>
              <a:defRPr/>
            </a:pPr>
            <a:endParaRPr lang="en-US" u="sng" dirty="0" smtClean="0">
              <a:latin typeface=" Arial"/>
            </a:endParaRPr>
          </a:p>
          <a:p>
            <a:pPr>
              <a:defRPr/>
            </a:pPr>
            <a:r>
              <a:rPr lang="en-US" u="sng" dirty="0" smtClean="0">
                <a:latin typeface=" Arial"/>
              </a:rPr>
              <a:t>Prior/Current Contract Information</a:t>
            </a:r>
            <a:r>
              <a:rPr lang="en-US" dirty="0" smtClean="0">
                <a:latin typeface=" Arial"/>
              </a:rPr>
              <a:t>:</a:t>
            </a:r>
          </a:p>
          <a:p>
            <a:pPr>
              <a:defRPr/>
            </a:pPr>
            <a:r>
              <a:rPr lang="en-US" dirty="0">
                <a:latin typeface=" Arial"/>
              </a:rPr>
              <a:t>	</a:t>
            </a:r>
            <a:r>
              <a:rPr lang="en-US" dirty="0" smtClean="0">
                <a:latin typeface=" Arial"/>
              </a:rPr>
              <a:t>Contract Number:  W91CRB-14-C-0024</a:t>
            </a:r>
          </a:p>
          <a:p>
            <a:pPr>
              <a:defRPr/>
            </a:pPr>
            <a:r>
              <a:rPr lang="en-US" dirty="0" smtClean="0">
                <a:latin typeface=" Arial"/>
              </a:rPr>
              <a:t>	Incumbent Contractor:  Advanced Facility Management Services, Inc</a:t>
            </a:r>
          </a:p>
          <a:p>
            <a:pPr>
              <a:defRPr/>
            </a:pPr>
            <a:endParaRPr lang="en-US" dirty="0">
              <a:latin typeface=" Arial"/>
            </a:endParaRPr>
          </a:p>
          <a:p>
            <a:pPr>
              <a:defRPr/>
            </a:pPr>
            <a:r>
              <a:rPr lang="en-US" dirty="0" smtClean="0">
                <a:latin typeface=" Arial"/>
              </a:rPr>
              <a:t>Note: This opportunity will be posted on FedBizOps as a small business set aside. </a:t>
            </a:r>
          </a:p>
          <a:p>
            <a:pPr>
              <a:defRPr/>
            </a:pPr>
            <a:endParaRPr lang="en-US" dirty="0" smtClean="0">
              <a:latin typeface=" Arial"/>
            </a:endParaRPr>
          </a:p>
          <a:p>
            <a:pPr>
              <a:defRPr/>
            </a:pPr>
            <a:r>
              <a:rPr lang="en-US" u="sng" dirty="0" smtClean="0">
                <a:latin typeface=" Arial"/>
              </a:rPr>
              <a:t>Contract Type</a:t>
            </a:r>
            <a:r>
              <a:rPr lang="en-US" dirty="0" smtClean="0">
                <a:latin typeface=" Arial"/>
              </a:rPr>
              <a:t>:  CPFF</a:t>
            </a:r>
          </a:p>
          <a:p>
            <a:pPr>
              <a:defRPr/>
            </a:pPr>
            <a:r>
              <a:rPr lang="en-US" u="sng" dirty="0" smtClean="0">
                <a:latin typeface=" Arial"/>
              </a:rPr>
              <a:t>Estimated Value</a:t>
            </a:r>
            <a:r>
              <a:rPr lang="en-US" dirty="0" smtClean="0">
                <a:latin typeface=" Arial"/>
              </a:rPr>
              <a:t>:  $13M</a:t>
            </a:r>
          </a:p>
          <a:p>
            <a:pPr>
              <a:defRPr/>
            </a:pPr>
            <a:r>
              <a:rPr lang="en-US" u="sng" dirty="0" smtClean="0">
                <a:latin typeface=" Arial"/>
              </a:rPr>
              <a:t>Period of Performance</a:t>
            </a:r>
            <a:r>
              <a:rPr lang="en-US" dirty="0" smtClean="0">
                <a:latin typeface=" Arial"/>
              </a:rPr>
              <a:t>:  2 year period of performance</a:t>
            </a:r>
          </a:p>
          <a:p>
            <a:pPr>
              <a:defRPr/>
            </a:pPr>
            <a:r>
              <a:rPr lang="en-US" u="sng" dirty="0" smtClean="0">
                <a:latin typeface=" Arial"/>
              </a:rPr>
              <a:t>Estimated Solicitation Release Date</a:t>
            </a:r>
            <a:r>
              <a:rPr lang="en-US" dirty="0" smtClean="0">
                <a:latin typeface=" Arial"/>
              </a:rPr>
              <a:t>:  1QFY19</a:t>
            </a:r>
          </a:p>
          <a:p>
            <a:pPr>
              <a:defRPr/>
            </a:pPr>
            <a:r>
              <a:rPr lang="en-US" u="sng" dirty="0" smtClean="0">
                <a:latin typeface=" Arial"/>
              </a:rPr>
              <a:t>Contracting Contact</a:t>
            </a:r>
            <a:r>
              <a:rPr lang="en-US" dirty="0" smtClean="0">
                <a:latin typeface=" Arial"/>
              </a:rPr>
              <a:t>:  ACC-APG, Sabrinna Cosom, KO, </a:t>
            </a:r>
            <a:r>
              <a:rPr lang="en-US" dirty="0" smtClean="0">
                <a:latin typeface=" Arial"/>
                <a:hlinkClick r:id="rId2"/>
              </a:rPr>
              <a:t>Sabrinna.r.cosom.civ@mail.mil</a:t>
            </a:r>
            <a:r>
              <a:rPr lang="en-US" dirty="0" smtClean="0">
                <a:latin typeface=" Arial"/>
              </a:rPr>
              <a:t> </a:t>
            </a:r>
          </a:p>
          <a:p>
            <a:pPr>
              <a:defRPr/>
            </a:pPr>
            <a:endParaRPr lang="en-US" sz="900" dirty="0">
              <a:latin typeface=" Arial"/>
            </a:endParaRPr>
          </a:p>
          <a:p>
            <a:pPr>
              <a:defRPr/>
            </a:pPr>
            <a:r>
              <a:rPr lang="en-US" sz="1600" b="1" dirty="0" smtClean="0">
                <a:latin typeface=" Arial"/>
              </a:rPr>
              <a:t>*Subject to Cancellation</a:t>
            </a:r>
            <a:endParaRPr lang="en-US" sz="1600" b="1" dirty="0">
              <a:latin typeface=" Arial"/>
            </a:endParaRPr>
          </a:p>
        </p:txBody>
      </p:sp>
    </p:spTree>
    <p:extLst>
      <p:ext uri="{BB962C8B-B14F-4D97-AF65-F5344CB8AC3E}">
        <p14:creationId xmlns:p14="http://schemas.microsoft.com/office/powerpoint/2010/main" val="303520961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Chief Staff of the Army, G 3/5/7</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8</a:t>
            </a:fld>
            <a:endParaRPr lang="en-US" sz="1000" dirty="0">
              <a:solidFill>
                <a:prstClr val="white"/>
              </a:solidFill>
            </a:endParaRPr>
          </a:p>
        </p:txBody>
      </p:sp>
      <p:sp>
        <p:nvSpPr>
          <p:cNvPr id="8" name="TextBox 8"/>
          <p:cNvSpPr txBox="1">
            <a:spLocks noChangeArrowheads="1"/>
          </p:cNvSpPr>
          <p:nvPr/>
        </p:nvSpPr>
        <p:spPr bwMode="auto">
          <a:xfrm>
            <a:off x="0" y="990600"/>
            <a:ext cx="9144000" cy="5262979"/>
          </a:xfrm>
          <a:prstGeom prst="rect">
            <a:avLst/>
          </a:prstGeom>
          <a:noFill/>
          <a:ln w="9525">
            <a:noFill/>
            <a:miter lim="800000"/>
            <a:headEnd/>
            <a:tailEnd/>
          </a:ln>
        </p:spPr>
        <p:txBody>
          <a:bodyPr wrap="square">
            <a:spAutoFit/>
          </a:bodyPr>
          <a:lstStyle/>
          <a:p>
            <a:pPr>
              <a:defRPr/>
            </a:pPr>
            <a:r>
              <a:rPr lang="en-US" u="sng" dirty="0" smtClean="0">
                <a:solidFill>
                  <a:prstClr val="black"/>
                </a:solidFill>
                <a:latin typeface=" Arial"/>
              </a:rPr>
              <a:t>Project Title</a:t>
            </a:r>
            <a:r>
              <a:rPr lang="en-US" dirty="0" smtClean="0">
                <a:solidFill>
                  <a:prstClr val="black"/>
                </a:solidFill>
                <a:latin typeface=" Arial"/>
              </a:rPr>
              <a:t>:  Chief Information Office (CIO) Support Services</a:t>
            </a:r>
          </a:p>
          <a:p>
            <a:r>
              <a:rPr lang="en-US" u="sng" dirty="0" smtClean="0">
                <a:solidFill>
                  <a:prstClr val="black"/>
                </a:solidFill>
                <a:latin typeface=" Arial"/>
              </a:rPr>
              <a:t>Project Summary</a:t>
            </a:r>
            <a:r>
              <a:rPr lang="en-US" dirty="0" smtClean="0">
                <a:solidFill>
                  <a:prstClr val="black"/>
                </a:solidFill>
                <a:latin typeface=" Arial"/>
              </a:rPr>
              <a:t>:  </a:t>
            </a:r>
            <a:r>
              <a:rPr lang="en-US" dirty="0">
                <a:latin typeface=" Arial"/>
              </a:rPr>
              <a:t>This is a </a:t>
            </a:r>
            <a:r>
              <a:rPr lang="en-US" dirty="0" smtClean="0">
                <a:latin typeface=" Arial"/>
              </a:rPr>
              <a:t>non-personal </a:t>
            </a:r>
            <a:r>
              <a:rPr lang="en-US" dirty="0">
                <a:latin typeface=" Arial"/>
              </a:rPr>
              <a:t>services contract to </a:t>
            </a:r>
            <a:r>
              <a:rPr lang="en-US" dirty="0" smtClean="0">
                <a:latin typeface=" Arial"/>
              </a:rPr>
              <a:t>develop</a:t>
            </a:r>
            <a:r>
              <a:rPr lang="en-US" dirty="0">
                <a:latin typeface=" Arial"/>
              </a:rPr>
              <a:t>, implement, maintain and document CIO business processes to enforce IT policy, IT Portfolio Management, IT Governance/Capital Planning and Investment Management (CPIM), Enterprise Architecture (EA), and project management discipline </a:t>
            </a:r>
            <a:r>
              <a:rPr lang="en-US" dirty="0" smtClean="0">
                <a:latin typeface=" Arial"/>
              </a:rPr>
              <a:t>as </a:t>
            </a:r>
            <a:r>
              <a:rPr lang="en-US" dirty="0">
                <a:latin typeface=" Arial"/>
              </a:rPr>
              <a:t>it relates to management of G-3/5/7 IT systems, capabilities and the Warfighting Mission Area (WMA).</a:t>
            </a:r>
          </a:p>
          <a:p>
            <a:endParaRPr lang="en-US" sz="800" u="sng" dirty="0">
              <a:solidFill>
                <a:prstClr val="black"/>
              </a:solidFill>
              <a:latin typeface=" Arial"/>
            </a:endParaRPr>
          </a:p>
          <a:p>
            <a:r>
              <a:rPr lang="en-US" u="sng" dirty="0" smtClean="0">
                <a:solidFill>
                  <a:prstClr val="black"/>
                </a:solidFill>
                <a:latin typeface=" Arial"/>
              </a:rPr>
              <a:t>Prior/Current Contract Information</a:t>
            </a:r>
            <a:r>
              <a:rPr lang="en-US" dirty="0" smtClean="0">
                <a:solidFill>
                  <a:prstClr val="black"/>
                </a:solidFill>
                <a:latin typeface=" Arial"/>
              </a:rPr>
              <a:t>:</a:t>
            </a:r>
          </a:p>
          <a:p>
            <a:pPr>
              <a:defRPr/>
            </a:pPr>
            <a:r>
              <a:rPr lang="en-US" dirty="0">
                <a:solidFill>
                  <a:prstClr val="black"/>
                </a:solidFill>
                <a:latin typeface=" Arial"/>
              </a:rPr>
              <a:t>	</a:t>
            </a:r>
            <a:r>
              <a:rPr lang="en-US" dirty="0" smtClean="0">
                <a:solidFill>
                  <a:prstClr val="black"/>
                </a:solidFill>
                <a:latin typeface=" Arial"/>
              </a:rPr>
              <a:t>Contract Number:  W91CRB-14-C-0045</a:t>
            </a:r>
          </a:p>
          <a:p>
            <a:pPr>
              <a:defRPr/>
            </a:pPr>
            <a:r>
              <a:rPr lang="en-US" dirty="0" smtClean="0">
                <a:solidFill>
                  <a:prstClr val="black"/>
                </a:solidFill>
                <a:latin typeface=" Arial"/>
              </a:rPr>
              <a:t>	Incumbent Contractor:  E-</a:t>
            </a:r>
            <a:r>
              <a:rPr lang="en-US" dirty="0" err="1" smtClean="0">
                <a:solidFill>
                  <a:prstClr val="black"/>
                </a:solidFill>
                <a:latin typeface=" Arial"/>
              </a:rPr>
              <a:t>Paga</a:t>
            </a:r>
            <a:r>
              <a:rPr lang="en-US" dirty="0" smtClean="0">
                <a:solidFill>
                  <a:prstClr val="black"/>
                </a:solidFill>
                <a:latin typeface=" Arial"/>
              </a:rPr>
              <a:t>, </a:t>
            </a:r>
            <a:r>
              <a:rPr lang="en-US" dirty="0" err="1" smtClean="0">
                <a:solidFill>
                  <a:prstClr val="black"/>
                </a:solidFill>
                <a:latin typeface=" Arial"/>
              </a:rPr>
              <a:t>Inc</a:t>
            </a:r>
            <a:endParaRPr lang="en-US" dirty="0" smtClean="0">
              <a:solidFill>
                <a:prstClr val="black"/>
              </a:solidFill>
              <a:latin typeface=" Arial"/>
            </a:endParaRPr>
          </a:p>
          <a:p>
            <a:pPr>
              <a:defRPr/>
            </a:pPr>
            <a:endParaRPr lang="en-US" sz="800" dirty="0">
              <a:solidFill>
                <a:prstClr val="black"/>
              </a:solidFill>
              <a:latin typeface=" Arial"/>
            </a:endParaRPr>
          </a:p>
          <a:p>
            <a:pPr>
              <a:defRPr/>
            </a:pPr>
            <a:r>
              <a:rPr lang="en-US" dirty="0" smtClean="0">
                <a:solidFill>
                  <a:prstClr val="black"/>
                </a:solidFill>
                <a:latin typeface=" Arial"/>
              </a:rPr>
              <a:t>Note: This opportunity will be solicited amongst 8(a) Small Businesses Concerns</a:t>
            </a:r>
          </a:p>
          <a:p>
            <a:pPr>
              <a:defRPr/>
            </a:pPr>
            <a:endParaRPr lang="en-US" sz="800" dirty="0" smtClean="0">
              <a:solidFill>
                <a:prstClr val="black"/>
              </a:solidFill>
              <a:latin typeface=" Arial"/>
            </a:endParaRPr>
          </a:p>
          <a:p>
            <a:pPr>
              <a:defRPr/>
            </a:pPr>
            <a:r>
              <a:rPr lang="en-US" u="sng" dirty="0" smtClean="0">
                <a:solidFill>
                  <a:prstClr val="black"/>
                </a:solidFill>
                <a:latin typeface=" Arial"/>
              </a:rPr>
              <a:t>Contract Type</a:t>
            </a:r>
            <a:r>
              <a:rPr lang="en-US" dirty="0" smtClean="0">
                <a:solidFill>
                  <a:prstClr val="black"/>
                </a:solidFill>
                <a:latin typeface=" Arial"/>
              </a:rPr>
              <a:t>:  CPFF</a:t>
            </a:r>
          </a:p>
          <a:p>
            <a:pPr>
              <a:defRPr/>
            </a:pPr>
            <a:r>
              <a:rPr lang="en-US" u="sng" dirty="0" smtClean="0">
                <a:solidFill>
                  <a:prstClr val="black"/>
                </a:solidFill>
                <a:latin typeface=" Arial"/>
              </a:rPr>
              <a:t>Estimated Value</a:t>
            </a:r>
            <a:r>
              <a:rPr lang="en-US" dirty="0" smtClean="0">
                <a:solidFill>
                  <a:prstClr val="black"/>
                </a:solidFill>
                <a:latin typeface=" Arial"/>
              </a:rPr>
              <a:t>:  $11M</a:t>
            </a:r>
          </a:p>
          <a:p>
            <a:pPr>
              <a:defRPr/>
            </a:pPr>
            <a:r>
              <a:rPr lang="en-US" u="sng" dirty="0" smtClean="0">
                <a:solidFill>
                  <a:prstClr val="black"/>
                </a:solidFill>
                <a:latin typeface=" Arial"/>
              </a:rPr>
              <a:t>Period of Performance</a:t>
            </a:r>
            <a:r>
              <a:rPr lang="en-US" dirty="0" smtClean="0">
                <a:solidFill>
                  <a:prstClr val="black"/>
                </a:solidFill>
                <a:latin typeface=" Arial"/>
              </a:rPr>
              <a:t>:  5 year period of performance</a:t>
            </a:r>
          </a:p>
          <a:p>
            <a:pPr>
              <a:defRPr/>
            </a:pPr>
            <a:r>
              <a:rPr lang="en-US" u="sng" dirty="0" smtClean="0">
                <a:solidFill>
                  <a:prstClr val="black"/>
                </a:solidFill>
                <a:latin typeface=" Arial"/>
              </a:rPr>
              <a:t>Estimated Solicitation Release Date</a:t>
            </a:r>
            <a:r>
              <a:rPr lang="en-US" dirty="0" smtClean="0">
                <a:solidFill>
                  <a:prstClr val="black"/>
                </a:solidFill>
                <a:latin typeface=" Arial"/>
              </a:rPr>
              <a:t>:  4QFY18</a:t>
            </a:r>
          </a:p>
          <a:p>
            <a:pPr>
              <a:defRPr/>
            </a:pPr>
            <a:r>
              <a:rPr lang="en-US" u="sng" dirty="0" smtClean="0">
                <a:solidFill>
                  <a:prstClr val="black"/>
                </a:solidFill>
                <a:latin typeface=" Arial"/>
              </a:rPr>
              <a:t>Contracting Contact</a:t>
            </a:r>
            <a:r>
              <a:rPr lang="en-US" dirty="0" smtClean="0">
                <a:solidFill>
                  <a:prstClr val="black"/>
                </a:solidFill>
                <a:latin typeface=" Arial"/>
              </a:rPr>
              <a:t>:  ACC-APG, Sabrinna Cosom, KO, </a:t>
            </a:r>
            <a:r>
              <a:rPr lang="en-US" dirty="0" smtClean="0">
                <a:solidFill>
                  <a:prstClr val="black"/>
                </a:solidFill>
                <a:latin typeface=" Arial"/>
                <a:hlinkClick r:id="rId2"/>
              </a:rPr>
              <a:t>Sabrinna.r.cosom.civ@mail.mil</a:t>
            </a:r>
            <a:r>
              <a:rPr lang="en-US" dirty="0" smtClean="0">
                <a:solidFill>
                  <a:prstClr val="black"/>
                </a:solidFill>
                <a:latin typeface=" Arial"/>
              </a:rPr>
              <a:t> </a:t>
            </a:r>
          </a:p>
          <a:p>
            <a:pPr>
              <a:defRPr/>
            </a:pPr>
            <a:endParaRPr lang="en-US" sz="800" dirty="0">
              <a:solidFill>
                <a:prstClr val="black"/>
              </a:solidFill>
              <a:latin typeface=" Arial"/>
            </a:endParaRPr>
          </a:p>
          <a:p>
            <a:pPr>
              <a:defRPr/>
            </a:pPr>
            <a:r>
              <a:rPr lang="en-US" sz="1600" b="1" dirty="0" smtClean="0">
                <a:solidFill>
                  <a:prstClr val="black"/>
                </a:solidFill>
                <a:latin typeface=" Arial"/>
              </a:rPr>
              <a:t>*Subject to Cancellation</a:t>
            </a:r>
            <a:endParaRPr lang="en-US" sz="1600" b="1" dirty="0">
              <a:solidFill>
                <a:prstClr val="black"/>
              </a:solidFill>
              <a:latin typeface=" Arial"/>
            </a:endParaRPr>
          </a:p>
        </p:txBody>
      </p:sp>
    </p:spTree>
    <p:extLst>
      <p:ext uri="{BB962C8B-B14F-4D97-AF65-F5344CB8AC3E}">
        <p14:creationId xmlns:p14="http://schemas.microsoft.com/office/powerpoint/2010/main" val="402781764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800" dirty="0">
                <a:solidFill>
                  <a:schemeClr val="bg1"/>
                </a:solidFill>
              </a:rPr>
              <a:t>Deputy Assistant Secretary of the Army </a:t>
            </a:r>
            <a:r>
              <a:rPr lang="en-US" sz="1800" dirty="0" smtClean="0">
                <a:solidFill>
                  <a:schemeClr val="bg1"/>
                </a:solidFill>
              </a:rPr>
              <a:t>Cost and Economics</a:t>
            </a:r>
            <a:endParaRPr lang="en-US" sz="1800" dirty="0">
              <a:solidFill>
                <a:schemeClr val="bg1"/>
              </a:solidFil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schemeClr val="bg1"/>
                </a:solidFill>
              </a:rPr>
              <a:t>9</a:t>
            </a:fld>
            <a:endParaRPr lang="en-US" sz="1000" dirty="0">
              <a:solidFill>
                <a:schemeClr val="bg1"/>
              </a:solidFill>
            </a:endParaRPr>
          </a:p>
        </p:txBody>
      </p:sp>
      <p:sp>
        <p:nvSpPr>
          <p:cNvPr id="8" name="TextBox 8"/>
          <p:cNvSpPr txBox="1">
            <a:spLocks noChangeArrowheads="1"/>
          </p:cNvSpPr>
          <p:nvPr/>
        </p:nvSpPr>
        <p:spPr bwMode="auto">
          <a:xfrm>
            <a:off x="0" y="1066800"/>
            <a:ext cx="9144000" cy="4862870"/>
          </a:xfrm>
          <a:prstGeom prst="rect">
            <a:avLst/>
          </a:prstGeom>
          <a:noFill/>
          <a:ln w="9525">
            <a:noFill/>
            <a:miter lim="800000"/>
            <a:headEnd/>
            <a:tailEnd/>
          </a:ln>
        </p:spPr>
        <p:txBody>
          <a:bodyPr wrap="square">
            <a:spAutoFit/>
          </a:bodyPr>
          <a:lstStyle/>
          <a:p>
            <a:pPr>
              <a:defRPr/>
            </a:pPr>
            <a:r>
              <a:rPr lang="en-US" u="sng" dirty="0" smtClean="0">
                <a:latin typeface=" Arial"/>
              </a:rPr>
              <a:t>Project Title</a:t>
            </a:r>
            <a:r>
              <a:rPr lang="en-US" dirty="0" smtClean="0">
                <a:latin typeface=" Arial"/>
              </a:rPr>
              <a:t>:  Army Cost Management Services</a:t>
            </a:r>
          </a:p>
          <a:p>
            <a:pPr>
              <a:defRPr/>
            </a:pPr>
            <a:r>
              <a:rPr lang="en-US" u="sng" dirty="0" smtClean="0">
                <a:latin typeface=" Arial"/>
              </a:rPr>
              <a:t>Project Summary</a:t>
            </a:r>
            <a:r>
              <a:rPr lang="en-US" dirty="0" smtClean="0">
                <a:latin typeface=" Arial"/>
              </a:rPr>
              <a:t>:  </a:t>
            </a:r>
            <a:r>
              <a:rPr lang="en-US" dirty="0">
                <a:latin typeface=" Arial"/>
              </a:rPr>
              <a:t>The contractor shall </a:t>
            </a:r>
            <a:r>
              <a:rPr lang="en-US" dirty="0" smtClean="0">
                <a:latin typeface=" Arial"/>
              </a:rPr>
              <a:t>develop </a:t>
            </a:r>
            <a:r>
              <a:rPr lang="en-US" dirty="0">
                <a:latin typeface=" Arial"/>
              </a:rPr>
              <a:t>an Army Cost Framework (</a:t>
            </a:r>
            <a:r>
              <a:rPr lang="en-US" dirty="0" smtClean="0">
                <a:latin typeface=" Arial"/>
              </a:rPr>
              <a:t>ACF) which will </a:t>
            </a:r>
            <a:r>
              <a:rPr lang="en-US" dirty="0">
                <a:latin typeface=" Arial"/>
              </a:rPr>
              <a:t>define, coordinate</a:t>
            </a:r>
            <a:r>
              <a:rPr lang="en-US" dirty="0" smtClean="0">
                <a:latin typeface=" Arial"/>
              </a:rPr>
              <a:t>, integrate</a:t>
            </a:r>
            <a:r>
              <a:rPr lang="en-US" dirty="0">
                <a:latin typeface=" Arial"/>
              </a:rPr>
              <a:t>, and automate the cost and performance data needed for timely decision making and resource </a:t>
            </a:r>
            <a:r>
              <a:rPr lang="en-US" dirty="0" smtClean="0">
                <a:latin typeface=" Arial"/>
              </a:rPr>
              <a:t>management of </a:t>
            </a:r>
            <a:r>
              <a:rPr lang="en-US" dirty="0">
                <a:latin typeface=" Arial"/>
              </a:rPr>
              <a:t>end-to-end business processes, such as, Order to Cash, Procure to Pay, Budget to Report, Cost Management, </a:t>
            </a:r>
            <a:r>
              <a:rPr lang="en-US" dirty="0" smtClean="0">
                <a:latin typeface=" Arial"/>
              </a:rPr>
              <a:t>and Planning </a:t>
            </a:r>
            <a:r>
              <a:rPr lang="en-US" dirty="0">
                <a:latin typeface=" Arial"/>
              </a:rPr>
              <a:t>Programming Budgeting Executing (PPBE</a:t>
            </a:r>
            <a:r>
              <a:rPr lang="en-US" dirty="0" smtClean="0">
                <a:latin typeface=" Arial"/>
              </a:rPr>
              <a:t>).</a:t>
            </a:r>
          </a:p>
          <a:p>
            <a:endParaRPr lang="en-US" sz="800" u="sng" dirty="0">
              <a:latin typeface=" Arial"/>
            </a:endParaRPr>
          </a:p>
          <a:p>
            <a:r>
              <a:rPr lang="en-US" u="sng" dirty="0" smtClean="0">
                <a:latin typeface=" Arial"/>
              </a:rPr>
              <a:t>Prior/Current Contract Information</a:t>
            </a:r>
            <a:r>
              <a:rPr lang="en-US" dirty="0" smtClean="0">
                <a:latin typeface=" Arial"/>
              </a:rPr>
              <a:t>:</a:t>
            </a:r>
          </a:p>
          <a:p>
            <a:pPr>
              <a:defRPr/>
            </a:pPr>
            <a:r>
              <a:rPr lang="en-US" dirty="0">
                <a:latin typeface=" Arial"/>
              </a:rPr>
              <a:t>	</a:t>
            </a:r>
            <a:r>
              <a:rPr lang="en-US" dirty="0" smtClean="0">
                <a:latin typeface=" Arial"/>
              </a:rPr>
              <a:t>Contract Number:  W91CRB-16-P-0094</a:t>
            </a:r>
          </a:p>
          <a:p>
            <a:pPr>
              <a:defRPr/>
            </a:pPr>
            <a:r>
              <a:rPr lang="en-US" dirty="0" smtClean="0">
                <a:latin typeface=" Arial"/>
              </a:rPr>
              <a:t>	Incumbent Contractor:  Alta Via Consulting, LLC. </a:t>
            </a:r>
          </a:p>
          <a:p>
            <a:pPr>
              <a:defRPr/>
            </a:pPr>
            <a:endParaRPr lang="en-US" sz="800" dirty="0" smtClean="0">
              <a:latin typeface=" Arial"/>
            </a:endParaRPr>
          </a:p>
          <a:p>
            <a:pPr>
              <a:defRPr/>
            </a:pPr>
            <a:r>
              <a:rPr lang="en-US" dirty="0" smtClean="0">
                <a:latin typeface=" Arial"/>
              </a:rPr>
              <a:t>Note: </a:t>
            </a:r>
            <a:r>
              <a:rPr lang="en-US" dirty="0">
                <a:latin typeface=" Arial"/>
              </a:rPr>
              <a:t>This opportunity will be </a:t>
            </a:r>
            <a:r>
              <a:rPr lang="en-US" dirty="0" smtClean="0">
                <a:latin typeface=" Arial"/>
              </a:rPr>
              <a:t>posted on </a:t>
            </a:r>
            <a:r>
              <a:rPr lang="en-US" dirty="0" err="1">
                <a:latin typeface=" Arial"/>
              </a:rPr>
              <a:t>FedBizOps</a:t>
            </a:r>
            <a:r>
              <a:rPr lang="en-US" dirty="0">
                <a:latin typeface=" Arial"/>
              </a:rPr>
              <a:t> </a:t>
            </a:r>
            <a:r>
              <a:rPr lang="en-US" dirty="0" smtClean="0">
                <a:latin typeface=" Arial"/>
              </a:rPr>
              <a:t>as a Small Business set aside. </a:t>
            </a:r>
            <a:endParaRPr lang="en-US" dirty="0">
              <a:latin typeface=" Arial"/>
            </a:endParaRPr>
          </a:p>
          <a:p>
            <a:pPr>
              <a:defRPr/>
            </a:pPr>
            <a:endParaRPr lang="en-US" sz="800" dirty="0" smtClean="0">
              <a:latin typeface=" Arial"/>
            </a:endParaRPr>
          </a:p>
          <a:p>
            <a:pPr>
              <a:defRPr/>
            </a:pPr>
            <a:r>
              <a:rPr lang="en-US" u="sng" dirty="0" smtClean="0">
                <a:latin typeface=" Arial"/>
              </a:rPr>
              <a:t>Contract Type</a:t>
            </a:r>
            <a:r>
              <a:rPr lang="en-US" dirty="0" smtClean="0">
                <a:latin typeface=" Arial"/>
              </a:rPr>
              <a:t>:  FPP</a:t>
            </a:r>
          </a:p>
          <a:p>
            <a:pPr>
              <a:defRPr/>
            </a:pPr>
            <a:r>
              <a:rPr lang="en-US" u="sng" dirty="0" smtClean="0">
                <a:latin typeface=" Arial"/>
              </a:rPr>
              <a:t>Estimated Value</a:t>
            </a:r>
            <a:r>
              <a:rPr lang="en-US" dirty="0" smtClean="0">
                <a:latin typeface=" Arial"/>
              </a:rPr>
              <a:t>:  $17M</a:t>
            </a:r>
          </a:p>
          <a:p>
            <a:pPr>
              <a:defRPr/>
            </a:pPr>
            <a:r>
              <a:rPr lang="en-US" u="sng" dirty="0" smtClean="0">
                <a:latin typeface=" Arial"/>
              </a:rPr>
              <a:t>Period of Performance</a:t>
            </a:r>
            <a:r>
              <a:rPr lang="en-US" dirty="0" smtClean="0">
                <a:latin typeface=" Arial"/>
              </a:rPr>
              <a:t>:  5 year period of performance</a:t>
            </a:r>
          </a:p>
          <a:p>
            <a:pPr>
              <a:defRPr/>
            </a:pPr>
            <a:r>
              <a:rPr lang="en-US" u="sng" dirty="0" smtClean="0">
                <a:latin typeface=" Arial"/>
              </a:rPr>
              <a:t>Estimated Solicitation Release Date</a:t>
            </a:r>
            <a:r>
              <a:rPr lang="en-US" dirty="0" smtClean="0">
                <a:latin typeface=" Arial"/>
              </a:rPr>
              <a:t>:  1QFY19</a:t>
            </a:r>
          </a:p>
          <a:p>
            <a:pPr>
              <a:defRPr/>
            </a:pPr>
            <a:r>
              <a:rPr lang="en-US" u="sng" dirty="0" smtClean="0">
                <a:latin typeface=" Arial"/>
              </a:rPr>
              <a:t>Contracting Contact</a:t>
            </a:r>
            <a:r>
              <a:rPr lang="en-US" dirty="0" smtClean="0">
                <a:latin typeface=" Arial"/>
              </a:rPr>
              <a:t>:  ACC-APG, Alex Obriwin, KO, </a:t>
            </a:r>
            <a:r>
              <a:rPr lang="en-US" dirty="0" smtClean="0">
                <a:latin typeface=" Arial"/>
                <a:hlinkClick r:id="rId2"/>
              </a:rPr>
              <a:t>alexander.s.obriwin.civ@mail.mil</a:t>
            </a:r>
            <a:r>
              <a:rPr lang="en-US" dirty="0" smtClean="0">
                <a:latin typeface=" Arial"/>
              </a:rPr>
              <a:t> </a:t>
            </a:r>
          </a:p>
          <a:p>
            <a:pPr>
              <a:defRPr/>
            </a:pPr>
            <a:r>
              <a:rPr lang="en-US" sz="1600" b="1" dirty="0" smtClean="0">
                <a:latin typeface=" Arial"/>
              </a:rPr>
              <a:t>*Subject to Cancellation</a:t>
            </a:r>
            <a:endParaRPr lang="en-US" sz="1600" b="1" dirty="0">
              <a:latin typeface=" Arial"/>
            </a:endParaRPr>
          </a:p>
        </p:txBody>
      </p:sp>
    </p:spTree>
    <p:extLst>
      <p:ext uri="{BB962C8B-B14F-4D97-AF65-F5344CB8AC3E}">
        <p14:creationId xmlns:p14="http://schemas.microsoft.com/office/powerpoint/2010/main" val="140205905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600" b="1" dirty="0" smtClean="0">
                <a:solidFill>
                  <a:prstClr val="white"/>
                </a:solidFill>
                <a:latin typeface=" Arial"/>
              </a:rPr>
              <a:t>USASAC (Foreign Military Sales - FMS)</a:t>
            </a:r>
            <a:endParaRPr lang="en-US" sz="26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10</a:t>
            </a:fld>
            <a:endParaRPr lang="en-US" sz="1000" dirty="0">
              <a:solidFill>
                <a:prstClr val="white"/>
              </a:solidFill>
            </a:endParaRPr>
          </a:p>
        </p:txBody>
      </p:sp>
      <p:sp>
        <p:nvSpPr>
          <p:cNvPr id="8" name="TextBox 8"/>
          <p:cNvSpPr txBox="1">
            <a:spLocks noChangeArrowheads="1"/>
          </p:cNvSpPr>
          <p:nvPr/>
        </p:nvSpPr>
        <p:spPr bwMode="auto">
          <a:xfrm>
            <a:off x="0" y="1066800"/>
            <a:ext cx="9144000" cy="5324535"/>
          </a:xfrm>
          <a:prstGeom prst="rect">
            <a:avLst/>
          </a:prstGeom>
          <a:noFill/>
          <a:ln w="9525">
            <a:noFill/>
            <a:miter lim="800000"/>
            <a:headEnd/>
            <a:tailEnd/>
          </a:ln>
        </p:spPr>
        <p:txBody>
          <a:bodyPr wrap="square">
            <a:spAutoFit/>
          </a:bodyPr>
          <a:lstStyle/>
          <a:p>
            <a:pPr>
              <a:defRPr/>
            </a:pPr>
            <a:r>
              <a:rPr lang="en-US" sz="1600" u="sng" dirty="0" smtClean="0">
                <a:solidFill>
                  <a:prstClr val="black"/>
                </a:solidFill>
                <a:latin typeface=" Arial"/>
              </a:rPr>
              <a:t>Project Title</a:t>
            </a:r>
            <a:r>
              <a:rPr lang="en-US" sz="1600" dirty="0" smtClean="0">
                <a:solidFill>
                  <a:prstClr val="black"/>
                </a:solidFill>
                <a:latin typeface=" Arial"/>
              </a:rPr>
              <a:t>:  Small Arms Protective Insert (SAPI)</a:t>
            </a:r>
          </a:p>
          <a:p>
            <a:pPr>
              <a:defRPr/>
            </a:pPr>
            <a:r>
              <a:rPr lang="en-US" sz="1600" u="sng" dirty="0" smtClean="0">
                <a:solidFill>
                  <a:prstClr val="black"/>
                </a:solidFill>
                <a:latin typeface=" Arial"/>
              </a:rPr>
              <a:t>Project Summary</a:t>
            </a:r>
            <a:r>
              <a:rPr lang="en-US" sz="1600" dirty="0" smtClean="0">
                <a:solidFill>
                  <a:prstClr val="black"/>
                </a:solidFill>
                <a:latin typeface=" Arial"/>
              </a:rPr>
              <a:t>:  </a:t>
            </a:r>
            <a:r>
              <a:rPr lang="en-US" sz="1600" dirty="0">
                <a:solidFill>
                  <a:prstClr val="black"/>
                </a:solidFill>
                <a:latin typeface=" Arial"/>
              </a:rPr>
              <a:t>The </a:t>
            </a:r>
            <a:r>
              <a:rPr lang="en-US" sz="1600" dirty="0" smtClean="0">
                <a:solidFill>
                  <a:prstClr val="black"/>
                </a:solidFill>
                <a:latin typeface=" Arial"/>
              </a:rPr>
              <a:t>SAPI</a:t>
            </a:r>
            <a:r>
              <a:rPr lang="en-US" sz="1600" dirty="0">
                <a:solidFill>
                  <a:prstClr val="black"/>
                </a:solidFill>
                <a:latin typeface=" Arial"/>
              </a:rPr>
              <a:t>, which </a:t>
            </a:r>
            <a:r>
              <a:rPr lang="en-US" sz="1600" dirty="0" smtClean="0">
                <a:solidFill>
                  <a:prstClr val="black"/>
                </a:solidFill>
                <a:latin typeface=" Arial"/>
              </a:rPr>
              <a:t>supports FMS </a:t>
            </a:r>
            <a:r>
              <a:rPr lang="en-US" sz="1600" dirty="0">
                <a:solidFill>
                  <a:prstClr val="black"/>
                </a:solidFill>
                <a:latin typeface=" Arial"/>
              </a:rPr>
              <a:t>customers </a:t>
            </a:r>
            <a:r>
              <a:rPr lang="en-US" sz="1600" dirty="0" smtClean="0">
                <a:solidFill>
                  <a:prstClr val="black"/>
                </a:solidFill>
                <a:latin typeface=" Arial"/>
              </a:rPr>
              <a:t>that are </a:t>
            </a:r>
            <a:r>
              <a:rPr lang="en-US" sz="1600" dirty="0">
                <a:solidFill>
                  <a:prstClr val="black"/>
                </a:solidFill>
                <a:latin typeface=" Arial"/>
              </a:rPr>
              <a:t>currently deployed or scheduled to deploy to combat </a:t>
            </a:r>
            <a:r>
              <a:rPr lang="en-US" sz="1600" dirty="0" smtClean="0">
                <a:solidFill>
                  <a:prstClr val="black"/>
                </a:solidFill>
                <a:latin typeface=" Arial"/>
              </a:rPr>
              <a:t>operations, </a:t>
            </a:r>
            <a:r>
              <a:rPr lang="en-US" sz="1600" dirty="0">
                <a:solidFill>
                  <a:prstClr val="black"/>
                </a:solidFill>
                <a:latin typeface=" Arial"/>
              </a:rPr>
              <a:t>is a sized and contoured plate that is inserted </a:t>
            </a:r>
            <a:r>
              <a:rPr lang="en-US" sz="1600" dirty="0" smtClean="0">
                <a:solidFill>
                  <a:prstClr val="black"/>
                </a:solidFill>
                <a:latin typeface=" Arial"/>
              </a:rPr>
              <a:t>into the </a:t>
            </a:r>
            <a:r>
              <a:rPr lang="en-US" sz="1600" dirty="0">
                <a:solidFill>
                  <a:prstClr val="black"/>
                </a:solidFill>
                <a:latin typeface=" Arial"/>
              </a:rPr>
              <a:t>front and back pockets on the outer tactical vest (OTV) outer shell </a:t>
            </a:r>
            <a:r>
              <a:rPr lang="en-US" sz="1600" dirty="0" smtClean="0">
                <a:solidFill>
                  <a:prstClr val="black"/>
                </a:solidFill>
                <a:latin typeface=" Arial"/>
              </a:rPr>
              <a:t>carrier and provides ballistic </a:t>
            </a:r>
            <a:r>
              <a:rPr lang="en-US" sz="1600" dirty="0">
                <a:solidFill>
                  <a:prstClr val="black"/>
                </a:solidFill>
                <a:latin typeface=" Arial"/>
              </a:rPr>
              <a:t>protection from specific 5.56mm and 7.62mm rounds.  </a:t>
            </a:r>
            <a:endParaRPr lang="en-US" altLang="en-US" sz="1600" dirty="0">
              <a:solidFill>
                <a:prstClr val="black"/>
              </a:solidFill>
              <a:latin typeface=" Arial"/>
              <a:ea typeface="ＭＳ Ｐゴシック" panose="020B0600070205080204" pitchFamily="34" charset="-128"/>
            </a:endParaRPr>
          </a:p>
          <a:p>
            <a:pPr>
              <a:defRPr/>
            </a:pPr>
            <a:endParaRPr lang="en-US" sz="1600" dirty="0">
              <a:solidFill>
                <a:prstClr val="black"/>
              </a:solidFill>
              <a:latin typeface=" Arial"/>
            </a:endParaRPr>
          </a:p>
          <a:p>
            <a:pPr>
              <a:defRPr/>
            </a:pPr>
            <a:r>
              <a:rPr lang="en-US" sz="1600" u="sng" dirty="0" smtClean="0">
                <a:solidFill>
                  <a:prstClr val="black"/>
                </a:solidFill>
                <a:latin typeface=" Arial"/>
              </a:rPr>
              <a:t>Prior/Current Contract Information</a:t>
            </a:r>
            <a:r>
              <a:rPr lang="en-US" sz="1600" dirty="0" smtClean="0">
                <a:solidFill>
                  <a:prstClr val="black"/>
                </a:solidFill>
                <a:latin typeface=" Arial"/>
              </a:rPr>
              <a:t>:</a:t>
            </a:r>
          </a:p>
          <a:p>
            <a:pPr>
              <a:defRPr/>
            </a:pPr>
            <a:r>
              <a:rPr lang="en-US" sz="1600" dirty="0" smtClean="0">
                <a:solidFill>
                  <a:prstClr val="black"/>
                </a:solidFill>
                <a:latin typeface=" Arial"/>
              </a:rPr>
              <a:t>Contract Numbers:  W91CRB-15-D-0040/0041/0042</a:t>
            </a:r>
          </a:p>
          <a:p>
            <a:pPr>
              <a:defRPr/>
            </a:pPr>
            <a:r>
              <a:rPr lang="en-US" sz="1600" dirty="0" smtClean="0">
                <a:solidFill>
                  <a:prstClr val="black"/>
                </a:solidFill>
                <a:latin typeface=" Arial"/>
              </a:rPr>
              <a:t>Incumbent Contractor:  Leading Technology Composites/</a:t>
            </a:r>
            <a:r>
              <a:rPr lang="en-US" sz="1600" dirty="0" err="1" smtClean="0">
                <a:solidFill>
                  <a:prstClr val="black"/>
                </a:solidFill>
                <a:latin typeface=" Arial"/>
              </a:rPr>
              <a:t>Hesco</a:t>
            </a:r>
            <a:r>
              <a:rPr lang="en-US" sz="1600" dirty="0" smtClean="0">
                <a:solidFill>
                  <a:prstClr val="black"/>
                </a:solidFill>
                <a:latin typeface=" Arial"/>
              </a:rPr>
              <a:t> Armor/</a:t>
            </a:r>
            <a:r>
              <a:rPr lang="en-US" sz="1600" dirty="0" err="1" smtClean="0">
                <a:solidFill>
                  <a:prstClr val="black"/>
                </a:solidFill>
                <a:latin typeface=" Arial"/>
              </a:rPr>
              <a:t>Tencate</a:t>
            </a:r>
            <a:r>
              <a:rPr lang="en-US" sz="1600" dirty="0" smtClean="0">
                <a:solidFill>
                  <a:prstClr val="black"/>
                </a:solidFill>
                <a:latin typeface=" Arial"/>
              </a:rPr>
              <a:t> Advanced Armor</a:t>
            </a:r>
          </a:p>
          <a:p>
            <a:pPr>
              <a:defRPr/>
            </a:pPr>
            <a:endParaRPr lang="en-US" sz="1600" dirty="0">
              <a:solidFill>
                <a:prstClr val="black"/>
              </a:solidFill>
              <a:latin typeface=" Arial"/>
            </a:endParaRPr>
          </a:p>
          <a:p>
            <a:pPr>
              <a:defRPr/>
            </a:pPr>
            <a:r>
              <a:rPr lang="en-US" sz="1600" dirty="0" smtClean="0">
                <a:solidFill>
                  <a:prstClr val="black"/>
                </a:solidFill>
                <a:latin typeface=" Arial"/>
              </a:rPr>
              <a:t>Note: The government intends to award approximately three (3) contracts with one (1) award restricted to a Small Business.</a:t>
            </a:r>
          </a:p>
          <a:p>
            <a:pPr>
              <a:defRPr/>
            </a:pPr>
            <a:endParaRPr lang="en-US" sz="1600" dirty="0" smtClean="0">
              <a:solidFill>
                <a:prstClr val="black"/>
              </a:solidFill>
              <a:latin typeface=" Arial"/>
            </a:endParaRPr>
          </a:p>
          <a:p>
            <a:pPr>
              <a:defRPr/>
            </a:pPr>
            <a:r>
              <a:rPr lang="en-US" sz="1600" u="sng" dirty="0" smtClean="0">
                <a:solidFill>
                  <a:prstClr val="black"/>
                </a:solidFill>
                <a:latin typeface=" Arial"/>
              </a:rPr>
              <a:t>Contract Type</a:t>
            </a:r>
            <a:r>
              <a:rPr lang="en-US" sz="1600" dirty="0" smtClean="0">
                <a:solidFill>
                  <a:prstClr val="black"/>
                </a:solidFill>
                <a:latin typeface=" Arial"/>
              </a:rPr>
              <a:t>:  Multiple Award, FFP IDIQ</a:t>
            </a:r>
          </a:p>
          <a:p>
            <a:pPr>
              <a:defRPr/>
            </a:pPr>
            <a:r>
              <a:rPr lang="en-US" sz="1600" u="sng" dirty="0" smtClean="0">
                <a:solidFill>
                  <a:prstClr val="black"/>
                </a:solidFill>
                <a:latin typeface=" Arial"/>
              </a:rPr>
              <a:t>Estimated Value</a:t>
            </a:r>
            <a:r>
              <a:rPr lang="en-US" sz="1600" dirty="0" smtClean="0">
                <a:solidFill>
                  <a:prstClr val="black"/>
                </a:solidFill>
                <a:latin typeface=" Arial"/>
              </a:rPr>
              <a:t>:  $49M</a:t>
            </a:r>
          </a:p>
          <a:p>
            <a:pPr>
              <a:defRPr/>
            </a:pPr>
            <a:r>
              <a:rPr lang="en-US" sz="1600" u="sng" dirty="0" smtClean="0">
                <a:solidFill>
                  <a:prstClr val="black"/>
                </a:solidFill>
                <a:latin typeface=" Arial"/>
              </a:rPr>
              <a:t>Period of Performance</a:t>
            </a:r>
            <a:r>
              <a:rPr lang="en-US" sz="1600" dirty="0" smtClean="0">
                <a:solidFill>
                  <a:prstClr val="black"/>
                </a:solidFill>
                <a:latin typeface=" Arial"/>
              </a:rPr>
              <a:t>:  5 year ordering period</a:t>
            </a:r>
          </a:p>
          <a:p>
            <a:pPr>
              <a:defRPr/>
            </a:pPr>
            <a:r>
              <a:rPr lang="en-US" sz="1600" u="sng" dirty="0" smtClean="0">
                <a:solidFill>
                  <a:prstClr val="black"/>
                </a:solidFill>
                <a:latin typeface=" Arial"/>
              </a:rPr>
              <a:t>Estimated Solicitation Release Date</a:t>
            </a:r>
            <a:r>
              <a:rPr lang="en-US" sz="1600" dirty="0" smtClean="0">
                <a:solidFill>
                  <a:prstClr val="black"/>
                </a:solidFill>
                <a:latin typeface=" Arial"/>
              </a:rPr>
              <a:t>:  3QFY18</a:t>
            </a:r>
          </a:p>
          <a:p>
            <a:pPr>
              <a:defRPr/>
            </a:pPr>
            <a:r>
              <a:rPr lang="en-US" sz="1600" u="sng" dirty="0" smtClean="0">
                <a:solidFill>
                  <a:prstClr val="black"/>
                </a:solidFill>
                <a:latin typeface=" Arial"/>
              </a:rPr>
              <a:t>Contracting Contact</a:t>
            </a:r>
            <a:r>
              <a:rPr lang="en-US" sz="1600" dirty="0" smtClean="0">
                <a:solidFill>
                  <a:prstClr val="black"/>
                </a:solidFill>
                <a:latin typeface=" Arial"/>
              </a:rPr>
              <a:t>:  ACC-APG, Ian Warner, Contract Specialist, ian.a.warner.civ@mail.mil</a:t>
            </a:r>
          </a:p>
          <a:p>
            <a:pPr>
              <a:defRPr/>
            </a:pPr>
            <a:endParaRPr lang="en-US" dirty="0" smtClean="0">
              <a:solidFill>
                <a:prstClr val="black"/>
              </a:solidFill>
              <a:latin typeface=" Arial"/>
            </a:endParaRPr>
          </a:p>
          <a:p>
            <a:pPr>
              <a:defRPr/>
            </a:pPr>
            <a:r>
              <a:rPr lang="en-US" sz="1400" b="1" dirty="0">
                <a:latin typeface=" Arial"/>
              </a:rPr>
              <a:t>*Subject to Cancellation</a:t>
            </a:r>
          </a:p>
          <a:p>
            <a:pPr>
              <a:defRPr/>
            </a:pPr>
            <a:endParaRPr lang="en-US" dirty="0">
              <a:solidFill>
                <a:prstClr val="black"/>
              </a:solidFill>
              <a:latin typeface=" Arial"/>
            </a:endParaRPr>
          </a:p>
        </p:txBody>
      </p:sp>
    </p:spTree>
    <p:extLst>
      <p:ext uri="{BB962C8B-B14F-4D97-AF65-F5344CB8AC3E}">
        <p14:creationId xmlns:p14="http://schemas.microsoft.com/office/powerpoint/2010/main" val="414484949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PEO Soldier</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11</a:t>
            </a:fld>
            <a:endParaRPr lang="en-US" sz="1000" dirty="0">
              <a:solidFill>
                <a:prstClr val="white"/>
              </a:solidFill>
            </a:endParaRPr>
          </a:p>
        </p:txBody>
      </p:sp>
      <p:sp>
        <p:nvSpPr>
          <p:cNvPr id="8" name="TextBox 8"/>
          <p:cNvSpPr txBox="1">
            <a:spLocks noChangeArrowheads="1"/>
          </p:cNvSpPr>
          <p:nvPr/>
        </p:nvSpPr>
        <p:spPr bwMode="auto">
          <a:xfrm>
            <a:off x="0" y="914400"/>
            <a:ext cx="9144000" cy="6370975"/>
          </a:xfrm>
          <a:prstGeom prst="rect">
            <a:avLst/>
          </a:prstGeom>
          <a:noFill/>
          <a:ln w="9525">
            <a:noFill/>
            <a:miter lim="800000"/>
            <a:headEnd/>
            <a:tailEnd/>
          </a:ln>
        </p:spPr>
        <p:txBody>
          <a:bodyPr wrap="square">
            <a:spAutoFit/>
          </a:bodyPr>
          <a:lstStyle/>
          <a:p>
            <a:pPr>
              <a:defRPr/>
            </a:pPr>
            <a:r>
              <a:rPr lang="en-US" u="sng" dirty="0" smtClean="0">
                <a:solidFill>
                  <a:prstClr val="black"/>
                </a:solidFill>
                <a:latin typeface=" Arial"/>
              </a:rPr>
              <a:t>Project Title</a:t>
            </a:r>
            <a:r>
              <a:rPr lang="en-US" dirty="0" smtClean="0">
                <a:solidFill>
                  <a:prstClr val="black"/>
                </a:solidFill>
                <a:latin typeface=" Arial"/>
              </a:rPr>
              <a:t>:  Nett Warrior Software Development/System Integration/Production Assistance Services</a:t>
            </a:r>
          </a:p>
          <a:p>
            <a:pPr>
              <a:defRPr/>
            </a:pPr>
            <a:r>
              <a:rPr lang="en-US" u="sng" dirty="0" smtClean="0">
                <a:solidFill>
                  <a:prstClr val="black"/>
                </a:solidFill>
                <a:latin typeface=" Arial"/>
              </a:rPr>
              <a:t>Project Summary</a:t>
            </a:r>
            <a:r>
              <a:rPr lang="en-US" dirty="0" smtClean="0">
                <a:solidFill>
                  <a:prstClr val="black"/>
                </a:solidFill>
                <a:latin typeface=" Arial"/>
              </a:rPr>
              <a:t>:The Nett Warrior (NW) services will provide for multi-discipline support to Product Manager Ground Soldier Systems (PdM GSS) in multiple phases of the NW life cycle. The main focus areas are: software/system engineering and field test support, software development, system design/integration, NW end user device and mission planning computer production software provisioning and NW field service representative support.</a:t>
            </a:r>
          </a:p>
          <a:p>
            <a:pPr>
              <a:defRPr/>
            </a:pPr>
            <a:endParaRPr lang="en-US" dirty="0">
              <a:solidFill>
                <a:prstClr val="black"/>
              </a:solidFill>
              <a:latin typeface=" Arial"/>
            </a:endParaRPr>
          </a:p>
          <a:p>
            <a:pPr>
              <a:defRPr/>
            </a:pPr>
            <a:r>
              <a:rPr lang="en-US" u="sng" dirty="0" smtClean="0">
                <a:solidFill>
                  <a:prstClr val="black"/>
                </a:solidFill>
                <a:latin typeface=" Arial"/>
              </a:rPr>
              <a:t>Prior/Current Contract Information</a:t>
            </a:r>
            <a:r>
              <a:rPr lang="en-US" dirty="0" smtClean="0">
                <a:solidFill>
                  <a:prstClr val="black"/>
                </a:solidFill>
                <a:latin typeface=" Arial"/>
              </a:rPr>
              <a:t>:</a:t>
            </a:r>
          </a:p>
          <a:p>
            <a:pPr>
              <a:defRPr/>
            </a:pPr>
            <a:r>
              <a:rPr lang="en-US" dirty="0">
                <a:solidFill>
                  <a:prstClr val="black"/>
                </a:solidFill>
                <a:latin typeface=" Arial"/>
              </a:rPr>
              <a:t>	</a:t>
            </a:r>
            <a:r>
              <a:rPr lang="en-US" dirty="0" smtClean="0">
                <a:solidFill>
                  <a:prstClr val="black"/>
                </a:solidFill>
                <a:latin typeface=" Arial"/>
              </a:rPr>
              <a:t>Contract Number:  W91CRB-15-C-0025</a:t>
            </a:r>
          </a:p>
          <a:p>
            <a:pPr>
              <a:defRPr/>
            </a:pPr>
            <a:r>
              <a:rPr lang="en-US" dirty="0">
                <a:solidFill>
                  <a:prstClr val="black"/>
                </a:solidFill>
                <a:latin typeface=" Arial"/>
              </a:rPr>
              <a:t>	</a:t>
            </a:r>
            <a:r>
              <a:rPr lang="en-US" dirty="0" smtClean="0">
                <a:solidFill>
                  <a:prstClr val="black"/>
                </a:solidFill>
                <a:latin typeface=" Arial"/>
              </a:rPr>
              <a:t>Incumbent Contractor:  Augustine Consulting Inc (ACI)</a:t>
            </a:r>
          </a:p>
          <a:p>
            <a:pPr>
              <a:defRPr/>
            </a:pPr>
            <a:endParaRPr lang="en-US" dirty="0" smtClean="0">
              <a:solidFill>
                <a:prstClr val="black"/>
              </a:solidFill>
              <a:latin typeface=" Arial"/>
            </a:endParaRPr>
          </a:p>
          <a:p>
            <a:pPr>
              <a:defRPr/>
            </a:pPr>
            <a:r>
              <a:rPr lang="en-US" u="sng" dirty="0" smtClean="0">
                <a:solidFill>
                  <a:prstClr val="black"/>
                </a:solidFill>
                <a:latin typeface=" Arial"/>
              </a:rPr>
              <a:t>Contract Type</a:t>
            </a:r>
            <a:r>
              <a:rPr lang="en-US" dirty="0" smtClean="0">
                <a:solidFill>
                  <a:prstClr val="black"/>
                </a:solidFill>
                <a:latin typeface=" Arial"/>
              </a:rPr>
              <a:t>:  CPFF and FFP</a:t>
            </a:r>
          </a:p>
          <a:p>
            <a:pPr>
              <a:defRPr/>
            </a:pPr>
            <a:r>
              <a:rPr lang="en-US" u="sng" dirty="0" smtClean="0">
                <a:solidFill>
                  <a:prstClr val="black"/>
                </a:solidFill>
                <a:latin typeface=" Arial"/>
              </a:rPr>
              <a:t>Estimated Value</a:t>
            </a:r>
            <a:r>
              <a:rPr lang="en-US" dirty="0" smtClean="0">
                <a:solidFill>
                  <a:prstClr val="black"/>
                </a:solidFill>
                <a:latin typeface=" Arial"/>
              </a:rPr>
              <a:t>:  $92M</a:t>
            </a:r>
          </a:p>
          <a:p>
            <a:pPr>
              <a:defRPr/>
            </a:pPr>
            <a:r>
              <a:rPr lang="en-US" u="sng" dirty="0" smtClean="0">
                <a:solidFill>
                  <a:prstClr val="black"/>
                </a:solidFill>
                <a:latin typeface=" Arial"/>
              </a:rPr>
              <a:t>Period of Performance</a:t>
            </a:r>
            <a:r>
              <a:rPr lang="en-US" dirty="0" smtClean="0">
                <a:solidFill>
                  <a:prstClr val="black"/>
                </a:solidFill>
                <a:latin typeface=" Arial"/>
              </a:rPr>
              <a:t>:  One year contract and four (4) option years.</a:t>
            </a:r>
          </a:p>
          <a:p>
            <a:pPr>
              <a:defRPr/>
            </a:pPr>
            <a:r>
              <a:rPr lang="en-US" u="sng" dirty="0" smtClean="0">
                <a:solidFill>
                  <a:prstClr val="black"/>
                </a:solidFill>
                <a:latin typeface=" Arial"/>
              </a:rPr>
              <a:t>Estimated Solicitation Release Date</a:t>
            </a:r>
            <a:r>
              <a:rPr lang="en-US" dirty="0" smtClean="0">
                <a:solidFill>
                  <a:prstClr val="black"/>
                </a:solidFill>
                <a:latin typeface=" Arial"/>
              </a:rPr>
              <a:t>:  3QFY18</a:t>
            </a:r>
          </a:p>
          <a:p>
            <a:pPr>
              <a:defRPr/>
            </a:pPr>
            <a:r>
              <a:rPr lang="en-US" u="sng" dirty="0" smtClean="0">
                <a:solidFill>
                  <a:prstClr val="black"/>
                </a:solidFill>
                <a:latin typeface=" Arial"/>
              </a:rPr>
              <a:t>Contracting Contact</a:t>
            </a:r>
            <a:r>
              <a:rPr lang="en-US" dirty="0" smtClean="0">
                <a:solidFill>
                  <a:prstClr val="black"/>
                </a:solidFill>
                <a:latin typeface=" Arial"/>
              </a:rPr>
              <a:t>:  ACC-APG, Lisa Yamakawa, KO, </a:t>
            </a:r>
            <a:r>
              <a:rPr lang="en-US" dirty="0" smtClean="0">
                <a:solidFill>
                  <a:prstClr val="black"/>
                </a:solidFill>
                <a:latin typeface=" Arial"/>
                <a:hlinkClick r:id="rId2"/>
              </a:rPr>
              <a:t>lisa.j.Yamakawa.civ@mail.mil</a:t>
            </a:r>
            <a:r>
              <a:rPr lang="en-US" dirty="0" smtClean="0">
                <a:solidFill>
                  <a:prstClr val="black"/>
                </a:solidFill>
                <a:latin typeface=" Arial"/>
              </a:rPr>
              <a:t> </a:t>
            </a:r>
          </a:p>
          <a:p>
            <a:pPr>
              <a:defRPr/>
            </a:pPr>
            <a:endParaRPr lang="en-US" sz="1600" b="1" dirty="0" smtClean="0">
              <a:latin typeface=" Arial"/>
            </a:endParaRPr>
          </a:p>
          <a:p>
            <a:pPr>
              <a:defRPr/>
            </a:pPr>
            <a:r>
              <a:rPr lang="en-US" sz="1600" b="1" dirty="0" smtClean="0">
                <a:latin typeface=" Arial"/>
              </a:rPr>
              <a:t>*</a:t>
            </a:r>
            <a:r>
              <a:rPr lang="en-US" sz="1600" b="1" dirty="0">
                <a:latin typeface=" Arial"/>
              </a:rPr>
              <a:t>Subject to Cancellation</a:t>
            </a:r>
          </a:p>
          <a:p>
            <a:pPr>
              <a:defRPr/>
            </a:pPr>
            <a:endParaRPr lang="en-US" dirty="0" smtClean="0">
              <a:solidFill>
                <a:prstClr val="black"/>
              </a:solidFill>
              <a:latin typeface=" Arial"/>
            </a:endParaRPr>
          </a:p>
          <a:p>
            <a:pPr>
              <a:defRPr/>
            </a:pPr>
            <a:endParaRPr lang="en-US" dirty="0">
              <a:solidFill>
                <a:prstClr val="black"/>
              </a:solidFill>
              <a:latin typeface=" Arial"/>
            </a:endParaRPr>
          </a:p>
          <a:p>
            <a:pPr>
              <a:defRPr/>
            </a:pPr>
            <a:r>
              <a:rPr lang="en-US" sz="1600" b="1" dirty="0" smtClean="0">
                <a:solidFill>
                  <a:prstClr val="black"/>
                </a:solidFill>
                <a:latin typeface=" Arial"/>
              </a:rPr>
              <a:t>*Subject to Cancellation</a:t>
            </a:r>
            <a:endParaRPr lang="en-US" sz="1600" b="1" dirty="0">
              <a:solidFill>
                <a:prstClr val="black"/>
              </a:solidFill>
              <a:latin typeface=" Arial"/>
            </a:endParaRPr>
          </a:p>
        </p:txBody>
      </p:sp>
    </p:spTree>
    <p:extLst>
      <p:ext uri="{BB962C8B-B14F-4D97-AF65-F5344CB8AC3E}">
        <p14:creationId xmlns:p14="http://schemas.microsoft.com/office/powerpoint/2010/main" val="261335386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12</a:t>
            </a:fld>
            <a:endParaRPr lang="en-US" sz="1000" dirty="0">
              <a:solidFill>
                <a:prstClr val="white"/>
              </a:solidFill>
            </a:endParaRPr>
          </a:p>
        </p:txBody>
      </p:sp>
      <p:sp>
        <p:nvSpPr>
          <p:cNvPr id="8" name="TextBox 8"/>
          <p:cNvSpPr txBox="1">
            <a:spLocks noChangeArrowheads="1"/>
          </p:cNvSpPr>
          <p:nvPr/>
        </p:nvSpPr>
        <p:spPr bwMode="auto">
          <a:xfrm>
            <a:off x="0" y="1066800"/>
            <a:ext cx="9144000" cy="5047536"/>
          </a:xfrm>
          <a:prstGeom prst="rect">
            <a:avLst/>
          </a:prstGeom>
          <a:noFill/>
          <a:ln w="9525">
            <a:noFill/>
            <a:miter lim="800000"/>
            <a:headEnd/>
            <a:tailEnd/>
          </a:ln>
        </p:spPr>
        <p:txBody>
          <a:bodyPr wrap="square">
            <a:spAutoFit/>
          </a:bodyPr>
          <a:lstStyle/>
          <a:p>
            <a:pPr>
              <a:defRPr/>
            </a:pPr>
            <a:r>
              <a:rPr lang="en-US" u="sng" dirty="0" smtClean="0">
                <a:solidFill>
                  <a:prstClr val="black"/>
                </a:solidFill>
                <a:latin typeface=" Arial"/>
              </a:rPr>
              <a:t>Project Title</a:t>
            </a:r>
            <a:r>
              <a:rPr lang="en-US" dirty="0" smtClean="0">
                <a:solidFill>
                  <a:prstClr val="black"/>
                </a:solidFill>
                <a:latin typeface=" Arial"/>
              </a:rPr>
              <a:t>:  Ballistic Battle Belt (B3)</a:t>
            </a:r>
          </a:p>
          <a:p>
            <a:pPr>
              <a:defRPr/>
            </a:pPr>
            <a:r>
              <a:rPr lang="en-US" u="sng" dirty="0" smtClean="0">
                <a:solidFill>
                  <a:prstClr val="black"/>
                </a:solidFill>
                <a:latin typeface=" Arial"/>
              </a:rPr>
              <a:t>Project Summary</a:t>
            </a:r>
            <a:r>
              <a:rPr lang="en-US" dirty="0" smtClean="0">
                <a:solidFill>
                  <a:prstClr val="black"/>
                </a:solidFill>
                <a:latin typeface=" Arial"/>
              </a:rPr>
              <a:t>:  The B3 is part of the Soldier Protection System Torso and Extremity Protection (SPS TEP), worn over the Army Combat Uniform and is designed to provide fragmentation protection and to distribute the Soldiers combat load between the shoulders and waist/hips.</a:t>
            </a:r>
            <a:endParaRPr lang="en-US" dirty="0">
              <a:solidFill>
                <a:prstClr val="black"/>
              </a:solidFill>
              <a:latin typeface=" Arial"/>
            </a:endParaRPr>
          </a:p>
          <a:p>
            <a:pPr>
              <a:defRPr/>
            </a:pPr>
            <a:endParaRPr lang="en-US" dirty="0">
              <a:solidFill>
                <a:prstClr val="black"/>
              </a:solidFill>
              <a:latin typeface=" Arial"/>
            </a:endParaRPr>
          </a:p>
          <a:p>
            <a:pPr>
              <a:defRPr/>
            </a:pPr>
            <a:r>
              <a:rPr lang="en-US" u="sng" dirty="0" smtClean="0">
                <a:solidFill>
                  <a:prstClr val="black"/>
                </a:solidFill>
                <a:latin typeface=" Arial"/>
              </a:rPr>
              <a:t>Prior/Current Contract Information</a:t>
            </a:r>
            <a:r>
              <a:rPr lang="en-US" dirty="0" smtClean="0">
                <a:solidFill>
                  <a:prstClr val="black"/>
                </a:solidFill>
                <a:latin typeface=" Arial"/>
              </a:rPr>
              <a:t>:</a:t>
            </a:r>
          </a:p>
          <a:p>
            <a:pPr>
              <a:defRPr/>
            </a:pPr>
            <a:r>
              <a:rPr lang="en-US" dirty="0">
                <a:solidFill>
                  <a:prstClr val="black"/>
                </a:solidFill>
                <a:latin typeface=" Arial"/>
              </a:rPr>
              <a:t>	</a:t>
            </a:r>
            <a:r>
              <a:rPr lang="en-US" dirty="0" smtClean="0">
                <a:solidFill>
                  <a:prstClr val="black"/>
                </a:solidFill>
                <a:latin typeface=" Arial"/>
              </a:rPr>
              <a:t>Contract Number:  W91CRB-15-D-0028</a:t>
            </a:r>
          </a:p>
          <a:p>
            <a:pPr>
              <a:defRPr/>
            </a:pPr>
            <a:r>
              <a:rPr lang="en-US" dirty="0">
                <a:solidFill>
                  <a:prstClr val="black"/>
                </a:solidFill>
                <a:latin typeface=" Arial"/>
              </a:rPr>
              <a:t>	</a:t>
            </a:r>
            <a:r>
              <a:rPr lang="en-US" dirty="0" smtClean="0">
                <a:solidFill>
                  <a:prstClr val="black"/>
                </a:solidFill>
                <a:latin typeface=" Arial"/>
              </a:rPr>
              <a:t>Incumbent Contractor:  Carter Enterprises</a:t>
            </a:r>
          </a:p>
          <a:p>
            <a:pPr>
              <a:defRPr/>
            </a:pPr>
            <a:endParaRPr lang="en-US" dirty="0" smtClean="0">
              <a:solidFill>
                <a:prstClr val="black"/>
              </a:solidFill>
              <a:latin typeface=" Arial"/>
            </a:endParaRPr>
          </a:p>
          <a:p>
            <a:pPr>
              <a:defRPr/>
            </a:pPr>
            <a:r>
              <a:rPr lang="en-US" u="sng" dirty="0">
                <a:solidFill>
                  <a:prstClr val="black"/>
                </a:solidFill>
                <a:latin typeface=" Arial"/>
              </a:rPr>
              <a:t>Contract</a:t>
            </a:r>
            <a:r>
              <a:rPr lang="en-US" u="sng" dirty="0" smtClean="0">
                <a:solidFill>
                  <a:prstClr val="black"/>
                </a:solidFill>
                <a:latin typeface=" Arial"/>
              </a:rPr>
              <a:t> Type</a:t>
            </a:r>
            <a:r>
              <a:rPr lang="en-US" dirty="0" smtClean="0">
                <a:solidFill>
                  <a:prstClr val="black"/>
                </a:solidFill>
                <a:latin typeface=" Arial"/>
              </a:rPr>
              <a:t>:  FFP</a:t>
            </a:r>
          </a:p>
          <a:p>
            <a:pPr>
              <a:defRPr/>
            </a:pPr>
            <a:r>
              <a:rPr lang="en-US" u="sng" dirty="0" smtClean="0">
                <a:solidFill>
                  <a:prstClr val="black"/>
                </a:solidFill>
                <a:latin typeface=" Arial"/>
              </a:rPr>
              <a:t>Estimated Value</a:t>
            </a:r>
            <a:r>
              <a:rPr lang="en-US" dirty="0" smtClean="0">
                <a:solidFill>
                  <a:prstClr val="black"/>
                </a:solidFill>
                <a:latin typeface=" Arial"/>
              </a:rPr>
              <a:t>:  $45M</a:t>
            </a:r>
          </a:p>
          <a:p>
            <a:pPr>
              <a:defRPr/>
            </a:pPr>
            <a:r>
              <a:rPr lang="en-US" u="sng" dirty="0" smtClean="0">
                <a:solidFill>
                  <a:prstClr val="black"/>
                </a:solidFill>
                <a:latin typeface=" Arial"/>
              </a:rPr>
              <a:t>Period of Performance</a:t>
            </a:r>
            <a:r>
              <a:rPr lang="en-US" dirty="0" smtClean="0">
                <a:solidFill>
                  <a:prstClr val="black"/>
                </a:solidFill>
                <a:latin typeface=" Arial"/>
              </a:rPr>
              <a:t>:  5 year ordering period</a:t>
            </a:r>
          </a:p>
          <a:p>
            <a:pPr>
              <a:defRPr/>
            </a:pPr>
            <a:r>
              <a:rPr lang="en-US" u="sng" dirty="0" smtClean="0">
                <a:solidFill>
                  <a:prstClr val="black"/>
                </a:solidFill>
                <a:latin typeface=" Arial"/>
              </a:rPr>
              <a:t>Estimated Solicitation Release Date</a:t>
            </a:r>
            <a:r>
              <a:rPr lang="en-US" dirty="0" smtClean="0">
                <a:solidFill>
                  <a:prstClr val="black"/>
                </a:solidFill>
                <a:latin typeface=" Arial"/>
              </a:rPr>
              <a:t>:  4QFY18</a:t>
            </a:r>
          </a:p>
          <a:p>
            <a:pPr>
              <a:defRPr/>
            </a:pPr>
            <a:r>
              <a:rPr lang="en-US" u="sng" dirty="0" smtClean="0">
                <a:solidFill>
                  <a:prstClr val="black"/>
                </a:solidFill>
                <a:latin typeface=" Arial"/>
              </a:rPr>
              <a:t>Contracting Contact</a:t>
            </a:r>
            <a:r>
              <a:rPr lang="en-US" dirty="0" smtClean="0">
                <a:solidFill>
                  <a:prstClr val="black"/>
                </a:solidFill>
                <a:latin typeface=" Arial"/>
              </a:rPr>
              <a:t>:  ACC-APG, Lisa Yamakawa, KO, </a:t>
            </a:r>
            <a:r>
              <a:rPr lang="en-US" dirty="0" smtClean="0">
                <a:solidFill>
                  <a:prstClr val="black"/>
                </a:solidFill>
                <a:latin typeface=" Arial"/>
                <a:hlinkClick r:id="rId2"/>
              </a:rPr>
              <a:t>lisa.j.Yamakawa.civ@mail.mil</a:t>
            </a:r>
            <a:r>
              <a:rPr lang="en-US" dirty="0" smtClean="0">
                <a:solidFill>
                  <a:prstClr val="black"/>
                </a:solidFill>
                <a:latin typeface=" Arial"/>
              </a:rPr>
              <a:t> </a:t>
            </a:r>
          </a:p>
          <a:p>
            <a:pPr>
              <a:defRPr/>
            </a:pPr>
            <a:endParaRPr lang="en-US" dirty="0" smtClean="0">
              <a:solidFill>
                <a:prstClr val="black"/>
              </a:solidFill>
              <a:latin typeface=" Arial"/>
            </a:endParaRPr>
          </a:p>
          <a:p>
            <a:pPr>
              <a:defRPr/>
            </a:pPr>
            <a:endParaRPr lang="en-US" dirty="0">
              <a:solidFill>
                <a:prstClr val="black"/>
              </a:solidFill>
              <a:latin typeface=" Arial"/>
            </a:endParaRPr>
          </a:p>
          <a:p>
            <a:pPr>
              <a:defRPr/>
            </a:pPr>
            <a:r>
              <a:rPr lang="en-US" sz="1600" b="1" dirty="0" smtClean="0">
                <a:solidFill>
                  <a:prstClr val="black"/>
                </a:solidFill>
                <a:latin typeface=" Arial"/>
              </a:rPr>
              <a:t>*Subject to Cancellation</a:t>
            </a:r>
            <a:endParaRPr lang="en-US" sz="1600" b="1" dirty="0">
              <a:solidFill>
                <a:prstClr val="black"/>
              </a:solidFill>
              <a:latin typeface=" Arial"/>
            </a:endParaRPr>
          </a:p>
        </p:txBody>
      </p:sp>
      <p:sp>
        <p:nvSpPr>
          <p:cNvPr id="4"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PEO Soldier</a:t>
            </a:r>
            <a:endParaRPr lang="en-US" sz="2800" b="1" dirty="0">
              <a:solidFill>
                <a:prstClr val="white"/>
              </a:solidFill>
              <a:latin typeface=" Arial"/>
            </a:endParaRPr>
          </a:p>
        </p:txBody>
      </p:sp>
    </p:spTree>
    <p:extLst>
      <p:ext uri="{BB962C8B-B14F-4D97-AF65-F5344CB8AC3E}">
        <p14:creationId xmlns:p14="http://schemas.microsoft.com/office/powerpoint/2010/main" val="106192623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PEO Soldier</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13</a:t>
            </a:fld>
            <a:endParaRPr lang="en-US" sz="1000" dirty="0">
              <a:solidFill>
                <a:prstClr val="white"/>
              </a:solidFill>
            </a:endParaRPr>
          </a:p>
        </p:txBody>
      </p:sp>
      <p:sp>
        <p:nvSpPr>
          <p:cNvPr id="8" name="TextBox 8"/>
          <p:cNvSpPr txBox="1">
            <a:spLocks noChangeArrowheads="1"/>
          </p:cNvSpPr>
          <p:nvPr/>
        </p:nvSpPr>
        <p:spPr bwMode="auto">
          <a:xfrm>
            <a:off x="0" y="1066800"/>
            <a:ext cx="9144000" cy="5324535"/>
          </a:xfrm>
          <a:prstGeom prst="rect">
            <a:avLst/>
          </a:prstGeom>
          <a:noFill/>
          <a:ln w="9525">
            <a:noFill/>
            <a:miter lim="800000"/>
            <a:headEnd/>
            <a:tailEnd/>
          </a:ln>
        </p:spPr>
        <p:txBody>
          <a:bodyPr wrap="square">
            <a:spAutoFit/>
          </a:bodyPr>
          <a:lstStyle/>
          <a:p>
            <a:pPr>
              <a:defRPr/>
            </a:pPr>
            <a:r>
              <a:rPr lang="en-US" u="sng" dirty="0" smtClean="0">
                <a:solidFill>
                  <a:prstClr val="black"/>
                </a:solidFill>
                <a:latin typeface=" Arial"/>
              </a:rPr>
              <a:t>Project Title</a:t>
            </a:r>
            <a:r>
              <a:rPr lang="en-US" dirty="0" smtClean="0">
                <a:solidFill>
                  <a:prstClr val="black"/>
                </a:solidFill>
                <a:latin typeface=" Arial"/>
              </a:rPr>
              <a:t>:  Systems Engineering and Technical Assistance (SETA)</a:t>
            </a:r>
          </a:p>
          <a:p>
            <a:pPr>
              <a:defRPr/>
            </a:pPr>
            <a:endParaRPr lang="en-US" dirty="0" smtClean="0">
              <a:solidFill>
                <a:prstClr val="black"/>
              </a:solidFill>
              <a:latin typeface=" Arial"/>
            </a:endParaRPr>
          </a:p>
          <a:p>
            <a:pPr>
              <a:defRPr/>
            </a:pPr>
            <a:r>
              <a:rPr lang="en-US" u="sng" dirty="0" smtClean="0">
                <a:solidFill>
                  <a:prstClr val="black"/>
                </a:solidFill>
                <a:latin typeface=" Arial"/>
              </a:rPr>
              <a:t>Project Summary</a:t>
            </a:r>
            <a:r>
              <a:rPr lang="en-US" dirty="0" smtClean="0">
                <a:solidFill>
                  <a:prstClr val="black"/>
                </a:solidFill>
                <a:latin typeface=" Arial"/>
              </a:rPr>
              <a:t>: The contractor shall provide comprehensive and wide ranging support to programs that increase Soldier capabilities. Support is required at all phases of the system lifecycle to include: engineering support services, logistics, technical analysis, acquisition planning and programmatic support, system design, development and acquisition support. This will support PM Soldier Sensors and Lasers (SSL).</a:t>
            </a:r>
          </a:p>
          <a:p>
            <a:pPr>
              <a:defRPr/>
            </a:pPr>
            <a:endParaRPr lang="en-US" dirty="0">
              <a:solidFill>
                <a:prstClr val="black"/>
              </a:solidFill>
              <a:latin typeface=" Arial"/>
            </a:endParaRPr>
          </a:p>
          <a:p>
            <a:pPr>
              <a:defRPr/>
            </a:pPr>
            <a:r>
              <a:rPr lang="en-US" u="sng" dirty="0" smtClean="0">
                <a:solidFill>
                  <a:prstClr val="black"/>
                </a:solidFill>
                <a:latin typeface=" Arial"/>
              </a:rPr>
              <a:t>Prior/Current Contract Information</a:t>
            </a:r>
            <a:r>
              <a:rPr lang="en-US" dirty="0" smtClean="0">
                <a:solidFill>
                  <a:prstClr val="black"/>
                </a:solidFill>
                <a:latin typeface=" Arial"/>
              </a:rPr>
              <a:t>:</a:t>
            </a:r>
          </a:p>
          <a:p>
            <a:pPr>
              <a:defRPr/>
            </a:pPr>
            <a:r>
              <a:rPr lang="en-US" dirty="0">
                <a:solidFill>
                  <a:prstClr val="black"/>
                </a:solidFill>
                <a:latin typeface=" Arial"/>
              </a:rPr>
              <a:t>	</a:t>
            </a:r>
            <a:r>
              <a:rPr lang="en-US" dirty="0" smtClean="0">
                <a:solidFill>
                  <a:prstClr val="black"/>
                </a:solidFill>
                <a:latin typeface=" Arial"/>
              </a:rPr>
              <a:t>Contract Number:  W91CRB-15-C-0035</a:t>
            </a:r>
          </a:p>
          <a:p>
            <a:pPr>
              <a:defRPr/>
            </a:pPr>
            <a:r>
              <a:rPr lang="en-US" dirty="0">
                <a:solidFill>
                  <a:prstClr val="black"/>
                </a:solidFill>
                <a:latin typeface=" Arial"/>
              </a:rPr>
              <a:t>	</a:t>
            </a:r>
            <a:r>
              <a:rPr lang="en-US" dirty="0" smtClean="0">
                <a:solidFill>
                  <a:prstClr val="black"/>
                </a:solidFill>
                <a:latin typeface=" Arial"/>
              </a:rPr>
              <a:t>Incumbent Contractor:  NCI</a:t>
            </a:r>
          </a:p>
          <a:p>
            <a:pPr>
              <a:defRPr/>
            </a:pPr>
            <a:endParaRPr lang="en-US" dirty="0" smtClean="0">
              <a:solidFill>
                <a:prstClr val="black"/>
              </a:solidFill>
              <a:latin typeface=" Arial"/>
            </a:endParaRPr>
          </a:p>
          <a:p>
            <a:pPr>
              <a:defRPr/>
            </a:pPr>
            <a:r>
              <a:rPr lang="en-US" u="sng" dirty="0" smtClean="0">
                <a:solidFill>
                  <a:prstClr val="black"/>
                </a:solidFill>
                <a:latin typeface=" Arial"/>
              </a:rPr>
              <a:t>Contract Type</a:t>
            </a:r>
            <a:r>
              <a:rPr lang="en-US" dirty="0" smtClean="0">
                <a:solidFill>
                  <a:prstClr val="black"/>
                </a:solidFill>
                <a:latin typeface=" Arial"/>
              </a:rPr>
              <a:t>:  CPFF task order on Responsive Strategic Sourcing for Services (RS3)</a:t>
            </a:r>
          </a:p>
          <a:p>
            <a:pPr>
              <a:defRPr/>
            </a:pPr>
            <a:r>
              <a:rPr lang="en-US" u="sng" dirty="0" smtClean="0">
                <a:solidFill>
                  <a:prstClr val="black"/>
                </a:solidFill>
                <a:latin typeface=" Arial"/>
              </a:rPr>
              <a:t>Estimated Value</a:t>
            </a:r>
            <a:r>
              <a:rPr lang="en-US" dirty="0" smtClean="0">
                <a:solidFill>
                  <a:prstClr val="black"/>
                </a:solidFill>
                <a:latin typeface=" Arial"/>
              </a:rPr>
              <a:t>:  $45M</a:t>
            </a:r>
          </a:p>
          <a:p>
            <a:pPr>
              <a:defRPr/>
            </a:pPr>
            <a:r>
              <a:rPr lang="en-US" u="sng" dirty="0" smtClean="0">
                <a:solidFill>
                  <a:prstClr val="black"/>
                </a:solidFill>
                <a:latin typeface=" Arial"/>
              </a:rPr>
              <a:t>Period of Performance</a:t>
            </a:r>
            <a:r>
              <a:rPr lang="en-US" dirty="0" smtClean="0">
                <a:solidFill>
                  <a:prstClr val="black"/>
                </a:solidFill>
                <a:latin typeface=" Arial"/>
              </a:rPr>
              <a:t>:  One year contract with four option years</a:t>
            </a:r>
          </a:p>
          <a:p>
            <a:pPr>
              <a:defRPr/>
            </a:pPr>
            <a:r>
              <a:rPr lang="en-US" u="sng" dirty="0" smtClean="0">
                <a:solidFill>
                  <a:prstClr val="black"/>
                </a:solidFill>
                <a:latin typeface=" Arial"/>
              </a:rPr>
              <a:t>Estimated Solicitation Release Date</a:t>
            </a:r>
            <a:r>
              <a:rPr lang="en-US" dirty="0" smtClean="0">
                <a:solidFill>
                  <a:prstClr val="black"/>
                </a:solidFill>
                <a:latin typeface=" Arial"/>
              </a:rPr>
              <a:t>:  4QFY18</a:t>
            </a:r>
          </a:p>
          <a:p>
            <a:pPr>
              <a:defRPr/>
            </a:pPr>
            <a:r>
              <a:rPr lang="en-US" u="sng" dirty="0" smtClean="0">
                <a:solidFill>
                  <a:prstClr val="black"/>
                </a:solidFill>
                <a:latin typeface=" Arial"/>
              </a:rPr>
              <a:t>Contracting Contact</a:t>
            </a:r>
            <a:r>
              <a:rPr lang="en-US" dirty="0" smtClean="0">
                <a:solidFill>
                  <a:prstClr val="black"/>
                </a:solidFill>
                <a:latin typeface=" Arial"/>
              </a:rPr>
              <a:t>:  ACC-APG, David Hart, KO, </a:t>
            </a:r>
            <a:r>
              <a:rPr lang="en-US" dirty="0" smtClean="0">
                <a:solidFill>
                  <a:prstClr val="black"/>
                </a:solidFill>
                <a:latin typeface=" Arial"/>
                <a:hlinkClick r:id="rId2"/>
              </a:rPr>
              <a:t>David.k.hart.civ@mail.mil</a:t>
            </a:r>
            <a:r>
              <a:rPr lang="en-US" dirty="0" smtClean="0">
                <a:solidFill>
                  <a:prstClr val="black"/>
                </a:solidFill>
                <a:latin typeface=" Arial"/>
              </a:rPr>
              <a:t> </a:t>
            </a:r>
          </a:p>
          <a:p>
            <a:pPr>
              <a:defRPr/>
            </a:pPr>
            <a:endParaRPr lang="en-US" dirty="0" smtClean="0">
              <a:solidFill>
                <a:prstClr val="black"/>
              </a:solidFill>
              <a:latin typeface=" Arial"/>
            </a:endParaRPr>
          </a:p>
          <a:p>
            <a:pPr>
              <a:defRPr/>
            </a:pPr>
            <a:r>
              <a:rPr lang="en-US" sz="1600" b="1" dirty="0" smtClean="0">
                <a:solidFill>
                  <a:prstClr val="black"/>
                </a:solidFill>
                <a:latin typeface=" Arial"/>
              </a:rPr>
              <a:t>*Subject to Cancellation</a:t>
            </a:r>
            <a:endParaRPr lang="en-US" sz="1600" b="1" dirty="0">
              <a:solidFill>
                <a:prstClr val="black"/>
              </a:solidFill>
              <a:latin typeface=" Arial"/>
            </a:endParaRPr>
          </a:p>
        </p:txBody>
      </p:sp>
    </p:spTree>
    <p:extLst>
      <p:ext uri="{BB962C8B-B14F-4D97-AF65-F5344CB8AC3E}">
        <p14:creationId xmlns:p14="http://schemas.microsoft.com/office/powerpoint/2010/main" val="36696031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PEO Soldier</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14</a:t>
            </a:fld>
            <a:endParaRPr lang="en-US" sz="1000" dirty="0">
              <a:solidFill>
                <a:prstClr val="white"/>
              </a:solidFill>
            </a:endParaRPr>
          </a:p>
        </p:txBody>
      </p:sp>
      <p:sp>
        <p:nvSpPr>
          <p:cNvPr id="8" name="TextBox 8"/>
          <p:cNvSpPr txBox="1">
            <a:spLocks noChangeArrowheads="1"/>
          </p:cNvSpPr>
          <p:nvPr/>
        </p:nvSpPr>
        <p:spPr bwMode="auto">
          <a:xfrm>
            <a:off x="0" y="1066800"/>
            <a:ext cx="9144000" cy="5262979"/>
          </a:xfrm>
          <a:prstGeom prst="rect">
            <a:avLst/>
          </a:prstGeom>
          <a:noFill/>
          <a:ln w="9525">
            <a:noFill/>
            <a:miter lim="800000"/>
            <a:headEnd/>
            <a:tailEnd/>
          </a:ln>
        </p:spPr>
        <p:txBody>
          <a:bodyPr wrap="square">
            <a:spAutoFit/>
          </a:bodyPr>
          <a:lstStyle/>
          <a:p>
            <a:pPr>
              <a:defRPr/>
            </a:pPr>
            <a:r>
              <a:rPr lang="en-US" u="sng" dirty="0">
                <a:solidFill>
                  <a:prstClr val="black"/>
                </a:solidFill>
                <a:latin typeface=" Arial"/>
              </a:rPr>
              <a:t>Project Title:  </a:t>
            </a:r>
            <a:r>
              <a:rPr lang="en-US" dirty="0" smtClean="0">
                <a:solidFill>
                  <a:prstClr val="black"/>
                </a:solidFill>
                <a:latin typeface=" Arial"/>
              </a:rPr>
              <a:t>Active RFID Assembly Devices (ARADs)</a:t>
            </a:r>
          </a:p>
          <a:p>
            <a:pPr>
              <a:defRPr/>
            </a:pPr>
            <a:r>
              <a:rPr lang="en-US" u="sng" dirty="0">
                <a:solidFill>
                  <a:prstClr val="black"/>
                </a:solidFill>
                <a:latin typeface=" Arial"/>
              </a:rPr>
              <a:t>Project Summary: </a:t>
            </a:r>
            <a:r>
              <a:rPr lang="en-US" dirty="0">
                <a:solidFill>
                  <a:prstClr val="black"/>
                </a:solidFill>
                <a:latin typeface=" Arial"/>
              </a:rPr>
              <a:t>The ARAD is a Radio Frequency Identification (RFID) device that consists of microelectronics on a specialized flex circuit board with a stainless steel backer plate to provide stiffness for assembly of the </a:t>
            </a:r>
            <a:r>
              <a:rPr lang="en-US" dirty="0" smtClean="0">
                <a:solidFill>
                  <a:prstClr val="black"/>
                </a:solidFill>
                <a:latin typeface=" Arial"/>
              </a:rPr>
              <a:t>Commercial Off the Shelf (COTS) </a:t>
            </a:r>
            <a:r>
              <a:rPr lang="en-US" dirty="0">
                <a:solidFill>
                  <a:prstClr val="black"/>
                </a:solidFill>
                <a:latin typeface=" Arial"/>
              </a:rPr>
              <a:t>electrical components. </a:t>
            </a:r>
          </a:p>
          <a:p>
            <a:pPr>
              <a:defRPr/>
            </a:pPr>
            <a:endParaRPr lang="en-US" sz="1600" u="sng" dirty="0" smtClean="0">
              <a:solidFill>
                <a:prstClr val="black"/>
              </a:solidFill>
              <a:latin typeface=" Arial"/>
            </a:endParaRPr>
          </a:p>
          <a:p>
            <a:pPr>
              <a:defRPr/>
            </a:pPr>
            <a:r>
              <a:rPr lang="en-US" u="sng" dirty="0" smtClean="0">
                <a:solidFill>
                  <a:prstClr val="black"/>
                </a:solidFill>
                <a:latin typeface=" Arial"/>
              </a:rPr>
              <a:t>Prior/Current Contract Information</a:t>
            </a:r>
            <a:r>
              <a:rPr lang="en-US" dirty="0" smtClean="0">
                <a:solidFill>
                  <a:prstClr val="black"/>
                </a:solidFill>
                <a:latin typeface=" Arial"/>
              </a:rPr>
              <a:t>:</a:t>
            </a:r>
          </a:p>
          <a:p>
            <a:pPr>
              <a:defRPr/>
            </a:pPr>
            <a:r>
              <a:rPr lang="en-US" sz="1600" dirty="0" smtClean="0">
                <a:solidFill>
                  <a:prstClr val="black"/>
                </a:solidFill>
                <a:latin typeface=" Arial"/>
              </a:rPr>
              <a:t>	</a:t>
            </a:r>
            <a:r>
              <a:rPr lang="en-US" dirty="0">
                <a:solidFill>
                  <a:prstClr val="black"/>
                </a:solidFill>
                <a:latin typeface=" Arial"/>
              </a:rPr>
              <a:t>Contract Number:  W91CRB-13-D-0002</a:t>
            </a:r>
          </a:p>
          <a:p>
            <a:pPr>
              <a:defRPr/>
            </a:pPr>
            <a:r>
              <a:rPr lang="en-US" dirty="0">
                <a:solidFill>
                  <a:prstClr val="black"/>
                </a:solidFill>
                <a:latin typeface=" Arial"/>
              </a:rPr>
              <a:t>	Incumbent Contractor:  Benchmark Electronics, Inc.</a:t>
            </a:r>
          </a:p>
          <a:p>
            <a:pPr>
              <a:defRPr/>
            </a:pPr>
            <a:endParaRPr lang="en-US" dirty="0">
              <a:solidFill>
                <a:prstClr val="black"/>
              </a:solidFill>
              <a:latin typeface=" Arial"/>
            </a:endParaRPr>
          </a:p>
          <a:p>
            <a:pPr>
              <a:defRPr/>
            </a:pPr>
            <a:r>
              <a:rPr lang="en-US" sz="1600" dirty="0" smtClean="0">
                <a:solidFill>
                  <a:prstClr val="black"/>
                </a:solidFill>
                <a:latin typeface=" Arial"/>
              </a:rPr>
              <a:t>Note:  </a:t>
            </a:r>
            <a:r>
              <a:rPr lang="en-US" dirty="0">
                <a:solidFill>
                  <a:prstClr val="black"/>
                </a:solidFill>
                <a:latin typeface=" Arial"/>
              </a:rPr>
              <a:t>Small Business Set Aside</a:t>
            </a:r>
          </a:p>
          <a:p>
            <a:pPr>
              <a:defRPr/>
            </a:pPr>
            <a:endParaRPr lang="en-US" sz="1600" dirty="0" smtClean="0">
              <a:solidFill>
                <a:prstClr val="black"/>
              </a:solidFill>
              <a:latin typeface=" Arial"/>
            </a:endParaRPr>
          </a:p>
          <a:p>
            <a:pPr>
              <a:defRPr/>
            </a:pPr>
            <a:r>
              <a:rPr lang="en-US" u="sng" dirty="0" smtClean="0">
                <a:solidFill>
                  <a:prstClr val="black"/>
                </a:solidFill>
                <a:latin typeface=" Arial"/>
              </a:rPr>
              <a:t>Contract Type</a:t>
            </a:r>
            <a:r>
              <a:rPr lang="en-US" dirty="0" smtClean="0">
                <a:solidFill>
                  <a:prstClr val="black"/>
                </a:solidFill>
                <a:latin typeface=" Arial"/>
              </a:rPr>
              <a:t>:  Delivery orders will be FFP </a:t>
            </a:r>
          </a:p>
          <a:p>
            <a:pPr>
              <a:defRPr/>
            </a:pPr>
            <a:r>
              <a:rPr lang="en-US" u="sng" dirty="0" smtClean="0">
                <a:solidFill>
                  <a:prstClr val="black"/>
                </a:solidFill>
                <a:latin typeface=" Arial"/>
              </a:rPr>
              <a:t>Estimated Value</a:t>
            </a:r>
            <a:r>
              <a:rPr lang="en-US" dirty="0" smtClean="0">
                <a:solidFill>
                  <a:prstClr val="black"/>
                </a:solidFill>
                <a:latin typeface=" Arial"/>
              </a:rPr>
              <a:t>:  $11M</a:t>
            </a:r>
          </a:p>
          <a:p>
            <a:pPr>
              <a:defRPr/>
            </a:pPr>
            <a:r>
              <a:rPr lang="en-US" u="sng" dirty="0" smtClean="0">
                <a:solidFill>
                  <a:prstClr val="black"/>
                </a:solidFill>
                <a:latin typeface=" Arial"/>
              </a:rPr>
              <a:t>Period of Performance</a:t>
            </a:r>
            <a:r>
              <a:rPr lang="en-US" dirty="0" smtClean="0">
                <a:solidFill>
                  <a:prstClr val="black"/>
                </a:solidFill>
                <a:latin typeface=" Arial"/>
              </a:rPr>
              <a:t>:  5 year ordering period</a:t>
            </a:r>
          </a:p>
          <a:p>
            <a:pPr>
              <a:defRPr/>
            </a:pPr>
            <a:r>
              <a:rPr lang="en-US" u="sng" dirty="0" smtClean="0">
                <a:solidFill>
                  <a:prstClr val="black"/>
                </a:solidFill>
                <a:latin typeface=" Arial"/>
              </a:rPr>
              <a:t>Estimated Solicitation Release Date</a:t>
            </a:r>
            <a:r>
              <a:rPr lang="en-US" dirty="0" smtClean="0">
                <a:solidFill>
                  <a:prstClr val="black"/>
                </a:solidFill>
                <a:latin typeface=" Arial"/>
              </a:rPr>
              <a:t>:  4QFY18</a:t>
            </a:r>
          </a:p>
          <a:p>
            <a:pPr>
              <a:defRPr/>
            </a:pPr>
            <a:r>
              <a:rPr lang="en-US" u="sng" dirty="0" smtClean="0">
                <a:solidFill>
                  <a:prstClr val="black"/>
                </a:solidFill>
                <a:latin typeface=" Arial"/>
              </a:rPr>
              <a:t>Contracting Contact</a:t>
            </a:r>
            <a:r>
              <a:rPr lang="en-US" dirty="0" smtClean="0">
                <a:solidFill>
                  <a:prstClr val="black"/>
                </a:solidFill>
                <a:latin typeface=" Arial"/>
              </a:rPr>
              <a:t>:  ACC-APG, Samantha Shultz, KO, samantha.l.shultz2.civ@mail.mil</a:t>
            </a:r>
          </a:p>
          <a:p>
            <a:pPr>
              <a:defRPr/>
            </a:pPr>
            <a:endParaRPr lang="en-US" dirty="0" smtClean="0">
              <a:solidFill>
                <a:prstClr val="black"/>
              </a:solidFill>
              <a:latin typeface=" Arial"/>
            </a:endParaRPr>
          </a:p>
          <a:p>
            <a:pPr>
              <a:defRPr/>
            </a:pPr>
            <a:r>
              <a:rPr lang="en-US" sz="1600" b="1" dirty="0" smtClean="0">
                <a:solidFill>
                  <a:prstClr val="black"/>
                </a:solidFill>
                <a:latin typeface=" Arial"/>
              </a:rPr>
              <a:t>*Subject to Cancellation</a:t>
            </a:r>
            <a:endParaRPr lang="en-US" sz="1600" b="1" dirty="0">
              <a:solidFill>
                <a:prstClr val="black"/>
              </a:solidFill>
              <a:latin typeface=" Arial"/>
            </a:endParaRPr>
          </a:p>
        </p:txBody>
      </p:sp>
    </p:spTree>
    <p:extLst>
      <p:ext uri="{BB962C8B-B14F-4D97-AF65-F5344CB8AC3E}">
        <p14:creationId xmlns:p14="http://schemas.microsoft.com/office/powerpoint/2010/main" val="405104744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PEO Soldier</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15</a:t>
            </a:fld>
            <a:endParaRPr lang="en-US" sz="1000" dirty="0">
              <a:solidFill>
                <a:prstClr val="white"/>
              </a:solidFill>
            </a:endParaRPr>
          </a:p>
        </p:txBody>
      </p:sp>
      <p:sp>
        <p:nvSpPr>
          <p:cNvPr id="8" name="TextBox 8"/>
          <p:cNvSpPr txBox="1">
            <a:spLocks noChangeArrowheads="1"/>
          </p:cNvSpPr>
          <p:nvPr/>
        </p:nvSpPr>
        <p:spPr bwMode="auto">
          <a:xfrm>
            <a:off x="0" y="1066800"/>
            <a:ext cx="9144000" cy="5324535"/>
          </a:xfrm>
          <a:prstGeom prst="rect">
            <a:avLst/>
          </a:prstGeom>
          <a:noFill/>
          <a:ln w="9525">
            <a:noFill/>
            <a:miter lim="800000"/>
            <a:headEnd/>
            <a:tailEnd/>
          </a:ln>
        </p:spPr>
        <p:txBody>
          <a:bodyPr wrap="square">
            <a:spAutoFit/>
          </a:bodyPr>
          <a:lstStyle/>
          <a:p>
            <a:pPr>
              <a:defRPr/>
            </a:pPr>
            <a:r>
              <a:rPr lang="en-US" u="sng" dirty="0" smtClean="0">
                <a:solidFill>
                  <a:prstClr val="black"/>
                </a:solidFill>
                <a:latin typeface=" Arial"/>
              </a:rPr>
              <a:t>Project Title</a:t>
            </a:r>
            <a:r>
              <a:rPr lang="en-US" dirty="0" smtClean="0">
                <a:solidFill>
                  <a:prstClr val="black"/>
                </a:solidFill>
                <a:latin typeface=" Arial"/>
              </a:rPr>
              <a:t>:  </a:t>
            </a:r>
            <a:r>
              <a:rPr lang="en-US" sz="1600" dirty="0" smtClean="0">
                <a:solidFill>
                  <a:prstClr val="black"/>
                </a:solidFill>
                <a:latin typeface=" Arial"/>
              </a:rPr>
              <a:t>Soldier Borne Sensors (SBS)</a:t>
            </a:r>
          </a:p>
          <a:p>
            <a:pPr>
              <a:defRPr/>
            </a:pPr>
            <a:r>
              <a:rPr lang="en-US" u="sng" dirty="0">
                <a:solidFill>
                  <a:prstClr val="black"/>
                </a:solidFill>
                <a:latin typeface=" Arial"/>
              </a:rPr>
              <a:t>Project Summary: </a:t>
            </a:r>
            <a:r>
              <a:rPr lang="en-US" sz="1600" dirty="0">
                <a:solidFill>
                  <a:prstClr val="black"/>
                </a:solidFill>
                <a:latin typeface=" Arial"/>
              </a:rPr>
              <a:t>The </a:t>
            </a:r>
            <a:r>
              <a:rPr lang="en-US" sz="1600" dirty="0" smtClean="0">
                <a:solidFill>
                  <a:prstClr val="black"/>
                </a:solidFill>
                <a:latin typeface=" Arial"/>
              </a:rPr>
              <a:t>SBS provides </a:t>
            </a:r>
            <a:r>
              <a:rPr lang="en-US" sz="1600" dirty="0">
                <a:solidFill>
                  <a:prstClr val="black"/>
                </a:solidFill>
                <a:latin typeface=" Arial"/>
              </a:rPr>
              <a:t>a near term solution to three Army Warfighting Challenges (AWFCs) primarily to enhance the lethality and force protection. The initial increment of the SBS provides a near term solution to address the AWFCs with mobile sensors that provide the Squad with an organic, “quick look” capability to scan larger operational areas without the delay of coordinating for non-organic assets.  </a:t>
            </a:r>
            <a:endParaRPr lang="en-US" sz="1600" dirty="0" smtClean="0">
              <a:solidFill>
                <a:prstClr val="black"/>
              </a:solidFill>
              <a:latin typeface=" Arial"/>
            </a:endParaRPr>
          </a:p>
          <a:p>
            <a:pPr>
              <a:defRPr/>
            </a:pPr>
            <a:endParaRPr lang="en-US" sz="1600" u="sng" dirty="0" smtClean="0">
              <a:solidFill>
                <a:prstClr val="black"/>
              </a:solidFill>
              <a:latin typeface=" Arial"/>
            </a:endParaRPr>
          </a:p>
          <a:p>
            <a:pPr>
              <a:defRPr/>
            </a:pPr>
            <a:r>
              <a:rPr lang="en-US" u="sng" dirty="0">
                <a:solidFill>
                  <a:prstClr val="black"/>
                </a:solidFill>
                <a:latin typeface=" Arial"/>
              </a:rPr>
              <a:t>Prior/Current Contract Information:</a:t>
            </a:r>
          </a:p>
          <a:p>
            <a:pPr>
              <a:defRPr/>
            </a:pPr>
            <a:r>
              <a:rPr lang="en-US" sz="1600" dirty="0" smtClean="0">
                <a:solidFill>
                  <a:prstClr val="black"/>
                </a:solidFill>
                <a:latin typeface=" Arial"/>
              </a:rPr>
              <a:t>	Contract Number:  none</a:t>
            </a:r>
          </a:p>
          <a:p>
            <a:pPr>
              <a:defRPr/>
            </a:pPr>
            <a:r>
              <a:rPr lang="en-US" sz="1600" dirty="0" smtClean="0">
                <a:solidFill>
                  <a:prstClr val="black"/>
                </a:solidFill>
                <a:latin typeface=" Arial"/>
              </a:rPr>
              <a:t>	Incumbent Contractor: none</a:t>
            </a:r>
          </a:p>
          <a:p>
            <a:pPr>
              <a:defRPr/>
            </a:pPr>
            <a:r>
              <a:rPr lang="en-US" sz="1600" dirty="0" smtClean="0">
                <a:solidFill>
                  <a:prstClr val="black"/>
                </a:solidFill>
                <a:latin typeface=" Arial"/>
              </a:rPr>
              <a:t>Note:  N/A</a:t>
            </a:r>
          </a:p>
          <a:p>
            <a:pPr>
              <a:defRPr/>
            </a:pPr>
            <a:endParaRPr lang="en-US" sz="1600" dirty="0" smtClean="0">
              <a:solidFill>
                <a:prstClr val="black"/>
              </a:solidFill>
              <a:latin typeface=" Arial"/>
            </a:endParaRPr>
          </a:p>
          <a:p>
            <a:pPr>
              <a:defRPr/>
            </a:pPr>
            <a:r>
              <a:rPr lang="en-US" u="sng" dirty="0">
                <a:solidFill>
                  <a:prstClr val="black"/>
                </a:solidFill>
                <a:latin typeface=" Arial"/>
              </a:rPr>
              <a:t>Contract Type:  </a:t>
            </a:r>
            <a:r>
              <a:rPr lang="en-US" sz="1600" dirty="0" smtClean="0">
                <a:solidFill>
                  <a:prstClr val="black"/>
                </a:solidFill>
                <a:latin typeface=" Arial"/>
              </a:rPr>
              <a:t>Delivery orders will be FFP </a:t>
            </a:r>
          </a:p>
          <a:p>
            <a:pPr>
              <a:defRPr/>
            </a:pPr>
            <a:r>
              <a:rPr lang="en-US" u="sng" dirty="0">
                <a:solidFill>
                  <a:prstClr val="black"/>
                </a:solidFill>
                <a:latin typeface=" Arial"/>
              </a:rPr>
              <a:t>Estimated Value:  </a:t>
            </a:r>
            <a:r>
              <a:rPr lang="en-US" sz="1600" dirty="0" smtClean="0">
                <a:solidFill>
                  <a:prstClr val="black"/>
                </a:solidFill>
                <a:latin typeface=" Arial"/>
              </a:rPr>
              <a:t>$145M</a:t>
            </a:r>
          </a:p>
          <a:p>
            <a:pPr>
              <a:defRPr/>
            </a:pPr>
            <a:r>
              <a:rPr lang="en-US" u="sng" dirty="0">
                <a:solidFill>
                  <a:prstClr val="black"/>
                </a:solidFill>
                <a:latin typeface=" Arial"/>
              </a:rPr>
              <a:t>Period of Performance:  </a:t>
            </a:r>
            <a:r>
              <a:rPr lang="en-US" sz="1600" dirty="0" smtClean="0">
                <a:solidFill>
                  <a:prstClr val="black"/>
                </a:solidFill>
                <a:latin typeface=" Arial"/>
              </a:rPr>
              <a:t>5 year ordering period</a:t>
            </a:r>
          </a:p>
          <a:p>
            <a:pPr>
              <a:defRPr/>
            </a:pPr>
            <a:r>
              <a:rPr lang="en-US" u="sng" dirty="0">
                <a:solidFill>
                  <a:prstClr val="black"/>
                </a:solidFill>
                <a:latin typeface=" Arial"/>
              </a:rPr>
              <a:t>Estimated Solicitation Release Date:  </a:t>
            </a:r>
            <a:r>
              <a:rPr lang="en-US" sz="1600" dirty="0" smtClean="0">
                <a:solidFill>
                  <a:prstClr val="black"/>
                </a:solidFill>
                <a:latin typeface=" Arial"/>
              </a:rPr>
              <a:t>4QFY18</a:t>
            </a:r>
          </a:p>
          <a:p>
            <a:pPr>
              <a:defRPr/>
            </a:pPr>
            <a:r>
              <a:rPr lang="en-US" u="sng" dirty="0">
                <a:solidFill>
                  <a:prstClr val="black"/>
                </a:solidFill>
                <a:latin typeface=" Arial"/>
              </a:rPr>
              <a:t>Contracting Contact:  </a:t>
            </a:r>
            <a:r>
              <a:rPr lang="en-US" sz="1600" dirty="0" smtClean="0">
                <a:solidFill>
                  <a:prstClr val="black"/>
                </a:solidFill>
                <a:latin typeface=" Arial"/>
              </a:rPr>
              <a:t>ACC-APG, Samantha Shultz, KO, samantha.l.shultz2.civ@mail.mil</a:t>
            </a:r>
          </a:p>
          <a:p>
            <a:pPr>
              <a:defRPr/>
            </a:pPr>
            <a:endParaRPr lang="en-US" dirty="0" smtClean="0">
              <a:solidFill>
                <a:prstClr val="black"/>
              </a:solidFill>
              <a:latin typeface=" Arial"/>
            </a:endParaRPr>
          </a:p>
          <a:p>
            <a:pPr>
              <a:defRPr/>
            </a:pPr>
            <a:endParaRPr lang="en-US" dirty="0" smtClean="0">
              <a:solidFill>
                <a:prstClr val="black"/>
              </a:solidFill>
              <a:latin typeface=" Arial"/>
            </a:endParaRPr>
          </a:p>
          <a:p>
            <a:pPr>
              <a:defRPr/>
            </a:pPr>
            <a:r>
              <a:rPr lang="en-US" sz="1600" b="1" dirty="0" smtClean="0">
                <a:solidFill>
                  <a:prstClr val="black"/>
                </a:solidFill>
                <a:latin typeface=" Arial"/>
              </a:rPr>
              <a:t>*Subject to Cancellation</a:t>
            </a:r>
            <a:endParaRPr lang="en-US" sz="1600" b="1" dirty="0">
              <a:solidFill>
                <a:prstClr val="black"/>
              </a:solidFill>
              <a:latin typeface=" Arial"/>
            </a:endParaRPr>
          </a:p>
        </p:txBody>
      </p:sp>
    </p:spTree>
    <p:extLst>
      <p:ext uri="{BB962C8B-B14F-4D97-AF65-F5344CB8AC3E}">
        <p14:creationId xmlns:p14="http://schemas.microsoft.com/office/powerpoint/2010/main" val="3952599315"/>
      </p:ext>
    </p:extLst>
  </p:cSld>
  <p:clrMapOvr>
    <a:masterClrMapping/>
  </p:clrMapOvr>
  <p:timing>
    <p:tnLst>
      <p:par>
        <p:cTn id="1" dur="indefinite" restart="never" nodeType="tmRoot"/>
      </p:par>
    </p:tnLst>
  </p:timing>
</p:sld>
</file>

<file path=ppt/theme/theme1.xml><?xml version="1.0" encoding="utf-8"?>
<a:theme xmlns:a="http://schemas.openxmlformats.org/drawingml/2006/main" name="4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6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5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7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2C78E9BD999AC46B3EB03425BB53FA5" ma:contentTypeVersion="0" ma:contentTypeDescription="Create a new document." ma:contentTypeScope="" ma:versionID="f6fc9fef488fa45be0a390bd39793c33">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A3DBC3F-1BD6-457B-823D-FD749E2AD09E}">
  <ds:schemaRefs>
    <ds:schemaRef ds:uri="http://schemas.microsoft.com/sharepoint/v3/contenttype/forms"/>
  </ds:schemaRefs>
</ds:datastoreItem>
</file>

<file path=customXml/itemProps2.xml><?xml version="1.0" encoding="utf-8"?>
<ds:datastoreItem xmlns:ds="http://schemas.openxmlformats.org/officeDocument/2006/customXml" ds:itemID="{D1C3164B-E357-4C61-9748-6D3606BFACD6}">
  <ds:schemaRefs>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http://purl.org/dc/term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BFD0F2A9-63A1-4578-8ED3-5C6C752F0CA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5988</TotalTime>
  <Words>1185</Words>
  <Application>Microsoft Office PowerPoint</Application>
  <PresentationFormat>On-screen Show (4:3)</PresentationFormat>
  <Paragraphs>240</Paragraphs>
  <Slides>15</Slides>
  <Notes>1</Notes>
  <HiddenSlides>0</HiddenSlides>
  <MMClips>0</MMClips>
  <ScaleCrop>false</ScaleCrop>
  <HeadingPairs>
    <vt:vector size="6" baseType="variant">
      <vt:variant>
        <vt:lpstr>Fonts Used</vt:lpstr>
      </vt:variant>
      <vt:variant>
        <vt:i4>8</vt:i4>
      </vt:variant>
      <vt:variant>
        <vt:lpstr>Theme</vt:lpstr>
      </vt:variant>
      <vt:variant>
        <vt:i4>4</vt:i4>
      </vt:variant>
      <vt:variant>
        <vt:lpstr>Slide Titles</vt:lpstr>
      </vt:variant>
      <vt:variant>
        <vt:i4>15</vt:i4>
      </vt:variant>
    </vt:vector>
  </HeadingPairs>
  <TitlesOfParts>
    <vt:vector size="27" baseType="lpstr">
      <vt:lpstr>ＭＳ Ｐゴシック</vt:lpstr>
      <vt:lpstr>ＭＳ Ｐゴシック</vt:lpstr>
      <vt:lpstr> Arial</vt:lpstr>
      <vt:lpstr>Arial</vt:lpstr>
      <vt:lpstr>Calibri</vt:lpstr>
      <vt:lpstr>Comic Sans MS</vt:lpstr>
      <vt:lpstr>Franklin Gothic Book</vt:lpstr>
      <vt:lpstr>Franklin Gothic Medium Cond</vt:lpstr>
      <vt:lpstr>4_Custom Design</vt:lpstr>
      <vt:lpstr>6_Custom Design</vt:lpstr>
      <vt:lpstr>5_Custom Design</vt:lpstr>
      <vt:lpstr>7_Custom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SRB Slides</dc:title>
  <dc:creator>Hessler, Kenneth CIV USA</dc:creator>
  <cp:lastModifiedBy>McCarthy, Kim A CIV USA AMC</cp:lastModifiedBy>
  <cp:revision>483</cp:revision>
  <cp:lastPrinted>2018-04-02T15:18:06Z</cp:lastPrinted>
  <dcterms:created xsi:type="dcterms:W3CDTF">2006-08-16T00:00:00Z</dcterms:created>
  <dcterms:modified xsi:type="dcterms:W3CDTF">2018-04-04T19:44:22Z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0x01010062C78E9BD999AC46B3EB03425BB53FA5</vt:lpwstr>
  </property>
  <property fmtid="{D5CDD505-2E9C-101B-9397-08002B2CF9AE}" pid="3" name="NXPowerLiteLastOptimized">
    <vt:lpwstr>206266</vt:lpwstr>
  </property>
  <property fmtid="{D5CDD505-2E9C-101B-9397-08002B2CF9AE}" pid="4" name="NXPowerLiteSettings">
    <vt:lpwstr>E6000400038000</vt:lpwstr>
  </property>
  <property fmtid="{D5CDD505-2E9C-101B-9397-08002B2CF9AE}" pid="5" name="NXPowerLiteVersion">
    <vt:lpwstr>D4.3.1</vt:lpwstr>
  </property>
  <property fmtid="{D5CDD505-2E9C-101B-9397-08002B2CF9AE}" pid="6" name="Order">
    <vt:r8>900</vt:r8>
  </property>
  <property fmtid="{D5CDD505-2E9C-101B-9397-08002B2CF9AE}" pid="7" name="TaxCatchAll">
    <vt:lpwstr/>
  </property>
  <property fmtid="{D5CDD505-2E9C-101B-9397-08002B2CF9AE}" pid="8" name="TemplateUrl">
    <vt:lpwstr/>
  </property>
  <property fmtid="{D5CDD505-2E9C-101B-9397-08002B2CF9AE}" pid="9" name="_CopySource">
    <vt:lpwstr>https://collab.aep.army.mil/sites/CGInitiatives/1205SETH/Read Ahead Book/TAB 03B - 2012 07 20 AMC World Wide Town Hall Presentation (slides Only).pptx</vt:lpwstr>
  </property>
  <property fmtid="{D5CDD505-2E9C-101B-9397-08002B2CF9AE}" pid="10" name="d2454c551d7348168dd1433cb168329a">
    <vt:lpwstr/>
  </property>
  <property fmtid="{D5CDD505-2E9C-101B-9397-08002B2CF9AE}" pid="11" name="xd_ProgID">
    <vt:lpwstr/>
  </property>
  <property fmtid="{D5CDD505-2E9C-101B-9397-08002B2CF9AE}" pid="12" name="xd_Signature">
    <vt:bool>false</vt:bool>
  </property>
</Properties>
</file>