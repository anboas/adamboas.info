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 id="2147483730" r:id="rId5"/>
    <p:sldMasterId id="2147483727" r:id="rId6"/>
    <p:sldMasterId id="2147483725" r:id="rId7"/>
  </p:sldMasterIdLst>
  <p:notesMasterIdLst>
    <p:notesMasterId r:id="rId24"/>
  </p:notesMasterIdLst>
  <p:handoutMasterIdLst>
    <p:handoutMasterId r:id="rId25"/>
  </p:handoutMasterIdLst>
  <p:sldIdLst>
    <p:sldId id="454" r:id="rId8"/>
    <p:sldId id="480" r:id="rId9"/>
    <p:sldId id="479" r:id="rId10"/>
    <p:sldId id="476" r:id="rId11"/>
    <p:sldId id="477" r:id="rId12"/>
    <p:sldId id="465" r:id="rId13"/>
    <p:sldId id="478" r:id="rId14"/>
    <p:sldId id="468" r:id="rId15"/>
    <p:sldId id="475" r:id="rId16"/>
    <p:sldId id="471" r:id="rId17"/>
    <p:sldId id="470" r:id="rId18"/>
    <p:sldId id="472" r:id="rId19"/>
    <p:sldId id="483" r:id="rId20"/>
    <p:sldId id="484" r:id="rId21"/>
    <p:sldId id="473" r:id="rId22"/>
    <p:sldId id="474" r:id="rId2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600CC"/>
    <a:srgbClr val="FFFF00"/>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561" autoAdjust="0"/>
    <p:restoredTop sz="94590" autoAdjust="0"/>
  </p:normalViewPr>
  <p:slideViewPr>
    <p:cSldViewPr>
      <p:cViewPr varScale="1">
        <p:scale>
          <a:sx n="110" d="100"/>
          <a:sy n="110" d="100"/>
        </p:scale>
        <p:origin x="1266" y="10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3758E99F-C48A-4CC9-A7E5-8745441DF98A}" type="datetimeFigureOut">
              <a:rPr lang="en-US" smtClean="0"/>
              <a:t>7/10/2018</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C96F18F-AA4E-4C5C-8349-C9773A981DFA}" type="slidenum">
              <a:rPr lang="en-US" smtClean="0"/>
              <a:t>‹#›</a:t>
            </a:fld>
            <a:endParaRPr lang="en-US"/>
          </a:p>
        </p:txBody>
      </p:sp>
    </p:spTree>
    <p:extLst>
      <p:ext uri="{BB962C8B-B14F-4D97-AF65-F5344CB8AC3E}">
        <p14:creationId xmlns:p14="http://schemas.microsoft.com/office/powerpoint/2010/main" val="3403690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736" tIns="46368" rIns="92736" bIns="46368" rtlCol="0"/>
          <a:lstStyle>
            <a:lvl1pPr algn="l">
              <a:defRPr sz="1200"/>
            </a:lvl1pPr>
          </a:lstStyle>
          <a:p>
            <a:endParaRPr lang="en-US" dirty="0"/>
          </a:p>
        </p:txBody>
      </p:sp>
      <p:sp>
        <p:nvSpPr>
          <p:cNvPr id="3" name="Date Placeholder 2"/>
          <p:cNvSpPr>
            <a:spLocks noGrp="1"/>
          </p:cNvSpPr>
          <p:nvPr>
            <p:ph type="dt" idx="1"/>
          </p:nvPr>
        </p:nvSpPr>
        <p:spPr>
          <a:xfrm>
            <a:off x="3970940" y="0"/>
            <a:ext cx="3037840" cy="464820"/>
          </a:xfrm>
          <a:prstGeom prst="rect">
            <a:avLst/>
          </a:prstGeom>
        </p:spPr>
        <p:txBody>
          <a:bodyPr vert="horz" lIns="92736" tIns="46368" rIns="92736" bIns="46368" rtlCol="0"/>
          <a:lstStyle>
            <a:lvl1pPr algn="r">
              <a:defRPr sz="1200"/>
            </a:lvl1pPr>
          </a:lstStyle>
          <a:p>
            <a:fld id="{47802B59-CA50-4283-8B53-B06FA28FE7F4}" type="datetimeFigureOut">
              <a:rPr lang="en-US" smtClean="0"/>
              <a:pPr/>
              <a:t>7/10/2018</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736" tIns="46368" rIns="92736" bIns="46368" rtlCol="0" anchor="ctr"/>
          <a:lstStyle/>
          <a:p>
            <a:endParaRPr lang="en-US" dirty="0"/>
          </a:p>
        </p:txBody>
      </p:sp>
      <p:sp>
        <p:nvSpPr>
          <p:cNvPr id="5" name="Notes Placeholder 4"/>
          <p:cNvSpPr>
            <a:spLocks noGrp="1"/>
          </p:cNvSpPr>
          <p:nvPr>
            <p:ph type="body" sz="quarter" idx="3"/>
          </p:nvPr>
        </p:nvSpPr>
        <p:spPr>
          <a:xfrm>
            <a:off x="701040" y="4415792"/>
            <a:ext cx="5608320" cy="4183380"/>
          </a:xfrm>
          <a:prstGeom prst="rect">
            <a:avLst/>
          </a:prstGeom>
        </p:spPr>
        <p:txBody>
          <a:bodyPr vert="horz" lIns="92736" tIns="46368" rIns="92736" bIns="4636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8"/>
            <a:ext cx="3037840" cy="464820"/>
          </a:xfrm>
          <a:prstGeom prst="rect">
            <a:avLst/>
          </a:prstGeom>
        </p:spPr>
        <p:txBody>
          <a:bodyPr vert="horz" lIns="92736" tIns="46368" rIns="92736" bIns="4636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40" cy="464820"/>
          </a:xfrm>
          <a:prstGeom prst="rect">
            <a:avLst/>
          </a:prstGeom>
        </p:spPr>
        <p:txBody>
          <a:bodyPr vert="horz" lIns="92736" tIns="46368" rIns="92736" bIns="46368"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574044-705B-4BA9-9528-EF24541C28D0}" type="slidenum">
              <a:rPr lang="en-US" smtClean="0"/>
              <a:pPr/>
              <a:t>1</a:t>
            </a:fld>
            <a:endParaRPr lang="en-US" dirty="0"/>
          </a:p>
        </p:txBody>
      </p:sp>
    </p:spTree>
    <p:extLst>
      <p:ext uri="{BB962C8B-B14F-4D97-AF65-F5344CB8AC3E}">
        <p14:creationId xmlns:p14="http://schemas.microsoft.com/office/powerpoint/2010/main" val="6665914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9" name="Rectangle 8"/>
          <p:cNvSpPr/>
          <p:nvPr userDrawn="1"/>
        </p:nvSpPr>
        <p:spPr>
          <a:xfrm>
            <a:off x="140792" y="988541"/>
            <a:ext cx="8862417" cy="566557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2"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grpSp>
        <p:nvGrpSpPr>
          <p:cNvPr id="4" name="Group 3"/>
          <p:cNvGrpSpPr/>
          <p:nvPr userDrawn="1"/>
        </p:nvGrpSpPr>
        <p:grpSpPr>
          <a:xfrm>
            <a:off x="0" y="0"/>
            <a:ext cx="9144000" cy="1219200"/>
            <a:chOff x="0" y="0"/>
            <a:chExt cx="9144000" cy="1219200"/>
          </a:xfrm>
        </p:grpSpPr>
        <p:grpSp>
          <p:nvGrpSpPr>
            <p:cNvPr id="2" name="Group 1"/>
            <p:cNvGrpSpPr/>
            <p:nvPr userDrawn="1"/>
          </p:nvGrpSpPr>
          <p:grpSpPr>
            <a:xfrm>
              <a:off x="0" y="0"/>
              <a:ext cx="9144000" cy="1219200"/>
              <a:chOff x="0" y="0"/>
              <a:chExt cx="9144000" cy="121920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13" name="TextBox 12"/>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15"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grpSp>
    </p:spTree>
    <p:extLst>
      <p:ext uri="{BB962C8B-B14F-4D97-AF65-F5344CB8AC3E}">
        <p14:creationId xmlns:p14="http://schemas.microsoft.com/office/powerpoint/2010/main" val="372629930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Box 11"/>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3"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sp>
        <p:nvSpPr>
          <p:cNvPr id="15" name="Title 1"/>
          <p:cNvSpPr txBox="1">
            <a:spLocks/>
          </p:cNvSpPr>
          <p:nvPr userDrawn="1"/>
        </p:nvSpPr>
        <p:spPr>
          <a:xfrm>
            <a:off x="1628276" y="172563"/>
            <a:ext cx="3008376"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solidFill>
                  <a:prstClr val="white"/>
                </a:solidFill>
                <a:latin typeface="Franklin Gothic Medium Cond" panose="020B0606030402020204" pitchFamily="34" charset="0"/>
              </a:rPr>
              <a:t>U.S. Army Contracting </a:t>
            </a:r>
            <a:r>
              <a:rPr lang="en-US" sz="1400" dirty="0" smtClean="0">
                <a:solidFill>
                  <a:prstClr val="white"/>
                </a:solidFill>
                <a:latin typeface="Franklin Gothic Medium Cond" panose="020B0606030402020204" pitchFamily="34" charset="0"/>
              </a:rPr>
              <a:t>Command </a:t>
            </a:r>
          </a:p>
          <a:p>
            <a:r>
              <a:rPr lang="en-US" sz="1400" dirty="0" smtClean="0">
                <a:solidFill>
                  <a:prstClr val="white"/>
                </a:solidFill>
                <a:latin typeface="Franklin Gothic Medium Cond" panose="020B0606030402020204" pitchFamily="34" charset="0"/>
              </a:rPr>
              <a:t>Aberdeen </a:t>
            </a:r>
            <a:r>
              <a:rPr lang="en-US" sz="1400" dirty="0">
                <a:solidFill>
                  <a:prstClr val="white"/>
                </a:solidFill>
                <a:latin typeface="Franklin Gothic Medium Cond" panose="020B0606030402020204" pitchFamily="34" charset="0"/>
              </a:rPr>
              <a:t>Proving Ground</a:t>
            </a:r>
          </a:p>
        </p:txBody>
      </p:sp>
      <p:grpSp>
        <p:nvGrpSpPr>
          <p:cNvPr id="17" name="Group 16"/>
          <p:cNvGrpSpPr/>
          <p:nvPr userDrawn="1"/>
        </p:nvGrpSpPr>
        <p:grpSpPr>
          <a:xfrm>
            <a:off x="0" y="0"/>
            <a:ext cx="9144000" cy="1219200"/>
            <a:chOff x="0" y="0"/>
            <a:chExt cx="9144000" cy="121920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20" name="TextBox 19"/>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21"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spTree>
    <p:extLst>
      <p:ext uri="{BB962C8B-B14F-4D97-AF65-F5344CB8AC3E}">
        <p14:creationId xmlns:p14="http://schemas.microsoft.com/office/powerpoint/2010/main" val="325177489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5.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2.xml"/><Relationship Id="rId9" Type="http://schemas.openxmlformats.org/officeDocument/2006/relationships/image" Target="../media/image9.gi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6.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5"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6"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Tree>
  </p:cSld>
  <p:clrMap bg1="lt1" tx1="dk1" bg2="lt2" tx2="dk2" accent1="accent1" accent2="accent2" accent3="accent3" accent4="accent4" accent5="accent5" accent6="accent6" hlink="hlink" folHlink="folHlink"/>
  <p:sldLayoutIdLst>
    <p:sldLayoutId id="214748372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mailto:David.k.hart.civ@mail.mi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271828"/>
            <a:ext cx="1752600" cy="369332"/>
          </a:xfrm>
          <a:prstGeom prst="rect">
            <a:avLst/>
          </a:prstGeom>
          <a:noFill/>
        </p:spPr>
        <p:txBody>
          <a:bodyPr wrap="square" rtlCol="0">
            <a:spAutoFit/>
          </a:bodyPr>
          <a:lstStyle/>
          <a:p>
            <a:r>
              <a:rPr lang="en-US" sz="900" dirty="0" smtClean="0">
                <a:latin typeface="Arial" pitchFamily="34" charset="0"/>
                <a:cs typeface="Arial" pitchFamily="34" charset="0"/>
              </a:rPr>
              <a:t>Version Number 2</a:t>
            </a:r>
          </a:p>
          <a:p>
            <a:r>
              <a:rPr lang="en-US" sz="900" dirty="0" smtClean="0">
                <a:latin typeface="Arial" pitchFamily="34" charset="0"/>
                <a:cs typeface="Arial" pitchFamily="34" charset="0"/>
              </a:rPr>
              <a:t>As of Date: </a:t>
            </a:r>
            <a:r>
              <a:rPr lang="en-US" sz="900" dirty="0" smtClean="0">
                <a:latin typeface="Arial" pitchFamily="34" charset="0"/>
                <a:cs typeface="Arial" pitchFamily="34" charset="0"/>
              </a:rPr>
              <a:t>9 July </a:t>
            </a:r>
            <a:r>
              <a:rPr lang="en-US" sz="900" dirty="0" smtClean="0">
                <a:latin typeface="Arial" pitchFamily="34" charset="0"/>
                <a:cs typeface="Arial" pitchFamily="34" charset="0"/>
              </a:rPr>
              <a:t>2018</a:t>
            </a:r>
            <a:endParaRPr lang="en-US" sz="900" dirty="0">
              <a:latin typeface="Arial" pitchFamily="34" charset="0"/>
              <a:cs typeface="Arial" pitchFamily="34" charset="0"/>
            </a:endParaRPr>
          </a:p>
        </p:txBody>
      </p:sp>
      <p:sp>
        <p:nvSpPr>
          <p:cNvPr id="7" name="TextBox 6"/>
          <p:cNvSpPr txBox="1"/>
          <p:nvPr/>
        </p:nvSpPr>
        <p:spPr>
          <a:xfrm>
            <a:off x="-76200" y="3520953"/>
            <a:ext cx="9144000" cy="646331"/>
          </a:xfrm>
          <a:prstGeom prst="rect">
            <a:avLst/>
          </a:prstGeom>
          <a:noFill/>
        </p:spPr>
        <p:txBody>
          <a:bodyPr wrap="square" rtlCol="0">
            <a:spAutoFit/>
          </a:bodyPr>
          <a:lstStyle/>
          <a:p>
            <a:pPr algn="ctr"/>
            <a:r>
              <a:rPr lang="en-US" sz="3600" b="1" dirty="0" smtClean="0">
                <a:solidFill>
                  <a:srgbClr val="0000FF"/>
                </a:solidFill>
                <a:latin typeface="Arial" pitchFamily="34" charset="0"/>
                <a:cs typeface="Arial" pitchFamily="34" charset="0"/>
              </a:rPr>
              <a:t>ACC-APG Division D</a:t>
            </a:r>
            <a:endParaRPr lang="en-US" sz="3600" b="1" dirty="0">
              <a:solidFill>
                <a:srgbClr val="0000FF"/>
              </a:solidFill>
              <a:latin typeface="Arial" pitchFamily="34" charset="0"/>
              <a:cs typeface="Arial" pitchFamily="34" charset="0"/>
            </a:endParaRPr>
          </a:p>
        </p:txBody>
      </p:sp>
      <p:sp>
        <p:nvSpPr>
          <p:cNvPr id="11" name="Subtitle 8"/>
          <p:cNvSpPr>
            <a:spLocks noGrp="1"/>
          </p:cNvSpPr>
          <p:nvPr>
            <p:ph type="subTitle" idx="1"/>
          </p:nvPr>
        </p:nvSpPr>
        <p:spPr>
          <a:xfrm>
            <a:off x="17705" y="2197027"/>
            <a:ext cx="9126070" cy="876300"/>
          </a:xfrm>
        </p:spPr>
        <p:txBody>
          <a:bodyPr>
            <a:noAutofit/>
          </a:bodyPr>
          <a:lstStyle/>
          <a:p>
            <a:r>
              <a:rPr lang="en-US" sz="3200" b="1" dirty="0" smtClean="0"/>
              <a:t>ACC-APG </a:t>
            </a:r>
            <a:r>
              <a:rPr lang="en-US" sz="3200" b="1" dirty="0"/>
              <a:t>Competitive </a:t>
            </a:r>
            <a:r>
              <a:rPr lang="en-US" sz="3200" b="1" dirty="0" smtClean="0"/>
              <a:t>Industry </a:t>
            </a:r>
            <a:r>
              <a:rPr lang="en-US" sz="3200" b="1" dirty="0"/>
              <a:t>Updates</a:t>
            </a:r>
            <a:endParaRPr lang="en-US" sz="3200" b="1" dirty="0">
              <a:solidFill>
                <a:schemeClr val="tx1"/>
              </a:solidFill>
              <a:latin typeface="Arial" pitchFamily="34" charset="0"/>
              <a:cs typeface="Arial" pitchFamily="34" charset="0"/>
            </a:endParaRPr>
          </a:p>
        </p:txBody>
      </p:sp>
      <p:sp>
        <p:nvSpPr>
          <p:cNvPr id="12" name="TextBox 11"/>
          <p:cNvSpPr txBox="1"/>
          <p:nvPr/>
        </p:nvSpPr>
        <p:spPr>
          <a:xfrm>
            <a:off x="1524000" y="286158"/>
            <a:ext cx="5943600" cy="338554"/>
          </a:xfrm>
          <a:prstGeom prst="rect">
            <a:avLst/>
          </a:prstGeom>
          <a:noFill/>
          <a:effectLst/>
        </p:spPr>
        <p:txBody>
          <a:bodyPr wrap="square" rtlCol="0">
            <a:spAutoFit/>
          </a:bodyPr>
          <a:lstStyle/>
          <a:p>
            <a:pPr algn="ctr"/>
            <a:r>
              <a:rPr lang="en-US" sz="1600" b="1" i="1" dirty="0" smtClean="0">
                <a:solidFill>
                  <a:prstClr val="black"/>
                </a:solidFill>
                <a:latin typeface="Arial" pitchFamily="34" charset="0"/>
                <a:cs typeface="Arial" pitchFamily="34" charset="0"/>
              </a:rPr>
              <a:t>Army Contracting Command – Aberdeen Proving Ground</a:t>
            </a:r>
            <a:endParaRPr lang="en-US" sz="1600" b="1" i="1"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225672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a:t>
            </a:fld>
            <a:endParaRPr lang="en-US" sz="1000" dirty="0">
              <a:solidFill>
                <a:prstClr val="white"/>
              </a:solidFill>
            </a:endParaRPr>
          </a:p>
        </p:txBody>
      </p:sp>
      <p:sp>
        <p:nvSpPr>
          <p:cNvPr id="8" name="TextBox 8"/>
          <p:cNvSpPr txBox="1">
            <a:spLocks noChangeArrowheads="1"/>
          </p:cNvSpPr>
          <p:nvPr/>
        </p:nvSpPr>
        <p:spPr bwMode="auto">
          <a:xfrm>
            <a:off x="0" y="1066800"/>
            <a:ext cx="9144000" cy="338554"/>
          </a:xfrm>
          <a:prstGeom prst="rect">
            <a:avLst/>
          </a:prstGeom>
          <a:noFill/>
          <a:ln w="9525">
            <a:noFill/>
            <a:miter lim="800000"/>
            <a:headEnd/>
            <a:tailEnd/>
          </a:ln>
        </p:spPr>
        <p:txBody>
          <a:bodyPr wrap="square">
            <a:spAutoFit/>
          </a:bodyPr>
          <a:lstStyle/>
          <a:p>
            <a:pPr>
              <a:defRPr/>
            </a:pPr>
            <a:endParaRPr lang="en-US" sz="1600" b="1" dirty="0">
              <a:solidFill>
                <a:prstClr val="black"/>
              </a:solidFill>
              <a:latin typeface=" Arial"/>
            </a:endParaRPr>
          </a:p>
        </p:txBody>
      </p:sp>
      <p:sp>
        <p:nvSpPr>
          <p:cNvPr id="2" name="TextBox 1"/>
          <p:cNvSpPr txBox="1"/>
          <p:nvPr/>
        </p:nvSpPr>
        <p:spPr>
          <a:xfrm>
            <a:off x="838200" y="1722361"/>
            <a:ext cx="7620000" cy="2031325"/>
          </a:xfrm>
          <a:prstGeom prst="rect">
            <a:avLst/>
          </a:prstGeom>
          <a:noFill/>
        </p:spPr>
        <p:txBody>
          <a:bodyPr wrap="square" rtlCol="0">
            <a:spAutoFit/>
          </a:bodyPr>
          <a:lstStyle/>
          <a:p>
            <a:r>
              <a:rPr lang="en-US" dirty="0"/>
              <a:t>The following slides are for informational purposes ONLY. These are NOT formal solicitations / Requests for proposals (RFP) / Requests for Quotes (RFQ). Do NOT submit any formal proposals / quotes to this posting. All information contained in this posting is subject to change without notice. The Government will not respond and/or reimburse for any feedback, questions or documentation provided by Industry in response to this posting. </a:t>
            </a:r>
          </a:p>
          <a:p>
            <a:endParaRPr lang="en-US" dirty="0"/>
          </a:p>
        </p:txBody>
      </p:sp>
    </p:spTree>
    <p:extLst>
      <p:ext uri="{BB962C8B-B14F-4D97-AF65-F5344CB8AC3E}">
        <p14:creationId xmlns:p14="http://schemas.microsoft.com/office/powerpoint/2010/main" val="694185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Redstone Test Center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3</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a:solidFill>
                  <a:prstClr val="black"/>
                </a:solidFill>
                <a:latin typeface=" Arial"/>
              </a:rPr>
              <a:t>Aviation Maintenance Support Services (AMSS</a:t>
            </a:r>
            <a:r>
              <a:rPr lang="fr-FR" dirty="0" smtClean="0">
                <a:solidFill>
                  <a:prstClr val="black"/>
                </a:solidFill>
                <a:latin typeface=" Arial"/>
              </a:rPr>
              <a:t>)</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en-US" dirty="0" smtClean="0">
                <a:solidFill>
                  <a:prstClr val="black"/>
                </a:solidFill>
                <a:latin typeface=" Arial"/>
              </a:rPr>
              <a:t>A</a:t>
            </a:r>
            <a:r>
              <a:rPr lang="fr-FR" dirty="0" err="1" smtClean="0">
                <a:solidFill>
                  <a:prstClr val="black"/>
                </a:solidFill>
                <a:latin typeface=" Arial"/>
              </a:rPr>
              <a:t>viation</a:t>
            </a:r>
            <a:r>
              <a:rPr lang="fr-FR" dirty="0" smtClean="0">
                <a:solidFill>
                  <a:prstClr val="black"/>
                </a:solidFill>
                <a:latin typeface=" Arial"/>
              </a:rPr>
              <a:t> </a:t>
            </a:r>
            <a:r>
              <a:rPr lang="fr-FR" dirty="0">
                <a:solidFill>
                  <a:prstClr val="black"/>
                </a:solidFill>
                <a:latin typeface=" Arial"/>
              </a:rPr>
              <a:t>maintenance support services for </a:t>
            </a:r>
            <a:r>
              <a:rPr lang="fr-FR" dirty="0" err="1" smtClean="0">
                <a:solidFill>
                  <a:prstClr val="black"/>
                </a:solidFill>
                <a:latin typeface=" Arial"/>
              </a:rPr>
              <a:t>aircraft</a:t>
            </a:r>
            <a:r>
              <a:rPr lang="fr-FR" dirty="0" smtClean="0">
                <a:solidFill>
                  <a:prstClr val="black"/>
                </a:solidFill>
                <a:latin typeface=" Arial"/>
              </a:rPr>
              <a:t> </a:t>
            </a:r>
            <a:r>
              <a:rPr lang="en-US" dirty="0" smtClean="0">
                <a:solidFill>
                  <a:prstClr val="black"/>
                </a:solidFill>
                <a:latin typeface=" Arial"/>
              </a:rPr>
              <a:t>assigned </a:t>
            </a:r>
            <a:r>
              <a:rPr lang="en-US" dirty="0">
                <a:solidFill>
                  <a:prstClr val="black"/>
                </a:solidFill>
                <a:latin typeface=" Arial"/>
              </a:rPr>
              <a:t>to and aircraft under the control of </a:t>
            </a:r>
            <a:r>
              <a:rPr lang="en-US" dirty="0" smtClean="0">
                <a:solidFill>
                  <a:prstClr val="black"/>
                </a:solidFill>
                <a:latin typeface=" Arial"/>
              </a:rPr>
              <a:t>the Redstone Test Center.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W58RGZ-14-C-0007</a:t>
            </a:r>
          </a:p>
          <a:p>
            <a:pPr>
              <a:defRPr/>
            </a:pPr>
            <a:r>
              <a:rPr lang="en-US" dirty="0">
                <a:solidFill>
                  <a:prstClr val="black"/>
                </a:solidFill>
                <a:latin typeface=" Arial"/>
              </a:rPr>
              <a:t>	</a:t>
            </a:r>
            <a:r>
              <a:rPr lang="en-US" dirty="0" smtClean="0">
                <a:solidFill>
                  <a:prstClr val="black"/>
                </a:solidFill>
                <a:latin typeface=" Arial"/>
              </a:rPr>
              <a:t>Incumbent Contractor:  Y-Tech Services Incorporated</a:t>
            </a:r>
          </a:p>
          <a:p>
            <a:pPr>
              <a:defRPr/>
            </a:pPr>
            <a:endParaRPr lang="en-US" dirty="0">
              <a:solidFill>
                <a:prstClr val="black"/>
              </a:solidFill>
              <a:latin typeface=" Arial"/>
            </a:endParaRPr>
          </a:p>
          <a:p>
            <a:pPr>
              <a:defRPr/>
            </a:pPr>
            <a:r>
              <a:rPr lang="en-US" dirty="0" smtClean="0">
                <a:solidFill>
                  <a:prstClr val="black"/>
                </a:solidFill>
                <a:latin typeface=" Arial"/>
              </a:rPr>
              <a:t>Note</a:t>
            </a:r>
            <a:r>
              <a:rPr lang="en-US" dirty="0" smtClean="0">
                <a:solidFill>
                  <a:prstClr val="black"/>
                </a:solidFill>
                <a:latin typeface=" Arial"/>
              </a:rPr>
              <a:t>: This opportunity will be restricted to 8a small businesses</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Estimated Value</a:t>
            </a:r>
            <a:r>
              <a:rPr lang="en-US" dirty="0" smtClean="0">
                <a:solidFill>
                  <a:prstClr val="black"/>
                </a:solidFill>
                <a:latin typeface=" Arial"/>
              </a:rPr>
              <a:t>:  $99M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1254043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dirty="0">
                <a:solidFill>
                  <a:prstClr val="white"/>
                </a:solidFill>
              </a:rPr>
              <a:t>Assistant Secretary of the </a:t>
            </a:r>
            <a:r>
              <a:rPr lang="en-US" sz="1600" b="1" dirty="0" smtClean="0">
                <a:solidFill>
                  <a:prstClr val="white"/>
                </a:solidFill>
              </a:rPr>
              <a:t>Army Financial Management and Comptroller</a:t>
            </a:r>
          </a:p>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4</a:t>
            </a:fld>
            <a:endParaRPr lang="en-US" sz="1000" dirty="0">
              <a:solidFill>
                <a:prstClr val="white"/>
              </a:solidFill>
            </a:endParaRPr>
          </a:p>
        </p:txBody>
      </p:sp>
      <p:sp>
        <p:nvSpPr>
          <p:cNvPr id="8" name="TextBox 8"/>
          <p:cNvSpPr txBox="1">
            <a:spLocks noChangeArrowheads="1"/>
          </p:cNvSpPr>
          <p:nvPr/>
        </p:nvSpPr>
        <p:spPr bwMode="auto">
          <a:xfrm>
            <a:off x="0" y="920889"/>
            <a:ext cx="9144000" cy="5355312"/>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Army Working Capital Fund (AWCF)</a:t>
            </a:r>
          </a:p>
          <a:p>
            <a:r>
              <a:rPr lang="en-US" u="sng" dirty="0" smtClean="0">
                <a:solidFill>
                  <a:prstClr val="black"/>
                </a:solidFill>
                <a:latin typeface=" Arial"/>
              </a:rPr>
              <a:t>Project Summary</a:t>
            </a:r>
            <a:r>
              <a:rPr lang="en-US" dirty="0" smtClean="0">
                <a:solidFill>
                  <a:prstClr val="black"/>
                </a:solidFill>
                <a:latin typeface=" Arial"/>
              </a:rPr>
              <a:t>:  </a:t>
            </a:r>
            <a:r>
              <a:rPr lang="en-US" dirty="0">
                <a:solidFill>
                  <a:prstClr val="black"/>
                </a:solidFill>
                <a:latin typeface=" Arial"/>
              </a:rPr>
              <a:t>The contractor shall </a:t>
            </a:r>
            <a:r>
              <a:rPr lang="en-US" dirty="0" smtClean="0">
                <a:solidFill>
                  <a:prstClr val="black"/>
                </a:solidFill>
                <a:latin typeface=" Arial"/>
              </a:rPr>
              <a:t>perform AWCF support services which include</a:t>
            </a:r>
            <a:r>
              <a:rPr lang="en-US" dirty="0">
                <a:solidFill>
                  <a:prstClr val="black"/>
                </a:solidFill>
                <a:latin typeface=" Arial"/>
              </a:rPr>
              <a:t>s</a:t>
            </a:r>
            <a:r>
              <a:rPr lang="en-US" dirty="0" smtClean="0">
                <a:solidFill>
                  <a:prstClr val="black"/>
                </a:solidFill>
                <a:latin typeface=" Arial"/>
              </a:rPr>
              <a:t> audit infrastructure to interact with external financial auditors, improve AWCF business processes, improve financial reporting controls and validating corrective actions. Tasks will also include communication and coordinating change management with Army Material Command (AMC) and Headquarters, Department of the Army (HQDA) Senior Leadership.</a:t>
            </a:r>
          </a:p>
          <a:p>
            <a:endParaRPr lang="en-US" sz="800"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W91CRB-16-F-0005</a:t>
            </a:r>
          </a:p>
          <a:p>
            <a:pPr>
              <a:defRPr/>
            </a:pPr>
            <a:r>
              <a:rPr lang="en-US" dirty="0">
                <a:solidFill>
                  <a:prstClr val="black"/>
                </a:solidFill>
                <a:latin typeface=" Arial"/>
              </a:rPr>
              <a:t>	</a:t>
            </a:r>
            <a:r>
              <a:rPr lang="en-US" dirty="0" smtClean="0">
                <a:solidFill>
                  <a:prstClr val="black"/>
                </a:solidFill>
                <a:latin typeface=" Arial"/>
              </a:rPr>
              <a:t>Incumbent Contractor:  PricewaterhouseCoopers</a:t>
            </a:r>
          </a:p>
          <a:p>
            <a:pPr>
              <a:defRPr/>
            </a:pPr>
            <a:r>
              <a:rPr lang="en-US" dirty="0" smtClean="0">
                <a:solidFill>
                  <a:prstClr val="black"/>
                </a:solidFill>
                <a:latin typeface=" Arial"/>
              </a:rPr>
              <a:t>	Solicitation </a:t>
            </a:r>
            <a:r>
              <a:rPr lang="en-US" dirty="0">
                <a:solidFill>
                  <a:prstClr val="black"/>
                </a:solidFill>
                <a:latin typeface=" Arial"/>
              </a:rPr>
              <a:t>Number:  W91CRB-18-R-0021</a:t>
            </a:r>
            <a:endParaRPr lang="en-US" dirty="0" smtClean="0">
              <a:solidFill>
                <a:prstClr val="black"/>
              </a:solidFill>
              <a:latin typeface=" Arial"/>
            </a:endParaRPr>
          </a:p>
          <a:p>
            <a:pPr>
              <a:defRPr/>
            </a:pPr>
            <a:endParaRPr lang="en-US" sz="800" dirty="0">
              <a:solidFill>
                <a:prstClr val="black"/>
              </a:solidFill>
              <a:latin typeface=" Arial"/>
            </a:endParaRPr>
          </a:p>
          <a:p>
            <a:pPr>
              <a:defRPr/>
            </a:pPr>
            <a:r>
              <a:rPr lang="en-US" dirty="0" smtClean="0">
                <a:solidFill>
                  <a:prstClr val="black"/>
                </a:solidFill>
                <a:latin typeface=" Arial"/>
              </a:rPr>
              <a:t>Note: This opportunity will be posted unrestricted on GSA.  </a:t>
            </a:r>
          </a:p>
          <a:p>
            <a:pPr>
              <a:defRPr/>
            </a:pPr>
            <a:endParaRPr lang="en-US" sz="800"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T&amp;M</a:t>
            </a:r>
          </a:p>
          <a:p>
            <a:pPr>
              <a:defRPr/>
            </a:pPr>
            <a:r>
              <a:rPr lang="en-US" u="sng" dirty="0" smtClean="0">
                <a:solidFill>
                  <a:prstClr val="black"/>
                </a:solidFill>
                <a:latin typeface=" Arial"/>
              </a:rPr>
              <a:t>Estimated Value</a:t>
            </a:r>
            <a:r>
              <a:rPr lang="en-US" dirty="0" smtClean="0">
                <a:solidFill>
                  <a:prstClr val="black"/>
                </a:solidFill>
                <a:latin typeface=" Arial"/>
              </a:rPr>
              <a:t>:  $41M</a:t>
            </a:r>
          </a:p>
          <a:p>
            <a:pPr>
              <a:defRPr/>
            </a:pPr>
            <a:r>
              <a:rPr lang="en-US" u="sng" dirty="0" smtClean="0">
                <a:solidFill>
                  <a:prstClr val="black"/>
                </a:solidFill>
                <a:latin typeface=" Arial"/>
              </a:rPr>
              <a:t>Period of Performance</a:t>
            </a:r>
            <a:r>
              <a:rPr lang="en-US" dirty="0" smtClean="0">
                <a:solidFill>
                  <a:prstClr val="black"/>
                </a:solidFill>
                <a:latin typeface=" Arial"/>
              </a:rPr>
              <a:t>:  3 year contract</a:t>
            </a:r>
            <a:endParaRPr lang="en-US" dirty="0">
              <a:solidFill>
                <a:prstClr val="black"/>
              </a:solidFill>
              <a:latin typeface=" Arial"/>
            </a:endParaRP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r>
              <a:rPr lang="en-US" sz="1200" b="1" dirty="0" smtClean="0">
                <a:solidFill>
                  <a:prstClr val="black"/>
                </a:solidFill>
                <a:latin typeface=" Arial"/>
              </a:rPr>
              <a:t>*Subject to Cancellation</a:t>
            </a:r>
            <a:endParaRPr lang="en-US" sz="1200" b="1" dirty="0">
              <a:solidFill>
                <a:prstClr val="black"/>
              </a:solidFill>
              <a:latin typeface=" Arial"/>
            </a:endParaRPr>
          </a:p>
        </p:txBody>
      </p:sp>
    </p:spTree>
    <p:extLst>
      <p:ext uri="{BB962C8B-B14F-4D97-AF65-F5344CB8AC3E}">
        <p14:creationId xmlns:p14="http://schemas.microsoft.com/office/powerpoint/2010/main" val="2263004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5</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Web Application Development</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non-personal services contract to provide </a:t>
            </a:r>
            <a:r>
              <a:rPr lang="en-US" dirty="0" smtClean="0">
                <a:latin typeface=" Arial"/>
              </a:rPr>
              <a:t>on-site </a:t>
            </a:r>
            <a:r>
              <a:rPr lang="en-US" dirty="0">
                <a:latin typeface=" Arial"/>
              </a:rPr>
              <a:t>Headquarters, Department of the Army (HQDA) G-3/5/7, Command and Control (C2), Business Application, Database and Web Maintenance Services.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W91CRB-13-D-0014</a:t>
            </a:r>
          </a:p>
          <a:p>
            <a:pPr>
              <a:defRPr/>
            </a:pPr>
            <a:r>
              <a:rPr lang="en-US" dirty="0" smtClean="0">
                <a:solidFill>
                  <a:prstClr val="black"/>
                </a:solidFill>
                <a:latin typeface=" Arial"/>
              </a:rPr>
              <a:t>	Incumbent Contractor:  SSB, </a:t>
            </a:r>
            <a:r>
              <a:rPr lang="en-US" dirty="0" err="1" smtClean="0">
                <a:solidFill>
                  <a:prstClr val="black"/>
                </a:solidFill>
                <a:latin typeface=" Arial"/>
              </a:rPr>
              <a:t>Inc</a:t>
            </a:r>
            <a:endParaRPr lang="en-US" dirty="0" smtClean="0">
              <a:solidFill>
                <a:prstClr val="black"/>
              </a:solidFill>
              <a:latin typeface=" Arial"/>
            </a:endParaRPr>
          </a:p>
          <a:p>
            <a:pPr>
              <a:defRPr/>
            </a:pPr>
            <a:r>
              <a:rPr lang="en-US" dirty="0" smtClean="0">
                <a:solidFill>
                  <a:prstClr val="black"/>
                </a:solidFill>
                <a:latin typeface=" Arial"/>
              </a:rPr>
              <a:t>	</a:t>
            </a:r>
            <a:r>
              <a:rPr lang="en-US" dirty="0" err="1" smtClean="0">
                <a:solidFill>
                  <a:prstClr val="black"/>
                </a:solidFill>
                <a:latin typeface=" Arial"/>
              </a:rPr>
              <a:t>Solicitiation</a:t>
            </a:r>
            <a:r>
              <a:rPr lang="en-US" dirty="0" smtClean="0">
                <a:solidFill>
                  <a:prstClr val="black"/>
                </a:solidFill>
                <a:latin typeface=" Arial"/>
              </a:rPr>
              <a:t> </a:t>
            </a:r>
            <a:r>
              <a:rPr lang="en-US" dirty="0">
                <a:solidFill>
                  <a:prstClr val="black"/>
                </a:solidFill>
                <a:latin typeface=" Arial"/>
              </a:rPr>
              <a:t>Number:  W91CRB-18-R-0003</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posted on </a:t>
            </a:r>
            <a:r>
              <a:rPr lang="en-US" dirty="0" err="1" smtClean="0">
                <a:solidFill>
                  <a:prstClr val="black"/>
                </a:solidFill>
                <a:latin typeface=" Arial"/>
              </a:rPr>
              <a:t>FedBizOpps</a:t>
            </a:r>
            <a:r>
              <a:rPr lang="en-US" dirty="0" smtClean="0">
                <a:solidFill>
                  <a:prstClr val="black"/>
                </a:solidFill>
                <a:latin typeface=" Arial"/>
              </a:rPr>
              <a:t> </a:t>
            </a:r>
            <a:r>
              <a:rPr lang="en-US" dirty="0" smtClean="0">
                <a:solidFill>
                  <a:prstClr val="black"/>
                </a:solidFill>
                <a:latin typeface=" Arial"/>
              </a:rPr>
              <a:t>as a small business set aside. </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Estimated Value</a:t>
            </a:r>
            <a:r>
              <a:rPr lang="en-US" dirty="0" smtClean="0">
                <a:solidFill>
                  <a:prstClr val="black"/>
                </a:solidFill>
                <a:latin typeface=" Arial"/>
              </a:rPr>
              <a:t>:  $33M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1QFY19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9431788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6</a:t>
            </a:fld>
            <a:endParaRPr lang="en-US" sz="1000" dirty="0">
              <a:solidFill>
                <a:schemeClr val="bg1"/>
              </a:solidFill>
            </a:endParaRPr>
          </a:p>
        </p:txBody>
      </p:sp>
      <p:sp>
        <p:nvSpPr>
          <p:cNvPr id="8" name="TextBox 8"/>
          <p:cNvSpPr txBox="1">
            <a:spLocks noChangeArrowheads="1"/>
          </p:cNvSpPr>
          <p:nvPr/>
        </p:nvSpPr>
        <p:spPr bwMode="auto">
          <a:xfrm>
            <a:off x="0" y="1066800"/>
            <a:ext cx="9144000" cy="5463034"/>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Continuity of Operations (COOP) </a:t>
            </a:r>
          </a:p>
          <a:p>
            <a:r>
              <a:rPr lang="en-US" u="sng" dirty="0" smtClean="0">
                <a:latin typeface=" Arial"/>
              </a:rPr>
              <a:t>Project Summary</a:t>
            </a:r>
            <a:r>
              <a:rPr lang="en-US" dirty="0" smtClean="0">
                <a:latin typeface=" Arial"/>
              </a:rPr>
              <a:t>:  </a:t>
            </a:r>
            <a:r>
              <a:rPr lang="en-US" dirty="0">
                <a:latin typeface=" Arial"/>
              </a:rPr>
              <a:t>The contractor shall s</a:t>
            </a:r>
            <a:r>
              <a:rPr lang="en-US" dirty="0" smtClean="0">
                <a:latin typeface=" Arial"/>
              </a:rPr>
              <a:t>upport Headquarters, Department of the Army (HQDA) </a:t>
            </a:r>
            <a:r>
              <a:rPr lang="en-US" dirty="0">
                <a:latin typeface=" Arial"/>
              </a:rPr>
              <a:t>with its COOP policy, plans, operations and training </a:t>
            </a:r>
            <a:r>
              <a:rPr lang="en-US" dirty="0" smtClean="0">
                <a:latin typeface=" Arial"/>
              </a:rPr>
              <a:t>to </a:t>
            </a:r>
            <a:r>
              <a:rPr lang="en-US" dirty="0">
                <a:latin typeface=" Arial"/>
              </a:rPr>
              <a:t>ensure </a:t>
            </a:r>
            <a:r>
              <a:rPr lang="en-US" dirty="0" smtClean="0">
                <a:latin typeface=" Arial"/>
              </a:rPr>
              <a:t>Command </a:t>
            </a:r>
            <a:r>
              <a:rPr lang="en-US" dirty="0">
                <a:latin typeface=" Arial"/>
              </a:rPr>
              <a:t>and Control throughout the “all hazards” threat spectrum of evolving, attack-related, terrorist-related, and catastrophic natural post-Cold War threats.</a:t>
            </a:r>
          </a:p>
          <a:p>
            <a:pPr>
              <a:defRPr/>
            </a:pPr>
            <a:endParaRPr lang="en-US" u="sng" dirty="0" smtClean="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W91CRB-14-C-0024</a:t>
            </a:r>
          </a:p>
          <a:p>
            <a:pPr>
              <a:defRPr/>
            </a:pPr>
            <a:r>
              <a:rPr lang="en-US" dirty="0" smtClean="0">
                <a:latin typeface=" Arial"/>
              </a:rPr>
              <a:t>	Incumbent Contractor:  Advanced Facility Management Services, </a:t>
            </a:r>
            <a:r>
              <a:rPr lang="en-US" dirty="0" err="1" smtClean="0">
                <a:latin typeface=" Arial"/>
              </a:rPr>
              <a:t>Inc</a:t>
            </a:r>
            <a:endParaRPr lang="en-US" dirty="0" smtClean="0">
              <a:latin typeface=" Arial"/>
            </a:endParaRPr>
          </a:p>
          <a:p>
            <a:pPr>
              <a:defRPr/>
            </a:pPr>
            <a:r>
              <a:rPr lang="en-US" dirty="0" smtClean="0">
                <a:latin typeface=" Arial"/>
              </a:rPr>
              <a:t>	Solicitation </a:t>
            </a:r>
            <a:r>
              <a:rPr lang="en-US" dirty="0">
                <a:latin typeface=" Arial"/>
              </a:rPr>
              <a:t>Number:  W91CRB-18-R-0018</a:t>
            </a:r>
            <a:endParaRPr lang="en-US" dirty="0" smtClean="0">
              <a:latin typeface=" Arial"/>
            </a:endParaRPr>
          </a:p>
          <a:p>
            <a:pPr>
              <a:defRPr/>
            </a:pPr>
            <a:endParaRPr lang="en-US" dirty="0">
              <a:latin typeface=" Arial"/>
            </a:endParaRPr>
          </a:p>
          <a:p>
            <a:pPr>
              <a:defRPr/>
            </a:pPr>
            <a:r>
              <a:rPr lang="en-US" dirty="0" smtClean="0">
                <a:latin typeface=" Arial"/>
              </a:rPr>
              <a:t>Note: This opportunity will be posted on </a:t>
            </a:r>
            <a:r>
              <a:rPr lang="en-US" dirty="0" err="1" smtClean="0">
                <a:latin typeface=" Arial"/>
              </a:rPr>
              <a:t>FedBizOpps</a:t>
            </a:r>
            <a:r>
              <a:rPr lang="en-US" dirty="0" smtClean="0">
                <a:latin typeface=" Arial"/>
              </a:rPr>
              <a:t> </a:t>
            </a:r>
            <a:r>
              <a:rPr lang="en-US" dirty="0" smtClean="0">
                <a:latin typeface=" Arial"/>
              </a:rPr>
              <a:t>as a small business set aside. </a:t>
            </a:r>
          </a:p>
          <a:p>
            <a:pPr>
              <a:defRPr/>
            </a:pPr>
            <a:endParaRPr lang="en-US" dirty="0" smtClean="0">
              <a:latin typeface=" Arial"/>
            </a:endParaRPr>
          </a:p>
          <a:p>
            <a:pPr>
              <a:defRPr/>
            </a:pPr>
            <a:r>
              <a:rPr lang="en-US" u="sng" dirty="0" smtClean="0">
                <a:latin typeface=" Arial"/>
              </a:rPr>
              <a:t>Contract Type</a:t>
            </a:r>
            <a:r>
              <a:rPr lang="en-US" dirty="0" smtClean="0">
                <a:latin typeface=" Arial"/>
              </a:rPr>
              <a:t>:  CPFF</a:t>
            </a:r>
          </a:p>
          <a:p>
            <a:pPr>
              <a:defRPr/>
            </a:pPr>
            <a:r>
              <a:rPr lang="en-US" u="sng" dirty="0" smtClean="0">
                <a:latin typeface=" Arial"/>
              </a:rPr>
              <a:t>Estimated Value</a:t>
            </a:r>
            <a:r>
              <a:rPr lang="en-US" dirty="0" smtClean="0">
                <a:latin typeface=" Arial"/>
              </a:rPr>
              <a:t>:  $13M</a:t>
            </a:r>
          </a:p>
          <a:p>
            <a:pPr>
              <a:defRPr/>
            </a:pPr>
            <a:r>
              <a:rPr lang="en-US" u="sng" dirty="0" smtClean="0">
                <a:latin typeface=" Arial"/>
              </a:rPr>
              <a:t>Period of Performance</a:t>
            </a:r>
            <a:r>
              <a:rPr lang="en-US" dirty="0" smtClean="0">
                <a:latin typeface=" Arial"/>
              </a:rPr>
              <a:t>:  2 year period of performance</a:t>
            </a:r>
          </a:p>
          <a:p>
            <a:pPr>
              <a:defRPr/>
            </a:pPr>
            <a:r>
              <a:rPr lang="en-US" u="sng" dirty="0" smtClean="0">
                <a:latin typeface=" Arial"/>
              </a:rPr>
              <a:t>Estimated Solicitation Release Date</a:t>
            </a:r>
            <a:r>
              <a:rPr lang="en-US" dirty="0" smtClean="0">
                <a:latin typeface=" Arial"/>
              </a:rPr>
              <a:t>:  1QFY19</a:t>
            </a:r>
          </a:p>
          <a:p>
            <a:pPr>
              <a:defRPr/>
            </a:pPr>
            <a:r>
              <a:rPr lang="en-US" u="sng" dirty="0" smtClean="0">
                <a:latin typeface=" Arial"/>
              </a:rPr>
              <a:t>Contracting Contact</a:t>
            </a:r>
            <a:r>
              <a:rPr lang="en-US" dirty="0" smtClean="0">
                <a:latin typeface=" Arial"/>
              </a:rPr>
              <a:t>:  ACC-APG, Sabrinna Cosom, KO, </a:t>
            </a:r>
            <a:r>
              <a:rPr lang="en-US" dirty="0" smtClean="0">
                <a:latin typeface=" Arial"/>
                <a:hlinkClick r:id="rId2"/>
              </a:rPr>
              <a:t>Sabrinna.r.cosom.civ@mail.mil</a:t>
            </a:r>
            <a:r>
              <a:rPr lang="en-US" dirty="0" smtClean="0">
                <a:latin typeface=" Arial"/>
              </a:rPr>
              <a:t> </a:t>
            </a:r>
          </a:p>
          <a:p>
            <a:pPr>
              <a:defRPr/>
            </a:pPr>
            <a:endParaRPr lang="en-US" sz="900"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30352096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7</a:t>
            </a:fld>
            <a:endParaRPr lang="en-US" sz="1000" dirty="0">
              <a:solidFill>
                <a:prstClr val="white"/>
              </a:solidFill>
            </a:endParaRPr>
          </a:p>
        </p:txBody>
      </p:sp>
      <p:sp>
        <p:nvSpPr>
          <p:cNvPr id="8" name="TextBox 8"/>
          <p:cNvSpPr txBox="1">
            <a:spLocks noChangeArrowheads="1"/>
          </p:cNvSpPr>
          <p:nvPr/>
        </p:nvSpPr>
        <p:spPr bwMode="auto">
          <a:xfrm>
            <a:off x="0" y="990600"/>
            <a:ext cx="9144000" cy="5539978"/>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Chief Information Office (CIO) Support Services</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a:t>
            </a:r>
            <a:r>
              <a:rPr lang="en-US" dirty="0" smtClean="0">
                <a:latin typeface=" Arial"/>
              </a:rPr>
              <a:t>non-personal </a:t>
            </a:r>
            <a:r>
              <a:rPr lang="en-US" dirty="0">
                <a:latin typeface=" Arial"/>
              </a:rPr>
              <a:t>services contract to </a:t>
            </a:r>
            <a:r>
              <a:rPr lang="en-US" dirty="0" smtClean="0">
                <a:latin typeface=" Arial"/>
              </a:rPr>
              <a:t>develop</a:t>
            </a:r>
            <a:r>
              <a:rPr lang="en-US" dirty="0">
                <a:latin typeface=" Arial"/>
              </a:rPr>
              <a:t>, implement, maintain and document CIO business processes to enforce IT policy, IT Portfolio Management, IT Governance/Capital Planning and Investment Management (CPIM), Enterprise Architecture (EA), and project management discipline </a:t>
            </a:r>
            <a:r>
              <a:rPr lang="en-US" dirty="0" smtClean="0">
                <a:latin typeface=" Arial"/>
              </a:rPr>
              <a:t>as </a:t>
            </a:r>
            <a:r>
              <a:rPr lang="en-US" dirty="0">
                <a:latin typeface=" Arial"/>
              </a:rPr>
              <a:t>it relates to management of G-3/5/7 IT systems, capabilities and the Warfighting Mission Area (WMA).</a:t>
            </a:r>
          </a:p>
          <a:p>
            <a:endParaRPr lang="en-US" sz="800" u="sng" dirty="0">
              <a:solidFill>
                <a:prstClr val="black"/>
              </a:solidFill>
              <a:latin typeface=" Arial"/>
            </a:endParaRPr>
          </a:p>
          <a:p>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W91CRB-14-C-0045</a:t>
            </a:r>
          </a:p>
          <a:p>
            <a:pPr>
              <a:defRPr/>
            </a:pPr>
            <a:r>
              <a:rPr lang="en-US" dirty="0" smtClean="0">
                <a:solidFill>
                  <a:prstClr val="black"/>
                </a:solidFill>
                <a:latin typeface=" Arial"/>
              </a:rPr>
              <a:t>	Incumbent Contractor:  E-</a:t>
            </a:r>
            <a:r>
              <a:rPr lang="en-US" dirty="0" err="1" smtClean="0">
                <a:solidFill>
                  <a:prstClr val="black"/>
                </a:solidFill>
                <a:latin typeface=" Arial"/>
              </a:rPr>
              <a:t>Paga</a:t>
            </a:r>
            <a:r>
              <a:rPr lang="en-US" dirty="0" smtClean="0">
                <a:solidFill>
                  <a:prstClr val="black"/>
                </a:solidFill>
                <a:latin typeface=" Arial"/>
              </a:rPr>
              <a:t>, </a:t>
            </a:r>
            <a:r>
              <a:rPr lang="en-US" dirty="0" err="1" smtClean="0">
                <a:solidFill>
                  <a:prstClr val="black"/>
                </a:solidFill>
                <a:latin typeface=" Arial"/>
              </a:rPr>
              <a:t>Inc</a:t>
            </a:r>
            <a:endParaRPr lang="en-US" dirty="0" smtClean="0">
              <a:solidFill>
                <a:prstClr val="black"/>
              </a:solidFill>
              <a:latin typeface=" Arial"/>
            </a:endParaRPr>
          </a:p>
          <a:p>
            <a:pPr>
              <a:defRPr/>
            </a:pPr>
            <a:r>
              <a:rPr lang="en-US" dirty="0" smtClean="0">
                <a:solidFill>
                  <a:prstClr val="black"/>
                </a:solidFill>
                <a:latin typeface=" Arial"/>
              </a:rPr>
              <a:t>	Solicitation </a:t>
            </a:r>
            <a:r>
              <a:rPr lang="en-US" dirty="0">
                <a:solidFill>
                  <a:prstClr val="black"/>
                </a:solidFill>
                <a:latin typeface=" Arial"/>
              </a:rPr>
              <a:t>Number:  W91CRB-17-T-0022</a:t>
            </a:r>
            <a:endParaRPr lang="en-US" dirty="0" smtClean="0">
              <a:solidFill>
                <a:prstClr val="black"/>
              </a:solidFill>
              <a:latin typeface=" Arial"/>
            </a:endParaRPr>
          </a:p>
          <a:p>
            <a:pPr>
              <a:defRPr/>
            </a:pPr>
            <a:endParaRPr lang="en-US" sz="800" dirty="0">
              <a:solidFill>
                <a:prstClr val="black"/>
              </a:solidFill>
              <a:latin typeface=" Arial"/>
            </a:endParaRPr>
          </a:p>
          <a:p>
            <a:pPr>
              <a:defRPr/>
            </a:pPr>
            <a:r>
              <a:rPr lang="en-US" dirty="0" smtClean="0">
                <a:solidFill>
                  <a:prstClr val="black"/>
                </a:solidFill>
                <a:latin typeface=" Arial"/>
              </a:rPr>
              <a:t>Note: This opportunity will be </a:t>
            </a:r>
            <a:r>
              <a:rPr lang="en-US" dirty="0" smtClean="0">
                <a:solidFill>
                  <a:prstClr val="black"/>
                </a:solidFill>
                <a:latin typeface=" Arial"/>
              </a:rPr>
              <a:t>restricted to </a:t>
            </a:r>
            <a:r>
              <a:rPr lang="en-US" dirty="0" smtClean="0">
                <a:solidFill>
                  <a:prstClr val="black"/>
                </a:solidFill>
                <a:latin typeface=" Arial"/>
              </a:rPr>
              <a:t>8(a) </a:t>
            </a:r>
            <a:r>
              <a:rPr lang="en-US" dirty="0" smtClean="0">
                <a:solidFill>
                  <a:prstClr val="black"/>
                </a:solidFill>
                <a:latin typeface=" Arial"/>
              </a:rPr>
              <a:t>small businesses</a:t>
            </a:r>
            <a:endParaRPr lang="en-US" dirty="0" smtClean="0">
              <a:solidFill>
                <a:prstClr val="black"/>
              </a:solidFill>
              <a:latin typeface=" Arial"/>
            </a:endParaRPr>
          </a:p>
          <a:p>
            <a:pPr>
              <a:defRPr/>
            </a:pPr>
            <a:endParaRPr lang="en-US" sz="800"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Estimated Value</a:t>
            </a:r>
            <a:r>
              <a:rPr lang="en-US" dirty="0" smtClean="0">
                <a:solidFill>
                  <a:prstClr val="black"/>
                </a:solidFill>
                <a:latin typeface=" Arial"/>
              </a:rPr>
              <a:t>:  $11M</a:t>
            </a:r>
          </a:p>
          <a:p>
            <a:pPr>
              <a:defRPr/>
            </a:pPr>
            <a:r>
              <a:rPr lang="en-US" u="sng" dirty="0" smtClean="0">
                <a:solidFill>
                  <a:prstClr val="black"/>
                </a:solidFill>
                <a:latin typeface=" Arial"/>
              </a:rPr>
              <a:t>Period of Performance</a:t>
            </a:r>
            <a:r>
              <a:rPr lang="en-US" dirty="0" smtClean="0">
                <a:solidFill>
                  <a:prstClr val="black"/>
                </a:solidFill>
                <a:latin typeface=" Arial"/>
              </a:rPr>
              <a:t>:  5 year period of performance</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endParaRPr lang="en-US" sz="800"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40278176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8</a:t>
            </a:fld>
            <a:endParaRPr lang="en-US" sz="1000" dirty="0">
              <a:solidFill>
                <a:schemeClr val="bg1"/>
              </a:solidFill>
            </a:endParaRPr>
          </a:p>
        </p:txBody>
      </p:sp>
      <p:sp>
        <p:nvSpPr>
          <p:cNvPr id="8" name="TextBox 8"/>
          <p:cNvSpPr txBox="1">
            <a:spLocks noChangeArrowheads="1"/>
          </p:cNvSpPr>
          <p:nvPr/>
        </p:nvSpPr>
        <p:spPr bwMode="auto">
          <a:xfrm>
            <a:off x="0" y="1066800"/>
            <a:ext cx="9144000" cy="5139869"/>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Cost Management Services</a:t>
            </a:r>
          </a:p>
          <a:p>
            <a:pPr>
              <a:defRPr/>
            </a:pPr>
            <a:r>
              <a:rPr lang="en-US" u="sng" dirty="0" smtClean="0">
                <a:latin typeface=" Arial"/>
              </a:rPr>
              <a:t>Project Summary</a:t>
            </a:r>
            <a:r>
              <a:rPr lang="en-US" dirty="0" smtClean="0">
                <a:latin typeface=" Arial"/>
              </a:rPr>
              <a:t>:  </a:t>
            </a:r>
            <a:r>
              <a:rPr lang="en-US" dirty="0">
                <a:latin typeface=" Arial"/>
              </a:rPr>
              <a:t>The contractor shall </a:t>
            </a:r>
            <a:r>
              <a:rPr lang="en-US" dirty="0" smtClean="0">
                <a:latin typeface=" Arial"/>
              </a:rPr>
              <a:t>develop </a:t>
            </a:r>
            <a:r>
              <a:rPr lang="en-US" dirty="0">
                <a:latin typeface=" Arial"/>
              </a:rPr>
              <a:t>an Army Cost Framework (</a:t>
            </a:r>
            <a:r>
              <a:rPr lang="en-US" dirty="0" smtClean="0">
                <a:latin typeface=" Arial"/>
              </a:rPr>
              <a:t>ACF) which will </a:t>
            </a:r>
            <a:r>
              <a:rPr lang="en-US" dirty="0">
                <a:latin typeface=" Arial"/>
              </a:rPr>
              <a:t>define, coordinate</a:t>
            </a:r>
            <a:r>
              <a:rPr lang="en-US" dirty="0" smtClean="0">
                <a:latin typeface=" Arial"/>
              </a:rPr>
              <a:t>, integrate</a:t>
            </a:r>
            <a:r>
              <a:rPr lang="en-US" dirty="0">
                <a:latin typeface=" Arial"/>
              </a:rPr>
              <a:t>, and automate the cost and performance data needed for timely decision making and resource </a:t>
            </a:r>
            <a:r>
              <a:rPr lang="en-US" dirty="0" smtClean="0">
                <a:latin typeface=" Arial"/>
              </a:rPr>
              <a:t>management of </a:t>
            </a:r>
            <a:r>
              <a:rPr lang="en-US" dirty="0">
                <a:latin typeface=" Arial"/>
              </a:rPr>
              <a:t>end-to-end business processes, such as, Order to Cash, Procure to Pay, Budget to Report, Cost Management, </a:t>
            </a:r>
            <a:r>
              <a:rPr lang="en-US" dirty="0" smtClean="0">
                <a:latin typeface=" Arial"/>
              </a:rPr>
              <a:t>and Planning </a:t>
            </a:r>
            <a:r>
              <a:rPr lang="en-US" dirty="0">
                <a:latin typeface=" Arial"/>
              </a:rPr>
              <a:t>Programming Budgeting Executing (PPBE</a:t>
            </a:r>
            <a:r>
              <a:rPr lang="en-US" dirty="0" smtClean="0">
                <a:latin typeface=" Arial"/>
              </a:rPr>
              <a:t>).</a:t>
            </a:r>
          </a:p>
          <a:p>
            <a:endParaRPr lang="en-US" sz="800"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W91CRB-16-P-0094</a:t>
            </a:r>
          </a:p>
          <a:p>
            <a:pPr>
              <a:defRPr/>
            </a:pPr>
            <a:r>
              <a:rPr lang="en-US" dirty="0" smtClean="0">
                <a:latin typeface=" Arial"/>
              </a:rPr>
              <a:t>	Incumbent Contractor:  Alta Via Consulting, LLC. </a:t>
            </a:r>
          </a:p>
          <a:p>
            <a:pPr>
              <a:defRPr/>
            </a:pPr>
            <a:r>
              <a:rPr lang="en-US" dirty="0" smtClean="0">
                <a:latin typeface=" Arial"/>
              </a:rPr>
              <a:t>	Solicitation </a:t>
            </a:r>
            <a:r>
              <a:rPr lang="en-US" dirty="0">
                <a:latin typeface=" Arial"/>
              </a:rPr>
              <a:t>Number:  W91CRB-18-R-0044</a:t>
            </a:r>
            <a:endParaRPr lang="en-US" dirty="0" smtClean="0">
              <a:latin typeface=" Arial"/>
            </a:endParaRP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smtClean="0">
                <a:latin typeface=" Arial"/>
              </a:rPr>
              <a:t>FedBizOpps</a:t>
            </a:r>
            <a:r>
              <a:rPr lang="en-US" dirty="0" smtClean="0">
                <a:latin typeface=" Arial"/>
              </a:rPr>
              <a:t> </a:t>
            </a:r>
            <a:r>
              <a:rPr lang="en-US" dirty="0" smtClean="0">
                <a:latin typeface=" Arial"/>
              </a:rPr>
              <a:t>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Estimated Value</a:t>
            </a:r>
            <a:r>
              <a:rPr lang="en-US" dirty="0" smtClean="0">
                <a:latin typeface=" Arial"/>
              </a:rPr>
              <a:t>:  $17M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1QFY19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4020590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dirty="0" smtClean="0">
                <a:solidFill>
                  <a:prstClr val="white"/>
                </a:solidFill>
                <a:latin typeface=" Arial"/>
              </a:rPr>
              <a:t>USASAC (Foreign Military Sales - FMS)</a:t>
            </a:r>
            <a:endParaRPr lang="en-US" sz="26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9</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Small Arms Protective Insert (SAPI)</a:t>
            </a:r>
          </a:p>
          <a:p>
            <a:pPr>
              <a:defRPr/>
            </a:pPr>
            <a:r>
              <a:rPr lang="en-US" sz="1600" u="sng" dirty="0" smtClean="0">
                <a:solidFill>
                  <a:prstClr val="black"/>
                </a:solidFill>
                <a:latin typeface=" Arial"/>
              </a:rPr>
              <a:t>Project Summary</a:t>
            </a:r>
            <a:r>
              <a:rPr lang="en-US" sz="1600" dirty="0" smtClean="0">
                <a:solidFill>
                  <a:prstClr val="black"/>
                </a:solidFill>
                <a:latin typeface=" Arial"/>
              </a:rPr>
              <a:t>:  </a:t>
            </a:r>
            <a:r>
              <a:rPr lang="en-US" sz="1600" dirty="0">
                <a:solidFill>
                  <a:prstClr val="black"/>
                </a:solidFill>
                <a:latin typeface=" Arial"/>
              </a:rPr>
              <a:t>The </a:t>
            </a:r>
            <a:r>
              <a:rPr lang="en-US" sz="1600" dirty="0" smtClean="0">
                <a:solidFill>
                  <a:prstClr val="black"/>
                </a:solidFill>
                <a:latin typeface=" Arial"/>
              </a:rPr>
              <a:t>SAPI</a:t>
            </a:r>
            <a:r>
              <a:rPr lang="en-US" sz="1600" dirty="0">
                <a:solidFill>
                  <a:prstClr val="black"/>
                </a:solidFill>
                <a:latin typeface=" Arial"/>
              </a:rPr>
              <a:t>, which </a:t>
            </a:r>
            <a:r>
              <a:rPr lang="en-US" sz="1600" dirty="0" smtClean="0">
                <a:solidFill>
                  <a:prstClr val="black"/>
                </a:solidFill>
                <a:latin typeface=" Arial"/>
              </a:rPr>
              <a:t>supports FMS </a:t>
            </a:r>
            <a:r>
              <a:rPr lang="en-US" sz="1600" dirty="0">
                <a:solidFill>
                  <a:prstClr val="black"/>
                </a:solidFill>
                <a:latin typeface=" Arial"/>
              </a:rPr>
              <a:t>customers </a:t>
            </a:r>
            <a:r>
              <a:rPr lang="en-US" sz="1600" dirty="0" smtClean="0">
                <a:solidFill>
                  <a:prstClr val="black"/>
                </a:solidFill>
                <a:latin typeface=" Arial"/>
              </a:rPr>
              <a:t>that are </a:t>
            </a:r>
            <a:r>
              <a:rPr lang="en-US" sz="1600" dirty="0">
                <a:solidFill>
                  <a:prstClr val="black"/>
                </a:solidFill>
                <a:latin typeface=" Arial"/>
              </a:rPr>
              <a:t>currently deployed or scheduled to deploy to combat </a:t>
            </a:r>
            <a:r>
              <a:rPr lang="en-US" sz="1600" dirty="0" smtClean="0">
                <a:solidFill>
                  <a:prstClr val="black"/>
                </a:solidFill>
                <a:latin typeface=" Arial"/>
              </a:rPr>
              <a:t>operations, </a:t>
            </a:r>
            <a:r>
              <a:rPr lang="en-US" sz="1600" dirty="0">
                <a:solidFill>
                  <a:prstClr val="black"/>
                </a:solidFill>
                <a:latin typeface=" Arial"/>
              </a:rPr>
              <a:t>is a sized and contoured plate that is inserted </a:t>
            </a:r>
            <a:r>
              <a:rPr lang="en-US" sz="1600" dirty="0" smtClean="0">
                <a:solidFill>
                  <a:prstClr val="black"/>
                </a:solidFill>
                <a:latin typeface=" Arial"/>
              </a:rPr>
              <a:t>into the </a:t>
            </a:r>
            <a:r>
              <a:rPr lang="en-US" sz="1600" dirty="0">
                <a:solidFill>
                  <a:prstClr val="black"/>
                </a:solidFill>
                <a:latin typeface=" Arial"/>
              </a:rPr>
              <a:t>front and back pockets on the outer tactical vest (OTV) outer shell </a:t>
            </a:r>
            <a:r>
              <a:rPr lang="en-US" sz="1600" dirty="0" smtClean="0">
                <a:solidFill>
                  <a:prstClr val="black"/>
                </a:solidFill>
                <a:latin typeface=" Arial"/>
              </a:rPr>
              <a:t>carrier and provides ballistic </a:t>
            </a:r>
            <a:r>
              <a:rPr lang="en-US" sz="1600" dirty="0">
                <a:solidFill>
                  <a:prstClr val="black"/>
                </a:solidFill>
                <a:latin typeface=" Arial"/>
              </a:rPr>
              <a:t>protection from specific 5.56mm and 7.62mm rounds.  </a:t>
            </a:r>
            <a:endParaRPr lang="en-US" altLang="en-US" sz="1600" dirty="0">
              <a:solidFill>
                <a:prstClr val="black"/>
              </a:solidFill>
              <a:latin typeface=" Arial"/>
              <a:ea typeface="ＭＳ Ｐゴシック" panose="020B0600070205080204" pitchFamily="34" charset="-128"/>
            </a:endParaRPr>
          </a:p>
          <a:p>
            <a:pPr>
              <a:defRPr/>
            </a:pPr>
            <a:endParaRPr lang="en-US" sz="1600" dirty="0">
              <a:solidFill>
                <a:prstClr val="black"/>
              </a:solidFill>
              <a:latin typeface=" Arial"/>
            </a:endParaRPr>
          </a:p>
          <a:p>
            <a:pPr>
              <a:defRPr/>
            </a:pPr>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smtClean="0">
                <a:solidFill>
                  <a:prstClr val="black"/>
                </a:solidFill>
                <a:latin typeface=" Arial"/>
              </a:rPr>
              <a:t>Contract Numbers:  W91CRB-15-D-0040/0041/0042</a:t>
            </a:r>
          </a:p>
          <a:p>
            <a:pPr>
              <a:defRPr/>
            </a:pPr>
            <a:r>
              <a:rPr lang="en-US" sz="1600" dirty="0" smtClean="0">
                <a:solidFill>
                  <a:prstClr val="black"/>
                </a:solidFill>
                <a:latin typeface=" Arial"/>
              </a:rPr>
              <a:t>Incumbent Contractor:  Leading Technology Composites/</a:t>
            </a:r>
            <a:r>
              <a:rPr lang="en-US" sz="1600" dirty="0" err="1" smtClean="0">
                <a:solidFill>
                  <a:prstClr val="black"/>
                </a:solidFill>
                <a:latin typeface=" Arial"/>
              </a:rPr>
              <a:t>Hesco</a:t>
            </a:r>
            <a:r>
              <a:rPr lang="en-US" sz="1600" dirty="0" smtClean="0">
                <a:solidFill>
                  <a:prstClr val="black"/>
                </a:solidFill>
                <a:latin typeface=" Arial"/>
              </a:rPr>
              <a:t> Armor/</a:t>
            </a:r>
            <a:r>
              <a:rPr lang="en-US" sz="1600" dirty="0" err="1" smtClean="0">
                <a:solidFill>
                  <a:prstClr val="black"/>
                </a:solidFill>
                <a:latin typeface=" Arial"/>
              </a:rPr>
              <a:t>Tencate</a:t>
            </a:r>
            <a:r>
              <a:rPr lang="en-US" sz="1600" dirty="0" smtClean="0">
                <a:solidFill>
                  <a:prstClr val="black"/>
                </a:solidFill>
                <a:latin typeface=" Arial"/>
              </a:rPr>
              <a:t> Advanced Armor</a:t>
            </a:r>
          </a:p>
          <a:p>
            <a:pPr>
              <a:defRPr/>
            </a:pPr>
            <a:endParaRPr lang="en-US" sz="1600" dirty="0">
              <a:solidFill>
                <a:prstClr val="black"/>
              </a:solidFill>
              <a:latin typeface=" Arial"/>
            </a:endParaRPr>
          </a:p>
          <a:p>
            <a:pPr>
              <a:defRPr/>
            </a:pPr>
            <a:r>
              <a:rPr lang="en-US" sz="1600" dirty="0" smtClean="0">
                <a:solidFill>
                  <a:prstClr val="black"/>
                </a:solidFill>
                <a:latin typeface=" Arial"/>
              </a:rPr>
              <a:t>Note: The government intends to award approximately three (3) contracts with one (1) award restricted to a Small Business.</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Multiple Award, FFP IDIQ</a:t>
            </a:r>
          </a:p>
          <a:p>
            <a:pPr>
              <a:defRPr/>
            </a:pPr>
            <a:r>
              <a:rPr lang="en-US" sz="1600" u="sng" dirty="0" smtClean="0">
                <a:solidFill>
                  <a:prstClr val="black"/>
                </a:solidFill>
                <a:latin typeface=" Arial"/>
              </a:rPr>
              <a:t>Estimated Value</a:t>
            </a:r>
            <a:r>
              <a:rPr lang="en-US" sz="1600" dirty="0" smtClean="0">
                <a:solidFill>
                  <a:prstClr val="black"/>
                </a:solidFill>
                <a:latin typeface=" Arial"/>
              </a:rPr>
              <a:t>:  $49M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5 year ordering period</a:t>
            </a:r>
          </a:p>
          <a:p>
            <a:pPr>
              <a:defRPr/>
            </a:pPr>
            <a:r>
              <a:rPr lang="en-US" sz="1600" u="sng" dirty="0" smtClean="0">
                <a:solidFill>
                  <a:prstClr val="black"/>
                </a:solidFill>
                <a:latin typeface=" Arial"/>
              </a:rPr>
              <a:t>Estimated Solicitation Release Date</a:t>
            </a:r>
            <a:r>
              <a:rPr lang="en-US" sz="1600" smtClean="0">
                <a:solidFill>
                  <a:prstClr val="black"/>
                </a:solidFill>
                <a:latin typeface=" Arial"/>
              </a:rPr>
              <a:t>:  4QFY18</a:t>
            </a:r>
            <a:endParaRPr lang="en-US" sz="1600" dirty="0" smtClean="0">
              <a:solidFill>
                <a:prstClr val="black"/>
              </a:solidFill>
              <a:latin typeface=" Arial"/>
            </a:endParaRP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Ian Warner, Contract Specialist, ian.a.warner.civ@mail.mil</a:t>
            </a:r>
          </a:p>
          <a:p>
            <a:pPr>
              <a:defRPr/>
            </a:pPr>
            <a:endParaRPr lang="en-US" dirty="0" smtClean="0">
              <a:solidFill>
                <a:prstClr val="black"/>
              </a:solidFill>
              <a:latin typeface=" Arial"/>
            </a:endParaRPr>
          </a:p>
          <a:p>
            <a:pPr>
              <a:defRPr/>
            </a:pPr>
            <a:r>
              <a:rPr lang="en-US" sz="1400" b="1" dirty="0">
                <a:latin typeface=" Arial"/>
              </a:rPr>
              <a:t>*Subject to Cancellation</a:t>
            </a:r>
          </a:p>
          <a:p>
            <a:pPr>
              <a:defRPr/>
            </a:pPr>
            <a:endParaRPr lang="en-US" dirty="0">
              <a:solidFill>
                <a:prstClr val="black"/>
              </a:solidFill>
              <a:latin typeface=" Arial"/>
            </a:endParaRPr>
          </a:p>
        </p:txBody>
      </p:sp>
    </p:spTree>
    <p:extLst>
      <p:ext uri="{BB962C8B-B14F-4D97-AF65-F5344CB8AC3E}">
        <p14:creationId xmlns:p14="http://schemas.microsoft.com/office/powerpoint/2010/main" val="4144849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10</a:t>
            </a:fld>
            <a:endParaRPr lang="en-US" sz="1000" dirty="0">
              <a:solidFill>
                <a:prstClr val="white"/>
              </a:solidFill>
            </a:endParaRPr>
          </a:p>
        </p:txBody>
      </p:sp>
      <p:sp>
        <p:nvSpPr>
          <p:cNvPr id="8" name="TextBox 8"/>
          <p:cNvSpPr txBox="1">
            <a:spLocks noChangeArrowheads="1"/>
          </p:cNvSpPr>
          <p:nvPr/>
        </p:nvSpPr>
        <p:spPr bwMode="auto">
          <a:xfrm>
            <a:off x="0" y="914400"/>
            <a:ext cx="9144000" cy="637097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Nett Warrior Software Development/System Integration/Production Assistance Services</a:t>
            </a:r>
          </a:p>
          <a:p>
            <a:pPr>
              <a:defRPr/>
            </a:pPr>
            <a:r>
              <a:rPr lang="en-US" u="sng" dirty="0" smtClean="0">
                <a:solidFill>
                  <a:prstClr val="black"/>
                </a:solidFill>
                <a:latin typeface=" Arial"/>
              </a:rPr>
              <a:t>Project Summary</a:t>
            </a:r>
            <a:r>
              <a:rPr lang="en-US" dirty="0" smtClean="0">
                <a:solidFill>
                  <a:prstClr val="black"/>
                </a:solidFill>
                <a:latin typeface=" Arial"/>
              </a:rPr>
              <a:t>:The Nett Warrior (NW) services will provide for multi-discipline support to Product Manager Ground Soldier Systems (PdM GSS) in multiple phases of the NW life cycle. The main focus areas are: software/system engineering and field test support, software development, system design/integration, NW end user device and mission planning computer production software provisioning and NW field service representative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W91CRB-15-C-0025</a:t>
            </a:r>
          </a:p>
          <a:p>
            <a:pPr>
              <a:defRPr/>
            </a:pPr>
            <a:r>
              <a:rPr lang="en-US" dirty="0">
                <a:solidFill>
                  <a:prstClr val="black"/>
                </a:solidFill>
                <a:latin typeface=" Arial"/>
              </a:rPr>
              <a:t>	</a:t>
            </a:r>
            <a:r>
              <a:rPr lang="en-US" dirty="0" smtClean="0">
                <a:solidFill>
                  <a:prstClr val="black"/>
                </a:solidFill>
                <a:latin typeface=" Arial"/>
              </a:rPr>
              <a:t>Incumbent Contractor:  Augustine Consulting Inc (ACI)</a:t>
            </a:r>
          </a:p>
          <a:p>
            <a:pPr>
              <a:defRPr/>
            </a:pPr>
            <a:r>
              <a:rPr lang="en-US" dirty="0" smtClean="0">
                <a:solidFill>
                  <a:prstClr val="black"/>
                </a:solidFill>
                <a:latin typeface=" Arial"/>
              </a:rPr>
              <a:t>	Solicitation Number: W91CRB-18-R-0006</a:t>
            </a:r>
          </a:p>
          <a:p>
            <a:pPr>
              <a:defRPr/>
            </a:pPr>
            <a:r>
              <a:rPr lang="en-US" u="sng" dirty="0" smtClean="0">
                <a:solidFill>
                  <a:prstClr val="black"/>
                </a:solidFill>
                <a:latin typeface=" Arial"/>
              </a:rPr>
              <a:t>Contract Type</a:t>
            </a:r>
            <a:r>
              <a:rPr lang="en-US" dirty="0" smtClean="0">
                <a:solidFill>
                  <a:prstClr val="black"/>
                </a:solidFill>
                <a:latin typeface=" Arial"/>
              </a:rPr>
              <a:t>:  CPFF and FFP</a:t>
            </a:r>
          </a:p>
          <a:p>
            <a:pPr>
              <a:defRPr/>
            </a:pPr>
            <a:r>
              <a:rPr lang="en-US" u="sng" dirty="0" smtClean="0">
                <a:solidFill>
                  <a:prstClr val="black"/>
                </a:solidFill>
                <a:latin typeface=" Arial"/>
              </a:rPr>
              <a:t>Estimated Value</a:t>
            </a:r>
            <a:r>
              <a:rPr lang="en-US" dirty="0" smtClean="0">
                <a:solidFill>
                  <a:prstClr val="black"/>
                </a:solidFill>
                <a:latin typeface=" Arial"/>
              </a:rPr>
              <a:t>:  $92M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and four (4)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Lisa Yamakawa, KO, </a:t>
            </a:r>
            <a:r>
              <a:rPr lang="en-US" dirty="0" smtClean="0">
                <a:solidFill>
                  <a:prstClr val="black"/>
                </a:solidFill>
                <a:latin typeface=" Arial"/>
                <a:hlinkClick r:id="rId2"/>
              </a:rPr>
              <a:t>lisa.j.Yamakawa.civ@mail.mil</a:t>
            </a:r>
            <a:r>
              <a:rPr lang="en-US" dirty="0" smtClean="0">
                <a:solidFill>
                  <a:prstClr val="black"/>
                </a:solidFill>
                <a:latin typeface=" Arial"/>
              </a:rPr>
              <a:t> </a:t>
            </a:r>
          </a:p>
          <a:p>
            <a:pPr>
              <a:defRPr/>
            </a:pPr>
            <a:endParaRPr lang="en-US" sz="1600" b="1" dirty="0" smtClean="0">
              <a:latin typeface=" Arial"/>
            </a:endParaRPr>
          </a:p>
          <a:p>
            <a:pPr>
              <a:defRPr/>
            </a:pPr>
            <a:r>
              <a:rPr lang="en-US" sz="1600" b="1" dirty="0" smtClean="0">
                <a:latin typeface=" Arial"/>
              </a:rPr>
              <a:t>*</a:t>
            </a:r>
            <a:r>
              <a:rPr lang="en-US" sz="1600" b="1" dirty="0">
                <a:latin typeface=" Arial"/>
              </a:rPr>
              <a:t>Subject to Cancellation</a:t>
            </a: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6133538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11</a:t>
            </a:fld>
            <a:endParaRPr lang="en-US" sz="1000" dirty="0">
              <a:solidFill>
                <a:prstClr val="white"/>
              </a:solidFill>
            </a:endParaRPr>
          </a:p>
        </p:txBody>
      </p:sp>
      <p:sp>
        <p:nvSpPr>
          <p:cNvPr id="8" name="TextBox 8"/>
          <p:cNvSpPr txBox="1">
            <a:spLocks noChangeArrowheads="1"/>
          </p:cNvSpPr>
          <p:nvPr/>
        </p:nvSpPr>
        <p:spPr bwMode="auto">
          <a:xfrm>
            <a:off x="0" y="1066800"/>
            <a:ext cx="9144000" cy="5047536"/>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Ballistic Battle Belt (B3</a:t>
            </a:r>
            <a:r>
              <a:rPr lang="en-US" dirty="0" smtClean="0">
                <a:latin typeface=" Arial"/>
              </a:rPr>
              <a:t>)</a:t>
            </a:r>
            <a:r>
              <a:rPr lang="en-US" dirty="0" smtClean="0">
                <a:solidFill>
                  <a:srgbClr val="FF0000"/>
                </a:solidFill>
                <a:latin typeface=" Arial"/>
              </a:rPr>
              <a:t> (Formerly Load Distribution System (LDS))</a:t>
            </a:r>
          </a:p>
          <a:p>
            <a:pPr>
              <a:defRPr/>
            </a:pPr>
            <a:r>
              <a:rPr lang="en-US" u="sng" dirty="0" smtClean="0">
                <a:solidFill>
                  <a:prstClr val="black"/>
                </a:solidFill>
                <a:latin typeface=" Arial"/>
              </a:rPr>
              <a:t>Project Summary</a:t>
            </a:r>
            <a:r>
              <a:rPr lang="en-US" dirty="0" smtClean="0">
                <a:solidFill>
                  <a:prstClr val="black"/>
                </a:solidFill>
                <a:latin typeface=" Arial"/>
              </a:rPr>
              <a:t>:  The B3 is part of the Soldier Protection System Torso and Extremity Protection (SPS TEP), worn over the Army Combat Uniform and is designed to provide fragmentation protection and to distribute the Soldiers combat load between the shoulders and waist/hips.</a:t>
            </a:r>
            <a:endParaRPr lang="en-US" dirty="0">
              <a:solidFill>
                <a:prstClr val="black"/>
              </a:solidFill>
              <a:latin typeface=" Arial"/>
            </a:endParaRP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W91CRB-15-D-0028</a:t>
            </a:r>
          </a:p>
          <a:p>
            <a:pPr>
              <a:defRPr/>
            </a:pPr>
            <a:r>
              <a:rPr lang="en-US" dirty="0">
                <a:solidFill>
                  <a:prstClr val="black"/>
                </a:solidFill>
                <a:latin typeface=" Arial"/>
              </a:rPr>
              <a:t>	</a:t>
            </a:r>
            <a:r>
              <a:rPr lang="en-US" dirty="0" smtClean="0">
                <a:solidFill>
                  <a:prstClr val="black"/>
                </a:solidFill>
                <a:latin typeface=" Arial"/>
              </a:rPr>
              <a:t>Incumbent Contractor:  Carter Enterprises</a:t>
            </a:r>
          </a:p>
          <a:p>
            <a:pPr>
              <a:defRPr/>
            </a:pPr>
            <a:endParaRPr lang="en-US" dirty="0" smtClean="0">
              <a:solidFill>
                <a:prstClr val="black"/>
              </a:solidFill>
              <a:latin typeface=" Arial"/>
            </a:endParaRPr>
          </a:p>
          <a:p>
            <a:pPr>
              <a:defRPr/>
            </a:pPr>
            <a:r>
              <a:rPr lang="en-US" u="sng" dirty="0">
                <a:solidFill>
                  <a:prstClr val="black"/>
                </a:solidFill>
                <a:latin typeface=" Arial"/>
              </a:rPr>
              <a:t>Contract</a:t>
            </a:r>
            <a:r>
              <a:rPr lang="en-US" u="sng" dirty="0" smtClean="0">
                <a:solidFill>
                  <a:prstClr val="black"/>
                </a:solidFill>
                <a:latin typeface=" Arial"/>
              </a:rPr>
              <a:t> Type</a:t>
            </a:r>
            <a:r>
              <a:rPr lang="en-US" dirty="0" smtClean="0">
                <a:solidFill>
                  <a:prstClr val="black"/>
                </a:solidFill>
                <a:latin typeface=" Arial"/>
              </a:rPr>
              <a:t>:  FFP</a:t>
            </a:r>
          </a:p>
          <a:p>
            <a:pPr>
              <a:defRPr/>
            </a:pPr>
            <a:r>
              <a:rPr lang="en-US" u="sng" dirty="0" smtClean="0">
                <a:solidFill>
                  <a:prstClr val="black"/>
                </a:solidFill>
                <a:latin typeface=" Arial"/>
              </a:rPr>
              <a:t>Estimated Value</a:t>
            </a:r>
            <a:r>
              <a:rPr lang="en-US" dirty="0" smtClean="0">
                <a:solidFill>
                  <a:prstClr val="black"/>
                </a:solidFill>
                <a:latin typeface=" Arial"/>
              </a:rPr>
              <a:t>:  $45M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Lisa Yamakawa, KO, </a:t>
            </a:r>
            <a:r>
              <a:rPr lang="en-US" dirty="0" smtClean="0">
                <a:solidFill>
                  <a:prstClr val="black"/>
                </a:solidFill>
                <a:latin typeface=" Arial"/>
                <a:hlinkClick r:id="rId2"/>
              </a:rPr>
              <a:t>lisa.j.Yamakawa.civ@mail.mil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4"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Tree>
    <p:extLst>
      <p:ext uri="{BB962C8B-B14F-4D97-AF65-F5344CB8AC3E}">
        <p14:creationId xmlns:p14="http://schemas.microsoft.com/office/powerpoint/2010/main" val="10619262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12</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 This will support PM Soldier Sensors and Lasers (SSL).</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Estimated Value</a:t>
            </a:r>
            <a:r>
              <a:rPr lang="en-US" dirty="0" smtClean="0">
                <a:solidFill>
                  <a:prstClr val="black"/>
                </a:solidFill>
                <a:latin typeface=" Arial"/>
              </a:rPr>
              <a:t>:  $45M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David Hart, KO, </a:t>
            </a:r>
            <a:r>
              <a:rPr lang="en-US" dirty="0" smtClean="0">
                <a:solidFill>
                  <a:prstClr val="black"/>
                </a:solidFill>
                <a:latin typeface=" Arial"/>
                <a:hlinkClick r:id="rId2"/>
              </a:rPr>
              <a:t>David.k.hart.civ@mail.mil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69603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13</a:t>
            </a:fld>
            <a:endParaRPr lang="en-US" sz="1000" dirty="0">
              <a:solidFill>
                <a:prstClr val="white"/>
              </a:solidFill>
            </a:endParaRPr>
          </a:p>
        </p:txBody>
      </p:sp>
      <p:sp>
        <p:nvSpPr>
          <p:cNvPr id="8" name="TextBox 8"/>
          <p:cNvSpPr txBox="1">
            <a:spLocks noChangeArrowheads="1"/>
          </p:cNvSpPr>
          <p:nvPr/>
        </p:nvSpPr>
        <p:spPr bwMode="auto">
          <a:xfrm>
            <a:off x="0" y="1066800"/>
            <a:ext cx="9144000" cy="5047536"/>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rPr>
              <a:t>Project Title</a:t>
            </a:r>
            <a:r>
              <a:rPr lang="en-US" dirty="0">
                <a:solidFill>
                  <a:prstClr val="black"/>
                </a:solidFill>
                <a:latin typeface=" Arial"/>
              </a:rPr>
              <a:t>:  Next Generation Advanced Bomb Suit (NGABS)</a:t>
            </a:r>
            <a:endParaRPr lang="en-US" dirty="0">
              <a:solidFill>
                <a:srgbClr val="FF0000"/>
              </a:solidFill>
              <a:latin typeface=" Arial"/>
            </a:endParaRPr>
          </a:p>
          <a:p>
            <a:pPr>
              <a:defRPr/>
            </a:pPr>
            <a:r>
              <a:rPr lang="en-US" u="sng" dirty="0">
                <a:solidFill>
                  <a:prstClr val="black"/>
                </a:solidFill>
                <a:latin typeface=" Arial"/>
              </a:rPr>
              <a:t>Project Summary</a:t>
            </a:r>
            <a:r>
              <a:rPr lang="en-US" dirty="0">
                <a:solidFill>
                  <a:prstClr val="black"/>
                </a:solidFill>
                <a:latin typeface=" Arial"/>
              </a:rPr>
              <a:t>:   The U.S. Army has identified a need to improve and redesign the current Advanced Bomb Suit (ABS) ensemble to provide a higher level of protection and improve the mobility and capability of the EOD Soldier.  Improvements are needed to allow use of a bomb suit capability during periods of both clear visibility as well as low light operations in both urban and rural locations, in open areas, and in areas containing restricted mobility or tight spaces. </a:t>
            </a:r>
          </a:p>
          <a:p>
            <a:pPr>
              <a:defRPr/>
            </a:pPr>
            <a:endParaRPr lang="en-US" dirty="0">
              <a:solidFill>
                <a:prstClr val="black"/>
              </a:solidFill>
              <a:latin typeface=" Arial"/>
            </a:endParaRPr>
          </a:p>
          <a:p>
            <a:pPr>
              <a:defRPr/>
            </a:pPr>
            <a:r>
              <a:rPr lang="en-US" u="sng" dirty="0">
                <a:solidFill>
                  <a:prstClr val="black"/>
                </a:solidFill>
                <a:latin typeface=" Arial"/>
              </a:rPr>
              <a:t>Prior/Current Contract Information</a:t>
            </a:r>
            <a:r>
              <a:rPr lang="en-US" dirty="0">
                <a:solidFill>
                  <a:prstClr val="black"/>
                </a:solidFill>
                <a:latin typeface=" Arial"/>
              </a:rPr>
              <a:t>:</a:t>
            </a:r>
          </a:p>
          <a:p>
            <a:pPr>
              <a:defRPr/>
            </a:pPr>
            <a:r>
              <a:rPr lang="en-US" dirty="0">
                <a:solidFill>
                  <a:prstClr val="black"/>
                </a:solidFill>
                <a:latin typeface=" Arial"/>
              </a:rPr>
              <a:t>	Contract Number:  none</a:t>
            </a:r>
          </a:p>
          <a:p>
            <a:pPr>
              <a:defRPr/>
            </a:pPr>
            <a:r>
              <a:rPr lang="en-US" dirty="0">
                <a:solidFill>
                  <a:prstClr val="black"/>
                </a:solidFill>
                <a:latin typeface=" Arial"/>
              </a:rPr>
              <a:t>	Incumbent Contractor: none</a:t>
            </a:r>
          </a:p>
          <a:p>
            <a:pPr>
              <a:defRPr/>
            </a:pPr>
            <a:r>
              <a:rPr lang="en-US" dirty="0">
                <a:solidFill>
                  <a:prstClr val="black"/>
                </a:solidFill>
                <a:latin typeface=" Arial"/>
              </a:rPr>
              <a:t>	</a:t>
            </a:r>
          </a:p>
          <a:p>
            <a:pPr>
              <a:defRPr/>
            </a:pPr>
            <a:r>
              <a:rPr lang="en-US" u="sng" dirty="0">
                <a:solidFill>
                  <a:prstClr val="black"/>
                </a:solidFill>
                <a:latin typeface=" Arial"/>
              </a:rPr>
              <a:t>Contract Type</a:t>
            </a:r>
            <a:r>
              <a:rPr lang="en-US" dirty="0">
                <a:solidFill>
                  <a:prstClr val="black"/>
                </a:solidFill>
                <a:latin typeface=" Arial"/>
              </a:rPr>
              <a:t>:  FFP</a:t>
            </a:r>
          </a:p>
          <a:p>
            <a:pPr>
              <a:defRPr/>
            </a:pPr>
            <a:r>
              <a:rPr lang="en-US" u="sng" dirty="0">
                <a:solidFill>
                  <a:prstClr val="black"/>
                </a:solidFill>
                <a:latin typeface=" Arial"/>
              </a:rPr>
              <a:t>Estimated Value</a:t>
            </a:r>
            <a:r>
              <a:rPr lang="en-US" dirty="0">
                <a:solidFill>
                  <a:prstClr val="black"/>
                </a:solidFill>
                <a:latin typeface=" Arial"/>
              </a:rPr>
              <a:t>:  $96M</a:t>
            </a:r>
          </a:p>
          <a:p>
            <a:pPr>
              <a:defRPr/>
            </a:pPr>
            <a:r>
              <a:rPr lang="en-US" u="sng" dirty="0">
                <a:solidFill>
                  <a:prstClr val="black"/>
                </a:solidFill>
                <a:latin typeface=" Arial"/>
              </a:rPr>
              <a:t>Period of Performance</a:t>
            </a:r>
            <a:r>
              <a:rPr lang="en-US" dirty="0">
                <a:solidFill>
                  <a:prstClr val="black"/>
                </a:solidFill>
                <a:latin typeface=" Arial"/>
              </a:rPr>
              <a:t>:  5 year ordering period</a:t>
            </a:r>
          </a:p>
          <a:p>
            <a:pPr>
              <a:defRPr/>
            </a:pPr>
            <a:r>
              <a:rPr lang="en-US" u="sng" dirty="0">
                <a:solidFill>
                  <a:prstClr val="black"/>
                </a:solidFill>
                <a:latin typeface=" Arial"/>
              </a:rPr>
              <a:t>Estimated Solicitation Release Date</a:t>
            </a:r>
            <a:r>
              <a:rPr lang="en-US" dirty="0">
                <a:solidFill>
                  <a:prstClr val="black"/>
                </a:solidFill>
                <a:latin typeface=" Arial"/>
              </a:rPr>
              <a:t>:  2QFY19</a:t>
            </a:r>
          </a:p>
          <a:p>
            <a:pPr>
              <a:defRPr/>
            </a:pPr>
            <a:r>
              <a:rPr lang="en-US" u="sng" dirty="0">
                <a:solidFill>
                  <a:prstClr val="black"/>
                </a:solidFill>
                <a:latin typeface=" Arial"/>
              </a:rPr>
              <a:t>Contracting Contact</a:t>
            </a:r>
            <a:r>
              <a:rPr lang="en-US" dirty="0">
                <a:solidFill>
                  <a:prstClr val="black"/>
                </a:solidFill>
                <a:latin typeface=" Arial"/>
              </a:rPr>
              <a:t>:  ACC-APG, Lisa Yamakawa, KO, </a:t>
            </a:r>
            <a:r>
              <a:rPr lang="en-US" dirty="0">
                <a:solidFill>
                  <a:prstClr val="black"/>
                </a:solidFill>
                <a:latin typeface=" Arial"/>
                <a:hlinkClick r:id="rId2"/>
              </a:rPr>
              <a:t>lisa.j.Yamakawa.civ@mail.mil</a:t>
            </a: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9853980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14</a:t>
            </a:fld>
            <a:endParaRPr lang="en-US" sz="1000" dirty="0">
              <a:solidFill>
                <a:prstClr val="white"/>
              </a:solidFill>
            </a:endParaRPr>
          </a:p>
        </p:txBody>
      </p:sp>
      <p:sp>
        <p:nvSpPr>
          <p:cNvPr id="8" name="TextBox 8"/>
          <p:cNvSpPr txBox="1">
            <a:spLocks noChangeArrowheads="1"/>
          </p:cNvSpPr>
          <p:nvPr/>
        </p:nvSpPr>
        <p:spPr bwMode="auto">
          <a:xfrm>
            <a:off x="0" y="1066800"/>
            <a:ext cx="9144000" cy="5109091"/>
          </a:xfrm>
          <a:prstGeom prst="rect">
            <a:avLst/>
          </a:prstGeom>
          <a:noFill/>
          <a:ln w="9525">
            <a:noFill/>
            <a:miter lim="800000"/>
            <a:headEnd/>
            <a:tailEnd/>
          </a:ln>
        </p:spPr>
        <p:txBody>
          <a:bodyPr wrap="square">
            <a:spAutoFit/>
          </a:bodyPr>
          <a:lstStyle/>
          <a:p>
            <a:pPr>
              <a:defRPr/>
            </a:pPr>
            <a:r>
              <a:rPr lang="en-US" sz="1400" u="sng" dirty="0">
                <a:solidFill>
                  <a:prstClr val="black"/>
                </a:solidFill>
                <a:latin typeface="Arial" panose="020B0604020202020204" pitchFamily="34" charset="0"/>
                <a:cs typeface="Arial" panose="020B0604020202020204" pitchFamily="34" charset="0"/>
              </a:rPr>
              <a:t>Project Title</a:t>
            </a:r>
            <a:r>
              <a:rPr lang="en-US" sz="1400" dirty="0">
                <a:solidFill>
                  <a:prstClr val="black"/>
                </a:solidFill>
                <a:latin typeface="Arial" panose="020B0604020202020204" pitchFamily="34" charset="0"/>
                <a:cs typeface="Arial" panose="020B0604020202020204" pitchFamily="34" charset="0"/>
              </a:rPr>
              <a:t>:  Enhanced Night Vision Goggle Binocular (ENVG-B)</a:t>
            </a:r>
          </a:p>
          <a:p>
            <a:pPr>
              <a:defRPr/>
            </a:pPr>
            <a:r>
              <a:rPr lang="en-US" sz="1400" u="sng" dirty="0">
                <a:solidFill>
                  <a:prstClr val="black"/>
                </a:solidFill>
                <a:latin typeface="Arial" panose="020B0604020202020204" pitchFamily="34" charset="0"/>
                <a:cs typeface="Arial" panose="020B0604020202020204" pitchFamily="34" charset="0"/>
              </a:rPr>
              <a:t>Project Summary:</a:t>
            </a:r>
            <a:r>
              <a:rPr lang="en-US" sz="1400" dirty="0">
                <a:solidFill>
                  <a:prstClr val="black"/>
                </a:solidFill>
                <a:latin typeface="Arial" panose="020B0604020202020204" pitchFamily="34" charset="0"/>
                <a:cs typeface="Arial" panose="020B0604020202020204" pitchFamily="34" charset="0"/>
              </a:rPr>
              <a:t> The ENVG-B system is a modular helmet-mounted, passive electro-optical night vision and long wave infrared (LWIR) imaging device in a binocular configuration. The system integrates dual image intensification (I2) sensors with the LWIR imagery into a single viewing display. The ENVG-B has a multi-point wireless interface to the Family of Weapon Sights - Individual (FWS-I) and Family of Weapon Sights-Crew Served (FWS-CS) weapon mounted LWIR sensors, Small Tactical Optical Rifle Mounted Micro-Laser Range Finder (STORM MLRF), and to </a:t>
            </a:r>
            <a:r>
              <a:rPr lang="en-US" sz="1400" dirty="0" err="1">
                <a:solidFill>
                  <a:prstClr val="black"/>
                </a:solidFill>
                <a:latin typeface="Arial" panose="020B0604020202020204" pitchFamily="34" charset="0"/>
                <a:cs typeface="Arial" panose="020B0604020202020204" pitchFamily="34" charset="0"/>
              </a:rPr>
              <a:t>Nett</a:t>
            </a:r>
            <a:r>
              <a:rPr lang="en-US" sz="1400" dirty="0">
                <a:solidFill>
                  <a:prstClr val="black"/>
                </a:solidFill>
                <a:latin typeface="Arial" panose="020B0604020202020204" pitchFamily="34" charset="0"/>
                <a:cs typeface="Arial" panose="020B0604020202020204" pitchFamily="34" charset="0"/>
              </a:rPr>
              <a:t> Warrior in order to provide Rapid Target Acquisition (RTA) capability and Augmented Reality (AR) capabilities. </a:t>
            </a:r>
          </a:p>
          <a:p>
            <a:pPr>
              <a:defRPr/>
            </a:pPr>
            <a:endParaRPr lang="en-US" sz="1400" u="sng" dirty="0">
              <a:solidFill>
                <a:prstClr val="black"/>
              </a:solidFill>
              <a:latin typeface="Arial" panose="020B0604020202020204" pitchFamily="34" charset="0"/>
              <a:cs typeface="Arial" panose="020B0604020202020204" pitchFamily="34" charset="0"/>
            </a:endParaRPr>
          </a:p>
          <a:p>
            <a:pPr>
              <a:defRPr/>
            </a:pPr>
            <a:r>
              <a:rPr lang="en-US" sz="1400" u="sng" dirty="0">
                <a:solidFill>
                  <a:prstClr val="black"/>
                </a:solidFill>
                <a:latin typeface="Arial" panose="020B0604020202020204" pitchFamily="34" charset="0"/>
                <a:cs typeface="Arial" panose="020B0604020202020204" pitchFamily="34" charset="0"/>
              </a:rPr>
              <a:t>Prior/Current Contract Information:</a:t>
            </a:r>
          </a:p>
          <a:p>
            <a:pPr>
              <a:defRPr/>
            </a:pPr>
            <a:r>
              <a:rPr lang="en-US" sz="1400" dirty="0">
                <a:solidFill>
                  <a:prstClr val="black"/>
                </a:solidFill>
                <a:latin typeface="Arial" panose="020B0604020202020204" pitchFamily="34" charset="0"/>
                <a:cs typeface="Arial" panose="020B0604020202020204" pitchFamily="34" charset="0"/>
              </a:rPr>
              <a:t>	Contract Number:  W91CRB-18-D-0003 CFT </a:t>
            </a:r>
          </a:p>
          <a:p>
            <a:pPr>
              <a:defRPr/>
            </a:pPr>
            <a:r>
              <a:rPr lang="en-US" sz="1400" dirty="0">
                <a:solidFill>
                  <a:prstClr val="black"/>
                </a:solidFill>
                <a:latin typeface="Arial" panose="020B0604020202020204" pitchFamily="34" charset="0"/>
                <a:cs typeface="Arial" panose="020B0604020202020204" pitchFamily="34" charset="0"/>
              </a:rPr>
              <a:t>	Incumbent Contractor: L3 Technologies, Inc. </a:t>
            </a:r>
          </a:p>
          <a:p>
            <a:pPr>
              <a:defRPr/>
            </a:pPr>
            <a:endParaRPr lang="en-US" sz="1400" dirty="0">
              <a:solidFill>
                <a:prstClr val="black"/>
              </a:solidFill>
              <a:latin typeface="Arial" panose="020B0604020202020204" pitchFamily="34" charset="0"/>
              <a:cs typeface="Arial" panose="020B0604020202020204" pitchFamily="34" charset="0"/>
            </a:endParaRPr>
          </a:p>
          <a:p>
            <a:pPr>
              <a:defRPr/>
            </a:pPr>
            <a:r>
              <a:rPr lang="en-US" sz="1400" u="sng" dirty="0">
                <a:solidFill>
                  <a:prstClr val="black"/>
                </a:solidFill>
                <a:latin typeface="Arial" panose="020B0604020202020204" pitchFamily="34" charset="0"/>
                <a:cs typeface="Arial" panose="020B0604020202020204" pitchFamily="34" charset="0"/>
              </a:rPr>
              <a:t>Contract Type:</a:t>
            </a:r>
            <a:r>
              <a:rPr lang="en-US" sz="1400" dirty="0">
                <a:solidFill>
                  <a:prstClr val="black"/>
                </a:solidFill>
                <a:latin typeface="Arial" panose="020B0604020202020204" pitchFamily="34" charset="0"/>
                <a:cs typeface="Arial" panose="020B0604020202020204" pitchFamily="34" charset="0"/>
              </a:rPr>
              <a:t> Delivery orders will be FFP </a:t>
            </a:r>
          </a:p>
          <a:p>
            <a:pPr>
              <a:defRPr/>
            </a:pPr>
            <a:r>
              <a:rPr lang="en-US" sz="1400" u="sng" dirty="0">
                <a:solidFill>
                  <a:prstClr val="black"/>
                </a:solidFill>
                <a:latin typeface="Arial" panose="020B0604020202020204" pitchFamily="34" charset="0"/>
                <a:cs typeface="Arial" panose="020B0604020202020204" pitchFamily="34" charset="0"/>
              </a:rPr>
              <a:t>Estimated Value</a:t>
            </a:r>
            <a:r>
              <a:rPr lang="en-US" sz="1400" dirty="0">
                <a:solidFill>
                  <a:prstClr val="black"/>
                </a:solidFill>
                <a:latin typeface="Arial" panose="020B0604020202020204" pitchFamily="34" charset="0"/>
                <a:cs typeface="Arial" panose="020B0604020202020204" pitchFamily="34" charset="0"/>
              </a:rPr>
              <a:t>: $2.5B</a:t>
            </a:r>
          </a:p>
          <a:p>
            <a:pPr>
              <a:defRPr/>
            </a:pPr>
            <a:r>
              <a:rPr lang="en-US" sz="1400" u="sng" dirty="0">
                <a:solidFill>
                  <a:prstClr val="black"/>
                </a:solidFill>
                <a:latin typeface="Arial" panose="020B0604020202020204" pitchFamily="34" charset="0"/>
                <a:cs typeface="Arial" panose="020B0604020202020204" pitchFamily="34" charset="0"/>
              </a:rPr>
              <a:t>Period of Performance:</a:t>
            </a:r>
            <a:r>
              <a:rPr lang="en-US" sz="1400" dirty="0">
                <a:solidFill>
                  <a:prstClr val="black"/>
                </a:solidFill>
                <a:latin typeface="Arial" panose="020B0604020202020204" pitchFamily="34" charset="0"/>
                <a:cs typeface="Arial" panose="020B0604020202020204" pitchFamily="34" charset="0"/>
              </a:rPr>
              <a:t> 5 year ordering period</a:t>
            </a:r>
          </a:p>
          <a:p>
            <a:pPr>
              <a:defRPr/>
            </a:pPr>
            <a:r>
              <a:rPr lang="en-US" sz="1400" u="sng" dirty="0">
                <a:solidFill>
                  <a:prstClr val="black"/>
                </a:solidFill>
                <a:latin typeface="Arial" panose="020B0604020202020204" pitchFamily="34" charset="0"/>
                <a:cs typeface="Arial" panose="020B0604020202020204" pitchFamily="34" charset="0"/>
              </a:rPr>
              <a:t>Acquisition Approach:</a:t>
            </a:r>
            <a:r>
              <a:rPr lang="en-US" sz="1400" dirty="0">
                <a:solidFill>
                  <a:prstClr val="black"/>
                </a:solidFill>
                <a:latin typeface="Arial" panose="020B0604020202020204" pitchFamily="34" charset="0"/>
                <a:cs typeface="Arial" panose="020B0604020202020204" pitchFamily="34" charset="0"/>
              </a:rPr>
              <a:t> 1. </a:t>
            </a:r>
            <a:r>
              <a:rPr lang="en-US" sz="1400" dirty="0">
                <a:latin typeface="Arial" panose="020B0604020202020204" pitchFamily="34" charset="0"/>
                <a:cs typeface="Arial" panose="020B0604020202020204" pitchFamily="34" charset="0"/>
              </a:rPr>
              <a:t>Anticipate use of Other Transaction Authority (OTA) for the Prototype Phase and Production Readiness Phase. 2. </a:t>
            </a:r>
            <a:r>
              <a:rPr lang="en-US" sz="1400" dirty="0" smtClean="0">
                <a:latin typeface="Arial" panose="020B0604020202020204" pitchFamily="34" charset="0"/>
                <a:cs typeface="Arial" panose="020B0604020202020204" pitchFamily="34" charset="0"/>
              </a:rPr>
              <a:t>Anticipate </a:t>
            </a:r>
            <a:r>
              <a:rPr lang="en-US" sz="1400" dirty="0">
                <a:latin typeface="Arial" panose="020B0604020202020204" pitchFamily="34" charset="0"/>
                <a:cs typeface="Arial" panose="020B0604020202020204" pitchFamily="34" charset="0"/>
              </a:rPr>
              <a:t>Federal Acquisition Regulations (FAR) based follow-on production contract. Limited to Successful OTA Prototype Awardees.  Estimated 80,000 ENVG-B. </a:t>
            </a:r>
            <a:endParaRPr lang="en-US" sz="1400" dirty="0">
              <a:solidFill>
                <a:prstClr val="black"/>
              </a:solidFill>
              <a:latin typeface="Arial" panose="020B0604020202020204" pitchFamily="34" charset="0"/>
              <a:cs typeface="Arial" panose="020B0604020202020204" pitchFamily="34" charset="0"/>
            </a:endParaRPr>
          </a:p>
          <a:p>
            <a:pPr>
              <a:defRPr/>
            </a:pPr>
            <a:r>
              <a:rPr lang="en-US" sz="1400" u="sng" dirty="0">
                <a:solidFill>
                  <a:prstClr val="black"/>
                </a:solidFill>
                <a:latin typeface="Arial" panose="020B0604020202020204" pitchFamily="34" charset="0"/>
                <a:cs typeface="Arial" panose="020B0604020202020204" pitchFamily="34" charset="0"/>
              </a:rPr>
              <a:t>Estimated OTA Request for White Paper (RWP) Release Date:</a:t>
            </a:r>
            <a:r>
              <a:rPr lang="en-US" sz="1400" dirty="0">
                <a:solidFill>
                  <a:prstClr val="black"/>
                </a:solidFill>
                <a:latin typeface="Arial" panose="020B0604020202020204" pitchFamily="34" charset="0"/>
                <a:cs typeface="Arial" panose="020B0604020202020204" pitchFamily="34" charset="0"/>
              </a:rPr>
              <a:t> 4QFY18</a:t>
            </a:r>
          </a:p>
          <a:p>
            <a:pPr>
              <a:defRPr/>
            </a:pPr>
            <a:r>
              <a:rPr lang="en-US" sz="1400" u="sng" dirty="0">
                <a:solidFill>
                  <a:prstClr val="black"/>
                </a:solidFill>
                <a:latin typeface="Arial" panose="020B0604020202020204" pitchFamily="34" charset="0"/>
                <a:cs typeface="Arial" panose="020B0604020202020204" pitchFamily="34" charset="0"/>
              </a:rPr>
              <a:t>Contracting Contact:</a:t>
            </a:r>
            <a:r>
              <a:rPr lang="en-US" sz="1400" dirty="0">
                <a:solidFill>
                  <a:prstClr val="black"/>
                </a:solidFill>
                <a:latin typeface="Arial" panose="020B0604020202020204" pitchFamily="34" charset="0"/>
                <a:cs typeface="Arial" panose="020B0604020202020204" pitchFamily="34" charset="0"/>
              </a:rPr>
              <a:t> ACC-APG, Lisa Yamakawa, KO, </a:t>
            </a:r>
            <a:r>
              <a:rPr lang="en-US" sz="1400" dirty="0">
                <a:solidFill>
                  <a:prstClr val="black"/>
                </a:solidFill>
                <a:latin typeface="Arial" panose="020B0604020202020204" pitchFamily="34" charset="0"/>
                <a:cs typeface="Arial" panose="020B0604020202020204" pitchFamily="34" charset="0"/>
                <a:hlinkClick r:id="rId2"/>
              </a:rPr>
              <a:t>lisa.j.yamakawa.civ@mail.mil</a:t>
            </a:r>
            <a:endParaRPr lang="en-US" sz="1400" b="1" dirty="0" smtClean="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a:t>
            </a: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9290390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15</a:t>
            </a:fld>
            <a:endParaRPr lang="en-US" sz="1000" dirty="0">
              <a:solidFill>
                <a:prstClr val="white"/>
              </a:solidFill>
            </a:endParaRPr>
          </a:p>
        </p:txBody>
      </p:sp>
      <p:sp>
        <p:nvSpPr>
          <p:cNvPr id="8" name="TextBox 8"/>
          <p:cNvSpPr txBox="1">
            <a:spLocks noChangeArrowheads="1"/>
          </p:cNvSpPr>
          <p:nvPr/>
        </p:nvSpPr>
        <p:spPr bwMode="auto">
          <a:xfrm>
            <a:off x="0" y="1066800"/>
            <a:ext cx="9144000" cy="5262979"/>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rPr>
              <a:t>Project </a:t>
            </a:r>
            <a:r>
              <a:rPr lang="en-US" u="sng" dirty="0" smtClean="0">
                <a:solidFill>
                  <a:prstClr val="black"/>
                </a:solidFill>
                <a:latin typeface=" Arial"/>
              </a:rPr>
              <a:t>Title</a:t>
            </a:r>
            <a:r>
              <a:rPr lang="en-US" dirty="0" smtClean="0">
                <a:solidFill>
                  <a:prstClr val="black"/>
                </a:solidFill>
                <a:latin typeface=" Arial"/>
              </a:rPr>
              <a:t>:  Active </a:t>
            </a:r>
            <a:r>
              <a:rPr lang="en-US" dirty="0" smtClean="0">
                <a:solidFill>
                  <a:prstClr val="black"/>
                </a:solidFill>
                <a:latin typeface=" Arial"/>
              </a:rPr>
              <a:t>RFID Assembly Devices (ARADs)</a:t>
            </a:r>
          </a:p>
          <a:p>
            <a:pPr>
              <a:defRPr/>
            </a:pPr>
            <a:r>
              <a:rPr lang="en-US" u="sng" dirty="0">
                <a:solidFill>
                  <a:prstClr val="black"/>
                </a:solidFill>
                <a:latin typeface=" Arial"/>
              </a:rPr>
              <a:t>Project </a:t>
            </a:r>
            <a:r>
              <a:rPr lang="en-US" u="sng" dirty="0" smtClean="0">
                <a:solidFill>
                  <a:prstClr val="black"/>
                </a:solidFill>
                <a:latin typeface=" Arial"/>
              </a:rPr>
              <a:t>Summary:</a:t>
            </a:r>
            <a:r>
              <a:rPr lang="en-US" dirty="0" smtClean="0">
                <a:solidFill>
                  <a:prstClr val="black"/>
                </a:solidFill>
                <a:latin typeface=" Arial"/>
              </a:rPr>
              <a:t>  The </a:t>
            </a:r>
            <a:r>
              <a:rPr lang="en-US" dirty="0">
                <a:solidFill>
                  <a:prstClr val="black"/>
                </a:solidFill>
                <a:latin typeface=" Arial"/>
              </a:rPr>
              <a:t>ARAD is a Radio Frequency Identification (RFID) device that consists of microelectronics on a specialized flex circuit board with a stainless steel backer plate to provide stiffness for assembly of the </a:t>
            </a:r>
            <a:r>
              <a:rPr lang="en-US" dirty="0" smtClean="0">
                <a:solidFill>
                  <a:prstClr val="black"/>
                </a:solidFill>
                <a:latin typeface=" Arial"/>
              </a:rPr>
              <a:t>Commercial Off the Shelf (COTS) </a:t>
            </a:r>
            <a:r>
              <a:rPr lang="en-US" dirty="0">
                <a:solidFill>
                  <a:prstClr val="black"/>
                </a:solidFill>
                <a:latin typeface=" Arial"/>
              </a:rPr>
              <a:t>electrical components. </a:t>
            </a:r>
          </a:p>
          <a:p>
            <a:pPr>
              <a:defRPr/>
            </a:pPr>
            <a:endParaRPr lang="en-US" sz="1600" u="sng" dirty="0" smtClean="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sz="1600" dirty="0" smtClean="0">
                <a:solidFill>
                  <a:prstClr val="black"/>
                </a:solidFill>
                <a:latin typeface=" Arial"/>
              </a:rPr>
              <a:t>	</a:t>
            </a:r>
            <a:r>
              <a:rPr lang="en-US" dirty="0">
                <a:solidFill>
                  <a:prstClr val="black"/>
                </a:solidFill>
                <a:latin typeface=" Arial"/>
              </a:rPr>
              <a:t>Contract Number:  W91CRB-13-D-0002</a:t>
            </a:r>
          </a:p>
          <a:p>
            <a:pPr>
              <a:defRPr/>
            </a:pPr>
            <a:r>
              <a:rPr lang="en-US" dirty="0">
                <a:solidFill>
                  <a:prstClr val="black"/>
                </a:solidFill>
                <a:latin typeface=" Arial"/>
              </a:rPr>
              <a:t>	Incumbent Contractor:  Benchmark Electronics, Inc.</a:t>
            </a:r>
          </a:p>
          <a:p>
            <a:pPr>
              <a:defRPr/>
            </a:pPr>
            <a:endParaRPr lang="en-US" dirty="0">
              <a:solidFill>
                <a:prstClr val="black"/>
              </a:solidFill>
              <a:latin typeface=" Arial"/>
            </a:endParaRPr>
          </a:p>
          <a:p>
            <a:pPr>
              <a:defRPr/>
            </a:pPr>
            <a:r>
              <a:rPr lang="en-US" sz="1600" dirty="0" smtClean="0">
                <a:solidFill>
                  <a:prstClr val="black"/>
                </a:solidFill>
                <a:latin typeface=" Arial"/>
              </a:rPr>
              <a:t>Note:  </a:t>
            </a:r>
            <a:r>
              <a:rPr lang="en-US" dirty="0">
                <a:solidFill>
                  <a:prstClr val="black"/>
                </a:solidFill>
                <a:latin typeface=" Arial"/>
              </a:rPr>
              <a:t>Small Business Set Aside</a:t>
            </a:r>
          </a:p>
          <a:p>
            <a:pPr>
              <a:defRPr/>
            </a:pPr>
            <a:endParaRPr lang="en-US" sz="1600"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Estimated Value</a:t>
            </a:r>
            <a:r>
              <a:rPr lang="en-US" dirty="0" smtClean="0">
                <a:solidFill>
                  <a:prstClr val="black"/>
                </a:solidFill>
                <a:latin typeface=" Arial"/>
              </a:rPr>
              <a:t>:  $11M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1QFY19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Samantha Shultz, KO, samantha.l.shultz2.civ@mail.mil</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40510474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16</a:t>
            </a:fld>
            <a:endParaRPr lang="en-US" sz="1000" dirty="0">
              <a:solidFill>
                <a:prstClr val="white"/>
              </a:solidFill>
            </a:endParaRPr>
          </a:p>
        </p:txBody>
      </p:sp>
      <p:sp>
        <p:nvSpPr>
          <p:cNvPr id="8" name="TextBox 8"/>
          <p:cNvSpPr txBox="1">
            <a:spLocks noChangeArrowheads="1"/>
          </p:cNvSpPr>
          <p:nvPr/>
        </p:nvSpPr>
        <p:spPr bwMode="auto">
          <a:xfrm>
            <a:off x="0" y="1066800"/>
            <a:ext cx="9144000" cy="5078313"/>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en-US" sz="1600" dirty="0" smtClean="0">
                <a:solidFill>
                  <a:prstClr val="black"/>
                </a:solidFill>
                <a:latin typeface=" Arial"/>
              </a:rPr>
              <a:t>Soldier Borne Sensors (SBS)</a:t>
            </a:r>
          </a:p>
          <a:p>
            <a:pPr>
              <a:defRPr/>
            </a:pPr>
            <a:r>
              <a:rPr lang="en-US" u="sng" dirty="0">
                <a:solidFill>
                  <a:prstClr val="black"/>
                </a:solidFill>
                <a:latin typeface=" Arial"/>
              </a:rPr>
              <a:t>Project Summary: </a:t>
            </a:r>
            <a:r>
              <a:rPr lang="en-US" sz="1600" dirty="0">
                <a:solidFill>
                  <a:prstClr val="black"/>
                </a:solidFill>
                <a:latin typeface=" Arial"/>
              </a:rPr>
              <a:t>The </a:t>
            </a:r>
            <a:r>
              <a:rPr lang="en-US" sz="1600" dirty="0" smtClean="0">
                <a:solidFill>
                  <a:prstClr val="black"/>
                </a:solidFill>
                <a:latin typeface=" Arial"/>
              </a:rPr>
              <a:t>SBS provides </a:t>
            </a:r>
            <a:r>
              <a:rPr lang="en-US" sz="1600" dirty="0">
                <a:solidFill>
                  <a:prstClr val="black"/>
                </a:solidFill>
                <a:latin typeface=" Arial"/>
              </a:rPr>
              <a:t>a near term solution to three Army Warfighting Challenges (AWFCs) primarily to enhance the lethality and force protection. The initial increment of the SBS provides a near term solution to address the AWFCs with mobile sensors that provide the Squad with an organic, “quick look” capability to scan larger operational areas without the delay of coordinating for non-organic assets.  </a:t>
            </a:r>
            <a:endParaRPr lang="en-US" sz="1600" dirty="0" smtClean="0">
              <a:solidFill>
                <a:prstClr val="black"/>
              </a:solidFill>
              <a:latin typeface=" Arial"/>
            </a:endParaRPr>
          </a:p>
          <a:p>
            <a:pPr>
              <a:defRPr/>
            </a:pPr>
            <a:endParaRPr lang="en-US" sz="1600" u="sng" dirty="0" smtClean="0">
              <a:solidFill>
                <a:prstClr val="black"/>
              </a:solidFill>
              <a:latin typeface=" Arial"/>
            </a:endParaRPr>
          </a:p>
          <a:p>
            <a:pPr>
              <a:defRPr/>
            </a:pPr>
            <a:r>
              <a:rPr lang="en-US" u="sng" dirty="0">
                <a:solidFill>
                  <a:prstClr val="black"/>
                </a:solidFill>
                <a:latin typeface=" Arial"/>
              </a:rPr>
              <a:t>Prior/Current Contract Information:</a:t>
            </a:r>
          </a:p>
          <a:p>
            <a:pPr>
              <a:defRPr/>
            </a:pPr>
            <a:r>
              <a:rPr lang="en-US" sz="1600" dirty="0" smtClean="0">
                <a:solidFill>
                  <a:prstClr val="black"/>
                </a:solidFill>
                <a:latin typeface=" Arial"/>
              </a:rPr>
              <a:t>	Contract Number:  none</a:t>
            </a:r>
          </a:p>
          <a:p>
            <a:pPr>
              <a:defRPr/>
            </a:pPr>
            <a:r>
              <a:rPr lang="en-US" sz="1600" dirty="0" smtClean="0">
                <a:solidFill>
                  <a:prstClr val="black"/>
                </a:solidFill>
                <a:latin typeface=" Arial"/>
              </a:rPr>
              <a:t>	Incumbent Contractor: none</a:t>
            </a:r>
          </a:p>
          <a:p>
            <a:pPr>
              <a:defRPr/>
            </a:pPr>
            <a:endParaRPr lang="en-US" sz="1600"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a:t>
            </a:r>
            <a:r>
              <a:rPr lang="en-US" sz="1600" dirty="0" smtClean="0">
                <a:solidFill>
                  <a:prstClr val="black"/>
                </a:solidFill>
                <a:latin typeface=" Arial"/>
              </a:rPr>
              <a:t>Delivery </a:t>
            </a:r>
            <a:r>
              <a:rPr lang="en-US" sz="1600" dirty="0" smtClean="0">
                <a:solidFill>
                  <a:prstClr val="black"/>
                </a:solidFill>
                <a:latin typeface=" Arial"/>
              </a:rPr>
              <a:t>orders will be FFP </a:t>
            </a:r>
          </a:p>
          <a:p>
            <a:pPr>
              <a:defRPr/>
            </a:pPr>
            <a:r>
              <a:rPr lang="en-US" u="sng" dirty="0">
                <a:solidFill>
                  <a:prstClr val="black"/>
                </a:solidFill>
                <a:latin typeface=" Arial"/>
              </a:rPr>
              <a:t>Estimated Value</a:t>
            </a:r>
            <a:r>
              <a:rPr lang="en-US" dirty="0" smtClean="0">
                <a:solidFill>
                  <a:prstClr val="black"/>
                </a:solidFill>
                <a:latin typeface=" Arial"/>
              </a:rPr>
              <a:t>:  </a:t>
            </a:r>
            <a:r>
              <a:rPr lang="en-US" sz="1600" dirty="0" smtClean="0">
                <a:solidFill>
                  <a:prstClr val="black"/>
                </a:solidFill>
                <a:latin typeface=" Arial"/>
              </a:rPr>
              <a:t>$</a:t>
            </a:r>
            <a:r>
              <a:rPr lang="en-US" sz="1600" dirty="0" smtClean="0">
                <a:solidFill>
                  <a:prstClr val="black"/>
                </a:solidFill>
                <a:latin typeface=" Arial"/>
              </a:rPr>
              <a:t>145M</a:t>
            </a:r>
          </a:p>
          <a:p>
            <a:pPr>
              <a:defRPr/>
            </a:pPr>
            <a:r>
              <a:rPr lang="en-US" u="sng" dirty="0">
                <a:solidFill>
                  <a:prstClr val="black"/>
                </a:solidFill>
                <a:latin typeface=" Arial"/>
              </a:rPr>
              <a:t>Period of </a:t>
            </a:r>
            <a:r>
              <a:rPr lang="en-US" u="sng" dirty="0" smtClean="0">
                <a:solidFill>
                  <a:prstClr val="black"/>
                </a:solidFill>
                <a:latin typeface=" Arial"/>
              </a:rPr>
              <a:t>Performance</a:t>
            </a:r>
            <a:r>
              <a:rPr lang="en-US" dirty="0" smtClean="0">
                <a:solidFill>
                  <a:prstClr val="black"/>
                </a:solidFill>
                <a:latin typeface=" Arial"/>
              </a:rPr>
              <a:t>:  </a:t>
            </a:r>
            <a:r>
              <a:rPr lang="en-US" sz="1600" dirty="0" smtClean="0">
                <a:solidFill>
                  <a:prstClr val="black"/>
                </a:solidFill>
                <a:latin typeface=" Arial"/>
              </a:rPr>
              <a:t>5 </a:t>
            </a:r>
            <a:r>
              <a:rPr lang="en-US" sz="1600" dirty="0" smtClean="0">
                <a:solidFill>
                  <a:prstClr val="black"/>
                </a:solidFill>
                <a:latin typeface=" Arial"/>
              </a:rPr>
              <a:t>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a:t>
            </a:r>
            <a:r>
              <a:rPr lang="en-US" sz="1600" dirty="0" smtClean="0">
                <a:solidFill>
                  <a:prstClr val="black"/>
                </a:solidFill>
                <a:latin typeface=" Arial"/>
              </a:rPr>
              <a:t>2QFY19</a:t>
            </a:r>
            <a:endParaRPr lang="en-US" sz="1600" dirty="0" smtClean="0">
              <a:solidFill>
                <a:prstClr val="black"/>
              </a:solidFill>
              <a:latin typeface=" Arial"/>
            </a:endParaRPr>
          </a:p>
          <a:p>
            <a:pPr>
              <a:defRPr/>
            </a:pPr>
            <a:r>
              <a:rPr lang="en-US" u="sng" dirty="0">
                <a:solidFill>
                  <a:prstClr val="black"/>
                </a:solidFill>
                <a:latin typeface=" Arial"/>
              </a:rPr>
              <a:t>Contracting </a:t>
            </a:r>
            <a:r>
              <a:rPr lang="en-US" u="sng" dirty="0" smtClean="0">
                <a:solidFill>
                  <a:prstClr val="black"/>
                </a:solidFill>
                <a:latin typeface=" Arial"/>
              </a:rPr>
              <a:t>Contact</a:t>
            </a:r>
            <a:r>
              <a:rPr lang="en-US" dirty="0" smtClean="0">
                <a:solidFill>
                  <a:prstClr val="black"/>
                </a:solidFill>
                <a:latin typeface=" Arial"/>
              </a:rPr>
              <a:t>:  </a:t>
            </a:r>
            <a:r>
              <a:rPr lang="en-US" sz="1600" dirty="0" smtClean="0">
                <a:solidFill>
                  <a:prstClr val="black"/>
                </a:solidFill>
                <a:latin typeface=" Arial"/>
              </a:rPr>
              <a:t>ACC-APG</a:t>
            </a:r>
            <a:r>
              <a:rPr lang="en-US" sz="1600" dirty="0" smtClean="0">
                <a:solidFill>
                  <a:prstClr val="black"/>
                </a:solidFill>
                <a:latin typeface=" Arial"/>
              </a:rPr>
              <a:t>, Samantha Shultz, KO, samantha.l.shultz2.civ@mail.mil</a:t>
            </a:r>
          </a:p>
          <a:p>
            <a:pPr>
              <a:defRPr/>
            </a:pP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952599315"/>
      </p:ext>
    </p:extLst>
  </p:cSld>
  <p:clrMapOvr>
    <a:masterClrMapping/>
  </p:clrMapOvr>
  <p:timing>
    <p:tnLst>
      <p:par>
        <p:cTn id="1" dur="indefinite" restart="never" nodeType="tmRoot"/>
      </p:par>
    </p:tnLst>
  </p:timing>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2C78E9BD999AC46B3EB03425BB53FA5" ma:contentTypeVersion="0" ma:contentTypeDescription="Create a new document." ma:contentTypeScope="" ma:versionID="f6fc9fef488fa45be0a390bd39793c3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3DBC3F-1BD6-457B-823D-FD749E2AD09E}">
  <ds:schemaRefs>
    <ds:schemaRef ds:uri="http://schemas.microsoft.com/sharepoint/v3/contenttype/forms"/>
  </ds:schemaRefs>
</ds:datastoreItem>
</file>

<file path=customXml/itemProps2.xml><?xml version="1.0" encoding="utf-8"?>
<ds:datastoreItem xmlns:ds="http://schemas.openxmlformats.org/officeDocument/2006/customXml" ds:itemID="{D1C3164B-E357-4C61-9748-6D3606BFACD6}">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www.w3.org/XML/1998/namespace"/>
  </ds:schemaRefs>
</ds:datastoreItem>
</file>

<file path=customXml/itemProps3.xml><?xml version="1.0" encoding="utf-8"?>
<ds:datastoreItem xmlns:ds="http://schemas.openxmlformats.org/officeDocument/2006/customXml" ds:itemID="{BFD0F2A9-63A1-4578-8ED3-5C6C752F0C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6061</TotalTime>
  <Words>1332</Words>
  <Application>Microsoft Office PowerPoint</Application>
  <PresentationFormat>On-screen Show (4:3)</PresentationFormat>
  <Paragraphs>259</Paragraphs>
  <Slides>16</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16</vt:i4>
      </vt:variant>
    </vt:vector>
  </HeadingPairs>
  <TitlesOfParts>
    <vt:vector size="28" baseType="lpstr">
      <vt:lpstr>MS PGothic</vt:lpstr>
      <vt:lpstr>MS PGothic</vt:lpstr>
      <vt:lpstr> Arial</vt:lpstr>
      <vt:lpstr>Arial</vt:lpstr>
      <vt:lpstr>Calibri</vt:lpstr>
      <vt:lpstr>Comic Sans MS</vt:lpstr>
      <vt:lpstr>Franklin Gothic Book</vt:lpstr>
      <vt:lpstr>Franklin Gothic Medium Cond</vt:lpstr>
      <vt:lpstr>4_Custom Design</vt:lpstr>
      <vt:lpstr>6_Custom Design</vt:lpstr>
      <vt:lpstr>5_Custom Design</vt:lpstr>
      <vt:lpstr>7_Custom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SRB Slides</dc:title>
  <dc:creator>Hessler, Kenneth CIV USA</dc:creator>
  <cp:lastModifiedBy>Wagenknecht, Gregory M Mr CIV USA AMC</cp:lastModifiedBy>
  <cp:revision>503</cp:revision>
  <cp:lastPrinted>2018-07-10T11:04:05Z</cp:lastPrinted>
  <dcterms:created xsi:type="dcterms:W3CDTF">2006-08-16T00:00:00Z</dcterms:created>
  <dcterms:modified xsi:type="dcterms:W3CDTF">2018-07-10T11:35:01Z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0x01010062C78E9BD999AC46B3EB03425BB53FA5</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