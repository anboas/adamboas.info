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33_8A1945F3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7" r:id="rId5"/>
  </p:sldMasterIdLst>
  <p:notesMasterIdLst>
    <p:notesMasterId r:id="rId11"/>
  </p:notesMasterIdLst>
  <p:sldIdLst>
    <p:sldId id="297" r:id="rId6"/>
    <p:sldId id="298" r:id="rId7"/>
    <p:sldId id="308" r:id="rId8"/>
    <p:sldId id="299" r:id="rId9"/>
    <p:sldId id="307" r:id="rId1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SC Section" id="{0DC7E152-7C79-4DE3-8317-7A181F6D3423}">
          <p14:sldIdLst>
            <p14:sldId id="297"/>
            <p14:sldId id="298"/>
            <p14:sldId id="308"/>
            <p14:sldId id="299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2CB90F-D0C2-CADC-E60F-C6E68CD13227}" name="McClinton, Antionette R CIV USARMY ACC (USA)" initials="AM" userId="S::antionette.r.mcclinton.civ@army.mil::787df0de-a7c8-452d-afb1-31bf5900a105" providerId="AD"/>
  <p188:author id="{9F6304FC-0221-500B-6636-86AF9C059B0A}" name="Brooks, Lanora I CIV USARMY ACC (USA)" initials="LB" userId="S::lanora.i.brooks.civ@army.mil::40022503-c869-4d42-a32e-e155575704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344"/>
    <a:srgbClr val="FEE543"/>
    <a:srgbClr val="7F7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30F04B-A44B-424B-B3EF-56502430E9E2}" v="2" dt="2026-04-28T13:09:05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omments/modernComment_133_8A1945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B479E6-AD55-49A5-B75B-06AA8CC62495}" authorId="{9F6304FC-0221-500B-6636-86AF9C059B0A}" created="2026-04-24T18:55:57.9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16912115" sldId="307"/>
      <ac:spMk id="5" creationId="{676C68D8-5B3B-3BA2-9099-EBBF0A6BAB96}"/>
    </ac:deMkLst>
    <p188:txBody>
      <a:bodyPr/>
      <a:lstStyle/>
      <a:p>
        <a:r>
          <a:rPr lang="en-US"/>
          <a:t>Update when determined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5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r">
              <a:defRPr sz="1200"/>
            </a:lvl1pPr>
          </a:lstStyle>
          <a:p>
            <a:fld id="{C1E4B8CC-50C6-460D-A937-1D42699A48E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5" tIns="46587" rIns="93175" bIns="4658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7"/>
          </a:xfrm>
          <a:prstGeom prst="rect">
            <a:avLst/>
          </a:prstGeom>
        </p:spPr>
        <p:txBody>
          <a:bodyPr vert="horz" lIns="93175" tIns="46587" rIns="93175" bIns="4658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4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r">
              <a:defRPr sz="1200"/>
            </a:lvl1pPr>
          </a:lstStyle>
          <a:p>
            <a:fld id="{13AFE1A4-0A45-453D-A823-FBDE329F2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8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FE1A4-0A45-453D-A823-FBDE329F22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1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FE1A4-0A45-453D-A823-FBDE329F22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63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FE1A4-0A45-453D-A823-FBDE329F22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2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garment&#10;&#10;Description automatically generated with low confidence">
            <a:extLst>
              <a:ext uri="{FF2B5EF4-FFF2-40B4-BE49-F238E27FC236}">
                <a16:creationId xmlns:a16="http://schemas.microsoft.com/office/drawing/2014/main" id="{395EDFB1-D2ED-4D83-B21A-0BAE3D54C7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7287" y="5777566"/>
            <a:ext cx="1902081" cy="108202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FB22C33-2FCB-4DF4-ECA4-DF82F6DBC9A2}"/>
              </a:ext>
            </a:extLst>
          </p:cNvPr>
          <p:cNvGrpSpPr/>
          <p:nvPr userDrawn="1"/>
        </p:nvGrpSpPr>
        <p:grpSpPr>
          <a:xfrm>
            <a:off x="0" y="-1588"/>
            <a:ext cx="2960017" cy="956014"/>
            <a:chOff x="0" y="-1588"/>
            <a:chExt cx="2960017" cy="956014"/>
          </a:xfrm>
        </p:grpSpPr>
        <p:sp>
          <p:nvSpPr>
            <p:cNvPr id="4" name="Round Same Side Corner Rectangle 17">
              <a:extLst>
                <a:ext uri="{FF2B5EF4-FFF2-40B4-BE49-F238E27FC236}">
                  <a16:creationId xmlns:a16="http://schemas.microsoft.com/office/drawing/2014/main" id="{1A8304E3-00C8-794B-C20D-975626D0BD0D}"/>
                </a:ext>
              </a:extLst>
            </p:cNvPr>
            <p:cNvSpPr/>
            <p:nvPr userDrawn="1"/>
          </p:nvSpPr>
          <p:spPr>
            <a:xfrm>
              <a:off x="0" y="-1588"/>
              <a:ext cx="2960017" cy="956014"/>
            </a:xfrm>
            <a:prstGeom prst="round2SameRect">
              <a:avLst>
                <a:gd name="adj1" fmla="val 0"/>
                <a:gd name="adj2" fmla="val 7443"/>
              </a:avLst>
            </a:pr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68000">
                  <a:schemeClr val="tx1">
                    <a:lumMod val="95000"/>
                    <a:lumOff val="5000"/>
                  </a:schemeClr>
                </a:gs>
                <a:gs pos="34000">
                  <a:schemeClr val="tx1">
                    <a:lumMod val="85000"/>
                    <a:lumOff val="1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Logo&#10;&#10;Description automatically generated">
              <a:extLst>
                <a:ext uri="{FF2B5EF4-FFF2-40B4-BE49-F238E27FC236}">
                  <a16:creationId xmlns:a16="http://schemas.microsoft.com/office/drawing/2014/main" id="{B63F594A-F63F-B80D-D7BB-5E76D992F8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3492" y="138149"/>
              <a:ext cx="2309567" cy="544714"/>
            </a:xfrm>
            <a:prstGeom prst="rect">
              <a:avLst/>
            </a:prstGeom>
          </p:spPr>
        </p:pic>
      </p:grpSp>
      <p:pic>
        <p:nvPicPr>
          <p:cNvPr id="8" name="Picture 7" descr="A picture containing grass, military uniform, person, outdoor&#10;&#10;Description automatically generated">
            <a:extLst>
              <a:ext uri="{FF2B5EF4-FFF2-40B4-BE49-F238E27FC236}">
                <a16:creationId xmlns:a16="http://schemas.microsoft.com/office/drawing/2014/main" id="{6E6DDAC8-EB0D-1276-6424-28D3974602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A46AB8-5DEE-D9C6-D357-EBC285317F6F}"/>
              </a:ext>
            </a:extLst>
          </p:cNvPr>
          <p:cNvSpPr txBox="1"/>
          <p:nvPr userDrawn="1"/>
        </p:nvSpPr>
        <p:spPr>
          <a:xfrm>
            <a:off x="4100556" y="0"/>
            <a:ext cx="942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 Arial" panose="02020603050405020304"/>
              </a:rPr>
              <a:t>UNCLASSIFIED</a:t>
            </a:r>
            <a:endParaRPr lang="en-US" sz="1000" b="1">
              <a:solidFill>
                <a:schemeClr val="bg1"/>
              </a:solidFill>
              <a:latin typeface=" Arial" panose="020206030504050203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84E39-4F0D-D93E-F6DE-82CBF1F49F98}"/>
              </a:ext>
            </a:extLst>
          </p:cNvPr>
          <p:cNvSpPr txBox="1"/>
          <p:nvPr userDrawn="1"/>
        </p:nvSpPr>
        <p:spPr>
          <a:xfrm>
            <a:off x="3946" y="6652347"/>
            <a:ext cx="942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 Arial" panose="02020603050405020304"/>
              </a:rPr>
              <a:t>UNCLASSIFIED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D59E6E9-EBF6-EC74-A13C-AB1DB684EDCC}"/>
              </a:ext>
            </a:extLst>
          </p:cNvPr>
          <p:cNvSpPr txBox="1">
            <a:spLocks/>
          </p:cNvSpPr>
          <p:nvPr userDrawn="1"/>
        </p:nvSpPr>
        <p:spPr>
          <a:xfrm>
            <a:off x="3240481" y="2364026"/>
            <a:ext cx="4572001" cy="4985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7F7F7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.I. 750" pitchFamily="2" charset="0"/>
                <a:ea typeface="+mj-ea"/>
                <a:cs typeface="Arial" panose="020B0604020202020204" pitchFamily="34" charset="0"/>
              </a:rPr>
              <a:t>ARMY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.I. 750" pitchFamily="2" charset="0"/>
                <a:ea typeface="+mj-ea"/>
                <a:cs typeface="Arial" panose="020B0604020202020204" pitchFamily="34" charset="0"/>
              </a:rPr>
              <a:t>CONTRACTING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.I. 750" pitchFamily="2" charset="0"/>
                <a:ea typeface="+mj-ea"/>
                <a:cs typeface="Arial" panose="020B0604020202020204" pitchFamily="34" charset="0"/>
              </a:rPr>
              <a:t>COMMAND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.I. 750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FB22B86B-6FA9-72FD-A0C9-43DA436FC6D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1305" y="2487193"/>
            <a:ext cx="1784418" cy="1784418"/>
          </a:xfrm>
          <a:prstGeom prst="rect">
            <a:avLst/>
          </a:prstGeom>
        </p:spPr>
      </p:pic>
      <p:pic>
        <p:nvPicPr>
          <p:cNvPr id="21" name="Picture 20" descr="Logo&#10;&#10;Description automatically generated">
            <a:extLst>
              <a:ext uri="{FF2B5EF4-FFF2-40B4-BE49-F238E27FC236}">
                <a16:creationId xmlns:a16="http://schemas.microsoft.com/office/drawing/2014/main" id="{47A333FA-001C-D288-E881-622A8F1EA7D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68" t="8755" r="28262" b="7436"/>
          <a:stretch/>
        </p:blipFill>
        <p:spPr>
          <a:xfrm>
            <a:off x="7469631" y="5169501"/>
            <a:ext cx="1226694" cy="155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7671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and Bum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7252" y="6193640"/>
            <a:ext cx="7352812" cy="369332"/>
          </a:xfrm>
        </p:spPr>
        <p:txBody>
          <a:bodyPr vert="horz" wrap="square" lIns="182880" tIns="45720" rIns="91440" bIns="45720" rtlCol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2000" b="1" i="1" smtClean="0">
                <a:solidFill>
                  <a:schemeClr val="tx1"/>
                </a:solidFill>
                <a:ea typeface="+mj-ea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>
              <a:spcBef>
                <a:spcPct val="0"/>
              </a:spcBef>
            </a:pPr>
            <a:r>
              <a:rPr lang="en-US"/>
              <a:t>Click to add bumper</a:t>
            </a:r>
          </a:p>
        </p:txBody>
      </p:sp>
      <p:sp>
        <p:nvSpPr>
          <p:cNvPr id="32" name="Title Placeholder 1"/>
          <p:cNvSpPr>
            <a:spLocks noGrp="1"/>
          </p:cNvSpPr>
          <p:nvPr>
            <p:ph type="title" hasCustomPrompt="1"/>
          </p:nvPr>
        </p:nvSpPr>
        <p:spPr bwMode="gray">
          <a:xfrm>
            <a:off x="836761" y="119443"/>
            <a:ext cx="7955280" cy="480131"/>
          </a:xfrm>
          <a:prstGeom prst="rect">
            <a:avLst/>
          </a:prstGeom>
        </p:spPr>
        <p:txBody>
          <a:bodyPr vert="horz" lIns="182880" tIns="45720" rIns="91440" bIns="45720" rtlCol="0" anchor="t" anchorCtr="0">
            <a:spAutoFit/>
          </a:bodyPr>
          <a:lstStyle>
            <a:lvl1pPr marL="0">
              <a:defRPr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Slide Title — Arial 28 Bold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/>
          </p:nvPr>
        </p:nvSpPr>
        <p:spPr>
          <a:xfrm>
            <a:off x="836761" y="683879"/>
            <a:ext cx="7955280" cy="91440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5118100" y="6742889"/>
            <a:ext cx="2537995" cy="96950"/>
          </a:xfrm>
        </p:spPr>
        <p:txBody>
          <a:bodyPr wrap="square" lIns="0" tIns="0" rIns="18288" bIns="0" anchor="ctr" anchorCtr="0">
            <a:spAutoFit/>
          </a:bodyPr>
          <a:lstStyle>
            <a:lvl1pPr marL="0" indent="0" algn="r">
              <a:buFontTx/>
              <a:buNone/>
              <a:defRPr sz="700" b="0"/>
            </a:lvl1pPr>
            <a:lvl2pPr marL="457200" indent="0" algn="r">
              <a:buFontTx/>
              <a:buNone/>
              <a:defRPr sz="700" b="0"/>
            </a:lvl2pPr>
            <a:lvl3pPr marL="914400" indent="0" algn="r">
              <a:buFontTx/>
              <a:buNone/>
              <a:defRPr sz="700" b="0"/>
            </a:lvl3pPr>
            <a:lvl4pPr marL="1371600" indent="0" algn="r">
              <a:buFontTx/>
              <a:buNone/>
              <a:defRPr sz="700" b="0"/>
            </a:lvl4pPr>
            <a:lvl5pPr marL="1828800" indent="0" algn="r">
              <a:buFontTx/>
              <a:buNone/>
              <a:defRPr sz="700" b="0"/>
            </a:lvl5pPr>
          </a:lstStyle>
          <a:p>
            <a:pPr lvl="0"/>
            <a:r>
              <a:rPr lang="en-US"/>
              <a:t>POC Name/Phone Number – if necessary— Arial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BBA758-2788-4F41-5D2B-D6154C411944}"/>
              </a:ext>
            </a:extLst>
          </p:cNvPr>
          <p:cNvSpPr/>
          <p:nvPr userDrawn="1"/>
        </p:nvSpPr>
        <p:spPr>
          <a:xfrm>
            <a:off x="1" y="-1"/>
            <a:ext cx="9144000" cy="685800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343889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C3F5D-9F0A-4D26-898B-10DC4C85EEE6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DFBCCA-E26C-0102-02BB-05C0461D61D4}"/>
              </a:ext>
            </a:extLst>
          </p:cNvPr>
          <p:cNvSpPr/>
          <p:nvPr userDrawn="1"/>
        </p:nvSpPr>
        <p:spPr>
          <a:xfrm>
            <a:off x="1" y="-1"/>
            <a:ext cx="9144000" cy="685800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30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36760" y="198955"/>
            <a:ext cx="8232971" cy="480131"/>
          </a:xfrm>
          <a:prstGeom prst="rect">
            <a:avLst/>
          </a:prstGeom>
        </p:spPr>
        <p:txBody>
          <a:bodyPr vert="horz" wrap="square" lIns="182880" tIns="45720" rIns="91440" bIns="45720" rtlCol="0" anchor="t" anchorCtr="0">
            <a:spAutoFit/>
          </a:bodyPr>
          <a:lstStyle/>
          <a:p>
            <a:pPr marL="0" lvl="0"/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Click to edit Master title style – Arial 28pt Bold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761" y="711257"/>
            <a:ext cx="77724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lvl="4"/>
            <a:endParaRPr lang="en-US"/>
          </a:p>
        </p:txBody>
      </p:sp>
      <p:grpSp>
        <p:nvGrpSpPr>
          <p:cNvPr id="54" name="AMC insignia"/>
          <p:cNvGrpSpPr>
            <a:grpSpLocks noChangeAspect="1"/>
          </p:cNvGrpSpPr>
          <p:nvPr userDrawn="1"/>
        </p:nvGrpSpPr>
        <p:grpSpPr bwMode="auto">
          <a:xfrm>
            <a:off x="7585805" y="6191008"/>
            <a:ext cx="476037" cy="559270"/>
            <a:chOff x="4592" y="1364"/>
            <a:chExt cx="1161" cy="1364"/>
          </a:xfrm>
        </p:grpSpPr>
        <p:sp>
          <p:nvSpPr>
            <p:cNvPr id="55" name="Crest Freeform"/>
            <p:cNvSpPr>
              <a:spLocks/>
            </p:cNvSpPr>
            <p:nvPr userDrawn="1"/>
          </p:nvSpPr>
          <p:spPr bwMode="auto">
            <a:xfrm>
              <a:off x="4605" y="1378"/>
              <a:ext cx="1135" cy="1335"/>
            </a:xfrm>
            <a:custGeom>
              <a:avLst/>
              <a:gdLst>
                <a:gd name="T0" fmla="*/ 1477 w 2954"/>
                <a:gd name="T1" fmla="*/ 0 h 3479"/>
                <a:gd name="T2" fmla="*/ 2954 w 2954"/>
                <a:gd name="T3" fmla="*/ 356 h 3479"/>
                <a:gd name="T4" fmla="*/ 2954 w 2954"/>
                <a:gd name="T5" fmla="*/ 1377 h 3479"/>
                <a:gd name="T6" fmla="*/ 1477 w 2954"/>
                <a:gd name="T7" fmla="*/ 3479 h 3479"/>
                <a:gd name="T8" fmla="*/ 0 w 2954"/>
                <a:gd name="T9" fmla="*/ 1377 h 3479"/>
                <a:gd name="T10" fmla="*/ 0 w 2954"/>
                <a:gd name="T11" fmla="*/ 356 h 3479"/>
                <a:gd name="T12" fmla="*/ 1477 w 2954"/>
                <a:gd name="T13" fmla="*/ 0 h 3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54" h="3479">
                  <a:moveTo>
                    <a:pt x="1477" y="0"/>
                  </a:moveTo>
                  <a:cubicBezTo>
                    <a:pt x="2003" y="0"/>
                    <a:pt x="2609" y="127"/>
                    <a:pt x="2954" y="356"/>
                  </a:cubicBezTo>
                  <a:cubicBezTo>
                    <a:pt x="2954" y="1377"/>
                    <a:pt x="2954" y="1377"/>
                    <a:pt x="2954" y="1377"/>
                  </a:cubicBezTo>
                  <a:cubicBezTo>
                    <a:pt x="2954" y="2275"/>
                    <a:pt x="2402" y="3111"/>
                    <a:pt x="1477" y="3479"/>
                  </a:cubicBezTo>
                  <a:cubicBezTo>
                    <a:pt x="552" y="3111"/>
                    <a:pt x="0" y="2275"/>
                    <a:pt x="0" y="1377"/>
                  </a:cubicBezTo>
                  <a:cubicBezTo>
                    <a:pt x="0" y="356"/>
                    <a:pt x="0" y="356"/>
                    <a:pt x="0" y="356"/>
                  </a:cubicBezTo>
                  <a:cubicBezTo>
                    <a:pt x="345" y="127"/>
                    <a:pt x="951" y="0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Black Frame Freeform"/>
            <p:cNvSpPr>
              <a:spLocks noEditPoints="1"/>
            </p:cNvSpPr>
            <p:nvPr userDrawn="1"/>
          </p:nvSpPr>
          <p:spPr bwMode="auto">
            <a:xfrm>
              <a:off x="4592" y="1364"/>
              <a:ext cx="1161" cy="1364"/>
            </a:xfrm>
            <a:custGeom>
              <a:avLst/>
              <a:gdLst>
                <a:gd name="T0" fmla="*/ 3010 w 3026"/>
                <a:gd name="T1" fmla="*/ 362 h 3554"/>
                <a:gd name="T2" fmla="*/ 2328 w 3026"/>
                <a:gd name="T3" fmla="*/ 93 h 3554"/>
                <a:gd name="T4" fmla="*/ 1513 w 3026"/>
                <a:gd name="T5" fmla="*/ 0 h 3554"/>
                <a:gd name="T6" fmla="*/ 698 w 3026"/>
                <a:gd name="T7" fmla="*/ 93 h 3554"/>
                <a:gd name="T8" fmla="*/ 16 w 3026"/>
                <a:gd name="T9" fmla="*/ 362 h 3554"/>
                <a:gd name="T10" fmla="*/ 0 w 3026"/>
                <a:gd name="T11" fmla="*/ 373 h 3554"/>
                <a:gd name="T12" fmla="*/ 0 w 3026"/>
                <a:gd name="T13" fmla="*/ 1413 h 3554"/>
                <a:gd name="T14" fmla="*/ 398 w 3026"/>
                <a:gd name="T15" fmla="*/ 2683 h 3554"/>
                <a:gd name="T16" fmla="*/ 1500 w 3026"/>
                <a:gd name="T17" fmla="*/ 3548 h 3554"/>
                <a:gd name="T18" fmla="*/ 1513 w 3026"/>
                <a:gd name="T19" fmla="*/ 3554 h 3554"/>
                <a:gd name="T20" fmla="*/ 1526 w 3026"/>
                <a:gd name="T21" fmla="*/ 3548 h 3554"/>
                <a:gd name="T22" fmla="*/ 2628 w 3026"/>
                <a:gd name="T23" fmla="*/ 2683 h 3554"/>
                <a:gd name="T24" fmla="*/ 3026 w 3026"/>
                <a:gd name="T25" fmla="*/ 1413 h 3554"/>
                <a:gd name="T26" fmla="*/ 3026 w 3026"/>
                <a:gd name="T27" fmla="*/ 373 h 3554"/>
                <a:gd name="T28" fmla="*/ 3010 w 3026"/>
                <a:gd name="T29" fmla="*/ 362 h 3554"/>
                <a:gd name="T30" fmla="*/ 2954 w 3026"/>
                <a:gd name="T31" fmla="*/ 1413 h 3554"/>
                <a:gd name="T32" fmla="*/ 1513 w 3026"/>
                <a:gd name="T33" fmla="*/ 3476 h 3554"/>
                <a:gd name="T34" fmla="*/ 72 w 3026"/>
                <a:gd name="T35" fmla="*/ 1413 h 3554"/>
                <a:gd name="T36" fmla="*/ 72 w 3026"/>
                <a:gd name="T37" fmla="*/ 412 h 3554"/>
                <a:gd name="T38" fmla="*/ 1513 w 3026"/>
                <a:gd name="T39" fmla="*/ 72 h 3554"/>
                <a:gd name="T40" fmla="*/ 2954 w 3026"/>
                <a:gd name="T41" fmla="*/ 412 h 3554"/>
                <a:gd name="T42" fmla="*/ 2954 w 3026"/>
                <a:gd name="T43" fmla="*/ 1413 h 3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26" h="3554">
                  <a:moveTo>
                    <a:pt x="3010" y="362"/>
                  </a:moveTo>
                  <a:cubicBezTo>
                    <a:pt x="2842" y="251"/>
                    <a:pt x="2606" y="158"/>
                    <a:pt x="2328" y="93"/>
                  </a:cubicBezTo>
                  <a:cubicBezTo>
                    <a:pt x="2069" y="33"/>
                    <a:pt x="1779" y="0"/>
                    <a:pt x="1513" y="0"/>
                  </a:cubicBezTo>
                  <a:cubicBezTo>
                    <a:pt x="1247" y="0"/>
                    <a:pt x="957" y="33"/>
                    <a:pt x="698" y="93"/>
                  </a:cubicBezTo>
                  <a:cubicBezTo>
                    <a:pt x="420" y="158"/>
                    <a:pt x="184" y="251"/>
                    <a:pt x="16" y="362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0" y="1413"/>
                    <a:pt x="0" y="1413"/>
                    <a:pt x="0" y="1413"/>
                  </a:cubicBezTo>
                  <a:cubicBezTo>
                    <a:pt x="0" y="1867"/>
                    <a:pt x="138" y="2306"/>
                    <a:pt x="398" y="2683"/>
                  </a:cubicBezTo>
                  <a:cubicBezTo>
                    <a:pt x="664" y="3068"/>
                    <a:pt x="1045" y="3368"/>
                    <a:pt x="1500" y="3548"/>
                  </a:cubicBezTo>
                  <a:cubicBezTo>
                    <a:pt x="1513" y="3554"/>
                    <a:pt x="1513" y="3554"/>
                    <a:pt x="1513" y="3554"/>
                  </a:cubicBezTo>
                  <a:cubicBezTo>
                    <a:pt x="1526" y="3548"/>
                    <a:pt x="1526" y="3548"/>
                    <a:pt x="1526" y="3548"/>
                  </a:cubicBezTo>
                  <a:cubicBezTo>
                    <a:pt x="1981" y="3368"/>
                    <a:pt x="2362" y="3068"/>
                    <a:pt x="2628" y="2683"/>
                  </a:cubicBezTo>
                  <a:cubicBezTo>
                    <a:pt x="2888" y="2306"/>
                    <a:pt x="3026" y="1867"/>
                    <a:pt x="3026" y="1413"/>
                  </a:cubicBezTo>
                  <a:cubicBezTo>
                    <a:pt x="3026" y="373"/>
                    <a:pt x="3026" y="373"/>
                    <a:pt x="3026" y="373"/>
                  </a:cubicBezTo>
                  <a:lnTo>
                    <a:pt x="3010" y="362"/>
                  </a:lnTo>
                  <a:close/>
                  <a:moveTo>
                    <a:pt x="2954" y="1413"/>
                  </a:moveTo>
                  <a:cubicBezTo>
                    <a:pt x="2954" y="2314"/>
                    <a:pt x="2389" y="3122"/>
                    <a:pt x="1513" y="3476"/>
                  </a:cubicBezTo>
                  <a:cubicBezTo>
                    <a:pt x="637" y="3122"/>
                    <a:pt x="72" y="2314"/>
                    <a:pt x="72" y="1413"/>
                  </a:cubicBezTo>
                  <a:cubicBezTo>
                    <a:pt x="72" y="412"/>
                    <a:pt x="72" y="412"/>
                    <a:pt x="72" y="412"/>
                  </a:cubicBezTo>
                  <a:cubicBezTo>
                    <a:pt x="391" y="208"/>
                    <a:pt x="966" y="72"/>
                    <a:pt x="1513" y="72"/>
                  </a:cubicBezTo>
                  <a:cubicBezTo>
                    <a:pt x="2060" y="72"/>
                    <a:pt x="2635" y="208"/>
                    <a:pt x="2954" y="412"/>
                  </a:cubicBezTo>
                  <a:lnTo>
                    <a:pt x="2954" y="14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Blue Freeform"/>
            <p:cNvSpPr>
              <a:spLocks/>
            </p:cNvSpPr>
            <p:nvPr userDrawn="1"/>
          </p:nvSpPr>
          <p:spPr bwMode="auto">
            <a:xfrm>
              <a:off x="5172" y="1540"/>
              <a:ext cx="511" cy="1116"/>
            </a:xfrm>
            <a:custGeom>
              <a:avLst/>
              <a:gdLst>
                <a:gd name="T0" fmla="*/ 1329 w 1329"/>
                <a:gd name="T1" fmla="*/ 40 h 2908"/>
                <a:gd name="T2" fmla="*/ 302 w 1329"/>
                <a:gd name="T3" fmla="*/ 1068 h 2908"/>
                <a:gd name="T4" fmla="*/ 544 w 1329"/>
                <a:gd name="T5" fmla="*/ 1370 h 2908"/>
                <a:gd name="T6" fmla="*/ 0 w 1329"/>
                <a:gd name="T7" fmla="*/ 1991 h 2908"/>
                <a:gd name="T8" fmla="*/ 0 w 1329"/>
                <a:gd name="T9" fmla="*/ 2908 h 2908"/>
                <a:gd name="T10" fmla="*/ 1329 w 1329"/>
                <a:gd name="T11" fmla="*/ 930 h 2908"/>
                <a:gd name="T12" fmla="*/ 1329 w 1329"/>
                <a:gd name="T13" fmla="*/ 40 h 2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9" h="2908">
                  <a:moveTo>
                    <a:pt x="1329" y="40"/>
                  </a:moveTo>
                  <a:cubicBezTo>
                    <a:pt x="302" y="1068"/>
                    <a:pt x="302" y="1068"/>
                    <a:pt x="302" y="1068"/>
                  </a:cubicBezTo>
                  <a:cubicBezTo>
                    <a:pt x="544" y="1370"/>
                    <a:pt x="544" y="1370"/>
                    <a:pt x="544" y="1370"/>
                  </a:cubicBezTo>
                  <a:cubicBezTo>
                    <a:pt x="0" y="1991"/>
                    <a:pt x="0" y="1991"/>
                    <a:pt x="0" y="1991"/>
                  </a:cubicBezTo>
                  <a:cubicBezTo>
                    <a:pt x="0" y="2908"/>
                    <a:pt x="0" y="2908"/>
                    <a:pt x="0" y="2908"/>
                  </a:cubicBezTo>
                  <a:cubicBezTo>
                    <a:pt x="540" y="2665"/>
                    <a:pt x="1329" y="2054"/>
                    <a:pt x="1329" y="930"/>
                  </a:cubicBezTo>
                  <a:cubicBezTo>
                    <a:pt x="1329" y="0"/>
                    <a:pt x="1329" y="41"/>
                    <a:pt x="1329" y="40"/>
                  </a:cubicBezTo>
                  <a:close/>
                </a:path>
              </a:pathLst>
            </a:custGeom>
            <a:solidFill>
              <a:srgbClr val="005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Red Freeform"/>
            <p:cNvSpPr>
              <a:spLocks/>
            </p:cNvSpPr>
            <p:nvPr userDrawn="1"/>
          </p:nvSpPr>
          <p:spPr bwMode="auto">
            <a:xfrm>
              <a:off x="4662" y="1540"/>
              <a:ext cx="510" cy="1116"/>
            </a:xfrm>
            <a:custGeom>
              <a:avLst/>
              <a:gdLst>
                <a:gd name="T0" fmla="*/ 0 w 1329"/>
                <a:gd name="T1" fmla="*/ 40 h 2908"/>
                <a:gd name="T2" fmla="*/ 1027 w 1329"/>
                <a:gd name="T3" fmla="*/ 1068 h 2908"/>
                <a:gd name="T4" fmla="*/ 785 w 1329"/>
                <a:gd name="T5" fmla="*/ 1370 h 2908"/>
                <a:gd name="T6" fmla="*/ 1329 w 1329"/>
                <a:gd name="T7" fmla="*/ 1991 h 2908"/>
                <a:gd name="T8" fmla="*/ 1329 w 1329"/>
                <a:gd name="T9" fmla="*/ 2908 h 2908"/>
                <a:gd name="T10" fmla="*/ 0 w 1329"/>
                <a:gd name="T11" fmla="*/ 930 h 2908"/>
                <a:gd name="T12" fmla="*/ 0 w 1329"/>
                <a:gd name="T13" fmla="*/ 40 h 2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9" h="2908">
                  <a:moveTo>
                    <a:pt x="0" y="40"/>
                  </a:moveTo>
                  <a:cubicBezTo>
                    <a:pt x="1027" y="1068"/>
                    <a:pt x="1027" y="1068"/>
                    <a:pt x="1027" y="1068"/>
                  </a:cubicBezTo>
                  <a:cubicBezTo>
                    <a:pt x="785" y="1370"/>
                    <a:pt x="785" y="1370"/>
                    <a:pt x="785" y="1370"/>
                  </a:cubicBezTo>
                  <a:cubicBezTo>
                    <a:pt x="1329" y="1991"/>
                    <a:pt x="1329" y="1991"/>
                    <a:pt x="1329" y="1991"/>
                  </a:cubicBezTo>
                  <a:cubicBezTo>
                    <a:pt x="1329" y="2908"/>
                    <a:pt x="1329" y="2908"/>
                    <a:pt x="1329" y="2908"/>
                  </a:cubicBezTo>
                  <a:cubicBezTo>
                    <a:pt x="789" y="2665"/>
                    <a:pt x="0" y="2054"/>
                    <a:pt x="0" y="930"/>
                  </a:cubicBezTo>
                  <a:cubicBezTo>
                    <a:pt x="0" y="0"/>
                    <a:pt x="0" y="41"/>
                    <a:pt x="0" y="40"/>
                  </a:cubicBezTo>
                  <a:close/>
                </a:path>
              </a:pathLst>
            </a:custGeom>
            <a:solidFill>
              <a:srgbClr val="C320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59" name="Picture 58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5540" y="6167518"/>
            <a:ext cx="586849" cy="610377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5739" y="6191008"/>
            <a:ext cx="436821" cy="55115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0BA46C6-D097-8529-4F71-364A8D1C4983}"/>
              </a:ext>
            </a:extLst>
          </p:cNvPr>
          <p:cNvGrpSpPr/>
          <p:nvPr userDrawn="1"/>
        </p:nvGrpSpPr>
        <p:grpSpPr>
          <a:xfrm>
            <a:off x="1" y="0"/>
            <a:ext cx="801278" cy="886120"/>
            <a:chOff x="1" y="0"/>
            <a:chExt cx="801278" cy="886120"/>
          </a:xfrm>
        </p:grpSpPr>
        <p:sp>
          <p:nvSpPr>
            <p:cNvPr id="5" name="Round Same Side Corner Rectangle 17">
              <a:extLst>
                <a:ext uri="{FF2B5EF4-FFF2-40B4-BE49-F238E27FC236}">
                  <a16:creationId xmlns:a16="http://schemas.microsoft.com/office/drawing/2014/main" id="{6469C144-7F85-EDCC-F0FB-3283B4A8E814}"/>
                </a:ext>
              </a:extLst>
            </p:cNvPr>
            <p:cNvSpPr/>
            <p:nvPr userDrawn="1"/>
          </p:nvSpPr>
          <p:spPr>
            <a:xfrm>
              <a:off x="1" y="0"/>
              <a:ext cx="801278" cy="886120"/>
            </a:xfrm>
            <a:prstGeom prst="round2SameRect">
              <a:avLst>
                <a:gd name="adj1" fmla="val 0"/>
                <a:gd name="adj2" fmla="val 7443"/>
              </a:avLst>
            </a:pr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68000">
                  <a:schemeClr val="tx1">
                    <a:lumMod val="95000"/>
                    <a:lumOff val="5000"/>
                  </a:schemeClr>
                </a:gs>
                <a:gs pos="34000">
                  <a:schemeClr val="tx1">
                    <a:lumMod val="85000"/>
                    <a:lumOff val="1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Logo&#10;&#10;Description automatically generated">
              <a:extLst>
                <a:ext uri="{FF2B5EF4-FFF2-40B4-BE49-F238E27FC236}">
                  <a16:creationId xmlns:a16="http://schemas.microsoft.com/office/drawing/2014/main" id="{E1423469-6C85-BFC4-F6A7-FC09BC71F5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394" y="58950"/>
              <a:ext cx="547055" cy="68175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71234BE-ED00-DA60-5C4A-E9E99AC31BEA}"/>
              </a:ext>
            </a:extLst>
          </p:cNvPr>
          <p:cNvSpPr txBox="1"/>
          <p:nvPr userDrawn="1"/>
        </p:nvSpPr>
        <p:spPr>
          <a:xfrm>
            <a:off x="4100556" y="0"/>
            <a:ext cx="942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 Arial" panose="02020603050405020304"/>
              </a:rPr>
              <a:t>UNCLASSIFIED</a:t>
            </a:r>
            <a:endParaRPr lang="en-US" sz="1000" b="1">
              <a:solidFill>
                <a:schemeClr val="tx1"/>
              </a:solidFill>
              <a:latin typeface=" Arial" panose="020206030504050203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374C6-F905-70D4-2CA3-274973A60E36}"/>
              </a:ext>
            </a:extLst>
          </p:cNvPr>
          <p:cNvSpPr txBox="1"/>
          <p:nvPr userDrawn="1"/>
        </p:nvSpPr>
        <p:spPr>
          <a:xfrm>
            <a:off x="3946" y="6652347"/>
            <a:ext cx="942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 Arial" panose="02020603050405020304"/>
              </a:rPr>
              <a:t>UNCLASSIFIED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7CEC937-13EF-B2E4-2635-5336DD8BE8FB}"/>
              </a:ext>
            </a:extLst>
          </p:cNvPr>
          <p:cNvSpPr txBox="1">
            <a:spLocks/>
          </p:cNvSpPr>
          <p:nvPr userDrawn="1"/>
        </p:nvSpPr>
        <p:spPr>
          <a:xfrm>
            <a:off x="4000500" y="6750278"/>
            <a:ext cx="11430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700" b="1" kern="6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2CFA9B-4785-4222-B2D1-FB953FCA43F9}" type="slidenum">
              <a:rPr kumimoji="0" lang="en-US" sz="700" b="1" i="0" u="none" strike="noStrike" kern="6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1" i="0" u="none" strike="noStrike" kern="6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718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</p:sldLayoutIdLst>
  <p:transition spd="slow">
    <p:fade/>
  </p:transition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 dirty="0">
          <a:solidFill>
            <a:srgbClr val="7F7F73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Wingdings" panose="05000000000000000000" pitchFamily="2" charset="2"/>
        <a:buChar char="ü"/>
        <a:tabLst/>
        <a:defRPr lang="en-US" sz="2400" b="1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74675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792">
          <p15:clr>
            <a:srgbClr val="F26B43"/>
          </p15:clr>
        </p15:guide>
        <p15:guide id="3" pos="5352">
          <p15:clr>
            <a:srgbClr val="F26B43"/>
          </p15:clr>
        </p15:guide>
        <p15:guide id="4" orient="horz" pos="1104">
          <p15:clr>
            <a:srgbClr val="F26B43"/>
          </p15:clr>
        </p15:guide>
        <p15:guide id="5" orient="horz" pos="2376">
          <p15:clr>
            <a:srgbClr val="F26B43"/>
          </p15:clr>
        </p15:guide>
        <p15:guide id="6" orient="horz" pos="3432">
          <p15:clr>
            <a:srgbClr val="F26B43"/>
          </p15:clr>
        </p15:guide>
        <p15:guide id="7" pos="5760">
          <p15:clr>
            <a:srgbClr val="F26B43"/>
          </p15:clr>
        </p15:guide>
        <p15:guide id="8" orient="horz">
          <p15:clr>
            <a:srgbClr val="F26B43"/>
          </p15:clr>
        </p15:guide>
        <p15:guide id="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afe.apps.mil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usarmy.redstone.acc.mbx.acc-rsa-afm-iii-west@army.mil" TargetMode="External"/><Relationship Id="rId4" Type="http://schemas.openxmlformats.org/officeDocument/2006/relationships/hyperlink" Target="mailto:usarmy.redstone.acc.mbx.acc-rsa-afm-iiieast@army.mi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3_8A1945F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88290" y="6400800"/>
            <a:ext cx="1730921" cy="457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As of  1 October 2025</a:t>
            </a:r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6B370803-E47F-C92C-EDBD-25C18F384E83}"/>
              </a:ext>
            </a:extLst>
          </p:cNvPr>
          <p:cNvSpPr txBox="1"/>
          <p:nvPr/>
        </p:nvSpPr>
        <p:spPr>
          <a:xfrm>
            <a:off x="1385832" y="4251221"/>
            <a:ext cx="6040582" cy="1488228"/>
          </a:xfrm>
          <a:prstGeom prst="rect">
            <a:avLst/>
          </a:prstGeom>
          <a:solidFill>
            <a:srgbClr val="2F372F"/>
          </a:solidFill>
        </p:spPr>
        <p:txBody>
          <a:bodyPr vert="horz" wrap="square" lIns="0" tIns="3365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Aviation Field Maintenance (AFM III)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accent4"/>
                </a:solidFill>
                <a:latin typeface="Impact" panose="020B0806030902050204" pitchFamily="34" charset="0"/>
              </a:rPr>
              <a:t>W58RGZ-26-R-0008 (East &amp; West)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Pre-Proposal</a:t>
            </a:r>
            <a:r>
              <a:rPr lang="en-US" sz="2000" dirty="0">
                <a:solidFill>
                  <a:schemeClr val="accent4"/>
                </a:solidFill>
                <a:latin typeface="Impact" panose="020B0806030902050204" pitchFamily="34" charset="0"/>
              </a:rPr>
              <a:t> Conference &amp; Site Visit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 dirty="0">
                <a:solidFill>
                  <a:srgbClr val="FFCC01"/>
                </a:solidFill>
                <a:latin typeface="Arial" panose="020B0604020202020204"/>
                <a:cs typeface="Arial"/>
              </a:rPr>
              <a:t>Antionette McClinton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  <a:p>
            <a:pPr marL="20701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U.S.</a:t>
            </a:r>
            <a:r>
              <a:rPr kumimoji="0" sz="1400" b="1" i="0" u="none" strike="noStrike" kern="0" cap="none" spc="-55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Army</a:t>
            </a:r>
            <a:r>
              <a:rPr kumimoji="0" sz="1400" b="1" i="0" u="none" strike="noStrike" kern="0" cap="none" spc="95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Contracting</a:t>
            </a:r>
            <a:r>
              <a:rPr kumimoji="0" sz="1400" b="1" i="0" u="none" strike="noStrike" kern="0" cap="none" spc="-35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 </a:t>
            </a: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Command-Redstone</a:t>
            </a:r>
            <a:r>
              <a:rPr kumimoji="0" sz="1400" b="1" i="0" u="none" strike="noStrike" kern="0" cap="none" spc="-60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Arsenal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sp>
        <p:nvSpPr>
          <p:cNvPr id="10" name="object 26">
            <a:extLst>
              <a:ext uri="{FF2B5EF4-FFF2-40B4-BE49-F238E27FC236}">
                <a16:creationId xmlns:a16="http://schemas.microsoft.com/office/drawing/2014/main" id="{DB70777C-8357-C490-D9A0-C4A970CE425B}"/>
              </a:ext>
            </a:extLst>
          </p:cNvPr>
          <p:cNvSpPr txBox="1"/>
          <p:nvPr/>
        </p:nvSpPr>
        <p:spPr>
          <a:xfrm>
            <a:off x="79205" y="5855855"/>
            <a:ext cx="3075304" cy="760721"/>
          </a:xfrm>
          <a:prstGeom prst="rect">
            <a:avLst/>
          </a:prstGeom>
          <a:solidFill>
            <a:srgbClr val="2F372F"/>
          </a:solidFill>
        </p:spPr>
        <p:txBody>
          <a:bodyPr vert="horz" wrap="square" lIns="0" tIns="9525" rIns="0" bIns="0" rtlCol="0">
            <a:spAutoFit/>
          </a:bodyPr>
          <a:lstStyle/>
          <a:p>
            <a:pPr marL="12701" marR="827394" lvl="0" indent="0" algn="l" defTabSz="914400" rtl="0" eaLnBrk="1" fontAlgn="auto" latinLnBrk="0" hangingPunct="1">
              <a:lnSpc>
                <a:spcPct val="1012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Controlled </a:t>
            </a: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by: </a:t>
            </a:r>
            <a:r>
              <a:rPr lang="en-US" sz="800" spc="-5" dirty="0">
                <a:solidFill>
                  <a:prstClr val="white"/>
                </a:solidFill>
                <a:latin typeface=" Arial"/>
                <a:cs typeface="Calibri"/>
              </a:rPr>
              <a:t>Aviation Maintenance Directorate/Aviation Field Maintenance Branch, CCAM-AVA-D</a:t>
            </a:r>
            <a:endParaRPr kumimoji="0" lang="en-US" sz="800" b="0" i="0" u="none" strike="noStrike" kern="1200" cap="none" spc="-1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Calibri"/>
            </a:endParaRPr>
          </a:p>
          <a:p>
            <a:pPr marL="12701" marR="827394" lvl="0" indent="0" algn="l" defTabSz="914400" rtl="0" eaLnBrk="1" fontAlgn="auto" latinLnBrk="0" hangingPunct="1">
              <a:lnSpc>
                <a:spcPct val="1012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Category(</a:t>
            </a:r>
            <a:r>
              <a:rPr kumimoji="0" sz="800" b="0" i="0" u="none" strike="noStrike" kern="1200" cap="none" spc="-11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ies</a:t>
            </a:r>
            <a:r>
              <a:rPr kumimoji="0" sz="800" b="0" i="0" u="none" strike="noStrike" kern="120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):</a:t>
            </a:r>
            <a:r>
              <a:rPr kumimoji="0" sz="800" b="0" i="0" u="none" strike="noStrike" kern="1200" cap="none" spc="20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 </a:t>
            </a:r>
            <a:r>
              <a:rPr lang="en-US" sz="800" spc="-11" dirty="0">
                <a:solidFill>
                  <a:prstClr val="white"/>
                </a:solidFill>
                <a:latin typeface=" Arial"/>
                <a:cs typeface="Calibri"/>
              </a:rPr>
              <a:t>General Procurement &amp; Acquisition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Calibri"/>
            </a:endParaRPr>
          </a:p>
          <a:p>
            <a:pPr marL="12701" marR="5081" lvl="0" indent="0" algn="l" defTabSz="914400" rtl="0" eaLnBrk="1" fontAlgn="auto" latinLnBrk="0" hangingPunct="1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Distribution/Dissemination </a:t>
            </a:r>
            <a:r>
              <a:rPr kumimoji="0" sz="800" b="0" i="0" u="none" strike="noStrike" kern="120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Controls: </a:t>
            </a:r>
            <a:r>
              <a:rPr lang="en-US" sz="800" spc="-11" dirty="0">
                <a:solidFill>
                  <a:prstClr val="white"/>
                </a:solidFill>
                <a:latin typeface=" Arial"/>
                <a:cs typeface="Calibri"/>
              </a:rPr>
              <a:t>FEDCON</a:t>
            </a:r>
            <a:endParaRPr kumimoji="0" lang="en-US" sz="800" b="0" i="0" u="none" strike="noStrike" kern="1200" cap="none" spc="-1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Calibri"/>
            </a:endParaRPr>
          </a:p>
          <a:p>
            <a:pPr marL="12701" marR="5081" lvl="0" indent="0" algn="l" defTabSz="914400" rtl="0" eaLnBrk="1" fontAlgn="auto" latinLnBrk="0" hangingPunct="1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Calibri"/>
              </a:rPr>
              <a:t>POC: </a:t>
            </a:r>
            <a:r>
              <a:rPr lang="en-US" sz="800" spc="-5" dirty="0">
                <a:solidFill>
                  <a:prstClr val="white"/>
                </a:solidFill>
                <a:latin typeface=" Arial"/>
                <a:cs typeface="Calibri"/>
              </a:rPr>
              <a:t>antionette.r.mcclinton.civ@army.mil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44687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-1"/>
            <a:ext cx="9144000" cy="6858001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37346-08B1-F5D2-6C01-3F2247EC7001}"/>
              </a:ext>
            </a:extLst>
          </p:cNvPr>
          <p:cNvSpPr txBox="1">
            <a:spLocks/>
          </p:cNvSpPr>
          <p:nvPr/>
        </p:nvSpPr>
        <p:spPr>
          <a:xfrm>
            <a:off x="550562" y="312679"/>
            <a:ext cx="8204278" cy="7772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2800" b="1" dirty="0">
                <a:latin typeface="+mn-lt"/>
              </a:rPr>
              <a:t>Agenda-AFM III East and West  </a:t>
            </a:r>
          </a:p>
          <a:p>
            <a:pPr algn="ctr"/>
            <a:r>
              <a:rPr lang="en-US" sz="2800" b="1" dirty="0">
                <a:latin typeface="+mn-lt"/>
              </a:rPr>
              <a:t>Pre-Proposal Conference Agenda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D38EF-A54A-9F67-8036-077FC5268372}"/>
              </a:ext>
            </a:extLst>
          </p:cNvPr>
          <p:cNvSpPr txBox="1"/>
          <p:nvPr/>
        </p:nvSpPr>
        <p:spPr>
          <a:xfrm>
            <a:off x="435219" y="1234959"/>
            <a:ext cx="827356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07 May 2026: Pre-Proposal Conference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Location – 3777 Maintenance Row, Redstone Arsenal, 35898 - Conference Room 102 with a virtual option via MS Teams (connection details will be forwarded to all registered attendees prior to the conference).</a:t>
            </a:r>
          </a:p>
          <a:p>
            <a:endParaRPr lang="en-US" dirty="0"/>
          </a:p>
          <a:p>
            <a:pPr lvl="1"/>
            <a:r>
              <a:rPr lang="en-US" dirty="0"/>
              <a:t>• 0900 – 0915 Introduction / Rules of Engagement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• 0915 – 0930 AFMD Overview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• 0930 – 0945 AFM III Contract Overview</a:t>
            </a:r>
          </a:p>
          <a:p>
            <a:pPr lvl="1"/>
            <a:endParaRPr lang="en-US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0945 – 1000 Closing Remarks/Receipt of Written Questions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algn="ctr"/>
            <a:r>
              <a:rPr lang="en-US" dirty="0"/>
              <a:t>*Please note all times are subject to change*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47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E892-7BE3-970F-2057-730AC3BA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15E2AA-A0DB-7309-D37E-7B2BEF6564F9}"/>
              </a:ext>
            </a:extLst>
          </p:cNvPr>
          <p:cNvSpPr/>
          <p:nvPr/>
        </p:nvSpPr>
        <p:spPr>
          <a:xfrm>
            <a:off x="1" y="-1"/>
            <a:ext cx="9144000" cy="6858001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060E6-3DC8-8085-F8AB-482483178792}"/>
              </a:ext>
            </a:extLst>
          </p:cNvPr>
          <p:cNvSpPr txBox="1">
            <a:spLocks/>
          </p:cNvSpPr>
          <p:nvPr/>
        </p:nvSpPr>
        <p:spPr>
          <a:xfrm>
            <a:off x="550562" y="312678"/>
            <a:ext cx="8204278" cy="79568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2800" b="1" dirty="0">
                <a:latin typeface="+mn-lt"/>
              </a:rPr>
              <a:t>Agenda-AFM III East and West  </a:t>
            </a:r>
          </a:p>
          <a:p>
            <a:pPr algn="ctr"/>
            <a:r>
              <a:rPr lang="en-US" sz="2800" b="1" dirty="0">
                <a:latin typeface="+mn-lt"/>
              </a:rPr>
              <a:t>Site Visit Agenda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E9504-9E5C-B0E6-D3FB-409D4D9E8ADF}"/>
              </a:ext>
            </a:extLst>
          </p:cNvPr>
          <p:cNvSpPr txBox="1"/>
          <p:nvPr/>
        </p:nvSpPr>
        <p:spPr>
          <a:xfrm>
            <a:off x="435219" y="1234959"/>
            <a:ext cx="82735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08 May 2026: Site Visit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Location – Gate #7 Glider Rd. Fort Campbell, Kentucky 42223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lvl="1"/>
            <a:r>
              <a:rPr lang="en-US" dirty="0"/>
              <a:t>• 0900 – 1100 Site Visit Walking Tour of LRC – A Facilities</a:t>
            </a:r>
          </a:p>
          <a:p>
            <a:pPr lvl="1"/>
            <a:endParaRPr lang="en-US" dirty="0"/>
          </a:p>
          <a:p>
            <a:pPr algn="ctr"/>
            <a:r>
              <a:rPr lang="en-US" dirty="0"/>
              <a:t>*Please note all times are subject to change*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57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-1"/>
            <a:ext cx="9144000" cy="6858001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24BB0E-741D-B303-48B6-63DA90604738}"/>
              </a:ext>
            </a:extLst>
          </p:cNvPr>
          <p:cNvSpPr txBox="1">
            <a:spLocks noChangeArrowheads="1"/>
          </p:cNvSpPr>
          <p:nvPr/>
        </p:nvSpPr>
        <p:spPr>
          <a:xfrm>
            <a:off x="587508" y="277066"/>
            <a:ext cx="8229600" cy="58739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2800" b="1" dirty="0">
                <a:latin typeface="+mn-lt"/>
              </a:rPr>
              <a:t>Notes - AFM III East and West</a:t>
            </a:r>
            <a:br>
              <a:rPr lang="en-US" sz="2800" b="1" dirty="0">
                <a:latin typeface="Myriad Bold"/>
              </a:rPr>
            </a:br>
            <a:endParaRPr lang="en-US" b="1" dirty="0">
              <a:solidFill>
                <a:srgbClr val="C00000"/>
              </a:solidFill>
              <a:latin typeface="Myriad Bold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EB938F-7AFA-3F78-A536-B633077C4994}"/>
              </a:ext>
            </a:extLst>
          </p:cNvPr>
          <p:cNvSpPr txBox="1">
            <a:spLocks noChangeArrowheads="1"/>
          </p:cNvSpPr>
          <p:nvPr/>
        </p:nvSpPr>
        <p:spPr>
          <a:xfrm>
            <a:off x="321932" y="1141530"/>
            <a:ext cx="8204278" cy="5129961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1pPr>
            <a:lvl2pPr marL="914400" indent="-4572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2pPr>
            <a:lvl3pPr marL="1257300" indent="-3429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3pPr>
            <a:lvl4pPr marL="1714500" indent="-3429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4pPr>
            <a:lvl5pPr marL="2171700" indent="-3429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Submit the requested information outlined in attached PDF fillable document “AFM III Conference &amp; Site Visit”</a:t>
            </a:r>
            <a:r>
              <a:rPr lang="en-US" sz="2400" dirty="0">
                <a:solidFill>
                  <a:sysClr val="windowText" lastClr="000000"/>
                </a:solidFill>
                <a:latin typeface="+mn-lt"/>
              </a:rPr>
              <a:t>. Submissions must be sent via the DOD Safe Site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/>
              </a:rPr>
              <a:t>https://safe.apps.mil/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lang="en-US" sz="2400" dirty="0">
                <a:solidFill>
                  <a:sysClr val="windowText" lastClr="000000"/>
                </a:solidFill>
                <a:latin typeface="+mn-lt"/>
              </a:rPr>
              <a:t>to the following points of contact no later than noon, CST, Tuesday, 5 May 2026 : 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600" dirty="0">
                <a:solidFill>
                  <a:sysClr val="windowText" lastClr="000000"/>
                </a:solidFill>
                <a:latin typeface="+mn-lt"/>
              </a:rPr>
              <a:t>Contracting Officer: Antionette R. McClinton, Contracting Officer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600" dirty="0">
                <a:solidFill>
                  <a:sysClr val="windowText" lastClr="000000"/>
                </a:solidFill>
                <a:latin typeface="+mn-lt"/>
              </a:rPr>
              <a:t>Contract Specialists: Mrs. Lanora Brooks and Mr. Nicholas Lebano 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600" dirty="0">
                <a:solidFill>
                  <a:sysClr val="windowText" lastClr="000000"/>
                </a:solidFill>
                <a:latin typeface="+mn-lt"/>
              </a:rPr>
              <a:t>Email (East): </a:t>
            </a:r>
            <a:r>
              <a:rPr lang="en-US" sz="1600" dirty="0">
                <a:solidFill>
                  <a:sysClr val="windowText" lastClr="000000"/>
                </a:solidFill>
                <a:latin typeface="+mn-lt"/>
                <a:hlinkClick r:id="rId4"/>
              </a:rPr>
              <a:t>usarmy.redstone.acc.mbx.acc-rsa-afm-iii-east@army.mil</a:t>
            </a:r>
            <a:r>
              <a:rPr lang="en-US" sz="1600" dirty="0">
                <a:solidFill>
                  <a:sysClr val="windowText" lastClr="000000"/>
                </a:solidFill>
                <a:latin typeface="+mn-lt"/>
              </a:rPr>
              <a:t>  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600" dirty="0">
                <a:solidFill>
                  <a:sysClr val="windowText" lastClr="000000"/>
                </a:solidFill>
                <a:latin typeface="+mn-lt"/>
              </a:rPr>
              <a:t>Email (West): </a:t>
            </a:r>
            <a:r>
              <a:rPr lang="en-US" sz="1600" dirty="0">
                <a:solidFill>
                  <a:sysClr val="windowText" lastClr="000000"/>
                </a:solidFill>
                <a:latin typeface="+mn-lt"/>
                <a:hlinkClick r:id="rId5"/>
              </a:rPr>
              <a:t>usarmy.redstone.acc.mbx.acc-rsa-afm-iii-west@army.mil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Please limit attendees to three per offeror/per event.</a:t>
            </a:r>
          </a:p>
          <a:p>
            <a:pPr marR="0" lvl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contractor shall be responsible for making</a:t>
            </a:r>
            <a:r>
              <a:rPr lang="en-US" sz="2400" dirty="0">
                <a:solidFill>
                  <a:sysClr val="windowText" lastClr="000000"/>
                </a:solidFill>
                <a:latin typeface="+mn-lt"/>
              </a:rPr>
              <a:t> all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arrangements airfare, car rental, lodging, and subsistence.</a:t>
            </a:r>
            <a:endParaRPr lang="en-US" sz="2400" noProof="0" dirty="0">
              <a:solidFill>
                <a:sysClr val="windowText" lastClr="000000"/>
              </a:solidFill>
              <a:latin typeface="+mn-lt"/>
            </a:endParaRPr>
          </a:p>
          <a:p>
            <a:pPr marL="0" indent="0" algn="ctr">
              <a:buNone/>
              <a:defRPr/>
            </a:pPr>
            <a:r>
              <a:rPr lang="en-US" sz="1800" dirty="0">
                <a:solidFill>
                  <a:sysClr val="windowText" lastClr="000000"/>
                </a:solidFill>
              </a:rPr>
              <a:t>*Please note all times are subject to change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1800" b="0" i="0" u="none" strike="noStrike" kern="120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sz="1800" noProof="0" dirty="0">
              <a:solidFill>
                <a:sysClr val="windowText" lastClr="000000"/>
              </a:solidFill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449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78CCF-BF34-D296-2863-72372D5B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2FCCA9-BB3F-8A59-77EB-935D11AF8106}"/>
              </a:ext>
            </a:extLst>
          </p:cNvPr>
          <p:cNvSpPr/>
          <p:nvPr/>
        </p:nvSpPr>
        <p:spPr>
          <a:xfrm>
            <a:off x="1" y="-1"/>
            <a:ext cx="9144000" cy="6858001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77AB2-128F-B765-C8D7-C393D31E2AFB}"/>
              </a:ext>
            </a:extLst>
          </p:cNvPr>
          <p:cNvSpPr txBox="1">
            <a:spLocks noChangeArrowheads="1"/>
          </p:cNvSpPr>
          <p:nvPr/>
        </p:nvSpPr>
        <p:spPr>
          <a:xfrm>
            <a:off x="587508" y="277066"/>
            <a:ext cx="8229600" cy="58739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2800" b="1" dirty="0">
                <a:latin typeface="+mn-lt"/>
              </a:rPr>
              <a:t>Notes – Rules of Engagement</a:t>
            </a:r>
            <a:br>
              <a:rPr lang="en-US" sz="2800" b="1" dirty="0">
                <a:latin typeface="Myriad Bold"/>
              </a:rPr>
            </a:br>
            <a:endParaRPr lang="en-US" b="1" dirty="0">
              <a:solidFill>
                <a:srgbClr val="C00000"/>
              </a:solidFill>
              <a:latin typeface="Myriad Bold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76C68D8-5B3B-3BA2-9099-EBBF0A6BAB96}"/>
              </a:ext>
            </a:extLst>
          </p:cNvPr>
          <p:cNvSpPr txBox="1">
            <a:spLocks noChangeArrowheads="1"/>
          </p:cNvSpPr>
          <p:nvPr/>
        </p:nvSpPr>
        <p:spPr>
          <a:xfrm>
            <a:off x="321932" y="1141529"/>
            <a:ext cx="8229600" cy="4935997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1pPr>
            <a:lvl2pPr marL="914400" indent="-4572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2pPr>
            <a:lvl3pPr marL="1257300" indent="-3429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3pPr>
            <a:lvl4pPr marL="1714500" indent="-3429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4pPr>
            <a:lvl5pPr marL="2171700" indent="-3429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yriad Bold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Site Visit participants must provide their own transportation</a:t>
            </a:r>
          </a:p>
          <a:p>
            <a:pPr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+mn-lt"/>
              </a:rPr>
              <a:t>Attendance at the conference and/or site visit is not required for offer submission.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photographs are permitted</a:t>
            </a:r>
          </a:p>
          <a:p>
            <a:pPr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verbal questions will be answered.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 questions must be submitted IN WRITING using the 3x5 index cards provided at the pre-proposal conference 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dirty="0">
                <a:solidFill>
                  <a:sysClr val="windowText" lastClr="000000"/>
                </a:solidFill>
                <a:latin typeface="+mn-lt"/>
              </a:rPr>
              <a:t>Each contractor is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limited to only five (5) written questions.</a:t>
            </a:r>
          </a:p>
          <a:p>
            <a:pPr marL="0" indent="0">
              <a:buNone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>
              <a:buFont typeface="Wingdings" panose="05000000000000000000" pitchFamily="2" charset="2"/>
              <a:buChar char="ü"/>
              <a:defRPr/>
            </a:pPr>
            <a:endParaRPr lang="en-US" sz="1600" b="0" dirty="0">
              <a:solidFill>
                <a:sysClr val="windowText" lastClr="000000"/>
              </a:solidFill>
              <a:latin typeface="+mn-lt"/>
            </a:endParaRPr>
          </a:p>
          <a:p>
            <a:pPr marL="457200" lvl="1" indent="0" algn="ctr"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*Please note all times are subject to change</a:t>
            </a:r>
          </a:p>
          <a:p>
            <a:pPr lvl="1">
              <a:spcBef>
                <a:spcPts val="1000"/>
              </a:spcBef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9121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1_AMC MSC Theme">
  <a:themeElements>
    <a:clrScheme name="AMC Branding">
      <a:dk1>
        <a:sysClr val="windowText" lastClr="000000"/>
      </a:dk1>
      <a:lt1>
        <a:sysClr val="window" lastClr="FFFFFF"/>
      </a:lt1>
      <a:dk2>
        <a:srgbClr val="525349"/>
      </a:dk2>
      <a:lt2>
        <a:srgbClr val="7F7F73"/>
      </a:lt2>
      <a:accent1>
        <a:srgbClr val="B8B09C"/>
      </a:accent1>
      <a:accent2>
        <a:srgbClr val="DE1F27"/>
      </a:accent2>
      <a:accent3>
        <a:srgbClr val="214292"/>
      </a:accent3>
      <a:accent4>
        <a:srgbClr val="FFC425"/>
      </a:accent4>
      <a:accent5>
        <a:srgbClr val="F26522"/>
      </a:accent5>
      <a:accent6>
        <a:srgbClr val="70AD47"/>
      </a:accent6>
      <a:hlink>
        <a:srgbClr val="0563C1"/>
      </a:hlink>
      <a:folHlink>
        <a:srgbClr val="7F3F9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ns:customPropertyEditors xmlns:tns="http://schemas.microsoft.com/office/2006/customDocumentInformationPanel">
  <tns:showOnOpen>false</tns:showOnOpen>
  <tns:defaultPropertyEditorNamespace>Standard properties</tns:defaultPropertyEditorNamespace>
</tns:customPropertyEdito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AE7829AEDAC04892098ECDCB593BA1" ma:contentTypeVersion="17" ma:contentTypeDescription="Create a new document." ma:contentTypeScope="" ma:versionID="9aca81bc4dc5a861d94ccd17993598e7">
  <xsd:schema xmlns:xsd="http://www.w3.org/2001/XMLSchema" xmlns:xs="http://www.w3.org/2001/XMLSchema" xmlns:p="http://schemas.microsoft.com/office/2006/metadata/properties" xmlns:ns1="http://schemas.microsoft.com/sharepoint/v3" xmlns:ns2="e2f976ce-715d-474f-8630-0abbde159beb" xmlns:ns3="7226967b-b25f-4bf0-afd2-86dfe2ededc2" targetNamespace="http://schemas.microsoft.com/office/2006/metadata/properties" ma:root="true" ma:fieldsID="e52bf30f0259f57577fbb46443bd113b" ns1:_="" ns2:_="" ns3:_="">
    <xsd:import namespace="http://schemas.microsoft.com/sharepoint/v3"/>
    <xsd:import namespace="e2f976ce-715d-474f-8630-0abbde159beb"/>
    <xsd:import namespace="7226967b-b25f-4bf0-afd2-86dfe2ede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976ce-715d-474f-8630-0abbde159b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26967b-b25f-4bf0-afd2-86dfe2ededc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115b55f-d0ce-486d-adbd-7f852c919b51}" ma:internalName="TaxCatchAll" ma:showField="CatchAllData" ma:web="7226967b-b25f-4bf0-afd2-86dfe2ede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e2f976ce-715d-474f-8630-0abbde159beb">
      <Terms xmlns="http://schemas.microsoft.com/office/infopath/2007/PartnerControls"/>
    </lcf76f155ced4ddcb4097134ff3c332f>
    <TaxCatchAll xmlns="7226967b-b25f-4bf0-afd2-86dfe2ededc2" xsi:nil="true"/>
  </documentManagement>
</p:properties>
</file>

<file path=customXml/itemProps1.xml><?xml version="1.0" encoding="utf-8"?>
<ds:datastoreItem xmlns:ds="http://schemas.openxmlformats.org/officeDocument/2006/customXml" ds:itemID="{1D9B490E-0250-4FC5-A478-10AD24AAD525}">
  <ds:schemaRefs>
    <ds:schemaRef ds:uri="http://schemas.microsoft.com/office/2006/customDocumentInformationPanel"/>
  </ds:schemaRefs>
</ds:datastoreItem>
</file>

<file path=customXml/itemProps2.xml><?xml version="1.0" encoding="utf-8"?>
<ds:datastoreItem xmlns:ds="http://schemas.openxmlformats.org/officeDocument/2006/customXml" ds:itemID="{3F5BA0D6-2EF0-4BA2-8800-3CE31FDC704D}">
  <ds:schemaRefs>
    <ds:schemaRef ds:uri="7226967b-b25f-4bf0-afd2-86dfe2ededc2"/>
    <ds:schemaRef ds:uri="e2f976ce-715d-474f-8630-0abbde159b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1B05399-902D-4F36-A0AD-C32E2ED316C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EE87DDFF-D288-43B3-9099-279B39DE6806}">
  <ds:schemaRefs>
    <ds:schemaRef ds:uri="1e096587-218c-4d20-a291-ed5a0d6632d1"/>
    <ds:schemaRef ds:uri="6aff6255-a61b-4750-a0cc-6377d653dcff"/>
    <ds:schemaRef ds:uri="7226967b-b25f-4bf0-afd2-86dfe2ededc2"/>
    <ds:schemaRef ds:uri="e2f976ce-715d-474f-8630-0abbde159b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1320</TotalTime>
  <Words>459</Words>
  <Application>Microsoft Office PowerPoint</Application>
  <PresentationFormat>On-screen Show (4:3)</PresentationFormat>
  <Paragraphs>62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 Arial</vt:lpstr>
      <vt:lpstr>Arial</vt:lpstr>
      <vt:lpstr>Calibri</vt:lpstr>
      <vt:lpstr>G.I. 750</vt:lpstr>
      <vt:lpstr>Impact</vt:lpstr>
      <vt:lpstr>Myriad Bold</vt:lpstr>
      <vt:lpstr>Wingdings</vt:lpstr>
      <vt:lpstr>1_AMC MSC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United States Army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AMC PowerPoint Presentation Template</dc:title>
  <dc:subject>Presentation</dc:subject>
  <dc:creator>Jones, Mark S CTR AMC</dc:creator>
  <cp:keywords>AMC  &amp; MSC PowerPoint Presentation Template</cp:keywords>
  <cp:lastModifiedBy>McClinton, Antionette R CIV USARMY ACC (USA)</cp:lastModifiedBy>
  <cp:revision>7</cp:revision>
  <cp:lastPrinted>2021-10-05T21:02:21Z</cp:lastPrinted>
  <dcterms:created xsi:type="dcterms:W3CDTF">2017-05-18T14:22:46Z</dcterms:created>
  <dcterms:modified xsi:type="dcterms:W3CDTF">2026-04-29T12:18:43Z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0x010100CFAE7829AEDAC04892098ECDCB593BA1</vt:lpwstr>
  </property>
  <property fmtid="{D5CDD505-2E9C-101B-9397-08002B2CF9AE}" pid="3" name="MediaServiceImageTags">
    <vt:lpwstr/>
  </property>
</Properties>
</file>