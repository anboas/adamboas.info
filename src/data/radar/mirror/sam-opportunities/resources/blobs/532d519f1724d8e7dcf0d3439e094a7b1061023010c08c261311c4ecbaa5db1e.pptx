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147483533" r:id="rId2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3783"/>
    <a:srgbClr val="2C38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3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3038B3E4-A2D7-444D-AD8B-A5F4C43A8E9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D471BE42-EAC3-4229-B411-F9C614703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528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Unscheduled Technologies:</a:t>
            </a:r>
          </a:p>
          <a:p>
            <a:endParaRPr lang="en-US" dirty="0"/>
          </a:p>
          <a:p>
            <a:r>
              <a:rPr lang="en-US" dirty="0"/>
              <a:t>Camp Grafton: Barret and others</a:t>
            </a:r>
            <a:r>
              <a:rPr lang="en-US"/>
              <a:t>	GFAFB: </a:t>
            </a:r>
            <a:r>
              <a:rPr lang="en-US" dirty="0"/>
              <a:t>AV HALO, DRONESHIELD, Persistent Systems, Silvus Tech, RSGS	Avon Park: VAPOR	Smoky Hill: Epirus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1BB103-026B-4769-B47A-B2D996C46ED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2259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gif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gi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gi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gi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gi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03854-4035-D9E0-B89A-AA0CEFACC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71903" y="1957047"/>
            <a:ext cx="5381897" cy="2943906"/>
          </a:xfrm>
          <a:prstGeom prst="rect">
            <a:avLst/>
          </a:prstGeom>
        </p:spPr>
        <p:txBody>
          <a:bodyPr anchor="b"/>
          <a:lstStyle>
            <a:lvl1pPr algn="ctr">
              <a:defRPr sz="6000" b="1" i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B22547-9347-339F-B856-7E5DA1CEDB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1503" y="5477691"/>
            <a:ext cx="4772297" cy="529046"/>
          </a:xfr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2400" b="1" i="1" kern="1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0A41-E29B-1108-62BF-D07A12DF5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CD0FF0B6-C121-46E1-B554-628007314CB6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BAEE4701-97C5-2F18-3759-E4B25D7FAF4F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7916092" y="6356350"/>
            <a:ext cx="4200452" cy="365125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b="1" dirty="0"/>
              <a:t>CLASSIFICATION</a:t>
            </a:r>
            <a:r>
              <a:rPr lang="en-US" dirty="0"/>
              <a:t>: </a:t>
            </a:r>
            <a:r>
              <a:rPr lang="en-US" dirty="0">
                <a:solidFill>
                  <a:srgbClr val="00B050"/>
                </a:solidFill>
              </a:rPr>
              <a:t>Controlled Unclassified Information (CUI)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C33C31D-3206-46EF-E930-F281B9F1C738}"/>
              </a:ext>
            </a:extLst>
          </p:cNvPr>
          <p:cNvGrpSpPr/>
          <p:nvPr userDrawn="1"/>
        </p:nvGrpSpPr>
        <p:grpSpPr>
          <a:xfrm>
            <a:off x="546187" y="2082147"/>
            <a:ext cx="5070743" cy="2693706"/>
            <a:chOff x="546187" y="2117631"/>
            <a:chExt cx="5070743" cy="269370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788E147-11F5-C0BF-1FF8-455BAFD1AE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46187" y="2117631"/>
              <a:ext cx="1898725" cy="1876474"/>
            </a:xfrm>
            <a:prstGeom prst="rect">
              <a:avLst/>
            </a:prstGeom>
            <a:effectLst>
              <a:outerShdw blurRad="38100" dist="25400" dir="2700000" algn="tl" rotWithShape="0">
                <a:prstClr val="black">
                  <a:alpha val="60000"/>
                </a:prstClr>
              </a:outerShdw>
            </a:effec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4B16CCA-67F6-3E3A-D9B7-757E970B447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011887" y="2487297"/>
              <a:ext cx="1898725" cy="1883406"/>
            </a:xfrm>
            <a:prstGeom prst="rect">
              <a:avLst/>
            </a:prstGeom>
            <a:effectLst>
              <a:outerShdw blurRad="38100" dist="25400" dir="2700000" algn="tl" rotWithShape="0">
                <a:prstClr val="black">
                  <a:alpha val="60000"/>
                </a:prstClr>
              </a:outerShdw>
            </a:effectLst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5570A9E-6DC7-EB4B-6FA9-D44CD18B88B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3395476" y="2787344"/>
              <a:ext cx="2221454" cy="20239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90676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7EC2A-C6E6-1EDB-EE9E-6ACEFB19B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7366" y="18256"/>
            <a:ext cx="8555503" cy="976906"/>
          </a:xfrm>
          <a:prstGeom prst="rect">
            <a:avLst/>
          </a:prstGeom>
        </p:spPr>
        <p:txBody>
          <a:bodyPr/>
          <a:lstStyle>
            <a:lvl1pPr algn="ctr">
              <a:defRPr b="1" i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2169D-C0D8-6247-EA3E-0C75172F9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9444"/>
            <a:ext cx="10515600" cy="4351338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18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5F1DE-D938-4604-BDAE-627C7E574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CD0FF0B6-C121-46E1-B554-628007314CB6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11" name="Line 7">
            <a:extLst>
              <a:ext uri="{FF2B5EF4-FFF2-40B4-BE49-F238E27FC236}">
                <a16:creationId xmlns:a16="http://schemas.microsoft.com/office/drawing/2014/main" id="{B5CF5E05-B298-BB6C-B399-DE5ED30D8DD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027906"/>
            <a:ext cx="12192000" cy="16373"/>
          </a:xfrm>
          <a:prstGeom prst="line">
            <a:avLst/>
          </a:prstGeom>
          <a:noFill/>
          <a:ln w="38100">
            <a:gradFill flip="none" rotWithShape="1">
              <a:gsLst>
                <a:gs pos="0">
                  <a:schemeClr val="bg1">
                    <a:alpha val="0"/>
                  </a:schemeClr>
                </a:gs>
                <a:gs pos="42000">
                  <a:schemeClr val="accent2">
                    <a:lumMod val="50000"/>
                    <a:alpha val="34000"/>
                  </a:schemeClr>
                </a:gs>
                <a:gs pos="89000">
                  <a:srgbClr val="002060">
                    <a:alpha val="67000"/>
                  </a:srgbClr>
                </a:gs>
              </a:gsLst>
              <a:lin ang="10800000" scaled="1"/>
              <a:tileRect/>
            </a:gra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rgbClr val="000066"/>
              </a:buClr>
              <a:buSzPct val="150000"/>
              <a:defRPr/>
            </a:pP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3A0A4F0-4B90-1B07-900C-A1F8CCCC7A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06609" y="55588"/>
            <a:ext cx="809935" cy="933513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99EC56AC-C86C-C8B3-4D23-11015F6115C9}"/>
              </a:ext>
            </a:extLst>
          </p:cNvPr>
          <p:cNvGrpSpPr/>
          <p:nvPr userDrawn="1"/>
        </p:nvGrpSpPr>
        <p:grpSpPr>
          <a:xfrm>
            <a:off x="5408024" y="5830094"/>
            <a:ext cx="1933302" cy="891381"/>
            <a:chOff x="4253696" y="4825563"/>
            <a:chExt cx="1510497" cy="738664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A16DD82-8761-09C2-1F25-60F8E84C413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4253696" y="4838700"/>
              <a:ext cx="597634" cy="725527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43B906C-8874-5115-023D-0CC682529EAC}"/>
                </a:ext>
              </a:extLst>
            </p:cNvPr>
            <p:cNvSpPr txBox="1"/>
            <p:nvPr userDrawn="1"/>
          </p:nvSpPr>
          <p:spPr>
            <a:xfrm>
              <a:off x="4800600" y="4825563"/>
              <a:ext cx="96359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400" b="0" dirty="0">
                  <a:solidFill>
                    <a:srgbClr val="5F5F5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1400" b="0" dirty="0">
                  <a:solidFill>
                    <a:schemeClr val="accent6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ntelligent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400" b="0" dirty="0">
                  <a:solidFill>
                    <a:srgbClr val="5F5F5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sz="1400" b="0" dirty="0">
                  <a:solidFill>
                    <a:schemeClr val="accent6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trong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400" b="0" dirty="0">
                  <a:solidFill>
                    <a:srgbClr val="5F5F5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sz="1400" b="0" dirty="0">
                  <a:solidFill>
                    <a:schemeClr val="accent6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eady</a:t>
              </a:r>
            </a:p>
          </p:txBody>
        </p:sp>
      </p:grpSp>
      <p:sp>
        <p:nvSpPr>
          <p:cNvPr id="20" name="Slide Number Placeholder 8">
            <a:extLst>
              <a:ext uri="{FF2B5EF4-FFF2-40B4-BE49-F238E27FC236}">
                <a16:creationId xmlns:a16="http://schemas.microsoft.com/office/drawing/2014/main" id="{5EFE68CD-FE61-6BF6-4A66-B724A341D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6092" y="6356350"/>
            <a:ext cx="4200452" cy="365125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b="1" dirty="0"/>
              <a:t>CLASSIFICATION</a:t>
            </a:r>
            <a:r>
              <a:rPr lang="en-US" dirty="0"/>
              <a:t>: </a:t>
            </a:r>
            <a:r>
              <a:rPr lang="en-US" dirty="0">
                <a:solidFill>
                  <a:srgbClr val="00B050"/>
                </a:solidFill>
              </a:rPr>
              <a:t>Controlled Unclassified Information (CUI)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7D9A77A-8610-D43F-EEF0-5E173CEC540A}"/>
              </a:ext>
            </a:extLst>
          </p:cNvPr>
          <p:cNvGrpSpPr/>
          <p:nvPr userDrawn="1"/>
        </p:nvGrpSpPr>
        <p:grpSpPr>
          <a:xfrm>
            <a:off x="60840" y="56350"/>
            <a:ext cx="1816526" cy="957209"/>
            <a:chOff x="546187" y="2117631"/>
            <a:chExt cx="5070743" cy="269370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4382A1E-38A6-1203-ABDA-F1A4EFB14B2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46187" y="2117631"/>
              <a:ext cx="1898725" cy="1876474"/>
            </a:xfrm>
            <a:prstGeom prst="rect">
              <a:avLst/>
            </a:prstGeom>
            <a:effectLst>
              <a:outerShdw blurRad="38100" dist="25400" dir="2700000" algn="tl" rotWithShape="0">
                <a:prstClr val="black">
                  <a:alpha val="60000"/>
                </a:prstClr>
              </a:outerShdw>
            </a:effec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950893B-DD0D-9917-F91C-B47F0751C96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011887" y="2487297"/>
              <a:ext cx="1898725" cy="1883406"/>
            </a:xfrm>
            <a:prstGeom prst="rect">
              <a:avLst/>
            </a:prstGeom>
            <a:effectLst>
              <a:outerShdw blurRad="38100" dist="25400" dir="2700000" algn="tl" rotWithShape="0">
                <a:prstClr val="black">
                  <a:alpha val="60000"/>
                </a:prstClr>
              </a:outerShdw>
            </a:effectLst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E5A7EE5-85A5-B798-A5A7-DE67B2B5B3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3395476" y="2787344"/>
              <a:ext cx="2221454" cy="20239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78909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044D0-C3B6-A9BA-ED02-3EC3955EDF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69444"/>
            <a:ext cx="5181600" cy="4351338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16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23BCA8-E07E-8E6B-8134-E157515C10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69444"/>
            <a:ext cx="5181600" cy="4351338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0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16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46B1FA-2BC1-E3C0-FB66-C49216F66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CD0FF0B6-C121-46E1-B554-628007314CB6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8C904DC-4182-9C40-1DB8-4FA61D930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7366" y="18256"/>
            <a:ext cx="8555503" cy="976906"/>
          </a:xfrm>
          <a:prstGeom prst="rect">
            <a:avLst/>
          </a:prstGeom>
        </p:spPr>
        <p:txBody>
          <a:bodyPr/>
          <a:lstStyle>
            <a:lvl1pPr algn="ctr">
              <a:defRPr b="1" i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Line 7">
            <a:extLst>
              <a:ext uri="{FF2B5EF4-FFF2-40B4-BE49-F238E27FC236}">
                <a16:creationId xmlns:a16="http://schemas.microsoft.com/office/drawing/2014/main" id="{A5426677-AD73-AB14-2F83-E0C64AC9B53A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027906"/>
            <a:ext cx="12192000" cy="16373"/>
          </a:xfrm>
          <a:prstGeom prst="line">
            <a:avLst/>
          </a:prstGeom>
          <a:noFill/>
          <a:ln w="38100">
            <a:gradFill flip="none" rotWithShape="1">
              <a:gsLst>
                <a:gs pos="0">
                  <a:schemeClr val="bg1">
                    <a:alpha val="0"/>
                  </a:schemeClr>
                </a:gs>
                <a:gs pos="42000">
                  <a:schemeClr val="accent2">
                    <a:lumMod val="50000"/>
                    <a:alpha val="34000"/>
                  </a:schemeClr>
                </a:gs>
                <a:gs pos="89000">
                  <a:srgbClr val="002060">
                    <a:alpha val="67000"/>
                  </a:srgbClr>
                </a:gs>
              </a:gsLst>
              <a:lin ang="10800000" scaled="1"/>
              <a:tileRect/>
            </a:gra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rgbClr val="000066"/>
              </a:buClr>
              <a:buSzPct val="150000"/>
              <a:defRPr/>
            </a:pPr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3568712-CEC3-A0C7-831E-C135714DE61A}"/>
              </a:ext>
            </a:extLst>
          </p:cNvPr>
          <p:cNvGrpSpPr/>
          <p:nvPr userDrawn="1"/>
        </p:nvGrpSpPr>
        <p:grpSpPr>
          <a:xfrm>
            <a:off x="5408024" y="5830094"/>
            <a:ext cx="1933302" cy="891381"/>
            <a:chOff x="4253696" y="4825563"/>
            <a:chExt cx="1510497" cy="738664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22C4290-E6C4-FE14-C34B-86CDC19047C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4253696" y="4838700"/>
              <a:ext cx="597634" cy="725527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C6934FE-ACE3-E4AD-AA14-743FEA285281}"/>
                </a:ext>
              </a:extLst>
            </p:cNvPr>
            <p:cNvSpPr txBox="1"/>
            <p:nvPr userDrawn="1"/>
          </p:nvSpPr>
          <p:spPr>
            <a:xfrm>
              <a:off x="4800600" y="4825563"/>
              <a:ext cx="96359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400" b="0" dirty="0">
                  <a:solidFill>
                    <a:srgbClr val="5F5F5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1400" b="0" dirty="0">
                  <a:solidFill>
                    <a:schemeClr val="accent6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ntelligent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400" b="0" dirty="0">
                  <a:solidFill>
                    <a:srgbClr val="5F5F5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sz="1400" b="0" dirty="0">
                  <a:solidFill>
                    <a:schemeClr val="accent6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trong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400" b="0" dirty="0">
                  <a:solidFill>
                    <a:srgbClr val="5F5F5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sz="1400" b="0" dirty="0">
                  <a:solidFill>
                    <a:schemeClr val="accent6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eady</a:t>
              </a:r>
            </a:p>
          </p:txBody>
        </p:sp>
      </p:grpSp>
      <p:sp>
        <p:nvSpPr>
          <p:cNvPr id="19" name="Slide Number Placeholder 8">
            <a:extLst>
              <a:ext uri="{FF2B5EF4-FFF2-40B4-BE49-F238E27FC236}">
                <a16:creationId xmlns:a16="http://schemas.microsoft.com/office/drawing/2014/main" id="{F820DF61-7C76-43D5-EB79-208832546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6092" y="6356350"/>
            <a:ext cx="4200452" cy="365125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b="1" dirty="0"/>
              <a:t>CLASSIFICATION</a:t>
            </a:r>
            <a:r>
              <a:rPr lang="en-US" dirty="0"/>
              <a:t>: </a:t>
            </a:r>
            <a:r>
              <a:rPr lang="en-US" dirty="0">
                <a:solidFill>
                  <a:srgbClr val="00B050"/>
                </a:solidFill>
              </a:rPr>
              <a:t>Controlled Unclassified Information (CUI)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83F77CC-D861-4414-1EE8-9867F7462F61}"/>
              </a:ext>
            </a:extLst>
          </p:cNvPr>
          <p:cNvGrpSpPr/>
          <p:nvPr userDrawn="1"/>
        </p:nvGrpSpPr>
        <p:grpSpPr>
          <a:xfrm>
            <a:off x="60840" y="56350"/>
            <a:ext cx="1816526" cy="957209"/>
            <a:chOff x="546187" y="2117631"/>
            <a:chExt cx="5070743" cy="2693706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043889F0-DF46-C7DE-16F6-E9B6022EA51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46187" y="2117631"/>
              <a:ext cx="1898725" cy="1876474"/>
            </a:xfrm>
            <a:prstGeom prst="rect">
              <a:avLst/>
            </a:prstGeom>
            <a:effectLst>
              <a:outerShdw blurRad="38100" dist="25400" dir="2700000" algn="tl" rotWithShape="0">
                <a:prstClr val="black">
                  <a:alpha val="60000"/>
                </a:prstClr>
              </a:outerShdw>
            </a:effectLst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ED794D6-3937-38C7-9196-706693DB11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011887" y="2487297"/>
              <a:ext cx="1898725" cy="1883406"/>
            </a:xfrm>
            <a:prstGeom prst="rect">
              <a:avLst/>
            </a:prstGeom>
            <a:effectLst>
              <a:outerShdw blurRad="38100" dist="25400" dir="2700000" algn="tl" rotWithShape="0">
                <a:prstClr val="black">
                  <a:alpha val="60000"/>
                </a:prstClr>
              </a:outerShdw>
            </a:effectLst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E10274DA-A875-263A-6D64-8E6E465B2D7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3395476" y="2787344"/>
              <a:ext cx="2221454" cy="2023993"/>
            </a:xfrm>
            <a:prstGeom prst="rect">
              <a:avLst/>
            </a:prstGeom>
          </p:spPr>
        </p:pic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2B082727-EEB0-0B09-B0F9-4ABB0D1724A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06609" y="55588"/>
            <a:ext cx="809935" cy="933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629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40C81-2800-4872-F816-F41DD8F87E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24778"/>
            <a:ext cx="5157787" cy="823912"/>
          </a:xfrm>
        </p:spPr>
        <p:txBody>
          <a:bodyPr anchor="b"/>
          <a:lstStyle>
            <a:lvl1pPr marL="0" indent="0">
              <a:buNone/>
              <a:defRPr sz="2400" b="1" i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242E9B-AD73-39C6-B1A3-9804F4D7D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2148690"/>
            <a:ext cx="5157787" cy="3575971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0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89A9CB-E884-E1C7-3D99-F548F7E9E3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612" y="1324778"/>
            <a:ext cx="5183188" cy="823912"/>
          </a:xfrm>
        </p:spPr>
        <p:txBody>
          <a:bodyPr anchor="b"/>
          <a:lstStyle>
            <a:lvl1pPr marL="0" indent="0">
              <a:buNone/>
              <a:defRPr sz="2400" b="1" i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48C5B8-1227-4218-2EF8-D4D76BF6CD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0612" y="2148690"/>
            <a:ext cx="5183188" cy="3575971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0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9423AF-5F2C-88BD-01F1-2ECB39524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CD0FF0B6-C121-46E1-B554-628007314CB6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3C62EB-06E7-2E64-C029-43B858F5A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6092" y="6356350"/>
            <a:ext cx="4200452" cy="365125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b="1" dirty="0"/>
              <a:t>CLASSIFICATION</a:t>
            </a:r>
            <a:r>
              <a:rPr lang="en-US" dirty="0"/>
              <a:t>: </a:t>
            </a:r>
            <a:r>
              <a:rPr lang="en-US" dirty="0">
                <a:solidFill>
                  <a:srgbClr val="00B050"/>
                </a:solidFill>
              </a:rPr>
              <a:t>Controlled Unclassified Information (CUI)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58E4290-7124-DCA0-1836-EF9D517A1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7366" y="18256"/>
            <a:ext cx="8555503" cy="976906"/>
          </a:xfrm>
          <a:prstGeom prst="rect">
            <a:avLst/>
          </a:prstGeom>
        </p:spPr>
        <p:txBody>
          <a:bodyPr/>
          <a:lstStyle>
            <a:lvl1pPr algn="ctr">
              <a:defRPr b="1" i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Line 7">
            <a:extLst>
              <a:ext uri="{FF2B5EF4-FFF2-40B4-BE49-F238E27FC236}">
                <a16:creationId xmlns:a16="http://schemas.microsoft.com/office/drawing/2014/main" id="{099B9B8E-0B8C-9B3F-D6DC-0CE4DBDC7F2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027906"/>
            <a:ext cx="12192000" cy="16373"/>
          </a:xfrm>
          <a:prstGeom prst="line">
            <a:avLst/>
          </a:prstGeom>
          <a:noFill/>
          <a:ln w="38100">
            <a:gradFill flip="none" rotWithShape="1">
              <a:gsLst>
                <a:gs pos="0">
                  <a:schemeClr val="bg1">
                    <a:alpha val="0"/>
                  </a:schemeClr>
                </a:gs>
                <a:gs pos="42000">
                  <a:schemeClr val="accent2">
                    <a:lumMod val="50000"/>
                    <a:alpha val="34000"/>
                  </a:schemeClr>
                </a:gs>
                <a:gs pos="89000">
                  <a:srgbClr val="002060">
                    <a:alpha val="67000"/>
                  </a:srgbClr>
                </a:gs>
              </a:gsLst>
              <a:lin ang="10800000" scaled="1"/>
              <a:tileRect/>
            </a:gra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rgbClr val="000066"/>
              </a:buClr>
              <a:buSzPct val="150000"/>
              <a:defRPr/>
            </a:pPr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403E36A-C80B-1D8C-EE0A-CA4BF4A0F56E}"/>
              </a:ext>
            </a:extLst>
          </p:cNvPr>
          <p:cNvGrpSpPr/>
          <p:nvPr userDrawn="1"/>
        </p:nvGrpSpPr>
        <p:grpSpPr>
          <a:xfrm>
            <a:off x="5408024" y="5830094"/>
            <a:ext cx="1933302" cy="891381"/>
            <a:chOff x="4253696" y="4825563"/>
            <a:chExt cx="1510497" cy="738664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EB0C42A-C2DE-0036-FD8A-2AEDC5F12E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4253696" y="4838700"/>
              <a:ext cx="597634" cy="725527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4EC128D-1B04-D6DA-3409-1DDD574D3F09}"/>
                </a:ext>
              </a:extLst>
            </p:cNvPr>
            <p:cNvSpPr txBox="1"/>
            <p:nvPr userDrawn="1"/>
          </p:nvSpPr>
          <p:spPr>
            <a:xfrm>
              <a:off x="4800600" y="4825563"/>
              <a:ext cx="96359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400" b="0" dirty="0">
                  <a:solidFill>
                    <a:srgbClr val="5F5F5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1400" b="0" dirty="0">
                  <a:solidFill>
                    <a:schemeClr val="accent6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ntelligent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400" b="0" dirty="0">
                  <a:solidFill>
                    <a:srgbClr val="5F5F5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sz="1400" b="0" dirty="0">
                  <a:solidFill>
                    <a:schemeClr val="accent6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trong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400" b="0" dirty="0">
                  <a:solidFill>
                    <a:srgbClr val="5F5F5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sz="1400" b="0" dirty="0">
                  <a:solidFill>
                    <a:schemeClr val="accent6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eady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FC3339E-9382-D5C5-4687-EFA6F970A642}"/>
              </a:ext>
            </a:extLst>
          </p:cNvPr>
          <p:cNvGrpSpPr/>
          <p:nvPr userDrawn="1"/>
        </p:nvGrpSpPr>
        <p:grpSpPr>
          <a:xfrm>
            <a:off x="60840" y="56350"/>
            <a:ext cx="1816526" cy="957209"/>
            <a:chOff x="546187" y="2117631"/>
            <a:chExt cx="5070743" cy="269370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2CA7DC1-8304-AC6B-0640-E6A2B389AF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46187" y="2117631"/>
              <a:ext cx="1898725" cy="1876474"/>
            </a:xfrm>
            <a:prstGeom prst="rect">
              <a:avLst/>
            </a:prstGeom>
            <a:effectLst>
              <a:outerShdw blurRad="38100" dist="25400" dir="2700000" algn="tl" rotWithShape="0">
                <a:prstClr val="black">
                  <a:alpha val="60000"/>
                </a:prstClr>
              </a:outerShdw>
            </a:effectLst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93641DC2-4627-717E-F5DA-F8BA5FB840E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011887" y="2487297"/>
              <a:ext cx="1898725" cy="1883406"/>
            </a:xfrm>
            <a:prstGeom prst="rect">
              <a:avLst/>
            </a:prstGeom>
            <a:effectLst>
              <a:outerShdw blurRad="38100" dist="25400" dir="2700000" algn="tl" rotWithShape="0">
                <a:prstClr val="black">
                  <a:alpha val="60000"/>
                </a:prstClr>
              </a:outerShdw>
            </a:effectLst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E4F61C65-D96D-3EFE-55FA-7D93681602D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3395476" y="2787344"/>
              <a:ext cx="2221454" cy="2023993"/>
            </a:xfrm>
            <a:prstGeom prst="rect">
              <a:avLst/>
            </a:prstGeom>
          </p:spPr>
        </p:pic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506540E5-670B-BD35-FA07-58A45BDD590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06609" y="55588"/>
            <a:ext cx="809935" cy="933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241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3CFCB2-90D9-C344-D59B-2C825856E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CD0FF0B6-C121-46E1-B554-628007314CB6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F20CFAB-CD13-623C-7E49-D0A520A28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7366" y="18256"/>
            <a:ext cx="8555503" cy="976906"/>
          </a:xfrm>
          <a:prstGeom prst="rect">
            <a:avLst/>
          </a:prstGeom>
        </p:spPr>
        <p:txBody>
          <a:bodyPr/>
          <a:lstStyle>
            <a:lvl1pPr algn="ctr">
              <a:defRPr b="1" i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Line 7">
            <a:extLst>
              <a:ext uri="{FF2B5EF4-FFF2-40B4-BE49-F238E27FC236}">
                <a16:creationId xmlns:a16="http://schemas.microsoft.com/office/drawing/2014/main" id="{C8B203E7-7629-6C75-0EC7-FEA08FC889A0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027906"/>
            <a:ext cx="12192000" cy="16373"/>
          </a:xfrm>
          <a:prstGeom prst="line">
            <a:avLst/>
          </a:prstGeom>
          <a:noFill/>
          <a:ln w="38100">
            <a:gradFill flip="none" rotWithShape="1">
              <a:gsLst>
                <a:gs pos="0">
                  <a:schemeClr val="bg1">
                    <a:alpha val="0"/>
                  </a:schemeClr>
                </a:gs>
                <a:gs pos="42000">
                  <a:schemeClr val="accent2">
                    <a:lumMod val="50000"/>
                    <a:alpha val="34000"/>
                  </a:schemeClr>
                </a:gs>
                <a:gs pos="89000">
                  <a:srgbClr val="002060">
                    <a:alpha val="67000"/>
                  </a:srgbClr>
                </a:gs>
              </a:gsLst>
              <a:lin ang="10800000" scaled="1"/>
              <a:tileRect/>
            </a:gra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rgbClr val="000066"/>
              </a:buClr>
              <a:buSzPct val="150000"/>
              <a:defRPr/>
            </a:pPr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2254C-BEE3-D851-1E3B-2653C46B3FC0}"/>
              </a:ext>
            </a:extLst>
          </p:cNvPr>
          <p:cNvGrpSpPr/>
          <p:nvPr userDrawn="1"/>
        </p:nvGrpSpPr>
        <p:grpSpPr>
          <a:xfrm>
            <a:off x="5408024" y="5830094"/>
            <a:ext cx="1933302" cy="891381"/>
            <a:chOff x="4253696" y="4825563"/>
            <a:chExt cx="1510497" cy="73866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ECF9D8F-EF36-84A6-6542-E944EC93EA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4253696" y="4838700"/>
              <a:ext cx="597634" cy="725527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8C297C9-8957-E4A6-1AB6-0D92193E47ED}"/>
                </a:ext>
              </a:extLst>
            </p:cNvPr>
            <p:cNvSpPr txBox="1"/>
            <p:nvPr userDrawn="1"/>
          </p:nvSpPr>
          <p:spPr>
            <a:xfrm>
              <a:off x="4800600" y="4825563"/>
              <a:ext cx="96359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400" b="0" dirty="0">
                  <a:solidFill>
                    <a:srgbClr val="5F5F5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1400" b="0" dirty="0">
                  <a:solidFill>
                    <a:schemeClr val="accent6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ntelligent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400" b="0" dirty="0">
                  <a:solidFill>
                    <a:srgbClr val="5F5F5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sz="1400" b="0" dirty="0">
                  <a:solidFill>
                    <a:schemeClr val="accent6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trong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400" b="0" dirty="0">
                  <a:solidFill>
                    <a:srgbClr val="5F5F5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sz="1400" b="0" dirty="0">
                  <a:solidFill>
                    <a:schemeClr val="accent6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eady</a:t>
              </a:r>
            </a:p>
          </p:txBody>
        </p:sp>
      </p:grpSp>
      <p:sp>
        <p:nvSpPr>
          <p:cNvPr id="16" name="Slide Number Placeholder 8">
            <a:extLst>
              <a:ext uri="{FF2B5EF4-FFF2-40B4-BE49-F238E27FC236}">
                <a16:creationId xmlns:a16="http://schemas.microsoft.com/office/drawing/2014/main" id="{4A2813E0-D765-FDE0-0280-A870E3E77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6092" y="6356350"/>
            <a:ext cx="4200452" cy="365125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b="1" dirty="0"/>
              <a:t>CLASSIFICATION</a:t>
            </a:r>
            <a:r>
              <a:rPr lang="en-US" dirty="0"/>
              <a:t>: </a:t>
            </a:r>
            <a:r>
              <a:rPr lang="en-US" dirty="0">
                <a:solidFill>
                  <a:srgbClr val="00B050"/>
                </a:solidFill>
              </a:rPr>
              <a:t>Controlled Unclassified Information (CUI)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F1EF87B-E461-BFF8-B0E2-AAAE6C78F2A1}"/>
              </a:ext>
            </a:extLst>
          </p:cNvPr>
          <p:cNvGrpSpPr/>
          <p:nvPr userDrawn="1"/>
        </p:nvGrpSpPr>
        <p:grpSpPr>
          <a:xfrm>
            <a:off x="60840" y="56350"/>
            <a:ext cx="1816526" cy="957209"/>
            <a:chOff x="546187" y="2117631"/>
            <a:chExt cx="5070743" cy="269370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C5D152C-A540-CCBC-3200-8CD1AD59ACF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46187" y="2117631"/>
              <a:ext cx="1898725" cy="1876474"/>
            </a:xfrm>
            <a:prstGeom prst="rect">
              <a:avLst/>
            </a:prstGeom>
            <a:effectLst>
              <a:outerShdw blurRad="38100" dist="25400" dir="2700000" algn="tl" rotWithShape="0">
                <a:prstClr val="black">
                  <a:alpha val="60000"/>
                </a:prstClr>
              </a:outerShdw>
            </a:effec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6555468-D603-31F1-612E-AEA30BE33FD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011887" y="2487297"/>
              <a:ext cx="1898725" cy="1883406"/>
            </a:xfrm>
            <a:prstGeom prst="rect">
              <a:avLst/>
            </a:prstGeom>
            <a:effectLst>
              <a:outerShdw blurRad="38100" dist="25400" dir="2700000" algn="tl" rotWithShape="0">
                <a:prstClr val="black">
                  <a:alpha val="60000"/>
                </a:prstClr>
              </a:outerShdw>
            </a:effectLst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10142F7-B51A-F3FB-070E-765A9DE787C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3395476" y="2787344"/>
              <a:ext cx="2221454" cy="2023993"/>
            </a:xfrm>
            <a:prstGeom prst="rect">
              <a:avLst/>
            </a:prstGeom>
          </p:spPr>
        </p:pic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5908F256-12CF-A359-6FAC-3965923E267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06609" y="55588"/>
            <a:ext cx="809935" cy="933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041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EB2FF-CA85-B9A8-37BF-51A5DA267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24778"/>
            <a:ext cx="3932237" cy="1022977"/>
          </a:xfrm>
          <a:prstGeom prst="rect">
            <a:avLst/>
          </a:prstGeom>
        </p:spPr>
        <p:txBody>
          <a:bodyPr anchor="b"/>
          <a:lstStyle>
            <a:lvl1pPr>
              <a:defRPr sz="3200" b="1" i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B15FD-43AD-A07C-3A32-1CA6F35E3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0" y="1324779"/>
            <a:ext cx="6172200" cy="4492903"/>
          </a:xfrm>
        </p:spPr>
        <p:txBody>
          <a:bodyPr/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8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4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2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0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1C6CC1-211B-878B-46CC-02985FF787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0" y="2394753"/>
            <a:ext cx="3932237" cy="3513831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A95D3A-6AE5-ED58-09D6-68846A8F8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CD0FF0B6-C121-46E1-B554-628007314CB6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9DF2A64-1340-AFAD-C9A2-0EA2FE067083}"/>
              </a:ext>
            </a:extLst>
          </p:cNvPr>
          <p:cNvSpPr txBox="1">
            <a:spLocks/>
          </p:cNvSpPr>
          <p:nvPr userDrawn="1"/>
        </p:nvSpPr>
        <p:spPr>
          <a:xfrm>
            <a:off x="1877366" y="18256"/>
            <a:ext cx="8555503" cy="9769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1" kern="12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Line 7">
            <a:extLst>
              <a:ext uri="{FF2B5EF4-FFF2-40B4-BE49-F238E27FC236}">
                <a16:creationId xmlns:a16="http://schemas.microsoft.com/office/drawing/2014/main" id="{4C099455-3E34-87BE-5E77-DC6C3019DF41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027906"/>
            <a:ext cx="12192000" cy="16373"/>
          </a:xfrm>
          <a:prstGeom prst="line">
            <a:avLst/>
          </a:prstGeom>
          <a:noFill/>
          <a:ln w="38100">
            <a:gradFill flip="none" rotWithShape="1">
              <a:gsLst>
                <a:gs pos="0">
                  <a:schemeClr val="bg1">
                    <a:alpha val="0"/>
                  </a:schemeClr>
                </a:gs>
                <a:gs pos="42000">
                  <a:schemeClr val="accent2">
                    <a:lumMod val="50000"/>
                    <a:alpha val="34000"/>
                  </a:schemeClr>
                </a:gs>
                <a:gs pos="89000">
                  <a:srgbClr val="002060">
                    <a:alpha val="67000"/>
                  </a:srgbClr>
                </a:gs>
              </a:gsLst>
              <a:lin ang="10800000" scaled="1"/>
              <a:tileRect/>
            </a:gra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rgbClr val="000066"/>
              </a:buClr>
              <a:buSzPct val="150000"/>
              <a:defRPr/>
            </a:pPr>
            <a:endParaRPr lang="en-US" dirty="0"/>
          </a:p>
        </p:txBody>
      </p:sp>
      <p:sp>
        <p:nvSpPr>
          <p:cNvPr id="15" name="Slide Number Placeholder 8">
            <a:extLst>
              <a:ext uri="{FF2B5EF4-FFF2-40B4-BE49-F238E27FC236}">
                <a16:creationId xmlns:a16="http://schemas.microsoft.com/office/drawing/2014/main" id="{F6A4D4B5-5958-883F-7E29-166E5FE33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6092" y="6356350"/>
            <a:ext cx="4200452" cy="365125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b="1" dirty="0"/>
              <a:t>CLASSIFICATION</a:t>
            </a:r>
            <a:r>
              <a:rPr lang="en-US" dirty="0"/>
              <a:t>: </a:t>
            </a:r>
            <a:r>
              <a:rPr lang="en-US" dirty="0">
                <a:solidFill>
                  <a:srgbClr val="00B050"/>
                </a:solidFill>
              </a:rPr>
              <a:t>Controlled Unclassified Information (CUI)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56D7A1B-E9B3-971E-A69A-DE70868018C6}"/>
              </a:ext>
            </a:extLst>
          </p:cNvPr>
          <p:cNvGrpSpPr/>
          <p:nvPr userDrawn="1"/>
        </p:nvGrpSpPr>
        <p:grpSpPr>
          <a:xfrm>
            <a:off x="5408024" y="5830094"/>
            <a:ext cx="1933302" cy="891381"/>
            <a:chOff x="4253696" y="4825563"/>
            <a:chExt cx="1510497" cy="738664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5B89CE2-3EB5-BC39-3D99-A5186AAEDE6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4253696" y="4838700"/>
              <a:ext cx="597634" cy="725527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13AE802-8902-53E8-8ED2-3C71A4D54327}"/>
                </a:ext>
              </a:extLst>
            </p:cNvPr>
            <p:cNvSpPr txBox="1"/>
            <p:nvPr userDrawn="1"/>
          </p:nvSpPr>
          <p:spPr>
            <a:xfrm>
              <a:off x="4800600" y="4825563"/>
              <a:ext cx="96359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400" b="0" dirty="0">
                  <a:solidFill>
                    <a:srgbClr val="5F5F5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1400" b="0" dirty="0">
                  <a:solidFill>
                    <a:schemeClr val="accent6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ntelligent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400" b="0" dirty="0">
                  <a:solidFill>
                    <a:srgbClr val="5F5F5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sz="1400" b="0" dirty="0">
                  <a:solidFill>
                    <a:schemeClr val="accent6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trong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400" b="0" dirty="0">
                  <a:solidFill>
                    <a:srgbClr val="5F5F5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sz="1400" b="0" dirty="0">
                  <a:solidFill>
                    <a:schemeClr val="accent6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eady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F242DA3-5773-BD38-BFF0-9B5E60987ADA}"/>
              </a:ext>
            </a:extLst>
          </p:cNvPr>
          <p:cNvGrpSpPr/>
          <p:nvPr userDrawn="1"/>
        </p:nvGrpSpPr>
        <p:grpSpPr>
          <a:xfrm>
            <a:off x="60840" y="56350"/>
            <a:ext cx="1816526" cy="957209"/>
            <a:chOff x="546187" y="2117631"/>
            <a:chExt cx="5070743" cy="269370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3610861-2DE9-6455-28C2-8FEDB39ABD1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46187" y="2117631"/>
              <a:ext cx="1898725" cy="1876474"/>
            </a:xfrm>
            <a:prstGeom prst="rect">
              <a:avLst/>
            </a:prstGeom>
            <a:effectLst>
              <a:outerShdw blurRad="38100" dist="25400" dir="2700000" algn="tl" rotWithShape="0">
                <a:prstClr val="black">
                  <a:alpha val="60000"/>
                </a:prstClr>
              </a:outerShdw>
            </a:effectLst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211786AB-6D0B-25E6-23A6-9EA1908E3A6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011887" y="2487297"/>
              <a:ext cx="1898725" cy="1883406"/>
            </a:xfrm>
            <a:prstGeom prst="rect">
              <a:avLst/>
            </a:prstGeom>
            <a:effectLst>
              <a:outerShdw blurRad="38100" dist="25400" dir="2700000" algn="tl" rotWithShape="0">
                <a:prstClr val="black">
                  <a:alpha val="60000"/>
                </a:prstClr>
              </a:outerShdw>
            </a:effectLst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A5380D94-E495-E949-7270-2210B5C537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3395476" y="2787344"/>
              <a:ext cx="2221454" cy="2023993"/>
            </a:xfrm>
            <a:prstGeom prst="rect">
              <a:avLst/>
            </a:prstGeom>
          </p:spPr>
        </p:pic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F1D53230-7612-C83F-FF0D-1B5B5688413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06609" y="55588"/>
            <a:ext cx="809935" cy="933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975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586EC9-8B5E-A281-F098-417F7D470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4C2DFC-06BF-7D73-7E0B-4E9548EF9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9DBBC-69C1-59DA-A885-E2FE8B2965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0FF0B6-C121-46E1-B554-628007314CB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D0B0C8-73E3-42FA-847D-4F1ECAB51A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8223A-8F30-C4A5-5B75-EBC6C90D27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32531C-6299-488D-98AF-45679EBA1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952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am.gov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www.google.com/url?q=https%3A%2F%2Fwww.grandforks.af.mil%2FPoint-Defense-Battle-Lab%2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1A999-A3C4-11A8-8B5F-2F93B4B62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1F0C5-BC90-823D-A09B-97CAFE32D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800" dirty="0"/>
              <a:t>Point Defense Battle Lab </a:t>
            </a:r>
            <a:br>
              <a:rPr lang="en-US" sz="3800" dirty="0"/>
            </a:br>
            <a:r>
              <a:rPr lang="en-US" sz="3800" dirty="0"/>
              <a:t>CY26 Exercise Schedule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4FC3B79-06A0-90E9-39D9-6AA0CBBCDD8D}"/>
              </a:ext>
            </a:extLst>
          </p:cNvPr>
          <p:cNvCxnSpPr>
            <a:cxnSpLocks/>
          </p:cNvCxnSpPr>
          <p:nvPr/>
        </p:nvCxnSpPr>
        <p:spPr>
          <a:xfrm flipV="1">
            <a:off x="17843" y="1066168"/>
            <a:ext cx="9551273" cy="5255935"/>
          </a:xfrm>
          <a:prstGeom prst="straightConnector1">
            <a:avLst/>
          </a:prstGeom>
          <a:ln w="381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9E213D71-6D68-C947-A238-6516D19F1221}"/>
              </a:ext>
            </a:extLst>
          </p:cNvPr>
          <p:cNvSpPr/>
          <p:nvPr/>
        </p:nvSpPr>
        <p:spPr>
          <a:xfrm>
            <a:off x="1933809" y="5228667"/>
            <a:ext cx="4169907" cy="360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bIns="91440" rtlCol="0" anchor="ctr"/>
          <a:lstStyle/>
          <a:p>
            <a:pPr marL="0" marR="0" lvl="0" indent="0" algn="l" defTabSz="121917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all" spc="0" normalizeH="0" baseline="0" noProof="0" dirty="0">
              <a:ln>
                <a:noFill/>
              </a:ln>
              <a:solidFill>
                <a:srgbClr val="201F1F"/>
              </a:solidFill>
              <a:effectLst/>
              <a:uLnTx/>
              <a:uFillTx/>
              <a:latin typeface="Times New Roman" panose="02020603050405020304" pitchFamily="18" charset="0"/>
              <a:ea typeface="Open Sans"/>
              <a:cs typeface="Times New Roman" panose="02020603050405020304" pitchFamily="18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93955FA-12F7-1E31-DA10-8F6BBCD3782A}"/>
              </a:ext>
            </a:extLst>
          </p:cNvPr>
          <p:cNvSpPr/>
          <p:nvPr/>
        </p:nvSpPr>
        <p:spPr>
          <a:xfrm>
            <a:off x="951379" y="5698730"/>
            <a:ext cx="4886417" cy="360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bIns="91440" rtlCol="0" anchor="ctr"/>
          <a:lstStyle/>
          <a:p>
            <a:pPr marL="0" marR="0" lvl="0" indent="0" algn="l" defTabSz="121917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all" spc="0" normalizeH="0" baseline="0" noProof="0" dirty="0">
              <a:ln>
                <a:noFill/>
              </a:ln>
              <a:solidFill>
                <a:srgbClr val="201F1F"/>
              </a:solidFill>
              <a:effectLst/>
              <a:uLnTx/>
              <a:uFillTx/>
              <a:latin typeface="Times New Roman" panose="02020603050405020304" pitchFamily="18" charset="0"/>
              <a:ea typeface="Open Sans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0B2DC8-1354-D488-0F08-06268A8DE8DC}"/>
              </a:ext>
            </a:extLst>
          </p:cNvPr>
          <p:cNvSpPr/>
          <p:nvPr/>
        </p:nvSpPr>
        <p:spPr>
          <a:xfrm>
            <a:off x="1575743" y="5408920"/>
            <a:ext cx="4886417" cy="360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bIns="91440" rtlCol="0" anchor="ctr"/>
          <a:lstStyle/>
          <a:p>
            <a:pPr marL="0" marR="0" lvl="0" indent="0" algn="l" defTabSz="121917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all" spc="0" normalizeH="0" baseline="0" noProof="0" dirty="0">
              <a:ln>
                <a:noFill/>
              </a:ln>
              <a:solidFill>
                <a:srgbClr val="201F1F"/>
              </a:solidFill>
              <a:effectLst/>
              <a:uLnTx/>
              <a:uFillTx/>
              <a:latin typeface="Times New Roman" panose="02020603050405020304" pitchFamily="18" charset="0"/>
              <a:ea typeface="Open Sans"/>
              <a:cs typeface="Times New Roman" panose="02020603050405020304" pitchFamily="18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87B422E-704C-4CF0-DEF2-44A5A942F45A}"/>
              </a:ext>
            </a:extLst>
          </p:cNvPr>
          <p:cNvSpPr/>
          <p:nvPr/>
        </p:nvSpPr>
        <p:spPr>
          <a:xfrm>
            <a:off x="4639221" y="3639480"/>
            <a:ext cx="182880" cy="1828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5C58E5B-673C-1079-952B-CCE4AD0E3886}"/>
              </a:ext>
            </a:extLst>
          </p:cNvPr>
          <p:cNvSpPr/>
          <p:nvPr/>
        </p:nvSpPr>
        <p:spPr>
          <a:xfrm>
            <a:off x="3914649" y="4185139"/>
            <a:ext cx="5220488" cy="360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bIns="91440" rtlCol="0" anchor="ctr"/>
          <a:lstStyle/>
          <a:p>
            <a:pPr lvl="0" defTabSz="1219170">
              <a:lnSpc>
                <a:spcPct val="110000"/>
              </a:lnSpc>
              <a:spcBef>
                <a:spcPts val="1000"/>
              </a:spcBef>
              <a:defRPr/>
            </a:pPr>
            <a:endParaRPr lang="pt-BR" sz="1200" i="0" cap="all" dirty="0">
              <a:solidFill>
                <a:srgbClr val="201F1F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4820AB2-E2A8-B7A9-3D1F-63AC9FFC9E78}"/>
              </a:ext>
            </a:extLst>
          </p:cNvPr>
          <p:cNvSpPr txBox="1"/>
          <p:nvPr/>
        </p:nvSpPr>
        <p:spPr>
          <a:xfrm>
            <a:off x="148195" y="1117241"/>
            <a:ext cx="4746716" cy="19389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Notice: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Point Defense Battle Lab will conduct monthly exercises with commercial vendors. 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exercise will have a specific focus related to finding, fixing, tracking, targeting, engaging, and assessing sUAS and will be advertised via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www.sam.gov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It’s recommended you check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www.sam.gov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month before the exercise you are interested in for the listing.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more information, please visit the Point Defense Battle Lab: website: 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  <a:hlinkClick r:id="rId4" tooltip="https://www.grandforks.af.mil/Point-Defense-Battle-Lab/"/>
              </a:rPr>
              <a:t>https://www.grandforks.af.mil/Point-Defense-Battle-Lab/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2577931-AA17-97FC-D4F4-7B097ADA7549}"/>
              </a:ext>
            </a:extLst>
          </p:cNvPr>
          <p:cNvSpPr/>
          <p:nvPr/>
        </p:nvSpPr>
        <p:spPr>
          <a:xfrm>
            <a:off x="1302007" y="5561596"/>
            <a:ext cx="4886417" cy="360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bIns="91440" rtlCol="0" anchor="ctr"/>
          <a:lstStyle/>
          <a:p>
            <a:pPr marL="0" marR="0" lvl="0" indent="0" algn="l" defTabSz="121917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all" spc="0" normalizeH="0" baseline="0" noProof="0" dirty="0">
              <a:ln>
                <a:noFill/>
              </a:ln>
              <a:solidFill>
                <a:srgbClr val="201F1F"/>
              </a:solidFill>
              <a:effectLst/>
              <a:uLnTx/>
              <a:uFillTx/>
              <a:latin typeface="Times New Roman" panose="02020603050405020304" pitchFamily="18" charset="0"/>
              <a:ea typeface="Open Sans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51A800-7698-0C91-B20D-A32E63BF915F}"/>
              </a:ext>
            </a:extLst>
          </p:cNvPr>
          <p:cNvSpPr/>
          <p:nvPr/>
        </p:nvSpPr>
        <p:spPr>
          <a:xfrm>
            <a:off x="439143" y="5957400"/>
            <a:ext cx="6646470" cy="360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bIns="91440" rtlCol="0" anchor="ctr"/>
          <a:lstStyle/>
          <a:p>
            <a:pPr lvl="0" defTabSz="1219170">
              <a:lnSpc>
                <a:spcPct val="110000"/>
              </a:lnSpc>
              <a:spcBef>
                <a:spcPts val="1000"/>
              </a:spcBef>
              <a:defRPr/>
            </a:pPr>
            <a:r>
              <a:rPr lang="en-US" sz="1000" i="0" cap="all" dirty="0">
                <a:solidFill>
                  <a:srgbClr val="201F1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Feb 26 – </a:t>
            </a:r>
            <a:r>
              <a:rPr lang="en-US" sz="1000" i="0" dirty="0" err="1">
                <a:solidFill>
                  <a:srgbClr val="201F1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DeTect</a:t>
            </a:r>
            <a:r>
              <a:rPr lang="en-US" sz="1000" i="0" dirty="0">
                <a:solidFill>
                  <a:srgbClr val="201F1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Find, Fix, Track Exercise</a:t>
            </a:r>
            <a:endParaRPr kumimoji="0" lang="en-US" sz="1000" b="1" i="0" u="none" strike="noStrike" kern="1200" cap="all" spc="0" normalizeH="0" baseline="0" noProof="0" dirty="0">
              <a:ln>
                <a:noFill/>
              </a:ln>
              <a:solidFill>
                <a:srgbClr val="201F1F"/>
              </a:solidFill>
              <a:effectLst/>
              <a:uLnTx/>
              <a:uFillTx/>
              <a:latin typeface="Times New Roman" panose="02020603050405020304" pitchFamily="18" charset="0"/>
              <a:ea typeface="Open Sans"/>
              <a:cs typeface="Times New Roman" panose="02020603050405020304" pitchFamily="18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0DB4234-091E-52D5-A84D-0EF89F9865E9}"/>
              </a:ext>
            </a:extLst>
          </p:cNvPr>
          <p:cNvSpPr/>
          <p:nvPr/>
        </p:nvSpPr>
        <p:spPr>
          <a:xfrm>
            <a:off x="301731" y="6025980"/>
            <a:ext cx="182880" cy="1828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CD3F86-CA10-ECE2-6674-69420A516059}"/>
              </a:ext>
            </a:extLst>
          </p:cNvPr>
          <p:cNvSpPr/>
          <p:nvPr/>
        </p:nvSpPr>
        <p:spPr>
          <a:xfrm>
            <a:off x="1262963" y="5568403"/>
            <a:ext cx="9020735" cy="360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bIns="91440" rtlCol="0" anchor="ctr"/>
          <a:lstStyle/>
          <a:p>
            <a:pPr lvl="0" defTabSz="1219170">
              <a:lnSpc>
                <a:spcPct val="110000"/>
              </a:lnSpc>
              <a:spcBef>
                <a:spcPts val="1000"/>
              </a:spcBef>
              <a:defRPr/>
            </a:pPr>
            <a:r>
              <a:rPr lang="en-US" sz="1000" i="0" cap="all" dirty="0">
                <a:solidFill>
                  <a:srgbClr val="201F1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Mar 26 – </a:t>
            </a:r>
            <a:r>
              <a:rPr lang="en-US" sz="1000" i="0" dirty="0">
                <a:solidFill>
                  <a:srgbClr val="201F1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Small-Unmanned Air Defense System Find, Fix, Track Exercise</a:t>
            </a:r>
            <a:endParaRPr kumimoji="0" lang="en-US" sz="1000" b="1" i="0" u="none" strike="noStrike" kern="1200" cap="all" spc="0" normalizeH="0" baseline="0" noProof="0" dirty="0">
              <a:ln>
                <a:noFill/>
              </a:ln>
              <a:solidFill>
                <a:srgbClr val="201F1F"/>
              </a:solidFill>
              <a:effectLst/>
              <a:uLnTx/>
              <a:uFillTx/>
              <a:latin typeface="Times New Roman" panose="02020603050405020304" pitchFamily="18" charset="0"/>
              <a:ea typeface="Open Sans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F67C0C-3CA4-A5F3-FAC1-61C4B8AF59F6}"/>
              </a:ext>
            </a:extLst>
          </p:cNvPr>
          <p:cNvSpPr/>
          <p:nvPr/>
        </p:nvSpPr>
        <p:spPr>
          <a:xfrm>
            <a:off x="1996668" y="5122223"/>
            <a:ext cx="6425632" cy="360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bIns="91440" rtlCol="0" anchor="ctr"/>
          <a:lstStyle/>
          <a:p>
            <a:pPr lvl="0" defTabSz="1219170">
              <a:lnSpc>
                <a:spcPct val="110000"/>
              </a:lnSpc>
              <a:spcBef>
                <a:spcPts val="1000"/>
              </a:spcBef>
              <a:defRPr/>
            </a:pPr>
            <a:r>
              <a:rPr lang="en-US" sz="1000" i="0" cap="all" dirty="0">
                <a:solidFill>
                  <a:srgbClr val="201F1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APR 26 –</a:t>
            </a:r>
            <a:r>
              <a:rPr lang="en-US" sz="1000" dirty="0">
                <a:solidFill>
                  <a:srgbClr val="201F1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Find, Fix, Track, Target, Engage Exercise</a:t>
            </a:r>
            <a:endParaRPr kumimoji="0" lang="en-US" sz="1000" b="1" i="0" u="none" strike="noStrike" kern="1200" cap="all" spc="0" normalizeH="0" baseline="0" noProof="0" dirty="0">
              <a:ln>
                <a:noFill/>
              </a:ln>
              <a:solidFill>
                <a:srgbClr val="201F1F"/>
              </a:solidFill>
              <a:effectLst/>
              <a:uLnTx/>
              <a:uFillTx/>
              <a:latin typeface="Times New Roman" panose="02020603050405020304" pitchFamily="18" charset="0"/>
              <a:ea typeface="Open Sans"/>
              <a:cs typeface="Times New Roman" panose="02020603050405020304" pitchFamily="18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1C0074E-51E9-7200-366B-F7B28441DB8E}"/>
              </a:ext>
            </a:extLst>
          </p:cNvPr>
          <p:cNvSpPr/>
          <p:nvPr/>
        </p:nvSpPr>
        <p:spPr>
          <a:xfrm>
            <a:off x="1842369" y="5164804"/>
            <a:ext cx="182880" cy="1828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C357FA9-A15A-8381-8642-C872E1C0F18C}"/>
              </a:ext>
            </a:extLst>
          </p:cNvPr>
          <p:cNvSpPr/>
          <p:nvPr/>
        </p:nvSpPr>
        <p:spPr>
          <a:xfrm>
            <a:off x="2756066" y="4760207"/>
            <a:ext cx="6506150" cy="360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bIns="91440" rtlCol="0" anchor="ctr"/>
          <a:lstStyle/>
          <a:p>
            <a:pPr lvl="0" defTabSz="1219170">
              <a:lnSpc>
                <a:spcPct val="110000"/>
              </a:lnSpc>
              <a:spcBef>
                <a:spcPts val="1000"/>
              </a:spcBef>
              <a:defRPr/>
            </a:pPr>
            <a:r>
              <a:rPr lang="en-US" sz="1000" i="0" cap="all" dirty="0">
                <a:solidFill>
                  <a:srgbClr val="201F1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MAY 26 – </a:t>
            </a:r>
            <a:r>
              <a:rPr lang="en-US" sz="1000" dirty="0">
                <a:solidFill>
                  <a:srgbClr val="201F1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Find, Fix, Track, Target, Engage Exercise</a:t>
            </a:r>
            <a:endParaRPr kumimoji="0" lang="en-US" sz="1000" b="1" i="0" u="none" strike="noStrike" kern="1200" cap="all" spc="0" normalizeH="0" baseline="0" noProof="0" dirty="0">
              <a:ln>
                <a:noFill/>
              </a:ln>
              <a:solidFill>
                <a:srgbClr val="201F1F"/>
              </a:solidFill>
              <a:effectLst/>
              <a:uLnTx/>
              <a:uFillTx/>
              <a:latin typeface="Times New Roman" panose="02020603050405020304" pitchFamily="18" charset="0"/>
              <a:ea typeface="Open Sans"/>
              <a:cs typeface="Times New Roman" panose="02020603050405020304" pitchFamily="18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BF30CD0-9769-2159-2E53-53C8BB6CA674}"/>
              </a:ext>
            </a:extLst>
          </p:cNvPr>
          <p:cNvSpPr/>
          <p:nvPr/>
        </p:nvSpPr>
        <p:spPr>
          <a:xfrm>
            <a:off x="4123567" y="3989590"/>
            <a:ext cx="6814864" cy="360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bIns="91440" rtlCol="0" anchor="ctr"/>
          <a:lstStyle/>
          <a:p>
            <a:pPr lvl="0" defTabSz="1219170">
              <a:lnSpc>
                <a:spcPct val="110000"/>
              </a:lnSpc>
              <a:spcBef>
                <a:spcPts val="1000"/>
              </a:spcBef>
              <a:defRPr/>
            </a:pPr>
            <a:r>
              <a:rPr lang="en-US" sz="1000" i="0" cap="all" dirty="0" err="1">
                <a:solidFill>
                  <a:srgbClr val="201F1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jun</a:t>
            </a:r>
            <a:r>
              <a:rPr lang="en-US" sz="1000" i="0" cap="all" dirty="0">
                <a:solidFill>
                  <a:srgbClr val="201F1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26 – </a:t>
            </a:r>
            <a:r>
              <a:rPr lang="en-US" sz="1000" dirty="0">
                <a:solidFill>
                  <a:srgbClr val="201F1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Persistent Systems Find, Fix, Track Exercise</a:t>
            </a:r>
            <a:endParaRPr kumimoji="0" lang="en-US" sz="1000" b="1" i="0" u="none" strike="noStrike" kern="1200" cap="all" spc="0" normalizeH="0" baseline="0" noProof="0" dirty="0">
              <a:ln>
                <a:noFill/>
              </a:ln>
              <a:solidFill>
                <a:srgbClr val="201F1F"/>
              </a:solidFill>
              <a:effectLst/>
              <a:uLnTx/>
              <a:uFillTx/>
              <a:latin typeface="Times New Roman" panose="02020603050405020304" pitchFamily="18" charset="0"/>
              <a:ea typeface="Open Sans"/>
              <a:cs typeface="Times New Roman" panose="02020603050405020304" pitchFamily="18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60E6D59-0CB9-55A3-5E6F-C57F254739B0}"/>
              </a:ext>
            </a:extLst>
          </p:cNvPr>
          <p:cNvSpPr/>
          <p:nvPr/>
        </p:nvSpPr>
        <p:spPr>
          <a:xfrm>
            <a:off x="3211707" y="4410097"/>
            <a:ext cx="182880" cy="1828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AF52A92-F179-1A96-C2C9-E309D92F3440}"/>
              </a:ext>
            </a:extLst>
          </p:cNvPr>
          <p:cNvSpPr/>
          <p:nvPr/>
        </p:nvSpPr>
        <p:spPr>
          <a:xfrm>
            <a:off x="4826924" y="3588885"/>
            <a:ext cx="6753060" cy="360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bIns="91440" rtlCol="0" anchor="ctr"/>
          <a:lstStyle/>
          <a:p>
            <a:pPr lvl="0" defTabSz="1219170">
              <a:lnSpc>
                <a:spcPct val="110000"/>
              </a:lnSpc>
              <a:spcBef>
                <a:spcPts val="1000"/>
              </a:spcBef>
              <a:defRPr/>
            </a:pPr>
            <a:r>
              <a:rPr lang="en-US" sz="1000" i="0" cap="all" dirty="0">
                <a:solidFill>
                  <a:srgbClr val="201F1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JUL 26 – </a:t>
            </a:r>
            <a:r>
              <a:rPr lang="fr-FR" sz="1000" dirty="0">
                <a:solidFill>
                  <a:srgbClr val="201F1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Advanced </a:t>
            </a:r>
            <a:r>
              <a:rPr lang="fr-FR" sz="1000" dirty="0" err="1">
                <a:solidFill>
                  <a:srgbClr val="201F1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Precision</a:t>
            </a:r>
            <a:r>
              <a:rPr lang="fr-FR" sz="1000" dirty="0">
                <a:solidFill>
                  <a:srgbClr val="201F1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Kill </a:t>
            </a:r>
            <a:r>
              <a:rPr lang="fr-FR" sz="1000" dirty="0" err="1">
                <a:solidFill>
                  <a:srgbClr val="201F1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Weapon</a:t>
            </a:r>
            <a:r>
              <a:rPr lang="fr-FR" sz="1000" dirty="0">
                <a:solidFill>
                  <a:srgbClr val="201F1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System Engage Evaluation</a:t>
            </a:r>
            <a:endParaRPr kumimoji="0" lang="en-US" sz="1000" b="1" i="0" u="none" strike="noStrike" kern="1200" cap="all" spc="0" normalizeH="0" baseline="0" noProof="0" dirty="0">
              <a:ln>
                <a:noFill/>
              </a:ln>
              <a:solidFill>
                <a:srgbClr val="201F1F"/>
              </a:solidFill>
              <a:effectLst/>
              <a:uLnTx/>
              <a:uFillTx/>
              <a:latin typeface="Times New Roman" panose="02020603050405020304" pitchFamily="18" charset="0"/>
              <a:ea typeface="Open Sans"/>
              <a:cs typeface="Times New Roman" panose="02020603050405020304" pitchFamily="18" charset="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60F2A05-1643-5C57-F31B-8F90FB4C5FC8}"/>
              </a:ext>
            </a:extLst>
          </p:cNvPr>
          <p:cNvSpPr/>
          <p:nvPr/>
        </p:nvSpPr>
        <p:spPr>
          <a:xfrm>
            <a:off x="3914649" y="4048053"/>
            <a:ext cx="182880" cy="1828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0718288-9085-8435-F566-67A8498EB455}"/>
              </a:ext>
            </a:extLst>
          </p:cNvPr>
          <p:cNvSpPr txBox="1"/>
          <p:nvPr/>
        </p:nvSpPr>
        <p:spPr>
          <a:xfrm>
            <a:off x="3961442" y="6520914"/>
            <a:ext cx="4269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//Unclassified//Approved for Public Release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373434B-70A6-333E-F34F-176C3C42F7B4}"/>
              </a:ext>
            </a:extLst>
          </p:cNvPr>
          <p:cNvSpPr/>
          <p:nvPr/>
        </p:nvSpPr>
        <p:spPr>
          <a:xfrm>
            <a:off x="6421286" y="2680896"/>
            <a:ext cx="5655906" cy="360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bIns="91440" rtlCol="0" anchor="ctr"/>
          <a:lstStyle/>
          <a:p>
            <a:pPr marL="801688" lvl="0" indent="-801688" defTabSz="1219170">
              <a:lnSpc>
                <a:spcPct val="110000"/>
              </a:lnSpc>
              <a:spcBef>
                <a:spcPts val="1000"/>
              </a:spcBef>
              <a:defRPr/>
            </a:pPr>
            <a:r>
              <a:rPr lang="en-US" sz="1000" i="0" cap="all" dirty="0">
                <a:solidFill>
                  <a:srgbClr val="201F1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SEP 26 –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01F1F"/>
                </a:solidFill>
                <a:effectLst/>
                <a:uLnTx/>
                <a:uFillTx/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Engage</a:t>
            </a:r>
            <a:r>
              <a:rPr kumimoji="0" lang="pt-BR" sz="1000" b="0" i="0" u="none" strike="noStrike" kern="1200" cap="all" spc="0" normalizeH="0" baseline="0" noProof="0" dirty="0">
                <a:ln>
                  <a:noFill/>
                </a:ln>
                <a:solidFill>
                  <a:srgbClr val="201F1F"/>
                </a:solidFill>
                <a:effectLst/>
                <a:uLnTx/>
                <a:uFillTx/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kumimoji="0" lang="pt-BR" sz="1000" b="0" i="0" u="none" strike="noStrike" kern="1200" spc="0" normalizeH="0" baseline="0" noProof="0" dirty="0">
                <a:ln>
                  <a:noFill/>
                </a:ln>
                <a:solidFill>
                  <a:srgbClr val="201F1F"/>
                </a:solidFill>
                <a:effectLst/>
                <a:uLnTx/>
                <a:uFillTx/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Exercise</a:t>
            </a:r>
            <a:endParaRPr lang="en-US" sz="1000" dirty="0">
              <a:solidFill>
                <a:srgbClr val="FF0000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3F2F872-A655-8D17-D53E-4D4EB42848FB}"/>
              </a:ext>
            </a:extLst>
          </p:cNvPr>
          <p:cNvSpPr/>
          <p:nvPr/>
        </p:nvSpPr>
        <p:spPr>
          <a:xfrm>
            <a:off x="2531444" y="4800124"/>
            <a:ext cx="182880" cy="1828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AA989D3-5C0C-583C-F5DD-0599BC6522A8}"/>
              </a:ext>
            </a:extLst>
          </p:cNvPr>
          <p:cNvSpPr/>
          <p:nvPr/>
        </p:nvSpPr>
        <p:spPr>
          <a:xfrm>
            <a:off x="7222227" y="2336112"/>
            <a:ext cx="4359845" cy="360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bIns="91440" rtlCol="0" anchor="ctr"/>
          <a:lstStyle/>
          <a:p>
            <a:pPr marL="858838" lvl="0" indent="-858838" defTabSz="1219170">
              <a:lnSpc>
                <a:spcPct val="110000"/>
              </a:lnSpc>
              <a:spcBef>
                <a:spcPts val="1000"/>
              </a:spcBef>
              <a:defRPr/>
            </a:pPr>
            <a:r>
              <a:rPr lang="en-US" sz="1000" i="0" cap="all" dirty="0">
                <a:solidFill>
                  <a:srgbClr val="201F1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Oct 26 – </a:t>
            </a:r>
            <a:r>
              <a:rPr lang="en-US" sz="1000" dirty="0">
                <a:solidFill>
                  <a:srgbClr val="201F1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Engage</a:t>
            </a:r>
            <a:r>
              <a:rPr lang="pt-BR" sz="1000" cap="all" dirty="0">
                <a:solidFill>
                  <a:srgbClr val="201F1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pt-BR" sz="1000" dirty="0">
                <a:solidFill>
                  <a:srgbClr val="201F1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Exercise</a:t>
            </a:r>
            <a:endParaRPr lang="en-US" sz="1000" dirty="0">
              <a:solidFill>
                <a:srgbClr val="201F1F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569EA6F-FE4F-3CB8-02E7-1B7DBE7FF693}"/>
              </a:ext>
            </a:extLst>
          </p:cNvPr>
          <p:cNvSpPr/>
          <p:nvPr/>
        </p:nvSpPr>
        <p:spPr>
          <a:xfrm>
            <a:off x="6208134" y="2736078"/>
            <a:ext cx="182880" cy="1828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A3F33AC-A4B2-76A1-B36F-2E7350D50004}"/>
              </a:ext>
            </a:extLst>
          </p:cNvPr>
          <p:cNvSpPr/>
          <p:nvPr/>
        </p:nvSpPr>
        <p:spPr>
          <a:xfrm>
            <a:off x="8660906" y="1581357"/>
            <a:ext cx="3245584" cy="360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bIns="91440" rtlCol="0" anchor="ctr"/>
          <a:lstStyle/>
          <a:p>
            <a:pPr lvl="0" defTabSz="1219170">
              <a:lnSpc>
                <a:spcPct val="110000"/>
              </a:lnSpc>
              <a:spcBef>
                <a:spcPts val="1000"/>
              </a:spcBef>
              <a:defRPr/>
            </a:pPr>
            <a:r>
              <a:rPr lang="en-US" sz="1000" i="0" cap="all" dirty="0">
                <a:solidFill>
                  <a:srgbClr val="201F1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NOV </a:t>
            </a:r>
            <a:r>
              <a:rPr lang="en-US" sz="1000" cap="all" dirty="0">
                <a:solidFill>
                  <a:srgbClr val="201F1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26 – </a:t>
            </a:r>
            <a:r>
              <a:rPr lang="en-US" sz="1000" dirty="0">
                <a:solidFill>
                  <a:srgbClr val="201F1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Fix, Track, Target, Engage</a:t>
            </a:r>
            <a:r>
              <a:rPr lang="pt-BR" sz="1000" cap="all" dirty="0">
                <a:solidFill>
                  <a:srgbClr val="201F1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pt-BR" sz="1000" dirty="0">
                <a:solidFill>
                  <a:srgbClr val="201F1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Exercise</a:t>
            </a:r>
            <a:endParaRPr lang="en-US" sz="1000" dirty="0">
              <a:solidFill>
                <a:srgbClr val="201F1F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DBC063B1-5077-F063-8DBD-F4B3A91A4A65}"/>
              </a:ext>
            </a:extLst>
          </p:cNvPr>
          <p:cNvSpPr/>
          <p:nvPr/>
        </p:nvSpPr>
        <p:spPr>
          <a:xfrm>
            <a:off x="8422300" y="1578730"/>
            <a:ext cx="182880" cy="1828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0BE5C7-18EB-D864-5EA1-B3444F7ED53A}"/>
              </a:ext>
            </a:extLst>
          </p:cNvPr>
          <p:cNvSpPr txBox="1"/>
          <p:nvPr/>
        </p:nvSpPr>
        <p:spPr>
          <a:xfrm rot="19907897">
            <a:off x="3306066" y="2838533"/>
            <a:ext cx="3905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Find, Fix, Track, Target, Engage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Assess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436AD2F-21B4-31B4-7AB5-CDE35D697E0C}"/>
              </a:ext>
            </a:extLst>
          </p:cNvPr>
          <p:cNvSpPr/>
          <p:nvPr/>
        </p:nvSpPr>
        <p:spPr>
          <a:xfrm>
            <a:off x="1056337" y="5603172"/>
            <a:ext cx="182880" cy="1828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4A26E62-3383-B2E0-54B5-F63FE6A567F9}"/>
              </a:ext>
            </a:extLst>
          </p:cNvPr>
          <p:cNvSpPr/>
          <p:nvPr/>
        </p:nvSpPr>
        <p:spPr>
          <a:xfrm>
            <a:off x="5369123" y="3248077"/>
            <a:ext cx="182880" cy="1828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710E33F-FD67-E2F1-92CD-149188A71F58}"/>
              </a:ext>
            </a:extLst>
          </p:cNvPr>
          <p:cNvSpPr/>
          <p:nvPr/>
        </p:nvSpPr>
        <p:spPr>
          <a:xfrm>
            <a:off x="3458835" y="4360268"/>
            <a:ext cx="7660469" cy="360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bIns="91440" rtlCol="0" anchor="ctr"/>
          <a:lstStyle/>
          <a:p>
            <a:pPr lvl="0" defTabSz="1219170">
              <a:lnSpc>
                <a:spcPct val="110000"/>
              </a:lnSpc>
              <a:spcBef>
                <a:spcPts val="1000"/>
              </a:spcBef>
              <a:defRPr/>
            </a:pPr>
            <a:r>
              <a:rPr lang="en-US" sz="1000" i="0" cap="all" dirty="0" err="1">
                <a:solidFill>
                  <a:srgbClr val="201F1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jun</a:t>
            </a:r>
            <a:r>
              <a:rPr lang="en-US" sz="1000" i="0" cap="all" dirty="0">
                <a:solidFill>
                  <a:srgbClr val="201F1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26 – </a:t>
            </a:r>
            <a:r>
              <a:rPr lang="en-US" sz="1000" dirty="0">
                <a:solidFill>
                  <a:srgbClr val="201F1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Collaborative Low-altitude UAS Integration Effort Find, Fix, Track Exercise</a:t>
            </a:r>
            <a:endParaRPr kumimoji="0" lang="en-US" sz="1000" b="1" i="0" u="none" strike="noStrike" kern="1200" cap="all" spc="0" normalizeH="0" baseline="0" noProof="0" dirty="0">
              <a:ln>
                <a:noFill/>
              </a:ln>
              <a:solidFill>
                <a:srgbClr val="201F1F"/>
              </a:solidFill>
              <a:effectLst/>
              <a:uLnTx/>
              <a:uFillTx/>
              <a:latin typeface="Times New Roman" panose="02020603050405020304" pitchFamily="18" charset="0"/>
              <a:ea typeface="Open Sans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FB86C5-0F39-1292-5688-23C038B7FB8B}"/>
              </a:ext>
            </a:extLst>
          </p:cNvPr>
          <p:cNvSpPr/>
          <p:nvPr/>
        </p:nvSpPr>
        <p:spPr>
          <a:xfrm>
            <a:off x="9249239" y="1208023"/>
            <a:ext cx="2775416" cy="360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bIns="91440" rtlCol="0" anchor="ctr"/>
          <a:lstStyle/>
          <a:p>
            <a:pPr defTabSz="1219170">
              <a:lnSpc>
                <a:spcPct val="110000"/>
              </a:lnSpc>
              <a:spcBef>
                <a:spcPts val="1000"/>
              </a:spcBef>
              <a:defRPr/>
            </a:pPr>
            <a:r>
              <a:rPr lang="en-US" sz="1000" cap="all" dirty="0">
                <a:solidFill>
                  <a:srgbClr val="201F1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DEC 26  –</a:t>
            </a:r>
            <a:r>
              <a:rPr lang="en-US" sz="1000" dirty="0">
                <a:solidFill>
                  <a:srgbClr val="201F1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Find, Fix, Track, Target, Engage</a:t>
            </a:r>
            <a:r>
              <a:rPr lang="pt-BR" sz="1000" cap="all" dirty="0">
                <a:solidFill>
                  <a:srgbClr val="201F1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pt-BR" sz="1000" dirty="0">
                <a:solidFill>
                  <a:srgbClr val="201F1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Exercise</a:t>
            </a:r>
            <a:endParaRPr lang="en-US" sz="1000" dirty="0">
              <a:solidFill>
                <a:srgbClr val="201F1F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1B3C438-D016-8EBE-5B3D-99D17C9E5E90}"/>
              </a:ext>
            </a:extLst>
          </p:cNvPr>
          <p:cNvSpPr/>
          <p:nvPr/>
        </p:nvSpPr>
        <p:spPr>
          <a:xfrm>
            <a:off x="9022658" y="1205602"/>
            <a:ext cx="182880" cy="1828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8C3BF4-DCE9-A5E2-D3E8-24CFC92F4F4A}"/>
              </a:ext>
            </a:extLst>
          </p:cNvPr>
          <p:cNvSpPr/>
          <p:nvPr/>
        </p:nvSpPr>
        <p:spPr>
          <a:xfrm>
            <a:off x="7937061" y="1932014"/>
            <a:ext cx="3930063" cy="360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bIns="91440" rtlCol="0" anchor="ctr"/>
          <a:lstStyle/>
          <a:p>
            <a:pPr marL="858838" lvl="0" indent="-858838" defTabSz="1219170">
              <a:lnSpc>
                <a:spcPct val="110000"/>
              </a:lnSpc>
              <a:spcBef>
                <a:spcPts val="1000"/>
              </a:spcBef>
              <a:defRPr/>
            </a:pPr>
            <a:r>
              <a:rPr lang="en-US" sz="1000" i="0" cap="all" dirty="0">
                <a:solidFill>
                  <a:srgbClr val="201F1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Oct 26 – </a:t>
            </a:r>
            <a:r>
              <a:rPr lang="en-US" sz="1000" dirty="0">
                <a:solidFill>
                  <a:srgbClr val="201F1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Engage</a:t>
            </a:r>
            <a:r>
              <a:rPr lang="pt-BR" sz="1000" cap="all" dirty="0">
                <a:solidFill>
                  <a:srgbClr val="201F1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pt-BR" sz="1000" dirty="0">
                <a:solidFill>
                  <a:srgbClr val="201F1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Exercise</a:t>
            </a:r>
            <a:endParaRPr lang="en-US" sz="1000" dirty="0">
              <a:solidFill>
                <a:srgbClr val="201F1F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A2E81A9-56BD-6E9E-BB66-147A0D851DEF}"/>
              </a:ext>
            </a:extLst>
          </p:cNvPr>
          <p:cNvSpPr/>
          <p:nvPr/>
        </p:nvSpPr>
        <p:spPr>
          <a:xfrm>
            <a:off x="7064956" y="2353737"/>
            <a:ext cx="175450" cy="1828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0793AFE-A84C-1836-F138-1366BA256156}"/>
              </a:ext>
            </a:extLst>
          </p:cNvPr>
          <p:cNvSpPr txBox="1"/>
          <p:nvPr/>
        </p:nvSpPr>
        <p:spPr>
          <a:xfrm>
            <a:off x="7795196" y="5276643"/>
            <a:ext cx="4095311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Please note that this document is a living draft and is subject to change.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83F701-0B50-4C83-7975-E1424F127DA0}"/>
              </a:ext>
            </a:extLst>
          </p:cNvPr>
          <p:cNvSpPr/>
          <p:nvPr/>
        </p:nvSpPr>
        <p:spPr>
          <a:xfrm>
            <a:off x="5552003" y="3188180"/>
            <a:ext cx="6753060" cy="360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bIns="91440" rtlCol="0" anchor="ctr"/>
          <a:lstStyle/>
          <a:p>
            <a:pPr lvl="0" defTabSz="1219170">
              <a:lnSpc>
                <a:spcPct val="110000"/>
              </a:lnSpc>
              <a:spcBef>
                <a:spcPts val="1000"/>
              </a:spcBef>
              <a:defRPr/>
            </a:pPr>
            <a:r>
              <a:rPr lang="en-US" sz="1000" i="0" cap="all" dirty="0" err="1">
                <a:solidFill>
                  <a:srgbClr val="201F1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aug</a:t>
            </a:r>
            <a:r>
              <a:rPr lang="en-US" sz="1000" i="0" cap="all" dirty="0">
                <a:solidFill>
                  <a:srgbClr val="201F1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26 –</a:t>
            </a:r>
            <a:r>
              <a:rPr lang="fr-FR" sz="1000" dirty="0">
                <a:solidFill>
                  <a:srgbClr val="201F1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Barrett &amp; Northrop Grumman Engage Exercise</a:t>
            </a:r>
            <a:endParaRPr kumimoji="0" lang="en-US" sz="1000" b="1" i="0" u="none" strike="noStrike" kern="1200" cap="all" spc="0" normalizeH="0" baseline="0" noProof="0" dirty="0">
              <a:ln>
                <a:noFill/>
              </a:ln>
              <a:solidFill>
                <a:srgbClr val="201F1F"/>
              </a:solidFill>
              <a:effectLst/>
              <a:uLnTx/>
              <a:uFillTx/>
              <a:latin typeface="Times New Roman" panose="02020603050405020304" pitchFamily="18" charset="0"/>
              <a:ea typeface="Open Sans"/>
              <a:cs typeface="Times New Roman" panose="02020603050405020304" pitchFamily="18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2718CB7-B093-674E-F469-09A2A6862AFD}"/>
              </a:ext>
            </a:extLst>
          </p:cNvPr>
          <p:cNvSpPr/>
          <p:nvPr/>
        </p:nvSpPr>
        <p:spPr>
          <a:xfrm>
            <a:off x="7732907" y="1951707"/>
            <a:ext cx="182880" cy="1828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6485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1002</TotalTime>
  <Words>304</Words>
  <Application>Microsoft Office PowerPoint</Application>
  <PresentationFormat>Widescreen</PresentationFormat>
  <Paragraphs>26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Times New Roman</vt:lpstr>
      <vt:lpstr>Office Theme</vt:lpstr>
      <vt:lpstr>Point Defense Battle Lab  CY26 Exercise Schedule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FLORES DELEON, NATHANIEL S Capt USAF ACC 348 RS/319 RW/CCP</dc:creator>
  <cp:lastModifiedBy>SACHS, BREEANN R MSgt USAF ACC 319 RW/PA</cp:lastModifiedBy>
  <cp:revision>78</cp:revision>
  <cp:lastPrinted>2026-02-04T18:49:15Z</cp:lastPrinted>
  <dcterms:created xsi:type="dcterms:W3CDTF">2023-09-20T17:40:57Z</dcterms:created>
  <dcterms:modified xsi:type="dcterms:W3CDTF">2026-02-06T17:24:13Z</dcterms:modified>
</cp:coreProperties>
</file>