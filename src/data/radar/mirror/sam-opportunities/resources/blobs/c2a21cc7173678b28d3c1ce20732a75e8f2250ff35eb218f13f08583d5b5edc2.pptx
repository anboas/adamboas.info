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33_E1B845ED.xml" ContentType="application/vnd.ms-powerpoint.comments+xml"/>
  <Override PartName="/ppt/comments/modernComment_134_7EBCCC6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95" r:id="rId5"/>
    <p:sldId id="290" r:id="rId6"/>
    <p:sldId id="296" r:id="rId7"/>
    <p:sldId id="297" r:id="rId8"/>
    <p:sldId id="298" r:id="rId9"/>
    <p:sldId id="824" r:id="rId10"/>
    <p:sldId id="299" r:id="rId11"/>
    <p:sldId id="834" r:id="rId12"/>
    <p:sldId id="305" r:id="rId13"/>
    <p:sldId id="302" r:id="rId14"/>
    <p:sldId id="306" r:id="rId15"/>
    <p:sldId id="307" r:id="rId16"/>
    <p:sldId id="308" r:id="rId17"/>
    <p:sldId id="309" r:id="rId18"/>
    <p:sldId id="310" r:id="rId19"/>
    <p:sldId id="311" r:id="rId20"/>
    <p:sldId id="312" r:id="rId21"/>
    <p:sldId id="313" r:id="rId22"/>
    <p:sldId id="314" r:id="rId23"/>
    <p:sldId id="315" r:id="rId24"/>
    <p:sldId id="316" r:id="rId25"/>
    <p:sldId id="317" r:id="rId26"/>
    <p:sldId id="318" r:id="rId27"/>
    <p:sldId id="319" r:id="rId28"/>
    <p:sldId id="284" r:id="rId29"/>
    <p:sldId id="293" r:id="rId3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AF8553E-7428-4242-A590-9F212AC35DE1}">
          <p14:sldIdLst>
            <p14:sldId id="295"/>
            <p14:sldId id="290"/>
            <p14:sldId id="296"/>
            <p14:sldId id="297"/>
            <p14:sldId id="298"/>
            <p14:sldId id="824"/>
            <p14:sldId id="299"/>
          </p14:sldIdLst>
        </p14:section>
        <p14:section name="Technical Team" id="{9746E962-6210-43FD-A0D3-31FACA9CF1DE}">
          <p14:sldIdLst>
            <p14:sldId id="834"/>
            <p14:sldId id="305"/>
            <p14:sldId id="302"/>
            <p14:sldId id="306"/>
            <p14:sldId id="307"/>
            <p14:sldId id="308"/>
            <p14:sldId id="309"/>
            <p14:sldId id="310"/>
            <p14:sldId id="311"/>
            <p14:sldId id="312"/>
            <p14:sldId id="313"/>
            <p14:sldId id="314"/>
            <p14:sldId id="315"/>
            <p14:sldId id="316"/>
            <p14:sldId id="317"/>
            <p14:sldId id="318"/>
            <p14:sldId id="319"/>
            <p14:sldId id="284"/>
            <p14:sldId id="293"/>
          </p14:sldIdLst>
        </p14:section>
      </p14:sectionLst>
    </p:ext>
    <p:ext uri="{EFAFB233-063F-42B5-8137-9DF3F51BA10A}">
      <p15:sldGuideLst xmlns:p15="http://schemas.microsoft.com/office/powerpoint/2012/main">
        <p15:guide id="1" orient="horz" pos="245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C87F81-D1CC-2C19-7223-9D4CBD0E3BFC}" name="Armbruster, Mary E CIV USN NSWCDD DNA (USA)" initials="A(" userId="S::mary.e.armbruster.civ@us.navy.mil::28aaf359-4bff-47cd-9c05-c5188e18c8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092"/>
    <a:srgbClr val="3A3D44"/>
    <a:srgbClr val="4F81BD"/>
    <a:srgbClr val="FFDB01"/>
    <a:srgbClr val="FDEF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D4D52-2F91-40DB-BFDD-F3F2EA947DE4}" v="2" dt="2026-04-24T16:14:46.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85" autoAdjust="0"/>
    <p:restoredTop sz="95981" autoAdjust="0"/>
  </p:normalViewPr>
  <p:slideViewPr>
    <p:cSldViewPr snapToGrid="0" showGuides="1">
      <p:cViewPr varScale="1">
        <p:scale>
          <a:sx n="111" d="100"/>
          <a:sy n="111" d="100"/>
        </p:scale>
        <p:origin x="816" y="78"/>
      </p:cViewPr>
      <p:guideLst>
        <p:guide orient="horz" pos="245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3" d="100"/>
          <a:sy n="83" d="100"/>
        </p:scale>
        <p:origin x="389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ss, Jeffery E CIV USN NSWCDD DNA (USA)" userId="7e07b4d7-592f-4e50-b56f-9afd99d060b6" providerId="ADAL" clId="{EFD0199E-AED1-4146-A4D1-3828AAB83C6B}"/>
    <pc:docChg chg="custSel modSld modMainMaster">
      <pc:chgData name="Ness, Jeffery E CIV USN NSWCDD DNA (USA)" userId="7e07b4d7-592f-4e50-b56f-9afd99d060b6" providerId="ADAL" clId="{EFD0199E-AED1-4146-A4D1-3828AAB83C6B}" dt="2026-04-24T16:14:46.102" v="2"/>
      <pc:docMkLst>
        <pc:docMk/>
      </pc:docMkLst>
      <pc:sldChg chg="delSp mod">
        <pc:chgData name="Ness, Jeffery E CIV USN NSWCDD DNA (USA)" userId="7e07b4d7-592f-4e50-b56f-9afd99d060b6" providerId="ADAL" clId="{EFD0199E-AED1-4146-A4D1-3828AAB83C6B}" dt="2026-04-24T16:09:59.834" v="0" actId="478"/>
        <pc:sldMkLst>
          <pc:docMk/>
          <pc:sldMk cId="189501581" sldId="295"/>
        </pc:sldMkLst>
        <pc:spChg chg="del">
          <ac:chgData name="Ness, Jeffery E CIV USN NSWCDD DNA (USA)" userId="7e07b4d7-592f-4e50-b56f-9afd99d060b6" providerId="ADAL" clId="{EFD0199E-AED1-4146-A4D1-3828AAB83C6B}" dt="2026-04-24T16:09:59.834" v="0" actId="478"/>
          <ac:spMkLst>
            <pc:docMk/>
            <pc:sldMk cId="189501581" sldId="295"/>
            <ac:spMk id="2" creationId="{F9A2EA7A-3A9C-609A-3E75-09EFA3B3DFA4}"/>
          </ac:spMkLst>
        </pc:spChg>
      </pc:sldChg>
      <pc:sldMasterChg chg="addSp modSp modSldLayout">
        <pc:chgData name="Ness, Jeffery E CIV USN NSWCDD DNA (USA)" userId="7e07b4d7-592f-4e50-b56f-9afd99d060b6" providerId="ADAL" clId="{EFD0199E-AED1-4146-A4D1-3828AAB83C6B}" dt="2026-04-24T16:14:46.102" v="2"/>
        <pc:sldMasterMkLst>
          <pc:docMk/>
          <pc:sldMasterMk cId="3353734936" sldId="2147483648"/>
        </pc:sldMasterMkLst>
        <pc:spChg chg="add mod">
          <ac:chgData name="Ness, Jeffery E CIV USN NSWCDD DNA (USA)" userId="7e07b4d7-592f-4e50-b56f-9afd99d060b6" providerId="ADAL" clId="{EFD0199E-AED1-4146-A4D1-3828AAB83C6B}" dt="2026-04-24T16:14:46.102" v="2"/>
          <ac:spMkLst>
            <pc:docMk/>
            <pc:sldMasterMk cId="3353734936" sldId="2147483648"/>
            <ac:spMk id="4" creationId="{5E440B5F-24F6-8438-9B62-F7994B35D799}"/>
          </ac:spMkLst>
        </pc:spChg>
        <pc:sldLayoutChg chg="addSp modSp">
          <pc:chgData name="Ness, Jeffery E CIV USN NSWCDD DNA (USA)" userId="7e07b4d7-592f-4e50-b56f-9afd99d060b6" providerId="ADAL" clId="{EFD0199E-AED1-4146-A4D1-3828AAB83C6B}" dt="2026-04-24T16:14:42.180" v="1"/>
          <pc:sldLayoutMkLst>
            <pc:docMk/>
            <pc:sldMasterMk cId="3353734936" sldId="2147483648"/>
            <pc:sldLayoutMk cId="1554344141" sldId="2147483685"/>
          </pc:sldLayoutMkLst>
          <pc:spChg chg="add mod">
            <ac:chgData name="Ness, Jeffery E CIV USN NSWCDD DNA (USA)" userId="7e07b4d7-592f-4e50-b56f-9afd99d060b6" providerId="ADAL" clId="{EFD0199E-AED1-4146-A4D1-3828AAB83C6B}" dt="2026-04-24T16:14:42.180" v="1"/>
            <ac:spMkLst>
              <pc:docMk/>
              <pc:sldMasterMk cId="3353734936" sldId="2147483648"/>
              <pc:sldLayoutMk cId="1554344141" sldId="2147483685"/>
              <ac:spMk id="2" creationId="{5B6867D7-7D0B-9E57-F546-131430FE1DB1}"/>
            </ac:spMkLst>
          </pc:spChg>
        </pc:sldLayoutChg>
      </pc:sldMasterChg>
    </pc:docChg>
  </pc:docChgLst>
</pc:chgInfo>
</file>

<file path=ppt/comments/modernComment_133_E1B845ED.xml><?xml version="1.0" encoding="utf-8"?>
<p188:cmLst xmlns:a="http://schemas.openxmlformats.org/drawingml/2006/main" xmlns:r="http://schemas.openxmlformats.org/officeDocument/2006/relationships" xmlns:p188="http://schemas.microsoft.com/office/powerpoint/2018/8/main">
  <p188:cm id="{9DAB8EF5-C352-4DEE-85E9-9C81C8F683B4}" authorId="{87C87F81-D1CC-2C19-7223-9D4CBD0E3BFC}" created="2026-04-10T14:40:36.441">
    <ac:txMkLst xmlns:ac="http://schemas.microsoft.com/office/drawing/2013/main/command">
      <pc:docMk xmlns:pc="http://schemas.microsoft.com/office/powerpoint/2013/main/command"/>
      <pc:sldMk xmlns:pc="http://schemas.microsoft.com/office/powerpoint/2013/main/command" cId="3786950125" sldId="307"/>
      <ac:spMk id="3" creationId="{35CA5DEA-C362-62B1-4CD2-FD6340926A0B}"/>
      <ac:txMk cp="747">
        <ac:context len="749" hash="1893052859"/>
      </ac:txMk>
    </ac:txMkLst>
    <p188:pos x="9988826" y="4654826"/>
    <p188:txBody>
      <a:bodyPr/>
      <a:lstStyle/>
      <a:p>
        <a:r>
          <a:rPr lang="en-US"/>
          <a:t>Not sure if they would take this as testing for every single piece of equipment? </a:t>
        </a:r>
      </a:p>
    </p188:txBody>
  </p188:cm>
</p188:cmLst>
</file>

<file path=ppt/comments/modernComment_134_7EBCCC60.xml><?xml version="1.0" encoding="utf-8"?>
<p188:cmLst xmlns:a="http://schemas.openxmlformats.org/drawingml/2006/main" xmlns:r="http://schemas.openxmlformats.org/officeDocument/2006/relationships" xmlns:p188="http://schemas.microsoft.com/office/powerpoint/2018/8/main">
  <p188:cm id="{3BBFE728-654A-4B4B-A4AA-C639CDFA309B}" authorId="{87C87F81-D1CC-2C19-7223-9D4CBD0E3BFC}" status="resolved" created="2026-04-10T15:01:23.966" complete="100000">
    <ac:txMkLst xmlns:ac="http://schemas.microsoft.com/office/drawing/2013/main/command">
      <pc:docMk xmlns:pc="http://schemas.microsoft.com/office/powerpoint/2013/main/command"/>
      <pc:sldMk xmlns:pc="http://schemas.microsoft.com/office/powerpoint/2013/main/command" cId="2126302304" sldId="308"/>
      <ac:spMk id="3" creationId="{1EE65D06-DAF8-F52C-592F-F9CDDFC99390}"/>
      <ac:txMk cp="708">
        <ac:context len="710" hash="2815831459"/>
      </ac:txMk>
    </ac:txMkLst>
    <p188:pos x="8837543" y="4961282"/>
    <p188:txBody>
      <a:bodyPr/>
      <a:lstStyle/>
      <a:p>
        <a:r>
          <a:rPr lang="en-US"/>
          <a:t>Move to cyber?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0F675CC1-2318-4C41-8208-7580D27E2D09}" type="datetimeFigureOut">
              <a:rPr lang="en-US" smtClean="0"/>
              <a:t>4/24/2026</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495E66DA-F334-4DEA-9AA3-4A797D0B5F10}" type="slidenum">
              <a:rPr lang="en-US" smtClean="0"/>
              <a:t>‹#›</a:t>
            </a:fld>
            <a:endParaRPr lang="en-US"/>
          </a:p>
        </p:txBody>
      </p:sp>
    </p:spTree>
    <p:extLst>
      <p:ext uri="{BB962C8B-B14F-4D97-AF65-F5344CB8AC3E}">
        <p14:creationId xmlns:p14="http://schemas.microsoft.com/office/powerpoint/2010/main" val="12330870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145" cy="464205"/>
          </a:xfrm>
          <a:prstGeom prst="rect">
            <a:avLst/>
          </a:prstGeom>
        </p:spPr>
        <p:txBody>
          <a:bodyPr vert="horz" lIns="88139" tIns="44070" rIns="88139" bIns="44070" rtlCol="0"/>
          <a:lstStyle>
            <a:lvl1pPr algn="l">
              <a:defRPr sz="1200"/>
            </a:lvl1pPr>
          </a:lstStyle>
          <a:p>
            <a:endParaRPr lang="en-US" dirty="0"/>
          </a:p>
        </p:txBody>
      </p:sp>
      <p:sp>
        <p:nvSpPr>
          <p:cNvPr id="3" name="Date Placeholder 2"/>
          <p:cNvSpPr>
            <a:spLocks noGrp="1"/>
          </p:cNvSpPr>
          <p:nvPr>
            <p:ph type="dt" idx="1"/>
          </p:nvPr>
        </p:nvSpPr>
        <p:spPr>
          <a:xfrm>
            <a:off x="3970734" y="1"/>
            <a:ext cx="3038145" cy="464205"/>
          </a:xfrm>
          <a:prstGeom prst="rect">
            <a:avLst/>
          </a:prstGeom>
        </p:spPr>
        <p:txBody>
          <a:bodyPr vert="horz" lIns="88139" tIns="44070" rIns="88139" bIns="44070" rtlCol="0"/>
          <a:lstStyle>
            <a:lvl1pPr algn="r">
              <a:defRPr sz="1200"/>
            </a:lvl1pPr>
          </a:lstStyle>
          <a:p>
            <a:fld id="{5FB3AF17-81F5-470D-BDFF-D4EBFA516616}" type="datetimeFigureOut">
              <a:rPr lang="en-US" smtClean="0"/>
              <a:t>4/24/2026</a:t>
            </a:fld>
            <a:endParaRPr lang="en-US" dirty="0"/>
          </a:p>
        </p:txBody>
      </p:sp>
      <p:sp>
        <p:nvSpPr>
          <p:cNvPr id="4" name="Slide Image Placeholder 3"/>
          <p:cNvSpPr>
            <a:spLocks noGrp="1" noRot="1" noChangeAspect="1"/>
          </p:cNvSpPr>
          <p:nvPr>
            <p:ph type="sldImg" idx="2"/>
          </p:nvPr>
        </p:nvSpPr>
        <p:spPr>
          <a:xfrm>
            <a:off x="406400" y="698500"/>
            <a:ext cx="6197600" cy="3486150"/>
          </a:xfrm>
          <a:prstGeom prst="rect">
            <a:avLst/>
          </a:prstGeom>
          <a:noFill/>
          <a:ln w="12700">
            <a:solidFill>
              <a:prstClr val="black"/>
            </a:solidFill>
          </a:ln>
        </p:spPr>
        <p:txBody>
          <a:bodyPr vert="horz" lIns="88139" tIns="44070" rIns="88139" bIns="44070" rtlCol="0" anchor="ctr"/>
          <a:lstStyle/>
          <a:p>
            <a:endParaRPr lang="en-US" dirty="0"/>
          </a:p>
        </p:txBody>
      </p:sp>
      <p:sp>
        <p:nvSpPr>
          <p:cNvPr id="5" name="Notes Placeholder 4"/>
          <p:cNvSpPr>
            <a:spLocks noGrp="1"/>
          </p:cNvSpPr>
          <p:nvPr>
            <p:ph type="body" sz="quarter" idx="3"/>
          </p:nvPr>
        </p:nvSpPr>
        <p:spPr>
          <a:xfrm>
            <a:off x="701345" y="4416099"/>
            <a:ext cx="5607711" cy="4182457"/>
          </a:xfrm>
          <a:prstGeom prst="rect">
            <a:avLst/>
          </a:prstGeom>
        </p:spPr>
        <p:txBody>
          <a:bodyPr vert="horz" lIns="88139" tIns="44070" rIns="88139" bIns="4407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30659"/>
            <a:ext cx="3038145" cy="464205"/>
          </a:xfrm>
          <a:prstGeom prst="rect">
            <a:avLst/>
          </a:prstGeom>
        </p:spPr>
        <p:txBody>
          <a:bodyPr vert="horz" lIns="88139" tIns="44070" rIns="88139" bIns="4407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734" y="8830659"/>
            <a:ext cx="3038145" cy="464205"/>
          </a:xfrm>
          <a:prstGeom prst="rect">
            <a:avLst/>
          </a:prstGeom>
        </p:spPr>
        <p:txBody>
          <a:bodyPr vert="horz" lIns="88139" tIns="44070" rIns="88139" bIns="44070" rtlCol="0" anchor="b"/>
          <a:lstStyle>
            <a:lvl1pPr algn="r">
              <a:defRPr sz="1200"/>
            </a:lvl1pPr>
          </a:lstStyle>
          <a:p>
            <a:fld id="{ABB5FD36-168E-43B5-9CBC-6EDD4BCE8FC3}" type="slidenum">
              <a:rPr lang="en-US" smtClean="0"/>
              <a:t>‹#›</a:t>
            </a:fld>
            <a:endParaRPr lang="en-US" dirty="0"/>
          </a:p>
        </p:txBody>
      </p:sp>
    </p:spTree>
    <p:extLst>
      <p:ext uri="{BB962C8B-B14F-4D97-AF65-F5344CB8AC3E}">
        <p14:creationId xmlns:p14="http://schemas.microsoft.com/office/powerpoint/2010/main" val="3171562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B5FD36-168E-43B5-9CBC-6EDD4BCE8FC3}" type="slidenum">
              <a:rPr lang="en-US" smtClean="0"/>
              <a:t>1</a:t>
            </a:fld>
            <a:endParaRPr lang="en-US" dirty="0"/>
          </a:p>
        </p:txBody>
      </p:sp>
    </p:spTree>
    <p:extLst>
      <p:ext uri="{BB962C8B-B14F-4D97-AF65-F5344CB8AC3E}">
        <p14:creationId xmlns:p14="http://schemas.microsoft.com/office/powerpoint/2010/main" val="4015696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48C0E-6AC6-5093-2096-85D267723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AA62C-4AA5-892C-5260-57E8BBA3C935}"/>
              </a:ext>
            </a:extLst>
          </p:cNvPr>
          <p:cNvSpPr>
            <a:spLocks noGrp="1" noRot="1" noChangeAspect="1"/>
          </p:cNvSpPr>
          <p:nvPr>
            <p:ph type="sldImg"/>
          </p:nvPr>
        </p:nvSpPr>
        <p:spPr>
          <a:xfrm>
            <a:off x="406400" y="698500"/>
            <a:ext cx="6197600" cy="3486150"/>
          </a:xfrm>
        </p:spPr>
      </p:sp>
      <p:sp>
        <p:nvSpPr>
          <p:cNvPr id="3" name="Notes Placeholder 2">
            <a:extLst>
              <a:ext uri="{FF2B5EF4-FFF2-40B4-BE49-F238E27FC236}">
                <a16:creationId xmlns:a16="http://schemas.microsoft.com/office/drawing/2014/main" id="{7ED0EC1D-B833-E716-8CFF-A041B34A41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FBDAAA-AFC6-F40D-F45C-A7FEC6283B2C}"/>
              </a:ext>
            </a:extLst>
          </p:cNvPr>
          <p:cNvSpPr>
            <a:spLocks noGrp="1"/>
          </p:cNvSpPr>
          <p:nvPr>
            <p:ph type="sldNum" sz="quarter" idx="10"/>
          </p:nvPr>
        </p:nvSpPr>
        <p:spPr/>
        <p:txBody>
          <a:bodyPr/>
          <a:lstStyle/>
          <a:p>
            <a:fld id="{ABB5FD36-168E-43B5-9CBC-6EDD4BCE8FC3}" type="slidenum">
              <a:rPr lang="en-US" smtClean="0"/>
              <a:t>8</a:t>
            </a:fld>
            <a:endParaRPr lang="en-US" dirty="0"/>
          </a:p>
        </p:txBody>
      </p:sp>
    </p:spTree>
    <p:extLst>
      <p:ext uri="{BB962C8B-B14F-4D97-AF65-F5344CB8AC3E}">
        <p14:creationId xmlns:p14="http://schemas.microsoft.com/office/powerpoint/2010/main" val="3053646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9870" indent="-229870">
              <a:spcBef>
                <a:spcPct val="20000"/>
              </a:spcBef>
              <a:buFont typeface="Arial"/>
              <a:buChar char="•"/>
            </a:pPr>
            <a:r>
              <a:rPr lang="en-US"/>
              <a:t>RDDS distributes Radar Data from shipboard Radars to Common Display Consoles (CDS), AN/SPA-25s and other Legacy Indicators.</a:t>
            </a:r>
          </a:p>
          <a:p>
            <a:pPr marL="229870" indent="-229870">
              <a:spcBef>
                <a:spcPct val="20000"/>
              </a:spcBef>
              <a:buFont typeface="Arial"/>
              <a:buChar char="•"/>
            </a:pPr>
            <a:r>
              <a:rPr lang="en-US"/>
              <a:t>DNA35 provides Cradle to Grave support for AN/SPQ-12(V) RADDS, AN/SPQ-14(V) Advanced Sensor Distribution Systems (ASDS), AN/SPQ-15(V) Sensor Distribution Systems (SDS), as well as AN/SPA-25 consoles. </a:t>
            </a:r>
          </a:p>
        </p:txBody>
      </p:sp>
      <p:sp>
        <p:nvSpPr>
          <p:cNvPr id="4" name="Slide Number Placeholder 3"/>
          <p:cNvSpPr>
            <a:spLocks noGrp="1"/>
          </p:cNvSpPr>
          <p:nvPr>
            <p:ph type="sldNum" sz="quarter" idx="5"/>
          </p:nvPr>
        </p:nvSpPr>
        <p:spPr/>
        <p:txBody>
          <a:bodyPr/>
          <a:lstStyle/>
          <a:p>
            <a:fld id="{ABB5FD36-168E-43B5-9CBC-6EDD4BCE8FC3}" type="slidenum">
              <a:rPr lang="en-US" smtClean="0"/>
              <a:t>9</a:t>
            </a:fld>
            <a:endParaRPr lang="en-US" dirty="0"/>
          </a:p>
        </p:txBody>
      </p:sp>
    </p:spTree>
    <p:extLst>
      <p:ext uri="{BB962C8B-B14F-4D97-AF65-F5344CB8AC3E}">
        <p14:creationId xmlns:p14="http://schemas.microsoft.com/office/powerpoint/2010/main" val="2088360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Defined manufacturing process and tests.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ABB5FD36-168E-43B5-9CBC-6EDD4BCE8FC3}" type="slidenum">
              <a:rPr lang="en-US" smtClean="0"/>
              <a:t>11</a:t>
            </a:fld>
            <a:endParaRPr lang="en-US" dirty="0"/>
          </a:p>
        </p:txBody>
      </p:sp>
    </p:spTree>
    <p:extLst>
      <p:ext uri="{BB962C8B-B14F-4D97-AF65-F5344CB8AC3E}">
        <p14:creationId xmlns:p14="http://schemas.microsoft.com/office/powerpoint/2010/main" val="3525535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system is a redline system on the ship, so it needs to be ready to go after installation and testing so factory testing needs to be up to snuff. They get installed with the combat system equipment, long run times are needed. </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BB5FD36-168E-43B5-9CBC-6EDD4BCE8FC3}" type="slidenum">
              <a:rPr lang="en-US" smtClean="0"/>
              <a:t>12</a:t>
            </a:fld>
            <a:endParaRPr lang="en-US" dirty="0"/>
          </a:p>
        </p:txBody>
      </p:sp>
    </p:spTree>
    <p:extLst>
      <p:ext uri="{BB962C8B-B14F-4D97-AF65-F5344CB8AC3E}">
        <p14:creationId xmlns:p14="http://schemas.microsoft.com/office/powerpoint/2010/main" val="2818978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Printed circuit boards (CCAs) are custom to the system and TDP. </a:t>
            </a:r>
          </a:p>
          <a:p>
            <a:r>
              <a:rPr lang="en-US">
                <a:ea typeface="Calibri"/>
                <a:cs typeface="Calibri"/>
              </a:rPr>
              <a:t>SPQ-14(V) CCAs are obsolete so a solution will be needed, most likely custom</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ABB5FD36-168E-43B5-9CBC-6EDD4BCE8FC3}" type="slidenum">
              <a:rPr lang="en-US" smtClean="0"/>
              <a:t>15</a:t>
            </a:fld>
            <a:endParaRPr lang="en-US" dirty="0"/>
          </a:p>
        </p:txBody>
      </p:sp>
    </p:spTree>
    <p:extLst>
      <p:ext uri="{BB962C8B-B14F-4D97-AF65-F5344CB8AC3E}">
        <p14:creationId xmlns:p14="http://schemas.microsoft.com/office/powerpoint/2010/main" val="4074791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Talk about ILO and SOVT. </a:t>
            </a:r>
          </a:p>
          <a:p>
            <a:r>
              <a:rPr lang="en-US">
                <a:ea typeface="Calibri"/>
                <a:cs typeface="Calibri"/>
              </a:rPr>
              <a:t>EQT – MIL_STD-810 and 461 – all of our equipment has to meet these standards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BB5FD36-168E-43B5-9CBC-6EDD4BCE8FC3}" type="slidenum">
              <a:rPr lang="en-US" smtClean="0"/>
              <a:t>17</a:t>
            </a:fld>
            <a:endParaRPr lang="en-US" dirty="0"/>
          </a:p>
        </p:txBody>
      </p:sp>
    </p:spTree>
    <p:extLst>
      <p:ext uri="{BB962C8B-B14F-4D97-AF65-F5344CB8AC3E}">
        <p14:creationId xmlns:p14="http://schemas.microsoft.com/office/powerpoint/2010/main" val="44229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FMS customers – new variations of the TDP are put together according to requirements for radar distribution systems. </a:t>
            </a:r>
          </a:p>
          <a:p>
            <a:r>
              <a:rPr lang="en-US">
                <a:ea typeface="Calibri"/>
                <a:cs typeface="Calibri"/>
              </a:rPr>
              <a:t>Damaged PCBS or CCAs are damaged so the specialized capability to inspect and repair.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BB5FD36-168E-43B5-9CBC-6EDD4BCE8FC3}" type="slidenum">
              <a:rPr lang="en-US" smtClean="0"/>
              <a:t>18</a:t>
            </a:fld>
            <a:endParaRPr lang="en-US" dirty="0"/>
          </a:p>
        </p:txBody>
      </p:sp>
    </p:spTree>
    <p:extLst>
      <p:ext uri="{BB962C8B-B14F-4D97-AF65-F5344CB8AC3E}">
        <p14:creationId xmlns:p14="http://schemas.microsoft.com/office/powerpoint/2010/main" val="1891119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Emphasize we take care of the system for its whole lifecycle – SPQ-14 in sustainment </a:t>
            </a:r>
          </a:p>
          <a:p>
            <a:r>
              <a:rPr lang="en-US">
                <a:ea typeface="Calibri"/>
                <a:cs typeface="Calibri"/>
              </a:rPr>
              <a:t>Work very closely alongside our logistics leads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ABB5FD36-168E-43B5-9CBC-6EDD4BCE8FC3}" type="slidenum">
              <a:rPr lang="en-US" smtClean="0"/>
              <a:t>19</a:t>
            </a:fld>
            <a:endParaRPr lang="en-US" dirty="0"/>
          </a:p>
        </p:txBody>
      </p:sp>
    </p:spTree>
    <p:extLst>
      <p:ext uri="{BB962C8B-B14F-4D97-AF65-F5344CB8AC3E}">
        <p14:creationId xmlns:p14="http://schemas.microsoft.com/office/powerpoint/2010/main" val="1113652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Highlight S1000D and IETM usage in the fleet</a:t>
            </a:r>
          </a:p>
        </p:txBody>
      </p:sp>
      <p:sp>
        <p:nvSpPr>
          <p:cNvPr id="4" name="Slide Number Placeholder 3"/>
          <p:cNvSpPr>
            <a:spLocks noGrp="1"/>
          </p:cNvSpPr>
          <p:nvPr>
            <p:ph type="sldNum" sz="quarter" idx="5"/>
          </p:nvPr>
        </p:nvSpPr>
        <p:spPr/>
        <p:txBody>
          <a:bodyPr/>
          <a:lstStyle/>
          <a:p>
            <a:fld id="{ABB5FD36-168E-43B5-9CBC-6EDD4BCE8FC3}" type="slidenum">
              <a:rPr lang="en-US" smtClean="0"/>
              <a:t>21</a:t>
            </a:fld>
            <a:endParaRPr lang="en-US" dirty="0"/>
          </a:p>
        </p:txBody>
      </p:sp>
    </p:spTree>
    <p:extLst>
      <p:ext uri="{BB962C8B-B14F-4D97-AF65-F5344CB8AC3E}">
        <p14:creationId xmlns:p14="http://schemas.microsoft.com/office/powerpoint/2010/main" val="1547746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is a good spot to talk about examples like the in rush limiter. Government working hand in hand with the contractor to come up with the solution. </a:t>
            </a:r>
          </a:p>
        </p:txBody>
      </p:sp>
      <p:sp>
        <p:nvSpPr>
          <p:cNvPr id="4" name="Slide Number Placeholder 3"/>
          <p:cNvSpPr>
            <a:spLocks noGrp="1"/>
          </p:cNvSpPr>
          <p:nvPr>
            <p:ph type="sldNum" sz="quarter" idx="5"/>
          </p:nvPr>
        </p:nvSpPr>
        <p:spPr/>
        <p:txBody>
          <a:bodyPr/>
          <a:lstStyle/>
          <a:p>
            <a:fld id="{ABB5FD36-168E-43B5-9CBC-6EDD4BCE8FC3}" type="slidenum">
              <a:rPr lang="en-US" smtClean="0"/>
              <a:t>22</a:t>
            </a:fld>
            <a:endParaRPr lang="en-US" dirty="0"/>
          </a:p>
        </p:txBody>
      </p:sp>
    </p:spTree>
    <p:extLst>
      <p:ext uri="{BB962C8B-B14F-4D97-AF65-F5344CB8AC3E}">
        <p14:creationId xmlns:p14="http://schemas.microsoft.com/office/powerpoint/2010/main" val="3640388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ABB5FD36-168E-43B5-9CBC-6EDD4BCE8FC3}" type="slidenum">
              <a:rPr lang="en-US" smtClean="0"/>
              <a:t>23</a:t>
            </a:fld>
            <a:endParaRPr lang="en-US" dirty="0"/>
          </a:p>
        </p:txBody>
      </p:sp>
    </p:spTree>
    <p:extLst>
      <p:ext uri="{BB962C8B-B14F-4D97-AF65-F5344CB8AC3E}">
        <p14:creationId xmlns:p14="http://schemas.microsoft.com/office/powerpoint/2010/main" val="26340768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 D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C36257-8CC6-C6D9-399C-67988C9029F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4" y="858"/>
            <a:ext cx="12190472" cy="6857141"/>
          </a:xfrm>
          <a:prstGeom prst="rect">
            <a:avLst/>
          </a:prstGeom>
        </p:spPr>
      </p:pic>
      <p:sp>
        <p:nvSpPr>
          <p:cNvPr id="5" name="TextBox 4">
            <a:extLst>
              <a:ext uri="{FF2B5EF4-FFF2-40B4-BE49-F238E27FC236}">
                <a16:creationId xmlns:a16="http://schemas.microsoft.com/office/drawing/2014/main" id="{E8A2407C-40E1-A708-E7F6-B2A67B0E17FD}"/>
              </a:ext>
            </a:extLst>
          </p:cNvPr>
          <p:cNvSpPr txBox="1"/>
          <p:nvPr userDrawn="1"/>
        </p:nvSpPr>
        <p:spPr>
          <a:xfrm>
            <a:off x="402673" y="2596495"/>
            <a:ext cx="5972961"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300" b="1" i="0" u="none" strike="noStrike" kern="1200" cap="none" spc="0" normalizeH="0" baseline="0" noProof="0" dirty="0">
                <a:ln>
                  <a:noFill/>
                </a:ln>
                <a:solidFill>
                  <a:schemeClr val="tx2"/>
                </a:solidFill>
                <a:effectLst/>
                <a:uLnTx/>
                <a:uFillTx/>
                <a:latin typeface="Cambria" panose="02040503050406030204" pitchFamily="18" charset="0"/>
                <a:ea typeface="Cambria" panose="02040503050406030204" pitchFamily="18" charset="0"/>
                <a:cs typeface="+mn-cs"/>
              </a:rPr>
              <a:t>Dam Neck Activity</a:t>
            </a:r>
            <a:endParaRPr kumimoji="0" lang="en-US" sz="2300" b="1" i="0" u="none" strike="noStrike" kern="1200" cap="none" spc="0" normalizeH="0" baseline="0" noProof="0" dirty="0">
              <a:ln>
                <a:noFill/>
              </a:ln>
              <a:solidFill>
                <a:schemeClr val="tx2"/>
              </a:solidFill>
              <a:effectLst/>
              <a:uLnTx/>
              <a:uFillTx/>
              <a:latin typeface="Cambria" panose="02040503050406030204" pitchFamily="18" charset="0"/>
              <a:ea typeface="Cambria" panose="02040503050406030204" pitchFamily="18" charset="0"/>
              <a:cs typeface="+mn-cs"/>
            </a:endParaRPr>
          </a:p>
        </p:txBody>
      </p:sp>
      <p:sp>
        <p:nvSpPr>
          <p:cNvPr id="6" name="Subtitle 2">
            <a:extLst>
              <a:ext uri="{FF2B5EF4-FFF2-40B4-BE49-F238E27FC236}">
                <a16:creationId xmlns:a16="http://schemas.microsoft.com/office/drawing/2014/main" id="{544905A0-D170-97A8-55BD-A548E17C7A63}"/>
              </a:ext>
            </a:extLst>
          </p:cNvPr>
          <p:cNvSpPr>
            <a:spLocks noGrp="1"/>
          </p:cNvSpPr>
          <p:nvPr>
            <p:ph type="subTitle" idx="1" hasCustomPrompt="1"/>
          </p:nvPr>
        </p:nvSpPr>
        <p:spPr>
          <a:xfrm>
            <a:off x="406400" y="3048000"/>
            <a:ext cx="5689600" cy="457200"/>
          </a:xfrm>
        </p:spPr>
        <p:txBody>
          <a:bodyPr>
            <a:normAutofit/>
          </a:bodyPr>
          <a:lstStyle>
            <a:lvl1pPr marL="0" indent="0" algn="l">
              <a:spcBef>
                <a:spcPts val="0"/>
              </a:spcBef>
              <a:buNone/>
              <a:defRPr sz="2000" i="1">
                <a:solidFill>
                  <a:srgbClr val="376092"/>
                </a:solidFill>
                <a:latin typeface="Cambria" panose="020405030504060302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solidFill>
                  <a:srgbClr val="376092"/>
                </a:solidFill>
              </a:rPr>
              <a:t>&gt; Brief Title &lt;</a:t>
            </a:r>
          </a:p>
        </p:txBody>
      </p:sp>
      <p:sp>
        <p:nvSpPr>
          <p:cNvPr id="8" name="Text Placeholder 9">
            <a:extLst>
              <a:ext uri="{FF2B5EF4-FFF2-40B4-BE49-F238E27FC236}">
                <a16:creationId xmlns:a16="http://schemas.microsoft.com/office/drawing/2014/main" id="{D2A8B5D5-8474-E8AA-10E8-FD4F9BBBFB1B}"/>
              </a:ext>
            </a:extLst>
          </p:cNvPr>
          <p:cNvSpPr>
            <a:spLocks noGrp="1"/>
          </p:cNvSpPr>
          <p:nvPr>
            <p:ph type="body" sz="quarter" idx="10" hasCustomPrompt="1"/>
          </p:nvPr>
        </p:nvSpPr>
        <p:spPr>
          <a:xfrm>
            <a:off x="406400" y="4339789"/>
            <a:ext cx="5588000" cy="408381"/>
          </a:xfrm>
        </p:spPr>
        <p:txBody>
          <a:bodyPr>
            <a:normAutofit/>
          </a:bodyPr>
          <a:lstStyle>
            <a:lvl1pPr marL="0" indent="0">
              <a:spcBef>
                <a:spcPts val="0"/>
              </a:spcBef>
              <a:buNone/>
              <a:defRPr sz="2000" b="1" i="0"/>
            </a:lvl1pPr>
            <a:lvl2pPr marL="457200" indent="0">
              <a:buNone/>
              <a:defRPr/>
            </a:lvl2pPr>
            <a:lvl3pPr marL="914400" indent="0">
              <a:buNone/>
              <a:defRPr/>
            </a:lvl3pPr>
            <a:lvl4pPr marL="1371600" indent="0">
              <a:buNone/>
              <a:defRPr/>
            </a:lvl4pPr>
            <a:lvl5pPr marL="1828800" indent="0">
              <a:buNone/>
              <a:defRPr/>
            </a:lvl5pPr>
          </a:lstStyle>
          <a:p>
            <a:pPr lvl="0"/>
            <a:r>
              <a:rPr lang="en-US" dirty="0"/>
              <a:t>&gt; Presenter’s Name &lt;</a:t>
            </a:r>
          </a:p>
        </p:txBody>
      </p:sp>
      <p:sp>
        <p:nvSpPr>
          <p:cNvPr id="9" name="Text Placeholder 11">
            <a:extLst>
              <a:ext uri="{FF2B5EF4-FFF2-40B4-BE49-F238E27FC236}">
                <a16:creationId xmlns:a16="http://schemas.microsoft.com/office/drawing/2014/main" id="{02F57622-D263-F23D-4D4E-54B475D5AFF2}"/>
              </a:ext>
            </a:extLst>
          </p:cNvPr>
          <p:cNvSpPr>
            <a:spLocks noGrp="1"/>
          </p:cNvSpPr>
          <p:nvPr>
            <p:ph type="body" sz="quarter" idx="11" hasCustomPrompt="1"/>
          </p:nvPr>
        </p:nvSpPr>
        <p:spPr>
          <a:xfrm>
            <a:off x="406400" y="4636199"/>
            <a:ext cx="5588000" cy="707588"/>
          </a:xfrm>
        </p:spPr>
        <p:txBody>
          <a:bodyPr>
            <a:noAutofit/>
          </a:bodyPr>
          <a:lstStyle>
            <a:lvl1pPr marL="0" indent="0">
              <a:spcBef>
                <a:spcPts val="0"/>
              </a:spcBef>
              <a:buNone/>
              <a:defRPr sz="1600" i="1"/>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&gt; Presenter’s Title &lt;</a:t>
            </a:r>
          </a:p>
          <a:p>
            <a:pPr lvl="0"/>
            <a:r>
              <a:rPr lang="en-US" dirty="0"/>
              <a:t>&gt; Presenter’s Organization &lt;</a:t>
            </a:r>
          </a:p>
        </p:txBody>
      </p:sp>
      <p:sp>
        <p:nvSpPr>
          <p:cNvPr id="11" name="TextBox 10">
            <a:extLst>
              <a:ext uri="{FF2B5EF4-FFF2-40B4-BE49-F238E27FC236}">
                <a16:creationId xmlns:a16="http://schemas.microsoft.com/office/drawing/2014/main" id="{1CAB9A00-62A1-6553-A43B-9DC1279D7B8B}"/>
              </a:ext>
            </a:extLst>
          </p:cNvPr>
          <p:cNvSpPr txBox="1"/>
          <p:nvPr userDrawn="1"/>
        </p:nvSpPr>
        <p:spPr>
          <a:xfrm>
            <a:off x="406400" y="4110707"/>
            <a:ext cx="5689600" cy="261610"/>
          </a:xfrm>
          <a:prstGeom prst="rect">
            <a:avLst/>
          </a:prstGeom>
          <a:noFill/>
        </p:spPr>
        <p:txBody>
          <a:bodyPr wrap="square" rtlCol="0">
            <a:spAutoFit/>
          </a:bodyPr>
          <a:lstStyle/>
          <a:p>
            <a:r>
              <a:rPr lang="en-US" sz="1100" i="1" dirty="0"/>
              <a:t>Presented by</a:t>
            </a:r>
          </a:p>
        </p:txBody>
      </p:sp>
      <p:sp>
        <p:nvSpPr>
          <p:cNvPr id="13" name="Rectangle 12">
            <a:extLst>
              <a:ext uri="{FF2B5EF4-FFF2-40B4-BE49-F238E27FC236}">
                <a16:creationId xmlns:a16="http://schemas.microsoft.com/office/drawing/2014/main" id="{9E0D3482-DAE1-9CC2-9668-37F5967A0EA3}"/>
              </a:ext>
            </a:extLst>
          </p:cNvPr>
          <p:cNvSpPr/>
          <p:nvPr userDrawn="1"/>
        </p:nvSpPr>
        <p:spPr>
          <a:xfrm>
            <a:off x="6136659" y="3060700"/>
            <a:ext cx="60959" cy="183849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accent1"/>
              </a:solidFill>
            </a:endParaRPr>
          </a:p>
        </p:txBody>
      </p:sp>
      <p:sp>
        <p:nvSpPr>
          <p:cNvPr id="16" name="TextBox 15">
            <a:extLst>
              <a:ext uri="{FF2B5EF4-FFF2-40B4-BE49-F238E27FC236}">
                <a16:creationId xmlns:a16="http://schemas.microsoft.com/office/drawing/2014/main" id="{F6BDCCAC-AB7A-DE22-444A-12CE5E07F81E}"/>
              </a:ext>
            </a:extLst>
          </p:cNvPr>
          <p:cNvSpPr txBox="1"/>
          <p:nvPr userDrawn="1"/>
        </p:nvSpPr>
        <p:spPr>
          <a:xfrm>
            <a:off x="6199961" y="2997762"/>
            <a:ext cx="2873000" cy="338554"/>
          </a:xfrm>
          <a:prstGeom prst="rect">
            <a:avLst/>
          </a:prstGeom>
          <a:noFill/>
        </p:spPr>
        <p:txBody>
          <a:bodyPr wrap="square" rtlCol="0">
            <a:spAutoFit/>
          </a:bodyPr>
          <a:lstStyle/>
          <a:p>
            <a:r>
              <a:rPr lang="en-US" sz="1600" b="1" dirty="0">
                <a:solidFill>
                  <a:schemeClr val="accent1">
                    <a:lumMod val="75000"/>
                  </a:schemeClr>
                </a:solidFill>
                <a:latin typeface="Cambria" panose="02040503050406030204" pitchFamily="18" charset="0"/>
              </a:rPr>
              <a:t>WELCOME</a:t>
            </a:r>
          </a:p>
        </p:txBody>
      </p:sp>
      <p:cxnSp>
        <p:nvCxnSpPr>
          <p:cNvPr id="17" name="Straight Connector 16">
            <a:extLst>
              <a:ext uri="{FF2B5EF4-FFF2-40B4-BE49-F238E27FC236}">
                <a16:creationId xmlns:a16="http://schemas.microsoft.com/office/drawing/2014/main" id="{57E526A3-D5A3-4803-E131-1E3A60C4E7AE}"/>
              </a:ext>
            </a:extLst>
          </p:cNvPr>
          <p:cNvCxnSpPr/>
          <p:nvPr userDrawn="1"/>
        </p:nvCxnSpPr>
        <p:spPr>
          <a:xfrm>
            <a:off x="6331549" y="3336316"/>
            <a:ext cx="50391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17306F3-8B22-BDF6-70AB-224ECA2D3C47}"/>
              </a:ext>
            </a:extLst>
          </p:cNvPr>
          <p:cNvCxnSpPr/>
          <p:nvPr userDrawn="1"/>
        </p:nvCxnSpPr>
        <p:spPr>
          <a:xfrm>
            <a:off x="6331550" y="4642229"/>
            <a:ext cx="5030717" cy="13865"/>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 Placeholder 9">
            <a:extLst>
              <a:ext uri="{FF2B5EF4-FFF2-40B4-BE49-F238E27FC236}">
                <a16:creationId xmlns:a16="http://schemas.microsoft.com/office/drawing/2014/main" id="{9DC8B4BE-DE53-E5E8-A03E-5B0954A04C2A}"/>
              </a:ext>
            </a:extLst>
          </p:cNvPr>
          <p:cNvSpPr>
            <a:spLocks noGrp="1"/>
          </p:cNvSpPr>
          <p:nvPr>
            <p:ph type="body" sz="quarter" idx="12" hasCustomPrompt="1"/>
          </p:nvPr>
        </p:nvSpPr>
        <p:spPr>
          <a:xfrm>
            <a:off x="6245721" y="3544670"/>
            <a:ext cx="5040852" cy="408381"/>
          </a:xfrm>
        </p:spPr>
        <p:txBody>
          <a:bodyPr>
            <a:normAutofit/>
          </a:bodyPr>
          <a:lstStyle>
            <a:lvl1pPr marL="0" indent="0">
              <a:spcBef>
                <a:spcPts val="0"/>
              </a:spcBef>
              <a:buNone/>
              <a:defRPr sz="2000" b="1" i="0">
                <a:solidFill>
                  <a:schemeClr val="tx2">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&gt; Visitor’s Name &lt;</a:t>
            </a:r>
          </a:p>
        </p:txBody>
      </p:sp>
      <p:sp>
        <p:nvSpPr>
          <p:cNvPr id="24" name="Text Placeholder 11">
            <a:extLst>
              <a:ext uri="{FF2B5EF4-FFF2-40B4-BE49-F238E27FC236}">
                <a16:creationId xmlns:a16="http://schemas.microsoft.com/office/drawing/2014/main" id="{34CE010F-F1B6-2E47-4474-B7807D2D3EE1}"/>
              </a:ext>
            </a:extLst>
          </p:cNvPr>
          <p:cNvSpPr>
            <a:spLocks noGrp="1"/>
          </p:cNvSpPr>
          <p:nvPr>
            <p:ph type="body" sz="quarter" idx="13" hasCustomPrompt="1"/>
          </p:nvPr>
        </p:nvSpPr>
        <p:spPr>
          <a:xfrm>
            <a:off x="6245721" y="3841080"/>
            <a:ext cx="5040852" cy="707588"/>
          </a:xfrm>
        </p:spPr>
        <p:txBody>
          <a:bodyPr>
            <a:noAutofit/>
          </a:bodyPr>
          <a:lstStyle>
            <a:lvl1pPr marL="0" indent="0">
              <a:spcBef>
                <a:spcPts val="0"/>
              </a:spcBef>
              <a:buNone/>
              <a:defRPr sz="1600" b="0" i="1">
                <a:solidFill>
                  <a:schemeClr val="tx2">
                    <a:lumMod val="75000"/>
                  </a:schemeClr>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&gt; Visitor’s Title &lt;</a:t>
            </a:r>
          </a:p>
          <a:p>
            <a:pPr lvl="0"/>
            <a:r>
              <a:rPr lang="en-US" dirty="0"/>
              <a:t>&gt; Visitor’s Organization &lt;</a:t>
            </a:r>
          </a:p>
        </p:txBody>
      </p:sp>
      <p:sp>
        <p:nvSpPr>
          <p:cNvPr id="25" name="Text Placeholder 11">
            <a:extLst>
              <a:ext uri="{FF2B5EF4-FFF2-40B4-BE49-F238E27FC236}">
                <a16:creationId xmlns:a16="http://schemas.microsoft.com/office/drawing/2014/main" id="{FB78251C-DFB8-815A-391A-4ABA44A78ED6}"/>
              </a:ext>
            </a:extLst>
          </p:cNvPr>
          <p:cNvSpPr>
            <a:spLocks noGrp="1"/>
          </p:cNvSpPr>
          <p:nvPr>
            <p:ph type="body" sz="quarter" idx="14" hasCustomPrompt="1"/>
          </p:nvPr>
        </p:nvSpPr>
        <p:spPr>
          <a:xfrm>
            <a:off x="6245721" y="4646161"/>
            <a:ext cx="5018481" cy="338472"/>
          </a:xfrm>
        </p:spPr>
        <p:txBody>
          <a:bodyPr>
            <a:noAutofit/>
          </a:bodyPr>
          <a:lstStyle>
            <a:lvl1pPr marL="0" indent="0">
              <a:spcBef>
                <a:spcPts val="0"/>
              </a:spcBef>
              <a:buNone/>
              <a:defRPr sz="1600" b="0" i="0">
                <a:solidFill>
                  <a:schemeClr val="accent1">
                    <a:lumMod val="75000"/>
                  </a:schemeClr>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&gt; Month XX, 20XX &lt;</a:t>
            </a:r>
          </a:p>
        </p:txBody>
      </p:sp>
      <p:pic>
        <p:nvPicPr>
          <p:cNvPr id="26" name="Picture 25">
            <a:extLst>
              <a:ext uri="{FF2B5EF4-FFF2-40B4-BE49-F238E27FC236}">
                <a16:creationId xmlns:a16="http://schemas.microsoft.com/office/drawing/2014/main" id="{426EC176-183E-6A37-93EE-9D86314CBA5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2673" y="5921934"/>
            <a:ext cx="1345096" cy="722498"/>
          </a:xfrm>
          <a:prstGeom prst="rect">
            <a:avLst/>
          </a:prstGeom>
        </p:spPr>
      </p:pic>
      <p:sp>
        <p:nvSpPr>
          <p:cNvPr id="27" name="TextBox 26">
            <a:extLst>
              <a:ext uri="{FF2B5EF4-FFF2-40B4-BE49-F238E27FC236}">
                <a16:creationId xmlns:a16="http://schemas.microsoft.com/office/drawing/2014/main" id="{DB0102DB-BE1A-F096-340F-05FB075033DA}"/>
              </a:ext>
            </a:extLst>
          </p:cNvPr>
          <p:cNvSpPr txBox="1"/>
          <p:nvPr userDrawn="1"/>
        </p:nvSpPr>
        <p:spPr>
          <a:xfrm>
            <a:off x="1747769" y="6098285"/>
            <a:ext cx="4479721" cy="400110"/>
          </a:xfrm>
          <a:prstGeom prst="rect">
            <a:avLst/>
          </a:prstGeom>
          <a:noFill/>
        </p:spPr>
        <p:txBody>
          <a:bodyPr wrap="square" rtlCol="0">
            <a:sp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fr-FR" sz="1400" b="1" i="0" u="none" strike="noStrike" kern="1200" cap="none" spc="0" normalizeH="0" baseline="0" noProof="0" dirty="0">
                <a:ln>
                  <a:noFill/>
                </a:ln>
                <a:solidFill>
                  <a:schemeClr val="bg1"/>
                </a:solidFill>
                <a:effectLst/>
                <a:uLnTx/>
                <a:uFillTx/>
                <a:latin typeface="Cambria" panose="02040503050406030204" pitchFamily="18" charset="0"/>
                <a:ea typeface="Cambria" panose="02040503050406030204" pitchFamily="18" charset="0"/>
                <a:cs typeface="+mn-cs"/>
              </a:rPr>
              <a:t>DAM NECK ACTIVITY</a:t>
            </a:r>
          </a:p>
          <a:p>
            <a:pPr marL="0" marR="0" lvl="0" indent="0" algn="l" defTabSz="914400" rtl="0" eaLnBrk="1" fontAlgn="auto" latinLnBrk="0" hangingPunct="1">
              <a:lnSpc>
                <a:spcPts val="1200"/>
              </a:lnSpc>
              <a:spcBef>
                <a:spcPts val="0"/>
              </a:spcBef>
              <a:spcAft>
                <a:spcPts val="0"/>
              </a:spcAft>
              <a:buClrTx/>
              <a:buSzTx/>
              <a:buFontTx/>
              <a:buNone/>
              <a:tabLst/>
              <a:defRPr/>
            </a:pPr>
            <a:r>
              <a:rPr kumimoji="0" lang="fr-FR" sz="1200" b="0" i="1" u="none" strike="noStrike" kern="1200" cap="none" spc="0" normalizeH="0" baseline="0" noProof="0" dirty="0" err="1">
                <a:ln>
                  <a:noFill/>
                </a:ln>
                <a:solidFill>
                  <a:schemeClr val="bg1"/>
                </a:solidFill>
                <a:effectLst/>
                <a:uLnTx/>
                <a:uFillTx/>
                <a:latin typeface="Cambria" panose="02040503050406030204" pitchFamily="18" charset="0"/>
                <a:ea typeface="Cambria" panose="02040503050406030204" pitchFamily="18" charset="0"/>
                <a:cs typeface="+mn-cs"/>
              </a:rPr>
              <a:t>It’s</a:t>
            </a:r>
            <a:r>
              <a:rPr kumimoji="0" lang="fr-FR" sz="1200" b="0" i="1" u="none" strike="noStrike" kern="1200" cap="none" spc="0" normalizeH="0" baseline="0" noProof="0" dirty="0">
                <a:ln>
                  <a:noFill/>
                </a:ln>
                <a:solidFill>
                  <a:schemeClr val="bg1"/>
                </a:solidFill>
                <a:effectLst/>
                <a:uLnTx/>
                <a:uFillTx/>
                <a:latin typeface="Cambria" panose="02040503050406030204" pitchFamily="18" charset="0"/>
                <a:ea typeface="Cambria" panose="02040503050406030204" pitchFamily="18" charset="0"/>
                <a:cs typeface="+mn-cs"/>
              </a:rPr>
              <a:t> in Our DNA</a:t>
            </a:r>
            <a:endParaRPr kumimoji="0" lang="en-US" sz="1200" b="0" i="1" u="none" strike="noStrike" kern="1200" cap="none" spc="0" normalizeH="0" baseline="0" noProof="0" dirty="0">
              <a:ln>
                <a:noFill/>
              </a:ln>
              <a:solidFill>
                <a:schemeClr val="bg1"/>
              </a:solidFill>
              <a:effectLst/>
              <a:uLnTx/>
              <a:uFillTx/>
              <a:latin typeface="Cambria" panose="02040503050406030204" pitchFamily="18" charset="0"/>
              <a:ea typeface="Cambria" panose="02040503050406030204" pitchFamily="18" charset="0"/>
              <a:cs typeface="+mn-cs"/>
            </a:endParaRPr>
          </a:p>
        </p:txBody>
      </p:sp>
      <p:sp>
        <p:nvSpPr>
          <p:cNvPr id="2" name="TextBox 1">
            <a:extLst>
              <a:ext uri="{FF2B5EF4-FFF2-40B4-BE49-F238E27FC236}">
                <a16:creationId xmlns:a16="http://schemas.microsoft.com/office/drawing/2014/main" id="{5B6867D7-7D0B-9E57-F546-131430FE1DB1}"/>
              </a:ext>
            </a:extLst>
          </p:cNvPr>
          <p:cNvSpPr txBox="1"/>
          <p:nvPr userDrawn="1"/>
        </p:nvSpPr>
        <p:spPr>
          <a:xfrm>
            <a:off x="4962596" y="6642556"/>
            <a:ext cx="2491388" cy="215444"/>
          </a:xfrm>
          <a:prstGeom prst="rect">
            <a:avLst/>
          </a:prstGeom>
          <a:noFill/>
        </p:spPr>
        <p:txBody>
          <a:bodyPr wrap="none" rtlCol="0">
            <a:spAutoFit/>
          </a:bodyPr>
          <a:lstStyle/>
          <a:p>
            <a:r>
              <a:rPr lang="en-US" sz="800" dirty="0">
                <a:solidFill>
                  <a:schemeClr val="bg1">
                    <a:lumMod val="75000"/>
                  </a:schemeClr>
                </a:solidFill>
              </a:rPr>
              <a:t>Distribution Statement A:  Approved for Public Release </a:t>
            </a:r>
          </a:p>
        </p:txBody>
      </p:sp>
    </p:spTree>
    <p:extLst>
      <p:ext uri="{BB962C8B-B14F-4D97-AF65-F5344CB8AC3E}">
        <p14:creationId xmlns:p14="http://schemas.microsoft.com/office/powerpoint/2010/main" val="1554344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115099"/>
            <a:ext cx="9334500" cy="624975"/>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7323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48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2966338"/>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146615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014745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36229"/>
            <a:ext cx="5384800" cy="52871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36229"/>
            <a:ext cx="5384800" cy="52871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4638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1520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895209"/>
            <a:ext cx="5386917" cy="462819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1520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895209"/>
            <a:ext cx="5389033" cy="462819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3328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Quad 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cxnSp>
        <p:nvCxnSpPr>
          <p:cNvPr id="4" name="Straight Connector 3"/>
          <p:cNvCxnSpPr/>
          <p:nvPr userDrawn="1"/>
        </p:nvCxnSpPr>
        <p:spPr>
          <a:xfrm>
            <a:off x="6096000" y="1139170"/>
            <a:ext cx="0" cy="2726599"/>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190144" y="3886200"/>
            <a:ext cx="5885424"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7" name="Picture Placeholder 16"/>
          <p:cNvSpPr>
            <a:spLocks noGrp="1"/>
          </p:cNvSpPr>
          <p:nvPr>
            <p:ph type="pic" sz="quarter" idx="10"/>
          </p:nvPr>
        </p:nvSpPr>
        <p:spPr>
          <a:xfrm>
            <a:off x="6284586" y="1231121"/>
            <a:ext cx="5681133" cy="2543973"/>
          </a:xfrm>
        </p:spPr>
        <p:txBody>
          <a:bodyPr/>
          <a:lstStyle/>
          <a:p>
            <a:endParaRPr lang="en-US" dirty="0"/>
          </a:p>
        </p:txBody>
      </p:sp>
      <p:sp>
        <p:nvSpPr>
          <p:cNvPr id="19" name="Text Placeholder 18"/>
          <p:cNvSpPr>
            <a:spLocks noGrp="1"/>
          </p:cNvSpPr>
          <p:nvPr>
            <p:ph type="body" sz="quarter" idx="11"/>
          </p:nvPr>
        </p:nvSpPr>
        <p:spPr>
          <a:xfrm>
            <a:off x="257832" y="1220788"/>
            <a:ext cx="5638800" cy="2570162"/>
          </a:xfrm>
        </p:spPr>
        <p:txBody>
          <a:bodyPr/>
          <a:lstStyle>
            <a:lvl1pPr marL="112713" indent="-112713">
              <a:defRPr sz="1600" b="1"/>
            </a:lvl1pPr>
            <a:lvl2pPr marL="342900" indent="-112713">
              <a:tabLst/>
              <a:defRPr sz="1400"/>
            </a:lvl2pPr>
            <a:lvl3pPr marL="515938" indent="-117475">
              <a:defRPr sz="1400"/>
            </a:lvl3pPr>
          </a:lstStyle>
          <a:p>
            <a:pPr lvl="0"/>
            <a:r>
              <a:rPr lang="en-US" dirty="0"/>
              <a:t>Click to edit Master text styles</a:t>
            </a:r>
          </a:p>
          <a:p>
            <a:pPr lvl="1"/>
            <a:r>
              <a:rPr lang="en-US" dirty="0"/>
              <a:t>Second level</a:t>
            </a:r>
          </a:p>
          <a:p>
            <a:pPr lvl="2"/>
            <a:r>
              <a:rPr lang="en-US" dirty="0"/>
              <a:t>Third level</a:t>
            </a:r>
          </a:p>
        </p:txBody>
      </p:sp>
      <p:sp>
        <p:nvSpPr>
          <p:cNvPr id="20" name="Text Placeholder 18"/>
          <p:cNvSpPr>
            <a:spLocks noGrp="1"/>
          </p:cNvSpPr>
          <p:nvPr>
            <p:ph type="body" sz="quarter" idx="12"/>
          </p:nvPr>
        </p:nvSpPr>
        <p:spPr>
          <a:xfrm>
            <a:off x="257832" y="4065304"/>
            <a:ext cx="5638800" cy="2570162"/>
          </a:xfrm>
        </p:spPr>
        <p:txBody>
          <a:bodyPr/>
          <a:lstStyle>
            <a:lvl1pPr marL="112713" indent="-112713">
              <a:defRPr sz="1600" b="1"/>
            </a:lvl1pPr>
            <a:lvl2pPr marL="342900" indent="-112713">
              <a:tabLst/>
              <a:defRPr sz="1400"/>
            </a:lvl2pPr>
            <a:lvl3pPr marL="515938" indent="-117475">
              <a:defRPr sz="1400"/>
            </a:lvl3pPr>
          </a:lstStyle>
          <a:p>
            <a:pPr lvl="0"/>
            <a:r>
              <a:rPr lang="en-US" dirty="0"/>
              <a:t>Click to edit Master text styles</a:t>
            </a:r>
          </a:p>
          <a:p>
            <a:pPr lvl="1"/>
            <a:r>
              <a:rPr lang="en-US" dirty="0"/>
              <a:t>Second level</a:t>
            </a:r>
          </a:p>
          <a:p>
            <a:pPr lvl="2"/>
            <a:r>
              <a:rPr lang="en-US" dirty="0"/>
              <a:t>Third level</a:t>
            </a:r>
          </a:p>
        </p:txBody>
      </p:sp>
      <p:sp>
        <p:nvSpPr>
          <p:cNvPr id="21" name="Text Placeholder 18"/>
          <p:cNvSpPr>
            <a:spLocks noGrp="1"/>
          </p:cNvSpPr>
          <p:nvPr>
            <p:ph type="body" sz="quarter" idx="13"/>
          </p:nvPr>
        </p:nvSpPr>
        <p:spPr>
          <a:xfrm>
            <a:off x="6284585" y="4065304"/>
            <a:ext cx="5638800" cy="2570162"/>
          </a:xfrm>
        </p:spPr>
        <p:txBody>
          <a:bodyPr/>
          <a:lstStyle>
            <a:lvl1pPr marL="112713" indent="-112713">
              <a:defRPr sz="1600" b="1"/>
            </a:lvl1pPr>
            <a:lvl2pPr marL="342900" indent="-112713">
              <a:tabLst/>
              <a:defRPr sz="1400"/>
            </a:lvl2pPr>
            <a:lvl3pPr marL="515938" indent="-117475">
              <a:defRPr sz="1400"/>
            </a:lvl3pPr>
          </a:lstStyle>
          <a:p>
            <a:pPr lvl="0"/>
            <a:r>
              <a:rPr lang="en-US" dirty="0"/>
              <a:t>Click to edit Master text styles</a:t>
            </a:r>
          </a:p>
          <a:p>
            <a:pPr lvl="1"/>
            <a:r>
              <a:rPr lang="en-US" dirty="0"/>
              <a:t>Second level</a:t>
            </a:r>
          </a:p>
          <a:p>
            <a:pPr lvl="2"/>
            <a:r>
              <a:rPr lang="en-US" dirty="0"/>
              <a:t>Third level</a:t>
            </a:r>
          </a:p>
        </p:txBody>
      </p:sp>
      <p:cxnSp>
        <p:nvCxnSpPr>
          <p:cNvPr id="26" name="Straight Connector 25"/>
          <p:cNvCxnSpPr/>
          <p:nvPr userDrawn="1"/>
        </p:nvCxnSpPr>
        <p:spPr>
          <a:xfrm>
            <a:off x="6116432" y="3886200"/>
            <a:ext cx="5885424"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a:off x="6092027" y="3862334"/>
            <a:ext cx="0" cy="2726599"/>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096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0598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p:nvSpPr>
        <p:spPr>
          <a:xfrm>
            <a:off x="0" y="0"/>
            <a:ext cx="3153573" cy="916781"/>
          </a:xfrm>
          <a:prstGeom prst="rect">
            <a:avLst/>
          </a:prstGeom>
          <a:gradFill>
            <a:gsLst>
              <a:gs pos="0">
                <a:schemeClr val="bg1">
                  <a:lumMod val="85000"/>
                </a:schemeClr>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Placeholder 1"/>
          <p:cNvSpPr>
            <a:spLocks noGrp="1"/>
          </p:cNvSpPr>
          <p:nvPr>
            <p:ph type="title"/>
          </p:nvPr>
        </p:nvSpPr>
        <p:spPr>
          <a:xfrm>
            <a:off x="1600200" y="115099"/>
            <a:ext cx="9982200" cy="6249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200470"/>
            <a:ext cx="10972800" cy="524630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p:cNvSpPr/>
          <p:nvPr/>
        </p:nvSpPr>
        <p:spPr>
          <a:xfrm>
            <a:off x="0" y="855457"/>
            <a:ext cx="12192000" cy="86834"/>
          </a:xfrm>
          <a:prstGeom prst="rect">
            <a:avLst/>
          </a:prstGeom>
          <a:gradFill>
            <a:gsLst>
              <a:gs pos="0">
                <a:schemeClr val="tx2"/>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TextBox 18"/>
          <p:cNvSpPr txBox="1"/>
          <p:nvPr/>
        </p:nvSpPr>
        <p:spPr>
          <a:xfrm>
            <a:off x="10387024" y="6605137"/>
            <a:ext cx="1804961" cy="261610"/>
          </a:xfrm>
          <a:prstGeom prst="rect">
            <a:avLst/>
          </a:prstGeom>
          <a:noFill/>
        </p:spPr>
        <p:txBody>
          <a:bodyPr wrap="square" rIns="182880" rtlCol="0">
            <a:spAutoFit/>
          </a:bodyPr>
          <a:lstStyle/>
          <a:p>
            <a:pPr algn="r"/>
            <a:fld id="{13C08B1B-55A2-42BD-A74E-BCC248896FE9}" type="slidenum">
              <a:rPr lang="en-US" sz="1100" b="1" smtClean="0">
                <a:solidFill>
                  <a:schemeClr val="tx1">
                    <a:lumMod val="50000"/>
                    <a:lumOff val="50000"/>
                  </a:schemeClr>
                </a:solidFill>
              </a:rPr>
              <a:t>‹#›</a:t>
            </a:fld>
            <a:endParaRPr lang="en-US" sz="1100" b="1" dirty="0">
              <a:solidFill>
                <a:schemeClr val="tx1">
                  <a:lumMod val="50000"/>
                  <a:lumOff val="50000"/>
                </a:schemeClr>
              </a:solidFill>
            </a:endParaRPr>
          </a:p>
        </p:txBody>
      </p:sp>
      <p:pic>
        <p:nvPicPr>
          <p:cNvPr id="5" name="Picture 4">
            <a:extLst>
              <a:ext uri="{FF2B5EF4-FFF2-40B4-BE49-F238E27FC236}">
                <a16:creationId xmlns:a16="http://schemas.microsoft.com/office/drawing/2014/main" id="{E0522B47-3DCF-D517-D274-8CCD8019C697}"/>
              </a:ext>
            </a:extLst>
          </p:cNvPr>
          <p:cNvPicPr>
            <a:picLocks noChangeAspect="1"/>
          </p:cNvPicPr>
          <p:nvPr userDrawn="1"/>
        </p:nvPicPr>
        <p:blipFill>
          <a:blip r:embed="rId10"/>
          <a:stretch>
            <a:fillRect/>
          </a:stretch>
        </p:blipFill>
        <p:spPr>
          <a:xfrm>
            <a:off x="287992" y="119074"/>
            <a:ext cx="1024217" cy="548688"/>
          </a:xfrm>
          <a:prstGeom prst="rect">
            <a:avLst/>
          </a:prstGeom>
        </p:spPr>
      </p:pic>
      <p:sp>
        <p:nvSpPr>
          <p:cNvPr id="4" name="TextBox 3">
            <a:extLst>
              <a:ext uri="{FF2B5EF4-FFF2-40B4-BE49-F238E27FC236}">
                <a16:creationId xmlns:a16="http://schemas.microsoft.com/office/drawing/2014/main" id="{5E440B5F-24F6-8438-9B62-F7994B35D799}"/>
              </a:ext>
            </a:extLst>
          </p:cNvPr>
          <p:cNvSpPr txBox="1"/>
          <p:nvPr userDrawn="1"/>
        </p:nvSpPr>
        <p:spPr>
          <a:xfrm>
            <a:off x="4962596" y="6642556"/>
            <a:ext cx="2491388" cy="215444"/>
          </a:xfrm>
          <a:prstGeom prst="rect">
            <a:avLst/>
          </a:prstGeom>
          <a:noFill/>
        </p:spPr>
        <p:txBody>
          <a:bodyPr wrap="none" rtlCol="0">
            <a:spAutoFit/>
          </a:bodyPr>
          <a:lstStyle/>
          <a:p>
            <a:r>
              <a:rPr lang="en-US" sz="800" dirty="0">
                <a:solidFill>
                  <a:schemeClr val="bg1">
                    <a:lumMod val="75000"/>
                  </a:schemeClr>
                </a:solidFill>
              </a:rPr>
              <a:t>Distribution Statement A:  Approved for Public Release </a:t>
            </a:r>
          </a:p>
        </p:txBody>
      </p:sp>
    </p:spTree>
    <p:extLst>
      <p:ext uri="{BB962C8B-B14F-4D97-AF65-F5344CB8AC3E}">
        <p14:creationId xmlns:p14="http://schemas.microsoft.com/office/powerpoint/2010/main" val="3353734936"/>
      </p:ext>
    </p:extLst>
  </p:cSld>
  <p:clrMap bg1="lt1" tx1="dk1" bg2="lt2" tx2="dk2" accent1="accent1" accent2="accent2" accent3="accent3" accent4="accent4" accent5="accent5" accent6="accent6" hlink="hlink" folHlink="folHlink"/>
  <p:sldLayoutIdLst>
    <p:sldLayoutId id="2147483685" r:id="rId1"/>
    <p:sldLayoutId id="2147483650" r:id="rId2"/>
    <p:sldLayoutId id="2147483654" r:id="rId3"/>
    <p:sldLayoutId id="2147483651" r:id="rId4"/>
    <p:sldLayoutId id="2147483652" r:id="rId5"/>
    <p:sldLayoutId id="2147483653" r:id="rId6"/>
    <p:sldLayoutId id="2147483695" r:id="rId7"/>
    <p:sldLayoutId id="2147483694" r:id="rId8"/>
  </p:sldLayoutIdLst>
  <p:txStyles>
    <p:titleStyle>
      <a:lvl1pPr algn="l" defTabSz="914400" rtl="0" eaLnBrk="1" latinLnBrk="0" hangingPunct="1">
        <a:spcBef>
          <a:spcPct val="0"/>
        </a:spcBef>
        <a:buNone/>
        <a:defRPr sz="3400" b="1" kern="1200">
          <a:solidFill>
            <a:schemeClr val="tx2"/>
          </a:solidFill>
          <a:latin typeface="+mj-lt"/>
          <a:ea typeface="+mj-ea"/>
          <a:cs typeface="+mj-cs"/>
        </a:defRPr>
      </a:lvl1pPr>
    </p:titleStyle>
    <p:bodyStyle>
      <a:lvl1pPr marL="230188" indent="-230188"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1pPr>
      <a:lvl2pPr marL="684213" indent="-223838"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027113" indent="-225425"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374775" indent="-230188"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716088" indent="-2301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1008" userDrawn="1">
          <p15:clr>
            <a:srgbClr val="F26B43"/>
          </p15:clr>
        </p15:guide>
        <p15:guide id="3" pos="68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33_E1B845ED.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34_7EBCCC6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4294967295"/>
          </p:nvPr>
        </p:nvSpPr>
        <p:spPr>
          <a:xfrm>
            <a:off x="426258" y="3046657"/>
            <a:ext cx="5689600" cy="457200"/>
          </a:xfrm>
        </p:spPr>
        <p:txBody>
          <a:bodyPr vert="horz" lIns="91440" tIns="45720" rIns="91440" bIns="45720" rtlCol="0" anchor="t">
            <a:normAutofit fontScale="70000" lnSpcReduction="20000"/>
          </a:bodyPr>
          <a:lstStyle/>
          <a:p>
            <a:pPr marL="0" indent="0">
              <a:buNone/>
            </a:pPr>
            <a:r>
              <a:rPr lang="en-US" dirty="0">
                <a:latin typeface="Cambria"/>
                <a:ea typeface="Cambria"/>
              </a:rPr>
              <a:t>AN/SPQ-15(V) Data Distribution Systems (DDS)</a:t>
            </a:r>
          </a:p>
        </p:txBody>
      </p:sp>
      <p:sp>
        <p:nvSpPr>
          <p:cNvPr id="5" name="Text Placeholder 4"/>
          <p:cNvSpPr>
            <a:spLocks noGrp="1"/>
          </p:cNvSpPr>
          <p:nvPr>
            <p:ph type="body" sz="quarter" idx="4294967295"/>
          </p:nvPr>
        </p:nvSpPr>
        <p:spPr>
          <a:xfrm>
            <a:off x="406400" y="4351961"/>
            <a:ext cx="5588000" cy="408381"/>
          </a:xfrm>
        </p:spPr>
        <p:txBody>
          <a:bodyPr vert="horz" lIns="91440" tIns="45720" rIns="91440" bIns="45720" rtlCol="0" anchor="t">
            <a:normAutofit fontScale="85000" lnSpcReduction="20000"/>
          </a:bodyPr>
          <a:lstStyle/>
          <a:p>
            <a:pPr marL="0" indent="0">
              <a:buNone/>
            </a:pPr>
            <a:r>
              <a:rPr lang="en-US" dirty="0"/>
              <a:t>Ausra Zemaitiene</a:t>
            </a:r>
            <a:endParaRPr lang="en-US" dirty="0">
              <a:ea typeface="Calibri"/>
              <a:cs typeface="Calibri"/>
            </a:endParaRPr>
          </a:p>
        </p:txBody>
      </p:sp>
      <p:sp>
        <p:nvSpPr>
          <p:cNvPr id="6" name="Text Placeholder 5"/>
          <p:cNvSpPr>
            <a:spLocks noGrp="1"/>
          </p:cNvSpPr>
          <p:nvPr>
            <p:ph type="body" sz="quarter" idx="4294967295"/>
          </p:nvPr>
        </p:nvSpPr>
        <p:spPr>
          <a:xfrm>
            <a:off x="406400" y="4605113"/>
            <a:ext cx="5588000" cy="707588"/>
          </a:xfrm>
        </p:spPr>
        <p:txBody>
          <a:bodyPr>
            <a:normAutofit/>
          </a:bodyPr>
          <a:lstStyle/>
          <a:p>
            <a:pPr marL="0" indent="0">
              <a:buNone/>
            </a:pPr>
            <a:r>
              <a:rPr lang="en-US" sz="2000" i="1" dirty="0"/>
              <a:t>Contracting Officer, NSWC Dahlgren Division</a:t>
            </a:r>
          </a:p>
        </p:txBody>
      </p:sp>
      <p:sp>
        <p:nvSpPr>
          <p:cNvPr id="7" name="Text Placeholder 6"/>
          <p:cNvSpPr>
            <a:spLocks noGrp="1"/>
          </p:cNvSpPr>
          <p:nvPr>
            <p:ph type="body" sz="quarter" idx="4294967295"/>
          </p:nvPr>
        </p:nvSpPr>
        <p:spPr>
          <a:xfrm>
            <a:off x="6314733" y="3429000"/>
            <a:ext cx="5040852" cy="408381"/>
          </a:xfrm>
        </p:spPr>
        <p:txBody>
          <a:bodyPr>
            <a:normAutofit fontScale="85000" lnSpcReduction="20000"/>
          </a:bodyPr>
          <a:lstStyle/>
          <a:p>
            <a:pPr marL="0" indent="0">
              <a:buNone/>
            </a:pPr>
            <a:r>
              <a:rPr lang="en-US" dirty="0"/>
              <a:t>Industry</a:t>
            </a:r>
          </a:p>
        </p:txBody>
      </p:sp>
      <p:sp>
        <p:nvSpPr>
          <p:cNvPr id="9" name="Text Placeholder 8"/>
          <p:cNvSpPr>
            <a:spLocks noGrp="1"/>
          </p:cNvSpPr>
          <p:nvPr>
            <p:ph type="body" sz="quarter" idx="4294967295"/>
          </p:nvPr>
        </p:nvSpPr>
        <p:spPr>
          <a:xfrm>
            <a:off x="6314733" y="4620435"/>
            <a:ext cx="5018481" cy="338472"/>
          </a:xfrm>
        </p:spPr>
        <p:txBody>
          <a:bodyPr vert="horz" lIns="91440" tIns="45720" rIns="91440" bIns="45720" rtlCol="0" anchor="t">
            <a:noAutofit/>
          </a:bodyPr>
          <a:lstStyle/>
          <a:p>
            <a:pPr marL="0" indent="0">
              <a:buNone/>
            </a:pPr>
            <a:r>
              <a:rPr lang="en-US" sz="2400" dirty="0"/>
              <a:t>April 30, 2026</a:t>
            </a:r>
          </a:p>
        </p:txBody>
      </p:sp>
    </p:spTree>
    <p:extLst>
      <p:ext uri="{BB962C8B-B14F-4D97-AF65-F5344CB8AC3E}">
        <p14:creationId xmlns:p14="http://schemas.microsoft.com/office/powerpoint/2010/main" val="189501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Introduction/Purpose</a:t>
            </a:r>
          </a:p>
          <a:p>
            <a:r>
              <a:rPr lang="en-US" dirty="0"/>
              <a:t>Acquisition Overview</a:t>
            </a:r>
          </a:p>
          <a:p>
            <a:r>
              <a:rPr lang="en-US" dirty="0"/>
              <a:t>Project Overview(s)</a:t>
            </a:r>
          </a:p>
          <a:p>
            <a:r>
              <a:rPr lang="en-US" dirty="0"/>
              <a:t>Support Requirements(s)</a:t>
            </a:r>
          </a:p>
          <a:p>
            <a:r>
              <a:rPr lang="en-US" dirty="0"/>
              <a:t>Questions &amp; Answers</a:t>
            </a:r>
          </a:p>
        </p:txBody>
      </p:sp>
    </p:spTree>
    <p:extLst>
      <p:ext uri="{BB962C8B-B14F-4D97-AF65-F5344CB8AC3E}">
        <p14:creationId xmlns:p14="http://schemas.microsoft.com/office/powerpoint/2010/main" val="405767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Industry Day</a:t>
            </a:r>
          </a:p>
        </p:txBody>
      </p:sp>
      <p:sp>
        <p:nvSpPr>
          <p:cNvPr id="3" name="Content Placeholder 2"/>
          <p:cNvSpPr>
            <a:spLocks noGrp="1"/>
          </p:cNvSpPr>
          <p:nvPr>
            <p:ph idx="1"/>
          </p:nvPr>
        </p:nvSpPr>
        <p:spPr/>
        <p:txBody>
          <a:bodyPr/>
          <a:lstStyle/>
          <a:p>
            <a:r>
              <a:rPr lang="en-US" dirty="0"/>
              <a:t>Promote competition</a:t>
            </a:r>
          </a:p>
          <a:p>
            <a:r>
              <a:rPr lang="en-US" dirty="0"/>
              <a:t>Encourage the exchange of information</a:t>
            </a:r>
          </a:p>
          <a:p>
            <a:r>
              <a:rPr lang="en-US" dirty="0"/>
              <a:t>Improve the understanding of the acquisition requirement</a:t>
            </a:r>
          </a:p>
          <a:p>
            <a:r>
              <a:rPr lang="en-US" dirty="0"/>
              <a:t>Provide networking opportunities</a:t>
            </a:r>
          </a:p>
        </p:txBody>
      </p:sp>
    </p:spTree>
    <p:extLst>
      <p:ext uri="{BB962C8B-B14F-4D97-AF65-F5344CB8AC3E}">
        <p14:creationId xmlns:p14="http://schemas.microsoft.com/office/powerpoint/2010/main" val="48308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Disclaimer</a:t>
            </a:r>
          </a:p>
        </p:txBody>
      </p:sp>
      <p:sp>
        <p:nvSpPr>
          <p:cNvPr id="3" name="Content Placeholder 2"/>
          <p:cNvSpPr>
            <a:spLocks noGrp="1"/>
          </p:cNvSpPr>
          <p:nvPr>
            <p:ph idx="1"/>
          </p:nvPr>
        </p:nvSpPr>
        <p:spPr/>
        <p:txBody>
          <a:bodyPr/>
          <a:lstStyle/>
          <a:p>
            <a:r>
              <a:rPr lang="en-US" dirty="0"/>
              <a:t>Information Purposes Only</a:t>
            </a:r>
          </a:p>
          <a:p>
            <a:pPr lvl="1"/>
            <a:r>
              <a:rPr lang="en-US" dirty="0"/>
              <a:t>All information provided prior to the release of the Request for Proposal (RFP) is considered to be non-binding.</a:t>
            </a:r>
          </a:p>
          <a:p>
            <a:pPr lvl="1"/>
            <a:r>
              <a:rPr lang="en-US" dirty="0"/>
              <a:t>Comments provided by industry will be considered and included in the final RFP at the discretion of the Contracting Officer.</a:t>
            </a:r>
          </a:p>
          <a:p>
            <a:pPr lvl="1"/>
            <a:r>
              <a:rPr lang="en-US" dirty="0"/>
              <a:t>The Government is bound only by the information contained in the Final RFP and its amendments.</a:t>
            </a:r>
          </a:p>
        </p:txBody>
      </p:sp>
    </p:spTree>
    <p:extLst>
      <p:ext uri="{BB962C8B-B14F-4D97-AF65-F5344CB8AC3E}">
        <p14:creationId xmlns:p14="http://schemas.microsoft.com/office/powerpoint/2010/main" val="4231648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Ground Rules for Question and Answer (Q&amp;A) Session</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NSWCDD will not have a direct verbal exchange during the question and answer session.</a:t>
            </a:r>
          </a:p>
          <a:p>
            <a:r>
              <a:rPr lang="en-US" dirty="0"/>
              <a:t>What to provide on the index cards:</a:t>
            </a:r>
          </a:p>
          <a:p>
            <a:pPr lvl="1"/>
            <a:r>
              <a:rPr lang="en-US" dirty="0"/>
              <a:t>Name and Company Name</a:t>
            </a:r>
          </a:p>
          <a:p>
            <a:pPr lvl="1"/>
            <a:r>
              <a:rPr lang="en-US" dirty="0"/>
              <a:t>Slide Number</a:t>
            </a:r>
          </a:p>
          <a:p>
            <a:pPr lvl="1"/>
            <a:r>
              <a:rPr lang="en-US" dirty="0"/>
              <a:t>Question</a:t>
            </a:r>
          </a:p>
          <a:p>
            <a:pPr marL="229870" indent="-229870"/>
            <a:r>
              <a:rPr lang="en-US" dirty="0"/>
              <a:t>Any additional questions after this event must be posted in the </a:t>
            </a:r>
            <a:r>
              <a:rPr lang="en-US"/>
              <a:t>SAM.gov</a:t>
            </a:r>
            <a:r>
              <a:rPr lang="en-US" dirty="0"/>
              <a:t> portal.</a:t>
            </a:r>
            <a:endParaRPr lang="en-US" dirty="0">
              <a:ea typeface="Calibri"/>
              <a:cs typeface="Calibri"/>
            </a:endParaRPr>
          </a:p>
        </p:txBody>
      </p:sp>
    </p:spTree>
    <p:extLst>
      <p:ext uri="{BB962C8B-B14F-4D97-AF65-F5344CB8AC3E}">
        <p14:creationId xmlns:p14="http://schemas.microsoft.com/office/powerpoint/2010/main" val="3273647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CA13-7344-933C-F4FC-C429EDAB6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13CA4-FE12-3D95-C4D6-2585D5A66265}"/>
              </a:ext>
            </a:extLst>
          </p:cNvPr>
          <p:cNvSpPr>
            <a:spLocks noGrp="1"/>
          </p:cNvSpPr>
          <p:nvPr>
            <p:ph type="title"/>
          </p:nvPr>
        </p:nvSpPr>
        <p:spPr/>
        <p:txBody>
          <a:bodyPr>
            <a:normAutofit/>
          </a:bodyPr>
          <a:lstStyle/>
          <a:p>
            <a:r>
              <a:rPr lang="en-US" dirty="0"/>
              <a:t>Project Overview</a:t>
            </a:r>
          </a:p>
        </p:txBody>
      </p:sp>
      <p:sp>
        <p:nvSpPr>
          <p:cNvPr id="3" name="Content Placeholder 2">
            <a:extLst>
              <a:ext uri="{FF2B5EF4-FFF2-40B4-BE49-F238E27FC236}">
                <a16:creationId xmlns:a16="http://schemas.microsoft.com/office/drawing/2014/main" id="{9F03AFCF-0FEF-2EB8-9453-7B0025C224B8}"/>
              </a:ext>
            </a:extLst>
          </p:cNvPr>
          <p:cNvSpPr>
            <a:spLocks noGrp="1"/>
          </p:cNvSpPr>
          <p:nvPr>
            <p:ph idx="1"/>
          </p:nvPr>
        </p:nvSpPr>
        <p:spPr>
          <a:xfrm>
            <a:off x="310551" y="1153668"/>
            <a:ext cx="8704053" cy="2385421"/>
          </a:xfrm>
        </p:spPr>
        <p:txBody>
          <a:bodyPr>
            <a:normAutofit/>
          </a:bodyPr>
          <a:lstStyle/>
          <a:p>
            <a:pPr marL="0" indent="0">
              <a:buNone/>
            </a:pPr>
            <a:r>
              <a:rPr lang="en-US" sz="2400" dirty="0"/>
              <a:t>NSWCDD Dam Neck Activity Combat Systems Division</a:t>
            </a:r>
            <a:r>
              <a:rPr lang="en-US" sz="2400" dirty="0">
                <a:ea typeface="Calibri"/>
                <a:cs typeface="Calibri"/>
              </a:rPr>
              <a:t>, DNA30 is responsible for the production and sustainment of the AN/SPQ-14(V) Advanced Sensor Distribution Systems (ASDS), AN/SPQ-15(V) Data Distribution Systems (DDS), and future distribution systems and components fielded on U.S. Navy ships, Land based sites and Foreign Military Sales (FMS) ships.</a:t>
            </a:r>
            <a:endParaRPr lang="en-US" sz="2000" dirty="0">
              <a:ea typeface="Calibri"/>
              <a:cs typeface="Calibri"/>
            </a:endParaRPr>
          </a:p>
        </p:txBody>
      </p:sp>
      <p:pic>
        <p:nvPicPr>
          <p:cNvPr id="6" name="Picture 5">
            <a:extLst>
              <a:ext uri="{FF2B5EF4-FFF2-40B4-BE49-F238E27FC236}">
                <a16:creationId xmlns:a16="http://schemas.microsoft.com/office/drawing/2014/main" id="{B3F9CA18-6FA9-A9CF-9DD1-3D8BF7B93AAA}"/>
              </a:ext>
            </a:extLst>
          </p:cNvPr>
          <p:cNvPicPr>
            <a:picLocks noChangeAspect="1"/>
          </p:cNvPicPr>
          <p:nvPr/>
        </p:nvPicPr>
        <p:blipFill>
          <a:blip r:embed="rId2"/>
          <a:stretch>
            <a:fillRect/>
          </a:stretch>
        </p:blipFill>
        <p:spPr>
          <a:xfrm>
            <a:off x="9327348" y="1032898"/>
            <a:ext cx="2478103" cy="2165241"/>
          </a:xfrm>
          <a:prstGeom prst="rect">
            <a:avLst/>
          </a:prstGeom>
        </p:spPr>
      </p:pic>
      <p:sp>
        <p:nvSpPr>
          <p:cNvPr id="7" name="Content Placeholder 2">
            <a:extLst>
              <a:ext uri="{FF2B5EF4-FFF2-40B4-BE49-F238E27FC236}">
                <a16:creationId xmlns:a16="http://schemas.microsoft.com/office/drawing/2014/main" id="{8B5E4C86-BFC3-B4F3-D9A8-5163F80B8381}"/>
              </a:ext>
            </a:extLst>
          </p:cNvPr>
          <p:cNvSpPr txBox="1">
            <a:spLocks/>
          </p:cNvSpPr>
          <p:nvPr/>
        </p:nvSpPr>
        <p:spPr>
          <a:xfrm>
            <a:off x="310551" y="4137488"/>
            <a:ext cx="11425801" cy="1916542"/>
          </a:xfrm>
          <a:prstGeom prst="rect">
            <a:avLst/>
          </a:prstGeom>
          <a:ln w="25400">
            <a:solidFill>
              <a:srgbClr val="376092"/>
            </a:solidFill>
          </a:ln>
        </p:spPr>
        <p:txBody>
          <a:bodyPr vert="horz" lIns="91440" tIns="45720" rIns="91440" bIns="45720" rtlCol="0">
            <a:normAutofit fontScale="85000" lnSpcReduction="10000"/>
          </a:bodyPr>
          <a:lstStyle>
            <a:lvl1pPr marL="230188" indent="-230188"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1pPr>
            <a:lvl2pPr marL="684213" indent="-223838"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027113" indent="-225425"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374775" indent="-230188"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716088" indent="-230188"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350" indent="0">
              <a:buFont typeface="Wingdings" panose="05000000000000000000" pitchFamily="2" charset="2"/>
              <a:buNone/>
            </a:pPr>
            <a:r>
              <a:rPr lang="en-US" sz="2400" dirty="0">
                <a:ea typeface="Calibri"/>
                <a:cs typeface="Calibri"/>
              </a:rPr>
              <a:t>AN/SPQ-15 Data Distribution System is a critical link, distributing sensor data to tactical displays and converts naval surface and air search radar information into a standard digitized format and distributes this data to radar navigation and tactical displays. This requirement provides production, development, engineering services, obsolescence mitigation, configuration management, sustainment support, and integrated logistics support in the manufacturing, fabrication, assembly, production, delivery, repair, and installation of the AN/SPQ-14(V) ASDS and AN/SPQ-15(V) units required to support the mission of NSWCDD DNA.</a:t>
            </a:r>
          </a:p>
        </p:txBody>
      </p:sp>
    </p:spTree>
    <p:extLst>
      <p:ext uri="{BB962C8B-B14F-4D97-AF65-F5344CB8AC3E}">
        <p14:creationId xmlns:p14="http://schemas.microsoft.com/office/powerpoint/2010/main" val="4017833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Acquisition Strategy</a:t>
            </a:r>
          </a:p>
        </p:txBody>
      </p:sp>
      <p:sp>
        <p:nvSpPr>
          <p:cNvPr id="3" name="Content Placeholder 2"/>
          <p:cNvSpPr>
            <a:spLocks noGrp="1"/>
          </p:cNvSpPr>
          <p:nvPr>
            <p:ph idx="1"/>
          </p:nvPr>
        </p:nvSpPr>
        <p:spPr/>
        <p:txBody>
          <a:bodyPr vert="horz" lIns="91440" tIns="45720" rIns="91440" bIns="45720" rtlCol="0" anchor="t">
            <a:normAutofit/>
          </a:bodyPr>
          <a:lstStyle/>
          <a:p>
            <a:pPr marL="229870" indent="-229870"/>
            <a:r>
              <a:rPr lang="en-US" dirty="0"/>
              <a:t>Acquisition Approach – TBD</a:t>
            </a:r>
            <a:endParaRPr lang="en-US" dirty="0">
              <a:ea typeface="Calibri"/>
              <a:cs typeface="Calibri"/>
            </a:endParaRPr>
          </a:p>
          <a:p>
            <a:pPr marL="229870" indent="-229870"/>
            <a:r>
              <a:rPr lang="en-US">
                <a:ea typeface="Calibri"/>
                <a:cs typeface="Calibri"/>
              </a:rPr>
              <a:t>New Requirement, consolidation of N0017823D4501 &amp; N0017824D4500 </a:t>
            </a:r>
          </a:p>
          <a:p>
            <a:pPr marL="229870" indent="-229870"/>
            <a:r>
              <a:rPr lang="en-US" dirty="0"/>
              <a:t>Contract Type – IDIQ, FFP, CPFF, ODCs; 5-Year (Base, 4 Option Periods)</a:t>
            </a:r>
            <a:endParaRPr lang="en-US" dirty="0">
              <a:ea typeface="Calibri"/>
              <a:cs typeface="Calibri"/>
            </a:endParaRPr>
          </a:p>
          <a:p>
            <a:pPr marL="229870" indent="-229870"/>
            <a:r>
              <a:rPr lang="en-US" dirty="0">
                <a:ea typeface="Calibri"/>
                <a:cs typeface="Calibri"/>
              </a:rPr>
              <a:t>Sources Sought Close – 5/11/2026</a:t>
            </a:r>
            <a:endParaRPr lang="en-US" dirty="0"/>
          </a:p>
          <a:p>
            <a:pPr marL="229870" indent="-229870"/>
            <a:r>
              <a:rPr lang="en-US"/>
              <a:t>Solicitation Number – N0017826D4506</a:t>
            </a:r>
            <a:endParaRPr lang="en-US" dirty="0">
              <a:ea typeface="Calibri"/>
              <a:cs typeface="Calibri"/>
            </a:endParaRPr>
          </a:p>
          <a:p>
            <a:pPr marL="229870" indent="-229870"/>
            <a:r>
              <a:rPr lang="en-US" dirty="0"/>
              <a:t>Anticipated Solicitation Release: </a:t>
            </a:r>
          </a:p>
          <a:p>
            <a:pPr marL="1026795" lvl="2"/>
            <a:r>
              <a:rPr lang="en-US" dirty="0"/>
              <a:t>Draft 10/08/2026 - 10/27/2026</a:t>
            </a:r>
            <a:endParaRPr lang="en-US" dirty="0">
              <a:ea typeface="Calibri"/>
              <a:cs typeface="Calibri"/>
            </a:endParaRPr>
          </a:p>
          <a:p>
            <a:pPr marL="1026795" lvl="2"/>
            <a:r>
              <a:rPr lang="en-US" dirty="0"/>
              <a:t>Final: 12/9/2026 - 12/9/2026</a:t>
            </a:r>
            <a:endParaRPr lang="en-US" dirty="0">
              <a:ea typeface="Calibri"/>
              <a:cs typeface="Calibri"/>
            </a:endParaRPr>
          </a:p>
          <a:p>
            <a:pPr marL="229870" indent="-229870"/>
            <a:r>
              <a:rPr lang="en-US" dirty="0"/>
              <a:t>Anticipated Award: 4/24/2028</a:t>
            </a:r>
            <a:endParaRPr lang="en-US" dirty="0">
              <a:ea typeface="Calibri"/>
              <a:cs typeface="Calibri"/>
            </a:endParaRPr>
          </a:p>
          <a:p>
            <a:pPr marL="229870" indent="-229870"/>
            <a:r>
              <a:rPr lang="en-US" dirty="0"/>
              <a:t>Anticipated </a:t>
            </a:r>
            <a:r>
              <a:rPr lang="en-US" err="1"/>
              <a:t>PoP</a:t>
            </a:r>
            <a:r>
              <a:rPr lang="en-US" dirty="0"/>
              <a:t> Start Date: 5/30/2028</a:t>
            </a:r>
            <a:endParaRPr lang="en-US" dirty="0">
              <a:ea typeface="Calibri"/>
              <a:cs typeface="Calibri"/>
            </a:endParaRPr>
          </a:p>
        </p:txBody>
      </p:sp>
    </p:spTree>
    <p:extLst>
      <p:ext uri="{BB962C8B-B14F-4D97-AF65-F5344CB8AC3E}">
        <p14:creationId xmlns:p14="http://schemas.microsoft.com/office/powerpoint/2010/main" val="802969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766E-96DD-BF23-77DB-918DC60C2C27}"/>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EF3EE1CF-FB27-D29A-F259-EC746162ED73}"/>
              </a:ext>
            </a:extLst>
          </p:cNvPr>
          <p:cNvSpPr>
            <a:spLocks noGrp="1"/>
          </p:cNvSpPr>
          <p:nvPr>
            <p:ph type="subTitle" idx="4294967295"/>
          </p:nvPr>
        </p:nvSpPr>
        <p:spPr>
          <a:xfrm>
            <a:off x="426258" y="2992772"/>
            <a:ext cx="5689600" cy="457200"/>
          </a:xfrm>
        </p:spPr>
        <p:txBody>
          <a:bodyPr vert="horz" lIns="91440" tIns="45720" rIns="91440" bIns="45720" rtlCol="0" anchor="t">
            <a:normAutofit/>
          </a:bodyPr>
          <a:lstStyle/>
          <a:p>
            <a:pPr marL="0" indent="0">
              <a:buNone/>
            </a:pPr>
            <a:r>
              <a:rPr lang="en-US" sz="1800" dirty="0">
                <a:latin typeface="Cambria"/>
                <a:ea typeface="Cambria"/>
              </a:rPr>
              <a:t>AN/SPQ-15(V) Data Distribution Systems (DDS)</a:t>
            </a:r>
          </a:p>
        </p:txBody>
      </p:sp>
      <p:sp>
        <p:nvSpPr>
          <p:cNvPr id="5" name="Text Placeholder 4">
            <a:extLst>
              <a:ext uri="{FF2B5EF4-FFF2-40B4-BE49-F238E27FC236}">
                <a16:creationId xmlns:a16="http://schemas.microsoft.com/office/drawing/2014/main" id="{B07C0767-E6A6-B82F-F45F-39DBB910F4CE}"/>
              </a:ext>
            </a:extLst>
          </p:cNvPr>
          <p:cNvSpPr>
            <a:spLocks noGrp="1"/>
          </p:cNvSpPr>
          <p:nvPr>
            <p:ph type="body" sz="quarter" idx="4294967295"/>
          </p:nvPr>
        </p:nvSpPr>
        <p:spPr>
          <a:xfrm>
            <a:off x="406400" y="4310950"/>
            <a:ext cx="5588000" cy="408381"/>
          </a:xfrm>
        </p:spPr>
        <p:txBody>
          <a:bodyPr vert="horz" lIns="91440" tIns="45720" rIns="91440" bIns="45720" rtlCol="0" anchor="t">
            <a:normAutofit fontScale="85000" lnSpcReduction="20000"/>
          </a:bodyPr>
          <a:lstStyle/>
          <a:p>
            <a:pPr marL="0" indent="0">
              <a:buNone/>
            </a:pPr>
            <a:r>
              <a:rPr lang="en-US" dirty="0"/>
              <a:t>Mary Armbruster</a:t>
            </a:r>
            <a:endParaRPr lang="en-US" dirty="0">
              <a:ea typeface="Calibri"/>
              <a:cs typeface="Calibri"/>
            </a:endParaRPr>
          </a:p>
        </p:txBody>
      </p:sp>
      <p:sp>
        <p:nvSpPr>
          <p:cNvPr id="6" name="Text Placeholder 5">
            <a:extLst>
              <a:ext uri="{FF2B5EF4-FFF2-40B4-BE49-F238E27FC236}">
                <a16:creationId xmlns:a16="http://schemas.microsoft.com/office/drawing/2014/main" id="{72D3CCB8-7E75-474B-03F2-8927B92CF2C7}"/>
              </a:ext>
            </a:extLst>
          </p:cNvPr>
          <p:cNvSpPr>
            <a:spLocks noGrp="1"/>
          </p:cNvSpPr>
          <p:nvPr>
            <p:ph type="body" sz="quarter" idx="4294967295"/>
          </p:nvPr>
        </p:nvSpPr>
        <p:spPr>
          <a:xfrm>
            <a:off x="406400" y="4534773"/>
            <a:ext cx="5588000" cy="707588"/>
          </a:xfrm>
        </p:spPr>
        <p:txBody>
          <a:bodyPr>
            <a:normAutofit/>
          </a:bodyPr>
          <a:lstStyle/>
          <a:p>
            <a:pPr marL="0" indent="0">
              <a:buNone/>
            </a:pPr>
            <a:r>
              <a:rPr lang="en-US" sz="2000" i="1" dirty="0"/>
              <a:t>Electrical/Systems Engineer, NSWC Dahlgren Division, Dam Neck Activity</a:t>
            </a:r>
          </a:p>
        </p:txBody>
      </p:sp>
      <p:sp>
        <p:nvSpPr>
          <p:cNvPr id="7" name="Text Placeholder 6">
            <a:extLst>
              <a:ext uri="{FF2B5EF4-FFF2-40B4-BE49-F238E27FC236}">
                <a16:creationId xmlns:a16="http://schemas.microsoft.com/office/drawing/2014/main" id="{E42491C1-97EE-7C28-4406-24220D62463A}"/>
              </a:ext>
            </a:extLst>
          </p:cNvPr>
          <p:cNvSpPr>
            <a:spLocks noGrp="1"/>
          </p:cNvSpPr>
          <p:nvPr>
            <p:ph type="body" sz="quarter" idx="4294967295"/>
          </p:nvPr>
        </p:nvSpPr>
        <p:spPr>
          <a:xfrm>
            <a:off x="6245721" y="3351286"/>
            <a:ext cx="5040852" cy="408381"/>
          </a:xfrm>
        </p:spPr>
        <p:txBody>
          <a:bodyPr>
            <a:normAutofit fontScale="85000" lnSpcReduction="20000"/>
          </a:bodyPr>
          <a:lstStyle/>
          <a:p>
            <a:pPr marL="0" indent="0">
              <a:buNone/>
            </a:pPr>
            <a:r>
              <a:rPr lang="en-US" dirty="0"/>
              <a:t>Industry</a:t>
            </a:r>
          </a:p>
        </p:txBody>
      </p:sp>
      <p:sp>
        <p:nvSpPr>
          <p:cNvPr id="9" name="Text Placeholder 8">
            <a:extLst>
              <a:ext uri="{FF2B5EF4-FFF2-40B4-BE49-F238E27FC236}">
                <a16:creationId xmlns:a16="http://schemas.microsoft.com/office/drawing/2014/main" id="{48936727-A3CC-ECE4-90F2-E712C16E894E}"/>
              </a:ext>
            </a:extLst>
          </p:cNvPr>
          <p:cNvSpPr>
            <a:spLocks noGrp="1"/>
          </p:cNvSpPr>
          <p:nvPr>
            <p:ph type="body" sz="quarter" idx="4294967295"/>
          </p:nvPr>
        </p:nvSpPr>
        <p:spPr>
          <a:xfrm>
            <a:off x="6256906" y="4550095"/>
            <a:ext cx="5018481" cy="338472"/>
          </a:xfrm>
        </p:spPr>
        <p:txBody>
          <a:bodyPr vert="horz" lIns="91440" tIns="45720" rIns="91440" bIns="45720" rtlCol="0" anchor="t">
            <a:noAutofit/>
          </a:bodyPr>
          <a:lstStyle/>
          <a:p>
            <a:pPr marL="0" indent="0">
              <a:buNone/>
            </a:pPr>
            <a:r>
              <a:rPr lang="en-US" sz="2400" dirty="0"/>
              <a:t>April 30, 2026</a:t>
            </a:r>
          </a:p>
        </p:txBody>
      </p:sp>
    </p:spTree>
    <p:extLst>
      <p:ext uri="{BB962C8B-B14F-4D97-AF65-F5344CB8AC3E}">
        <p14:creationId xmlns:p14="http://schemas.microsoft.com/office/powerpoint/2010/main" val="1439612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1CBF4-A289-264C-B581-0699B65DC10C}"/>
              </a:ext>
            </a:extLst>
          </p:cNvPr>
          <p:cNvSpPr>
            <a:spLocks noGrp="1"/>
          </p:cNvSpPr>
          <p:nvPr>
            <p:ph type="title"/>
          </p:nvPr>
        </p:nvSpPr>
        <p:spPr/>
        <p:txBody>
          <a:bodyPr>
            <a:normAutofit/>
          </a:bodyPr>
          <a:lstStyle/>
          <a:p>
            <a:r>
              <a:rPr lang="en-US">
                <a:ea typeface="Calibri"/>
                <a:cs typeface="Calibri"/>
              </a:rPr>
              <a:t>DNA35 – Sensor Distribution and Display Systems </a:t>
            </a:r>
            <a:endParaRPr lang="en-US"/>
          </a:p>
        </p:txBody>
      </p:sp>
      <p:sp>
        <p:nvSpPr>
          <p:cNvPr id="3" name="Content Placeholder 2">
            <a:extLst>
              <a:ext uri="{FF2B5EF4-FFF2-40B4-BE49-F238E27FC236}">
                <a16:creationId xmlns:a16="http://schemas.microsoft.com/office/drawing/2014/main" id="{B1F76A6F-62B8-A723-3895-E7BC9EF4C32C}"/>
              </a:ext>
            </a:extLst>
          </p:cNvPr>
          <p:cNvSpPr>
            <a:spLocks noGrp="1"/>
          </p:cNvSpPr>
          <p:nvPr>
            <p:ph idx="1"/>
          </p:nvPr>
        </p:nvSpPr>
        <p:spPr/>
        <p:txBody>
          <a:bodyPr vert="horz" lIns="91440" tIns="45720" rIns="91440" bIns="45720" rtlCol="0" anchor="t">
            <a:normAutofit fontScale="85000" lnSpcReduction="20000"/>
          </a:bodyPr>
          <a:lstStyle/>
          <a:p>
            <a:pPr marL="229870" indent="-229870"/>
            <a:r>
              <a:rPr lang="en-US" sz="2600" dirty="0">
                <a:latin typeface="Arial"/>
                <a:cs typeface="Arial"/>
              </a:rPr>
              <a:t>Mission: Provide Sensor Data Distribution Engineering, Acquisition &amp; Life Cycle Support and Fleet Readiness solutions for Warfare Systems. </a:t>
            </a:r>
          </a:p>
          <a:p>
            <a:pPr marL="229870" indent="-229870"/>
            <a:r>
              <a:rPr lang="en-US" sz="2600" dirty="0">
                <a:latin typeface="Arial"/>
                <a:cs typeface="Arial"/>
              </a:rPr>
              <a:t>Products</a:t>
            </a:r>
          </a:p>
          <a:p>
            <a:pPr marL="683895" lvl="1" indent="-223520"/>
            <a:r>
              <a:rPr lang="en-US" sz="2200" dirty="0">
                <a:latin typeface="Arial"/>
                <a:cs typeface="Arial"/>
              </a:rPr>
              <a:t>AN/SPQ-12(V) Radar Data Distribution System (RADDS)</a:t>
            </a:r>
          </a:p>
          <a:p>
            <a:pPr marL="683895" lvl="1" indent="-223520"/>
            <a:r>
              <a:rPr lang="en-US" sz="2200" dirty="0">
                <a:latin typeface="Arial"/>
                <a:ea typeface="Calibri"/>
                <a:cs typeface="Arial"/>
              </a:rPr>
              <a:t>AN/SPQ-14(V) Advanced Sensor Distribution Systems (ASDS)</a:t>
            </a:r>
          </a:p>
          <a:p>
            <a:pPr marL="683895" lvl="1" indent="-223520"/>
            <a:r>
              <a:rPr lang="en-US" sz="2200" dirty="0">
                <a:latin typeface="Arial"/>
                <a:ea typeface="Calibri"/>
                <a:cs typeface="Arial"/>
              </a:rPr>
              <a:t>AN/SPQ-15(V) Data Distribution Systems (DDS)</a:t>
            </a:r>
          </a:p>
          <a:p>
            <a:pPr marL="683895" lvl="1" indent="-223520"/>
            <a:r>
              <a:rPr lang="en-US" sz="2200" dirty="0">
                <a:latin typeface="Arial"/>
                <a:ea typeface="Calibri"/>
                <a:cs typeface="Arial"/>
              </a:rPr>
              <a:t>AN/SPA-25G/H/J/K Radar Indicators</a:t>
            </a:r>
          </a:p>
          <a:p>
            <a:pPr marL="683895" lvl="1" indent="-223520"/>
            <a:r>
              <a:rPr lang="en-US" sz="2200" dirty="0">
                <a:latin typeface="Arial"/>
                <a:ea typeface="Calibri"/>
                <a:cs typeface="Arial"/>
              </a:rPr>
              <a:t>Warfare System Integration Diagrams</a:t>
            </a:r>
          </a:p>
          <a:p>
            <a:pPr marL="229870" indent="-229870"/>
            <a:r>
              <a:rPr lang="en-US" sz="2600" dirty="0">
                <a:latin typeface="Arial"/>
                <a:ea typeface="Calibri"/>
                <a:cs typeface="Arial"/>
              </a:rPr>
              <a:t>Services</a:t>
            </a:r>
          </a:p>
          <a:p>
            <a:pPr marL="683895" lvl="1" indent="-223520"/>
            <a:r>
              <a:rPr lang="en-US" sz="2200" dirty="0">
                <a:latin typeface="Arial"/>
                <a:ea typeface="Calibri"/>
                <a:cs typeface="Arial"/>
              </a:rPr>
              <a:t>Design Engineering </a:t>
            </a:r>
          </a:p>
          <a:p>
            <a:pPr marL="683895" lvl="1" indent="-223520"/>
            <a:r>
              <a:rPr lang="en-US" sz="2200" dirty="0">
                <a:latin typeface="Arial"/>
                <a:ea typeface="Calibri"/>
                <a:cs typeface="Arial"/>
              </a:rPr>
              <a:t>Acquisition Engineering </a:t>
            </a:r>
          </a:p>
          <a:p>
            <a:pPr marL="683895" lvl="1" indent="-223520"/>
            <a:r>
              <a:rPr lang="en-US" sz="2200" dirty="0">
                <a:latin typeface="Arial"/>
                <a:ea typeface="Calibri"/>
                <a:cs typeface="Arial"/>
              </a:rPr>
              <a:t>Software Engineering</a:t>
            </a:r>
          </a:p>
          <a:p>
            <a:pPr marL="683895" lvl="1" indent="-223520"/>
            <a:r>
              <a:rPr lang="en-US" sz="2200" dirty="0">
                <a:latin typeface="Arial"/>
                <a:ea typeface="Calibri"/>
                <a:cs typeface="Arial"/>
              </a:rPr>
              <a:t>Logistics Analysis and Product Development</a:t>
            </a:r>
          </a:p>
          <a:p>
            <a:pPr marL="683895" lvl="1" indent="-223520"/>
            <a:r>
              <a:rPr lang="en-US" sz="2200" dirty="0">
                <a:latin typeface="Arial"/>
                <a:ea typeface="Calibri"/>
                <a:cs typeface="Arial"/>
              </a:rPr>
              <a:t>Alteration &amp; Installations (HW&amp;CP)</a:t>
            </a:r>
          </a:p>
          <a:p>
            <a:pPr marL="683895" lvl="1" indent="-223520"/>
            <a:r>
              <a:rPr lang="en-US" sz="2200" dirty="0">
                <a:latin typeface="Arial"/>
                <a:ea typeface="Calibri"/>
                <a:cs typeface="Arial"/>
              </a:rPr>
              <a:t>Fleet Support</a:t>
            </a:r>
          </a:p>
          <a:p>
            <a:pPr marL="683895" lvl="1" indent="-223520"/>
            <a:r>
              <a:rPr lang="en-US" sz="2200" dirty="0">
                <a:latin typeface="Arial"/>
                <a:ea typeface="Calibri"/>
                <a:cs typeface="Arial"/>
              </a:rPr>
              <a:t>In-Service Engineering</a:t>
            </a:r>
          </a:p>
          <a:p>
            <a:pPr marL="683895" lvl="1" indent="-223520"/>
            <a:r>
              <a:rPr lang="en-US" sz="2200" dirty="0">
                <a:latin typeface="Arial"/>
                <a:ea typeface="Calibri"/>
                <a:cs typeface="Arial"/>
              </a:rPr>
              <a:t>ECM CCB Coordination's and WSIDS</a:t>
            </a:r>
          </a:p>
          <a:p>
            <a:pPr marL="683895" lvl="1" indent="-223520"/>
            <a:endParaRPr lang="en-US" sz="2200" dirty="0">
              <a:latin typeface="Arial"/>
              <a:ea typeface="Calibri"/>
              <a:cs typeface="Arial"/>
            </a:endParaRPr>
          </a:p>
          <a:p>
            <a:pPr marL="229870" indent="-229870"/>
            <a:endParaRPr lang="en-US" sz="2600" dirty="0">
              <a:latin typeface="Arial"/>
              <a:ea typeface="Calibri"/>
              <a:cs typeface="Arial"/>
            </a:endParaRPr>
          </a:p>
          <a:p>
            <a:pPr marL="0" indent="0">
              <a:buNone/>
            </a:pPr>
            <a:endParaRPr lang="en-US" sz="2600" dirty="0">
              <a:latin typeface="Arial"/>
              <a:ea typeface="Calibri"/>
              <a:cs typeface="Arial"/>
            </a:endParaRPr>
          </a:p>
          <a:p>
            <a:pPr marL="229870" indent="-229870"/>
            <a:endParaRPr lang="en-US" sz="2600" dirty="0">
              <a:latin typeface="Arial"/>
              <a:ea typeface="Calibri"/>
              <a:cs typeface="Arial"/>
            </a:endParaRPr>
          </a:p>
          <a:p>
            <a:pPr marL="229870" indent="-229870"/>
            <a:endParaRPr lang="en-US" sz="2600" dirty="0">
              <a:latin typeface="Arial"/>
              <a:ea typeface="Calibri"/>
              <a:cs typeface="Arial"/>
            </a:endParaRPr>
          </a:p>
          <a:p>
            <a:pPr marL="229870" indent="-229870"/>
            <a:endParaRPr lang="en-US" sz="2600" dirty="0">
              <a:latin typeface="Arial"/>
              <a:ea typeface="Calibri"/>
              <a:cs typeface="Arial"/>
            </a:endParaRPr>
          </a:p>
        </p:txBody>
      </p:sp>
      <p:pic>
        <p:nvPicPr>
          <p:cNvPr id="11" name="Picture 10" descr="Logo&#10;&#10;Description automatically generated">
            <a:extLst>
              <a:ext uri="{FF2B5EF4-FFF2-40B4-BE49-F238E27FC236}">
                <a16:creationId xmlns:a16="http://schemas.microsoft.com/office/drawing/2014/main" id="{6AE9608A-F705-EED3-59E8-38B3552E9417}"/>
              </a:ext>
            </a:extLst>
          </p:cNvPr>
          <p:cNvPicPr>
            <a:picLocks noChangeAspect="1"/>
          </p:cNvPicPr>
          <p:nvPr/>
        </p:nvPicPr>
        <p:blipFill>
          <a:blip r:embed="rId3"/>
          <a:stretch>
            <a:fillRect/>
          </a:stretch>
        </p:blipFill>
        <p:spPr>
          <a:xfrm>
            <a:off x="8947600" y="2188505"/>
            <a:ext cx="2494145" cy="2479203"/>
          </a:xfrm>
          <a:prstGeom prst="rect">
            <a:avLst/>
          </a:prstGeom>
        </p:spPr>
      </p:pic>
    </p:spTree>
    <p:extLst>
      <p:ext uri="{BB962C8B-B14F-4D97-AF65-F5344CB8AC3E}">
        <p14:creationId xmlns:p14="http://schemas.microsoft.com/office/powerpoint/2010/main" val="182109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Anticipated Requirements</a:t>
            </a:r>
          </a:p>
        </p:txBody>
      </p:sp>
      <p:sp>
        <p:nvSpPr>
          <p:cNvPr id="5" name="Content Placeholder 4"/>
          <p:cNvSpPr>
            <a:spLocks noGrp="1"/>
          </p:cNvSpPr>
          <p:nvPr>
            <p:ph idx="1"/>
          </p:nvPr>
        </p:nvSpPr>
        <p:spPr/>
        <p:txBody>
          <a:bodyPr vert="horz" lIns="91440" tIns="45720" rIns="91440" bIns="45720" rtlCol="0" anchor="t">
            <a:normAutofit/>
          </a:bodyPr>
          <a:lstStyle/>
          <a:p>
            <a:pPr marL="229870" indent="-229870">
              <a:buFont typeface="Arial" pitchFamily="2" charset="2"/>
              <a:buChar char="•"/>
            </a:pPr>
            <a:r>
              <a:rPr lang="en-US" sz="2000" b="0" i="0">
                <a:ea typeface="+mn-lt"/>
                <a:cs typeface="+mn-lt"/>
              </a:rPr>
              <a:t>Accomplish the performance requirements and provide the deliverables specifically described in the Technical Instructions (TIs) to be placed against the resultant contract issued by the Procuring Contracting Officer (PCO). These TIs shall be within the parameters of one or more of the tasks described below. Performance objectives are based on the following disciplines:</a:t>
            </a:r>
            <a:endParaRPr lang="en-US"/>
          </a:p>
          <a:p>
            <a:pPr marL="0" indent="0">
              <a:buNone/>
            </a:pPr>
            <a:endParaRPr lang="en-US" sz="900">
              <a:solidFill>
                <a:schemeClr val="tx1"/>
              </a:solidFill>
              <a:ea typeface="+mn-lt"/>
              <a:cs typeface="+mn-lt"/>
            </a:endParaRPr>
          </a:p>
          <a:p>
            <a:pPr marL="683895" lvl="1" indent="-223520">
              <a:buFont typeface="Arial" pitchFamily="2" charset="2"/>
              <a:buChar char="•"/>
            </a:pPr>
            <a:r>
              <a:rPr lang="en-US" sz="1800">
                <a:cs typeface="Calibri"/>
              </a:rPr>
              <a:t>Production and Delivery</a:t>
            </a:r>
          </a:p>
          <a:p>
            <a:pPr marL="683895" lvl="1" indent="-223520">
              <a:buFont typeface="Arial" pitchFamily="2" charset="2"/>
              <a:buChar char="•"/>
            </a:pPr>
            <a:r>
              <a:rPr lang="en-US" sz="1800">
                <a:cs typeface="Calibri"/>
              </a:rPr>
              <a:t>Engineering Services</a:t>
            </a:r>
            <a:endParaRPr lang="en-US"/>
          </a:p>
          <a:p>
            <a:pPr marL="683895" lvl="1" indent="-223520">
              <a:buFont typeface="Arial" pitchFamily="2" charset="2"/>
              <a:buChar char="•"/>
            </a:pPr>
            <a:r>
              <a:rPr lang="en-US" sz="1800">
                <a:ea typeface="Calibri"/>
                <a:cs typeface="Calibri"/>
              </a:rPr>
              <a:t>Technical Services</a:t>
            </a:r>
            <a:endParaRPr lang="en-US" sz="1800" dirty="0">
              <a:ea typeface="Calibri"/>
              <a:cs typeface="Calibri"/>
            </a:endParaRPr>
          </a:p>
          <a:p>
            <a:pPr marL="683895" lvl="1" indent="-223520">
              <a:buFont typeface="Arial" pitchFamily="2" charset="2"/>
              <a:buChar char="•"/>
            </a:pPr>
            <a:r>
              <a:rPr lang="en-US" sz="1800">
                <a:ea typeface="Calibri"/>
                <a:cs typeface="Calibri"/>
              </a:rPr>
              <a:t>Configuration Management and Integrated Logistics Support (CM and ILS)</a:t>
            </a:r>
            <a:endParaRPr lang="en-US" sz="1800" dirty="0">
              <a:ea typeface="Calibri"/>
              <a:cs typeface="Calibri"/>
            </a:endParaRPr>
          </a:p>
          <a:p>
            <a:pPr marL="683895" lvl="1" indent="-223520">
              <a:buFont typeface="Arial" pitchFamily="2" charset="2"/>
              <a:buChar char="•"/>
            </a:pPr>
            <a:r>
              <a:rPr lang="en-US" sz="1800">
                <a:ea typeface="Calibri"/>
                <a:cs typeface="Calibri"/>
              </a:rPr>
              <a:t>Obscolescence Management </a:t>
            </a:r>
            <a:endParaRPr lang="en-US" sz="1800" dirty="0">
              <a:cs typeface="Calibri"/>
            </a:endParaRPr>
          </a:p>
          <a:p>
            <a:pPr marL="683895" lvl="1" indent="-223520">
              <a:buFont typeface="Arial" pitchFamily="2" charset="2"/>
              <a:buChar char="•"/>
            </a:pPr>
            <a:r>
              <a:rPr lang="en-US" sz="1800">
                <a:cs typeface="Calibri"/>
              </a:rPr>
              <a:t>Cybersecurity Support</a:t>
            </a:r>
            <a:endParaRPr lang="en-US" sz="1800" dirty="0">
              <a:ea typeface="Calibri"/>
              <a:cs typeface="Calibri"/>
            </a:endParaRPr>
          </a:p>
          <a:p>
            <a:pPr marL="460375" lvl="1" indent="0">
              <a:buNone/>
            </a:pPr>
            <a:endParaRPr lang="en-US" sz="1800" dirty="0">
              <a:ea typeface="Calibri"/>
              <a:cs typeface="Calibri"/>
            </a:endParaRPr>
          </a:p>
          <a:p>
            <a:pPr marL="683895" lvl="1" indent="-223520">
              <a:buFont typeface="Arial" pitchFamily="2" charset="2"/>
              <a:buChar char="•"/>
            </a:pPr>
            <a:endParaRPr lang="en-US" sz="1800" dirty="0">
              <a:ea typeface="Calibri"/>
              <a:cs typeface="Calibri"/>
            </a:endParaRPr>
          </a:p>
        </p:txBody>
      </p:sp>
    </p:spTree>
    <p:extLst>
      <p:ext uri="{BB962C8B-B14F-4D97-AF65-F5344CB8AC3E}">
        <p14:creationId xmlns:p14="http://schemas.microsoft.com/office/powerpoint/2010/main" val="297079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E8FE0-3487-BF6B-F0DA-DC9B8A88E6A8}"/>
              </a:ext>
            </a:extLst>
          </p:cNvPr>
          <p:cNvSpPr>
            <a:spLocks noGrp="1"/>
          </p:cNvSpPr>
          <p:nvPr>
            <p:ph type="title"/>
          </p:nvPr>
        </p:nvSpPr>
        <p:spPr/>
        <p:txBody>
          <a:bodyPr/>
          <a:lstStyle/>
          <a:p>
            <a:r>
              <a:rPr lang="en-US">
                <a:ea typeface="Calibri"/>
                <a:cs typeface="Calibri"/>
              </a:rPr>
              <a:t>Production and Delivery</a:t>
            </a:r>
            <a:endParaRPr lang="en-US"/>
          </a:p>
        </p:txBody>
      </p:sp>
      <p:sp>
        <p:nvSpPr>
          <p:cNvPr id="3" name="Content Placeholder 2">
            <a:extLst>
              <a:ext uri="{FF2B5EF4-FFF2-40B4-BE49-F238E27FC236}">
                <a16:creationId xmlns:a16="http://schemas.microsoft.com/office/drawing/2014/main" id="{58E7CA9C-2D75-3CCD-C2BE-5D22443FA9DE}"/>
              </a:ext>
            </a:extLst>
          </p:cNvPr>
          <p:cNvSpPr>
            <a:spLocks noGrp="1"/>
          </p:cNvSpPr>
          <p:nvPr>
            <p:ph idx="1"/>
          </p:nvPr>
        </p:nvSpPr>
        <p:spPr/>
        <p:txBody>
          <a:bodyPr vert="horz" lIns="91440" tIns="45720" rIns="91440" bIns="45720" rtlCol="0" anchor="t">
            <a:normAutofit/>
          </a:bodyPr>
          <a:lstStyle/>
          <a:p>
            <a:pPr marL="229870" indent="-229870"/>
            <a:r>
              <a:rPr lang="en-US">
                <a:ea typeface="+mn-lt"/>
                <a:cs typeface="+mn-lt"/>
              </a:rPr>
              <a:t>Objective: Establish a reliable manufacturing process that ensures product quality and is backed by a comprehensive warranty.</a:t>
            </a:r>
            <a:endParaRPr lang="en-US" dirty="0">
              <a:ea typeface="Calibri"/>
              <a:cs typeface="Calibri"/>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sz="2000">
                <a:ea typeface="+mn-lt"/>
                <a:cs typeface="+mn-lt"/>
              </a:rPr>
              <a:t>The ability to produce and deliver AN/SPQ-14(V) and AN/SPQ-15(V) equipment in strict accordance with government-approved Technical Data Packages (TDPs).</a:t>
            </a:r>
            <a:endParaRPr lang="en-US" sz="2000">
              <a:ea typeface="Calibri"/>
              <a:cs typeface="Calibri"/>
            </a:endParaRPr>
          </a:p>
          <a:p>
            <a:pPr marL="683895" lvl="1" indent="-223520">
              <a:buFont typeface="Arial" panose="05000000000000000000" pitchFamily="2" charset="2"/>
              <a:buChar char="–"/>
            </a:pPr>
            <a:r>
              <a:rPr lang="en-US" sz="2000">
                <a:ea typeface="+mn-lt"/>
                <a:cs typeface="+mn-lt"/>
              </a:rPr>
              <a:t>A disciplined process for managing changes, including the use of an Engineering Change Proposal (ECP) process for any modifications and conducting sufficient regression testing to validate fixes.</a:t>
            </a:r>
            <a:endParaRPr lang="en-US" sz="2000">
              <a:ea typeface="Calibri"/>
              <a:cs typeface="Calibri"/>
            </a:endParaRPr>
          </a:p>
          <a:p>
            <a:pPr marL="683895" lvl="1" indent="-223520">
              <a:buFont typeface="Arial" panose="05000000000000000000" pitchFamily="2" charset="2"/>
              <a:buChar char="–"/>
            </a:pPr>
            <a:r>
              <a:rPr lang="en-US" sz="2000">
                <a:ea typeface="+mn-lt"/>
                <a:cs typeface="+mn-lt"/>
              </a:rPr>
              <a:t>A commitment to quality demonstrated by a mandatory 24-month warranty on all produced or repaired equipment, covering all labor, parts, and shipping costs for warranty-related failures.</a:t>
            </a:r>
            <a:endParaRPr lang="en-US" sz="2000">
              <a:ea typeface="Calibri"/>
              <a:cs typeface="Calibri"/>
            </a:endParaRPr>
          </a:p>
          <a:p>
            <a:pPr marL="683895" lvl="1" indent="-223520">
              <a:buFont typeface="Arial" panose="05000000000000000000" pitchFamily="2" charset="2"/>
              <a:buChar char="–"/>
            </a:pPr>
            <a:r>
              <a:rPr lang="en-US" sz="2000">
                <a:ea typeface="+mn-lt"/>
                <a:cs typeface="+mn-lt"/>
              </a:rPr>
              <a:t>A transparent production process managed through regular In-Process Reviews (IPRs) and detailed Production Status Reports that provide metrics on progress and quality.</a:t>
            </a:r>
            <a:endParaRPr lang="en-US" sz="2000"/>
          </a:p>
          <a:p>
            <a:pPr marL="229870" indent="-229870">
              <a:spcBef>
                <a:spcPts val="20"/>
              </a:spcBef>
            </a:pPr>
            <a:endParaRPr lang="en-US" dirty="0">
              <a:ea typeface="Calibri"/>
              <a:cs typeface="Calibri"/>
            </a:endParaRPr>
          </a:p>
          <a:p>
            <a:pPr marL="229870" indent="-229870"/>
            <a:endParaRPr lang="en-US" dirty="0">
              <a:ea typeface="Calibri"/>
              <a:cs typeface="Calibri"/>
            </a:endParaRPr>
          </a:p>
        </p:txBody>
      </p:sp>
    </p:spTree>
    <p:extLst>
      <p:ext uri="{BB962C8B-B14F-4D97-AF65-F5344CB8AC3E}">
        <p14:creationId xmlns:p14="http://schemas.microsoft.com/office/powerpoint/2010/main" val="2084741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CB66A-57DB-3144-BE21-CA70F31DC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AFB9F-BA50-8624-8615-BF5F08F63F8E}"/>
              </a:ext>
            </a:extLst>
          </p:cNvPr>
          <p:cNvSpPr>
            <a:spLocks noGrp="1"/>
          </p:cNvSpPr>
          <p:nvPr>
            <p:ph type="title"/>
          </p:nvPr>
        </p:nvSpPr>
        <p:spPr/>
        <p:txBody>
          <a:bodyPr/>
          <a:lstStyle/>
          <a:p>
            <a:r>
              <a:rPr lang="en-US">
                <a:ea typeface="Calibri"/>
                <a:cs typeface="Calibri"/>
              </a:rPr>
              <a:t>Production and Delivery</a:t>
            </a:r>
            <a:endParaRPr lang="en-US"/>
          </a:p>
        </p:txBody>
      </p:sp>
      <p:sp>
        <p:nvSpPr>
          <p:cNvPr id="3" name="Content Placeholder 2">
            <a:extLst>
              <a:ext uri="{FF2B5EF4-FFF2-40B4-BE49-F238E27FC236}">
                <a16:creationId xmlns:a16="http://schemas.microsoft.com/office/drawing/2014/main" id="{35CA5DEA-C362-62B1-4CD2-FD6340926A0B}"/>
              </a:ext>
            </a:extLst>
          </p:cNvPr>
          <p:cNvSpPr>
            <a:spLocks noGrp="1"/>
          </p:cNvSpPr>
          <p:nvPr>
            <p:ph idx="1"/>
          </p:nvPr>
        </p:nvSpPr>
        <p:spPr/>
        <p:txBody>
          <a:bodyPr vert="horz" lIns="91440" tIns="45720" rIns="91440" bIns="45720" rtlCol="0" anchor="t">
            <a:normAutofit/>
          </a:bodyPr>
          <a:lstStyle/>
          <a:p>
            <a:pPr marL="229870" indent="-229870">
              <a:spcBef>
                <a:spcPts val="20"/>
              </a:spcBef>
            </a:pPr>
            <a:r>
              <a:rPr lang="en-US">
                <a:ea typeface="Calibri"/>
                <a:cs typeface="Calibri"/>
              </a:rPr>
              <a:t>Objective: Execute a multi-layered testing strategy to verify and validate that every system meets all performance and security requirements prior to delivery.</a:t>
            </a:r>
            <a:endParaRPr lang="en-US" dirty="0">
              <a:ea typeface="Calibri"/>
              <a:cs typeface="Calibri"/>
            </a:endParaRPr>
          </a:p>
          <a:p>
            <a:pPr marL="229870" indent="-229870">
              <a:spcBef>
                <a:spcPts val="20"/>
              </a:spcBef>
            </a:pPr>
            <a:endParaRPr lang="en-US" dirty="0">
              <a:ea typeface="Calibri"/>
              <a:cs typeface="Calibri"/>
            </a:endParaRPr>
          </a:p>
          <a:p>
            <a:pPr marL="229870" indent="-229870">
              <a:spcBef>
                <a:spcPts val="20"/>
              </a:spcBef>
            </a:pPr>
            <a:r>
              <a:rPr lang="en-US">
                <a:ea typeface="Calibri"/>
                <a:cs typeface="Calibri"/>
              </a:rPr>
              <a:t>Key Requirements &amp; Capabilities:</a:t>
            </a:r>
            <a:endParaRPr lang="en-US"/>
          </a:p>
          <a:p>
            <a:pPr marL="683895" lvl="1" indent="-223520">
              <a:spcBef>
                <a:spcPts val="20"/>
              </a:spcBef>
            </a:pPr>
            <a:r>
              <a:rPr lang="en-US" sz="2200">
                <a:ea typeface="Calibri"/>
                <a:cs typeface="Calibri"/>
              </a:rPr>
              <a:t>A rigorous testing process beginning with First Article Qualification Testing (FAQT) on initial and modified production units to validate the manufacturing process and design.</a:t>
            </a:r>
          </a:p>
          <a:p>
            <a:pPr marL="683895" lvl="1" indent="-223520">
              <a:spcBef>
                <a:spcPts val="20"/>
              </a:spcBef>
            </a:pPr>
            <a:r>
              <a:rPr lang="en-US" sz="2200">
                <a:ea typeface="Calibri"/>
                <a:cs typeface="Calibri"/>
              </a:rPr>
              <a:t>The development and execution of government-approved Factory Acceptance Test (FAT) plans to verify functionality, with all test data and tools provided to the government for independent evaluation.</a:t>
            </a:r>
          </a:p>
          <a:p>
            <a:pPr marL="683895" lvl="1" indent="-223520">
              <a:spcBef>
                <a:spcPts val="20"/>
              </a:spcBef>
            </a:pPr>
            <a:r>
              <a:rPr lang="en-US" sz="2200">
                <a:ea typeface="Calibri"/>
                <a:cs typeface="Calibri"/>
              </a:rPr>
              <a:t>Execution of a Production Acceptance Test (PAT) on every production cabinet, culminating in a mandatory 72-hour, error-free System Burn-in Test (SBT) before any unit is accepted.</a:t>
            </a:r>
          </a:p>
          <a:p>
            <a:pPr marL="229870" indent="-229870">
              <a:spcBef>
                <a:spcPts val="20"/>
              </a:spcBef>
            </a:pPr>
            <a:endParaRPr lang="en-US" dirty="0">
              <a:solidFill>
                <a:srgbClr val="000000"/>
              </a:solidFill>
              <a:ea typeface="Calibri"/>
              <a:cs typeface="Calibri"/>
            </a:endParaRPr>
          </a:p>
          <a:p>
            <a:pPr marL="229870" indent="-229870"/>
            <a:endParaRPr lang="en-US" dirty="0">
              <a:ea typeface="Calibri"/>
              <a:cs typeface="Calibri"/>
            </a:endParaRPr>
          </a:p>
        </p:txBody>
      </p:sp>
    </p:spTree>
    <p:extLst>
      <p:ext uri="{BB962C8B-B14F-4D97-AF65-F5344CB8AC3E}">
        <p14:creationId xmlns:p14="http://schemas.microsoft.com/office/powerpoint/2010/main" val="3786950125"/>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489C-CAFB-3E3B-8F4D-98A2E33138BB}"/>
              </a:ext>
            </a:extLst>
          </p:cNvPr>
          <p:cNvSpPr>
            <a:spLocks noGrp="1"/>
          </p:cNvSpPr>
          <p:nvPr>
            <p:ph type="title"/>
          </p:nvPr>
        </p:nvSpPr>
        <p:spPr/>
        <p:txBody>
          <a:bodyPr/>
          <a:lstStyle/>
          <a:p>
            <a:r>
              <a:rPr lang="en-US">
                <a:ea typeface="Calibri"/>
                <a:cs typeface="Calibri"/>
              </a:rPr>
              <a:t>Production and Delivery</a:t>
            </a:r>
            <a:endParaRPr lang="en-US" dirty="0">
              <a:ea typeface="Calibri"/>
              <a:cs typeface="Calibri"/>
            </a:endParaRPr>
          </a:p>
        </p:txBody>
      </p:sp>
      <p:sp>
        <p:nvSpPr>
          <p:cNvPr id="3" name="Content Placeholder 2">
            <a:extLst>
              <a:ext uri="{FF2B5EF4-FFF2-40B4-BE49-F238E27FC236}">
                <a16:creationId xmlns:a16="http://schemas.microsoft.com/office/drawing/2014/main" id="{1EE65D06-DAF8-F52C-592F-F9CDDFC99390}"/>
              </a:ext>
            </a:extLst>
          </p:cNvPr>
          <p:cNvSpPr>
            <a:spLocks noGrp="1"/>
          </p:cNvSpPr>
          <p:nvPr>
            <p:ph idx="1"/>
          </p:nvPr>
        </p:nvSpPr>
        <p:spPr/>
        <p:txBody>
          <a:bodyPr vert="horz" lIns="91440" tIns="45720" rIns="91440" bIns="45720" rtlCol="0" anchor="t">
            <a:normAutofit/>
          </a:bodyPr>
          <a:lstStyle/>
          <a:p>
            <a:pPr marL="229870" indent="-229870"/>
            <a:r>
              <a:rPr lang="en-US" dirty="0">
                <a:ea typeface="+mn-lt"/>
                <a:cs typeface="+mn-lt"/>
              </a:rPr>
              <a:t>Objective: Ensure total asset visibility and safe delivery through meticulous data management and a robust logistics plan.</a:t>
            </a:r>
            <a:endParaRPr lang="en-US" dirty="0">
              <a:ea typeface="Calibri"/>
              <a:cs typeface="Calibri"/>
            </a:endParaRPr>
          </a:p>
          <a:p>
            <a:pPr marL="229870" indent="-229870"/>
            <a:endParaRPr lang="en-US" dirty="0">
              <a:ea typeface="+mn-lt"/>
              <a:cs typeface="+mn-lt"/>
            </a:endParaRPr>
          </a:p>
          <a:p>
            <a:pPr marL="229870" indent="-229870"/>
            <a:r>
              <a:rPr lang="en-US" dirty="0">
                <a:ea typeface="+mn-lt"/>
                <a:cs typeface="+mn-lt"/>
              </a:rPr>
              <a:t>Key Requirements &amp; Capabilities:</a:t>
            </a:r>
            <a:endParaRPr lang="en-US" dirty="0"/>
          </a:p>
          <a:p>
            <a:pPr marL="683895" lvl="1" indent="-223520">
              <a:buFont typeface="Arial" panose="05000000000000000000" pitchFamily="2" charset="2"/>
              <a:buChar char="–"/>
            </a:pPr>
            <a:r>
              <a:rPr lang="en-US" sz="2200" dirty="0">
                <a:ea typeface="+mn-lt"/>
                <a:cs typeface="+mn-lt"/>
              </a:rPr>
              <a:t>A meticulous configuration management process, including the creation of a detailed As-Built Bill of Materials (BOM) list for every single production unit, subsystem, and component.</a:t>
            </a:r>
            <a:endParaRPr lang="en-US" sz="2200" dirty="0">
              <a:ea typeface="Calibri"/>
              <a:cs typeface="Calibri"/>
            </a:endParaRPr>
          </a:p>
          <a:p>
            <a:pPr marL="683895" lvl="1" indent="-223520">
              <a:buFont typeface="Arial" panose="05000000000000000000" pitchFamily="2" charset="2"/>
              <a:buChar char="–"/>
            </a:pPr>
            <a:r>
              <a:rPr lang="en-US" sz="2200" dirty="0">
                <a:ea typeface="+mn-lt"/>
                <a:cs typeface="+mn-lt"/>
              </a:rPr>
              <a:t>Full compliance with Department of Defense asset tracking mandates by implementing an approved Item Unique Identification (IUID) Marking Plan and submitting all required data to the IUID Registry.</a:t>
            </a:r>
            <a:endParaRPr lang="en-US" sz="2200" dirty="0">
              <a:ea typeface="Calibri"/>
              <a:cs typeface="Calibri"/>
            </a:endParaRPr>
          </a:p>
          <a:p>
            <a:pPr marL="683895" lvl="1" indent="-223520">
              <a:buFont typeface="Arial" panose="05000000000000000000" pitchFamily="2" charset="2"/>
              <a:buChar char="–"/>
            </a:pPr>
            <a:r>
              <a:rPr lang="en-US" sz="2200" dirty="0">
                <a:ea typeface="+mn-lt"/>
                <a:cs typeface="+mn-lt"/>
              </a:rPr>
              <a:t>The development and execution of a government-approved Packaging, Handling, Storage, and Transportation (PHS&amp;T) plan to ensure all equipment is delivered free from damage.</a:t>
            </a:r>
            <a:endParaRPr lang="en-US" sz="2200" dirty="0">
              <a:ea typeface="Calibri"/>
              <a:cs typeface="Calibri"/>
            </a:endParaRPr>
          </a:p>
          <a:p>
            <a:pPr marL="460375" lvl="1" indent="0">
              <a:buNone/>
            </a:pPr>
            <a:endParaRPr lang="en-US" sz="2200" dirty="0">
              <a:solidFill>
                <a:srgbClr val="FF0000"/>
              </a:solidFill>
              <a:ea typeface="Calibri"/>
              <a:cs typeface="Calibri"/>
            </a:endParaRPr>
          </a:p>
          <a:p>
            <a:pPr marL="229870" indent="-229870"/>
            <a:endParaRPr lang="en-US" dirty="0">
              <a:ea typeface="Calibri"/>
              <a:cs typeface="Calibri"/>
            </a:endParaRPr>
          </a:p>
        </p:txBody>
      </p:sp>
    </p:spTree>
    <p:extLst>
      <p:ext uri="{BB962C8B-B14F-4D97-AF65-F5344CB8AC3E}">
        <p14:creationId xmlns:p14="http://schemas.microsoft.com/office/powerpoint/2010/main" val="2126302304"/>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E9FBB-B4F1-C43E-8A25-D5EB31275C36}"/>
              </a:ext>
            </a:extLst>
          </p:cNvPr>
          <p:cNvSpPr>
            <a:spLocks noGrp="1"/>
          </p:cNvSpPr>
          <p:nvPr>
            <p:ph type="title"/>
          </p:nvPr>
        </p:nvSpPr>
        <p:spPr/>
        <p:txBody>
          <a:bodyPr/>
          <a:lstStyle/>
          <a:p>
            <a:r>
              <a:rPr lang="en-US">
                <a:ea typeface="Calibri"/>
                <a:cs typeface="Calibri"/>
              </a:rPr>
              <a:t>Engineering Services </a:t>
            </a:r>
            <a:endParaRPr lang="en-US"/>
          </a:p>
        </p:txBody>
      </p:sp>
      <p:sp>
        <p:nvSpPr>
          <p:cNvPr id="3" name="Content Placeholder 2">
            <a:extLst>
              <a:ext uri="{FF2B5EF4-FFF2-40B4-BE49-F238E27FC236}">
                <a16:creationId xmlns:a16="http://schemas.microsoft.com/office/drawing/2014/main" id="{FF59A610-E6EA-9611-A585-FFD4C0B45565}"/>
              </a:ext>
            </a:extLst>
          </p:cNvPr>
          <p:cNvSpPr>
            <a:spLocks noGrp="1"/>
          </p:cNvSpPr>
          <p:nvPr>
            <p:ph idx="1"/>
          </p:nvPr>
        </p:nvSpPr>
        <p:spPr/>
        <p:txBody>
          <a:bodyPr vert="horz" lIns="91440" tIns="45720" rIns="91440" bIns="45720" rtlCol="0" anchor="t">
            <a:normAutofit fontScale="92500" lnSpcReduction="20000"/>
          </a:bodyPr>
          <a:lstStyle/>
          <a:p>
            <a:pPr marL="229870" indent="-229870"/>
            <a:r>
              <a:rPr lang="en-US" dirty="0">
                <a:ea typeface="+mn-lt"/>
                <a:cs typeface="+mn-lt"/>
              </a:rPr>
              <a:t>Systems Engineering: Provide comprehensive systems engineering leadership to guide the product from concept to a fully validated and documented system.</a:t>
            </a:r>
            <a:endParaRPr lang="en-US" dirty="0">
              <a:ea typeface="Calibri"/>
              <a:cs typeface="Calibri"/>
            </a:endParaRPr>
          </a:p>
          <a:p>
            <a:pPr marL="229870" indent="-229870"/>
            <a:endParaRPr lang="en-US" dirty="0">
              <a:ea typeface="+mn-lt"/>
              <a:cs typeface="+mn-lt"/>
            </a:endParaRPr>
          </a:p>
          <a:p>
            <a:pPr marL="229870" indent="-229870"/>
            <a:r>
              <a:rPr lang="en-US" dirty="0">
                <a:ea typeface="+mn-lt"/>
                <a:cs typeface="+mn-lt"/>
              </a:rPr>
              <a:t>Key Requirements &amp; Capabilities:</a:t>
            </a:r>
            <a:endParaRPr lang="en-US" dirty="0"/>
          </a:p>
          <a:p>
            <a:pPr marL="683895" lvl="1" indent="-223520"/>
            <a:r>
              <a:rPr lang="en-US" sz="1800" dirty="0">
                <a:ea typeface="+mn-lt"/>
                <a:cs typeface="+mn-lt"/>
              </a:rPr>
              <a:t>The ability to determine the feasibility of proposed systems by using simulations, Analyses of Alternatives (</a:t>
            </a:r>
            <a:r>
              <a:rPr lang="en-US" sz="1800" dirty="0" err="1">
                <a:ea typeface="+mn-lt"/>
                <a:cs typeface="+mn-lt"/>
              </a:rPr>
              <a:t>AoAs</a:t>
            </a:r>
            <a:r>
              <a:rPr lang="en-US" sz="1800" dirty="0">
                <a:ea typeface="+mn-lt"/>
                <a:cs typeface="+mn-lt"/>
              </a:rPr>
              <a:t>), and design trade studies, documenting the results in formal reports.</a:t>
            </a:r>
            <a:endParaRPr lang="en-US" sz="1800" dirty="0">
              <a:ea typeface="Calibri"/>
              <a:cs typeface="Calibri"/>
            </a:endParaRPr>
          </a:p>
          <a:p>
            <a:pPr marL="683895" lvl="1" indent="-223520"/>
            <a:r>
              <a:rPr lang="en-US" sz="1800" dirty="0">
                <a:ea typeface="+mn-lt"/>
                <a:cs typeface="+mn-lt"/>
              </a:rPr>
              <a:t>Expertise in employing modern industry standards such as Model-Based Systems Engineering (MBSE) to develop system models and functional flow diagrams.</a:t>
            </a:r>
            <a:endParaRPr lang="en-US" sz="1800" dirty="0">
              <a:ea typeface="Calibri"/>
              <a:cs typeface="Calibri"/>
            </a:endParaRPr>
          </a:p>
          <a:p>
            <a:pPr marL="683895" lvl="1" indent="-223520"/>
            <a:r>
              <a:rPr lang="en-US" sz="1800" dirty="0">
                <a:ea typeface="+mn-lt"/>
                <a:cs typeface="+mn-lt"/>
              </a:rPr>
              <a:t>The application of a formal human factors development approach to ensure all hardware and software is designed for effective, safe, and usable operation by the end-user.</a:t>
            </a:r>
            <a:endParaRPr lang="en-US" sz="1800" dirty="0">
              <a:ea typeface="Calibri"/>
              <a:cs typeface="Calibri"/>
            </a:endParaRPr>
          </a:p>
          <a:p>
            <a:pPr marL="683895" lvl="1" indent="-223520"/>
            <a:r>
              <a:rPr lang="en-US" sz="1800" dirty="0">
                <a:ea typeface="+mn-lt"/>
                <a:cs typeface="+mn-lt"/>
              </a:rPr>
              <a:t>A robust process for product verification and product validation to prove the end product conforms to all requirements (RTM, SRD, etc.) and stakeholder expectations.</a:t>
            </a:r>
            <a:endParaRPr lang="en-US" sz="1800" dirty="0">
              <a:ea typeface="Calibri"/>
              <a:cs typeface="Calibri"/>
            </a:endParaRPr>
          </a:p>
          <a:p>
            <a:pPr marL="683895" lvl="1" indent="-223520"/>
            <a:r>
              <a:rPr lang="en-US" sz="1800" dirty="0">
                <a:ea typeface="+mn-lt"/>
                <a:cs typeface="+mn-lt"/>
              </a:rPr>
              <a:t>The implementation of a formal technical risk management plan for the continuous identification and mitigation of risks associated with the project.</a:t>
            </a:r>
            <a:endParaRPr lang="en-US" sz="1800" dirty="0">
              <a:ea typeface="Calibri"/>
              <a:cs typeface="Calibri"/>
            </a:endParaRPr>
          </a:p>
          <a:p>
            <a:pPr marL="683895" lvl="1" indent="-223520"/>
            <a:r>
              <a:rPr lang="en-US" sz="1800" dirty="0">
                <a:ea typeface="+mn-lt"/>
                <a:cs typeface="+mn-lt"/>
              </a:rPr>
              <a:t>The capability to propose, coordinate, and submit formal Engineering Change Proposals (ECPs) through the established Configuration Control Board (CCB) process according to Government requirements.</a:t>
            </a:r>
            <a:endParaRPr lang="en-US" sz="1800" dirty="0">
              <a:ea typeface="Calibri"/>
              <a:cs typeface="Calibri"/>
            </a:endParaRPr>
          </a:p>
          <a:p>
            <a:pPr marL="683895" lvl="1" indent="-223520"/>
            <a:r>
              <a:rPr lang="en-US" sz="1800" dirty="0">
                <a:ea typeface="+mn-lt"/>
                <a:cs typeface="+mn-lt"/>
              </a:rPr>
              <a:t>The ability to delivery a complete Technical Data Package (TDP). </a:t>
            </a:r>
            <a:endParaRPr lang="en-US" sz="1800" dirty="0">
              <a:ea typeface="Calibri"/>
              <a:cs typeface="Calibri"/>
            </a:endParaRPr>
          </a:p>
          <a:p>
            <a:pPr marL="683895" lvl="1" indent="-223520">
              <a:buFont typeface="Arial" panose="05000000000000000000" pitchFamily="2" charset="2"/>
            </a:pPr>
            <a:endParaRPr lang="en-US" sz="2200" dirty="0">
              <a:ea typeface="Calibri"/>
              <a:cs typeface="Calibri"/>
            </a:endParaRPr>
          </a:p>
          <a:p>
            <a:pPr marL="229870" indent="-229870"/>
            <a:endParaRPr lang="en-US" dirty="0">
              <a:ea typeface="Calibri"/>
              <a:cs typeface="Calibri"/>
            </a:endParaRPr>
          </a:p>
        </p:txBody>
      </p:sp>
    </p:spTree>
    <p:extLst>
      <p:ext uri="{BB962C8B-B14F-4D97-AF65-F5344CB8AC3E}">
        <p14:creationId xmlns:p14="http://schemas.microsoft.com/office/powerpoint/2010/main" val="2851557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3DE02-E553-FC6F-1155-DCEE8EB7A29B}"/>
              </a:ext>
            </a:extLst>
          </p:cNvPr>
          <p:cNvSpPr>
            <a:spLocks noGrp="1"/>
          </p:cNvSpPr>
          <p:nvPr>
            <p:ph type="title"/>
          </p:nvPr>
        </p:nvSpPr>
        <p:spPr/>
        <p:txBody>
          <a:bodyPr/>
          <a:lstStyle/>
          <a:p>
            <a:r>
              <a:rPr lang="en-US">
                <a:ea typeface="Calibri"/>
                <a:cs typeface="Calibri"/>
              </a:rPr>
              <a:t>Engineering Services</a:t>
            </a:r>
            <a:endParaRPr lang="en-US"/>
          </a:p>
        </p:txBody>
      </p:sp>
      <p:sp>
        <p:nvSpPr>
          <p:cNvPr id="3" name="Content Placeholder 2">
            <a:extLst>
              <a:ext uri="{FF2B5EF4-FFF2-40B4-BE49-F238E27FC236}">
                <a16:creationId xmlns:a16="http://schemas.microsoft.com/office/drawing/2014/main" id="{86CE46CD-3C0C-CB32-EE8B-BF8D2448ACD6}"/>
              </a:ext>
            </a:extLst>
          </p:cNvPr>
          <p:cNvSpPr>
            <a:spLocks noGrp="1"/>
          </p:cNvSpPr>
          <p:nvPr>
            <p:ph idx="1"/>
          </p:nvPr>
        </p:nvSpPr>
        <p:spPr/>
        <p:txBody>
          <a:bodyPr vert="horz" lIns="91440" tIns="45720" rIns="91440" bIns="45720" rtlCol="0" anchor="t">
            <a:normAutofit fontScale="92500" lnSpcReduction="10000"/>
          </a:bodyPr>
          <a:lstStyle/>
          <a:p>
            <a:pPr marL="229870" indent="-229870"/>
            <a:r>
              <a:rPr lang="en-US">
                <a:ea typeface="+mn-lt"/>
                <a:cs typeface="+mn-lt"/>
              </a:rPr>
              <a:t>Hardware Engineering: Deliver expert hardware engineering for the design, development, and sustainment of rugged, shipboard-ready electronic systems.</a:t>
            </a:r>
            <a:endParaRPr lang="en-US" dirty="0">
              <a:ea typeface="Calibri"/>
              <a:cs typeface="Calibri"/>
            </a:endParaRPr>
          </a:p>
          <a:p>
            <a:pPr marL="229870" indent="-229870"/>
            <a:endParaRPr lang="en-US" dirty="0">
              <a:ea typeface="+mn-lt"/>
              <a:cs typeface="+mn-lt"/>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sz="2200">
                <a:ea typeface="+mn-lt"/>
                <a:cs typeface="+mn-lt"/>
              </a:rPr>
              <a:t>The proficiency to prepare, deliver, and implement Engineering Change Proposals (ECPs) and other change requests, while maintaining all data in a government-accessible repository.</a:t>
            </a:r>
            <a:endParaRPr lang="en-US" sz="2200">
              <a:ea typeface="Calibri"/>
              <a:cs typeface="Calibri"/>
            </a:endParaRPr>
          </a:p>
          <a:p>
            <a:pPr marL="683895" lvl="1" indent="-223520">
              <a:buFont typeface="Arial" panose="05000000000000000000" pitchFamily="2" charset="2"/>
              <a:buChar char="–"/>
            </a:pPr>
            <a:r>
              <a:rPr lang="en-US" sz="2200">
                <a:ea typeface="+mn-lt"/>
                <a:cs typeface="+mn-lt"/>
              </a:rPr>
              <a:t>Advanced design and development expertise for shipboard applications, including digital signal processing, power systems, and embedded systems like FPGAs and SoCs.</a:t>
            </a:r>
            <a:endParaRPr lang="en-US" sz="2200">
              <a:ea typeface="Calibri"/>
              <a:cs typeface="Calibri"/>
            </a:endParaRPr>
          </a:p>
          <a:p>
            <a:pPr marL="683895" lvl="1" indent="-223520">
              <a:buFont typeface="Arial" panose="05000000000000000000" pitchFamily="2" charset="2"/>
              <a:buChar char="–"/>
            </a:pPr>
            <a:r>
              <a:rPr lang="en-US" sz="2200">
                <a:ea typeface="+mn-lt"/>
                <a:cs typeface="+mn-lt"/>
              </a:rPr>
              <a:t>The ability to develop complete TDPs for all mechanical enclosures, rackmount equipment, cable assemblies, and structural supports required for installation.</a:t>
            </a:r>
            <a:endParaRPr lang="en-US" sz="2200">
              <a:ea typeface="Calibri"/>
              <a:cs typeface="Calibri"/>
            </a:endParaRPr>
          </a:p>
          <a:p>
            <a:pPr marL="683895" lvl="1" indent="-223520">
              <a:buFont typeface="Arial" panose="05000000000000000000" pitchFamily="2" charset="2"/>
              <a:buChar char="–"/>
            </a:pPr>
            <a:r>
              <a:rPr lang="en-US" sz="2200">
                <a:ea typeface="+mn-lt"/>
                <a:cs typeface="+mn-lt"/>
              </a:rPr>
              <a:t>A commitment to high-reliability manufacturing, including the design of all Printed Circuit Boards (PCBs) and Circuit Card Assemblies (CCAs) to meet IPC Class 2 and Class 3 acceptance criteria.</a:t>
            </a:r>
            <a:endParaRPr lang="en-US" sz="2200">
              <a:ea typeface="Calibri"/>
              <a:cs typeface="Calibri"/>
            </a:endParaRPr>
          </a:p>
          <a:p>
            <a:pPr marL="683895" lvl="1" indent="-223520">
              <a:buFont typeface="Arial" panose="05000000000000000000" pitchFamily="2" charset="2"/>
              <a:buChar char="–"/>
            </a:pPr>
            <a:r>
              <a:rPr lang="en-US" sz="2200">
                <a:ea typeface="+mn-lt"/>
                <a:cs typeface="+mn-lt"/>
              </a:rPr>
              <a:t>A proactive strategy for managing hardware lifecycle challenges by providing solutions for obsolete or end-of-life (EOL) components, including the capability to reverse engineer legacy parts.</a:t>
            </a:r>
            <a:endParaRPr lang="en-US" sz="2200"/>
          </a:p>
          <a:p>
            <a:pPr marL="229870" indent="-229870"/>
            <a:endParaRPr lang="en-US" dirty="0">
              <a:ea typeface="Calibri"/>
              <a:cs typeface="Calibri"/>
            </a:endParaRPr>
          </a:p>
        </p:txBody>
      </p:sp>
    </p:spTree>
    <p:extLst>
      <p:ext uri="{BB962C8B-B14F-4D97-AF65-F5344CB8AC3E}">
        <p14:creationId xmlns:p14="http://schemas.microsoft.com/office/powerpoint/2010/main" val="1577613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E4C4F-CF43-A4DF-22FE-040991E3D072}"/>
              </a:ext>
            </a:extLst>
          </p:cNvPr>
          <p:cNvSpPr>
            <a:spLocks noGrp="1"/>
          </p:cNvSpPr>
          <p:nvPr>
            <p:ph type="title"/>
          </p:nvPr>
        </p:nvSpPr>
        <p:spPr/>
        <p:txBody>
          <a:bodyPr/>
          <a:lstStyle/>
          <a:p>
            <a:r>
              <a:rPr lang="en-US">
                <a:ea typeface="Calibri"/>
                <a:cs typeface="Calibri"/>
              </a:rPr>
              <a:t>Engineering Services</a:t>
            </a:r>
            <a:endParaRPr lang="en-US"/>
          </a:p>
        </p:txBody>
      </p:sp>
      <p:sp>
        <p:nvSpPr>
          <p:cNvPr id="3" name="Content Placeholder 2">
            <a:extLst>
              <a:ext uri="{FF2B5EF4-FFF2-40B4-BE49-F238E27FC236}">
                <a16:creationId xmlns:a16="http://schemas.microsoft.com/office/drawing/2014/main" id="{6C971DBD-24BD-E762-A562-87E31D00D0C7}"/>
              </a:ext>
            </a:extLst>
          </p:cNvPr>
          <p:cNvSpPr>
            <a:spLocks noGrp="1"/>
          </p:cNvSpPr>
          <p:nvPr>
            <p:ph idx="1"/>
          </p:nvPr>
        </p:nvSpPr>
        <p:spPr/>
        <p:txBody>
          <a:bodyPr vert="horz" lIns="91440" tIns="45720" rIns="91440" bIns="45720" rtlCol="0" anchor="t">
            <a:normAutofit fontScale="77500" lnSpcReduction="20000"/>
          </a:bodyPr>
          <a:lstStyle/>
          <a:p>
            <a:pPr marL="229870" indent="-229870"/>
            <a:r>
              <a:rPr lang="en-US">
                <a:ea typeface="+mn-lt"/>
                <a:cs typeface="+mn-lt"/>
              </a:rPr>
              <a:t>Software Engineering: Develop, test, and maintain secure, compliant, and high-performance software solutions for radar distribution applications.</a:t>
            </a:r>
            <a:endParaRPr lang="en-US" dirty="0">
              <a:ea typeface="Calibri"/>
              <a:cs typeface="Calibri"/>
            </a:endParaRPr>
          </a:p>
          <a:p>
            <a:pPr marL="229870" indent="-229870"/>
            <a:endParaRPr lang="en-US" dirty="0">
              <a:ea typeface="+mn-lt"/>
              <a:cs typeface="+mn-lt"/>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a:ea typeface="+mn-lt"/>
                <a:cs typeface="+mn-lt"/>
              </a:rPr>
              <a:t>A mature and security-focused software development process that strictly follows the Application Security and Development STIG for all custom-developed software.</a:t>
            </a:r>
            <a:endParaRPr lang="en-US"/>
          </a:p>
          <a:p>
            <a:pPr marL="683895" lvl="1" indent="-223520">
              <a:buFont typeface="Arial" panose="05000000000000000000" pitchFamily="2" charset="2"/>
              <a:buChar char="–"/>
            </a:pPr>
            <a:r>
              <a:rPr lang="en-US">
                <a:ea typeface="+mn-lt"/>
                <a:cs typeface="+mn-lt"/>
              </a:rPr>
              <a:t>The mandatory use of static and/or dynamic code analysis on all source code to rigorously test for and mitigate any discovered vulnerabilities before delivery.</a:t>
            </a:r>
            <a:endParaRPr lang="en-US"/>
          </a:p>
          <a:p>
            <a:pPr marL="683895" lvl="1" indent="-223520">
              <a:buFont typeface="Arial" panose="05000000000000000000" pitchFamily="2" charset="2"/>
              <a:buChar char="–"/>
            </a:pPr>
            <a:r>
              <a:rPr lang="en-US">
                <a:ea typeface="+mn-lt"/>
                <a:cs typeface="+mn-lt"/>
              </a:rPr>
              <a:t>Full-stack software engineering support, including the development and maintenance of applications in C, C++, Java, and Python for operating systems, HMIs, and digital processing.</a:t>
            </a:r>
            <a:endParaRPr lang="en-US"/>
          </a:p>
          <a:p>
            <a:pPr marL="683895" lvl="1" indent="-223520">
              <a:buFont typeface="Arial" panose="05000000000000000000" pitchFamily="2" charset="2"/>
              <a:buChar char="–"/>
            </a:pPr>
            <a:r>
              <a:rPr lang="en-US">
                <a:ea typeface="+mn-lt"/>
                <a:cs typeface="+mn-lt"/>
              </a:rPr>
              <a:t>A comprehensive testing approach covering both functional testing (unit, integration, system) and non-functional testing (security, performance, usability) with formal reporting.</a:t>
            </a:r>
            <a:endParaRPr lang="en-US"/>
          </a:p>
          <a:p>
            <a:pPr marL="683895" lvl="1" indent="-223520">
              <a:buFont typeface="Arial" panose="05000000000000000000" pitchFamily="2" charset="2"/>
              <a:buChar char="–"/>
            </a:pPr>
            <a:r>
              <a:rPr lang="en-US">
                <a:ea typeface="+mn-lt"/>
                <a:cs typeface="+mn-lt"/>
              </a:rPr>
              <a:t>The ability to provide end-to-end cybersecurity services to ensure all software complies with Department of Defense (DoD) directives throughout its lifecycle.</a:t>
            </a:r>
            <a:endParaRPr lang="en-US"/>
          </a:p>
          <a:p>
            <a:pPr marL="683895" lvl="1" indent="-223520">
              <a:buFont typeface="Arial" panose="05000000000000000000" pitchFamily="2" charset="2"/>
              <a:buChar char="–"/>
            </a:pPr>
            <a:r>
              <a:rPr lang="en-US">
                <a:ea typeface="+mn-lt"/>
                <a:cs typeface="+mn-lt"/>
              </a:rPr>
              <a:t>The development and delivery of all required software documentation, including Version Description Documents (VDD) and Software Development Plans (SDP).</a:t>
            </a:r>
            <a:endParaRPr lang="en-US"/>
          </a:p>
          <a:p>
            <a:pPr marL="683895" lvl="1" indent="-223520">
              <a:buFont typeface="Arial" panose="05000000000000000000" pitchFamily="2" charset="2"/>
              <a:buChar char="–"/>
            </a:pPr>
            <a:r>
              <a:rPr lang="en-US">
                <a:ea typeface="Calibri"/>
                <a:cs typeface="Calibri"/>
              </a:rPr>
              <a:t>The ability to integrate software into hardware configurations for future variations and cybersecurity requirements.  </a:t>
            </a:r>
            <a:endParaRPr lang="en-US" dirty="0">
              <a:ea typeface="Calibri"/>
              <a:cs typeface="Calibri"/>
            </a:endParaRPr>
          </a:p>
          <a:p>
            <a:pPr marL="229870" indent="-229870"/>
            <a:endParaRPr lang="en-US" dirty="0">
              <a:ea typeface="Calibri"/>
              <a:cs typeface="Calibri"/>
            </a:endParaRPr>
          </a:p>
        </p:txBody>
      </p:sp>
    </p:spTree>
    <p:extLst>
      <p:ext uri="{BB962C8B-B14F-4D97-AF65-F5344CB8AC3E}">
        <p14:creationId xmlns:p14="http://schemas.microsoft.com/office/powerpoint/2010/main" val="541833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48CB9-C818-3C0B-508C-56DD5569BD24}"/>
              </a:ext>
            </a:extLst>
          </p:cNvPr>
          <p:cNvSpPr>
            <a:spLocks noGrp="1"/>
          </p:cNvSpPr>
          <p:nvPr>
            <p:ph type="title"/>
          </p:nvPr>
        </p:nvSpPr>
        <p:spPr/>
        <p:txBody>
          <a:bodyPr/>
          <a:lstStyle/>
          <a:p>
            <a:r>
              <a:rPr lang="en-US">
                <a:ea typeface="Calibri"/>
                <a:cs typeface="Calibri"/>
              </a:rPr>
              <a:t>Technical Services</a:t>
            </a:r>
            <a:endParaRPr lang="en-US"/>
          </a:p>
        </p:txBody>
      </p:sp>
      <p:sp>
        <p:nvSpPr>
          <p:cNvPr id="3" name="Content Placeholder 2">
            <a:extLst>
              <a:ext uri="{FF2B5EF4-FFF2-40B4-BE49-F238E27FC236}">
                <a16:creationId xmlns:a16="http://schemas.microsoft.com/office/drawing/2014/main" id="{5DB34D0A-F72C-4DD6-2AC9-1D3F84518B09}"/>
              </a:ext>
            </a:extLst>
          </p:cNvPr>
          <p:cNvSpPr>
            <a:spLocks noGrp="1"/>
          </p:cNvSpPr>
          <p:nvPr>
            <p:ph idx="1"/>
          </p:nvPr>
        </p:nvSpPr>
        <p:spPr/>
        <p:txBody>
          <a:bodyPr vert="horz" lIns="91440" tIns="45720" rIns="91440" bIns="45720" rtlCol="0" anchor="t">
            <a:normAutofit fontScale="85000" lnSpcReduction="20000"/>
          </a:bodyPr>
          <a:lstStyle/>
          <a:p>
            <a:pPr marL="229870" indent="-229870"/>
            <a:r>
              <a:rPr lang="en-US">
                <a:ea typeface="+mn-lt"/>
                <a:cs typeface="+mn-lt"/>
              </a:rPr>
              <a:t>Objective: Provide expert, hands-on installation support and execute a comprehensive testing program to ensure systems are fully qualified for shipboard and shore-based environments.</a:t>
            </a:r>
            <a:endParaRPr lang="en-US" dirty="0">
              <a:ea typeface="Calibri"/>
              <a:cs typeface="Calibri"/>
            </a:endParaRPr>
          </a:p>
          <a:p>
            <a:pPr marL="229870" indent="-229870"/>
            <a:endParaRPr lang="en-US" dirty="0">
              <a:ea typeface="+mn-lt"/>
              <a:cs typeface="+mn-lt"/>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a:ea typeface="+mn-lt"/>
                <a:cs typeface="+mn-lt"/>
              </a:rPr>
              <a:t>The ability to perform shipboard and shore-based hardware and software installations, repairs, and post-installation testing using government-approved test procedures.</a:t>
            </a:r>
            <a:endParaRPr lang="en-US"/>
          </a:p>
          <a:p>
            <a:pPr marL="683895" lvl="1" indent="-223520">
              <a:buFont typeface="Arial" panose="05000000000000000000" pitchFamily="2" charset="2"/>
              <a:buChar char="–"/>
            </a:pPr>
            <a:r>
              <a:rPr lang="en-US">
                <a:ea typeface="+mn-lt"/>
                <a:cs typeface="+mn-lt"/>
              </a:rPr>
              <a:t>The capability to conduct and report on a full suite of Environmental Qualification Testing (EQT), including EMI/EMC, vibration, shock, and salt spray testing, performed at a government-approved facility.</a:t>
            </a:r>
            <a:endParaRPr lang="en-US"/>
          </a:p>
          <a:p>
            <a:pPr marL="683895" lvl="1" indent="-223520">
              <a:buFont typeface="Arial" panose="05000000000000000000" pitchFamily="2" charset="2"/>
              <a:buChar char="–"/>
            </a:pPr>
            <a:r>
              <a:rPr lang="en-US">
                <a:ea typeface="+mn-lt"/>
                <a:cs typeface="+mn-lt"/>
              </a:rPr>
              <a:t>The execution of platform installation testing, including formal Stage 1-7 testing in accordance with DOD-STD-2106A, to validate system integration.</a:t>
            </a:r>
            <a:endParaRPr lang="en-US"/>
          </a:p>
          <a:p>
            <a:pPr marL="683895" lvl="1" indent="-223520">
              <a:buFont typeface="Arial" panose="05000000000000000000" pitchFamily="2" charset="2"/>
              <a:buChar char="–"/>
            </a:pPr>
            <a:r>
              <a:rPr lang="en-US">
                <a:ea typeface="+mn-lt"/>
                <a:cs typeface="+mn-lt"/>
              </a:rPr>
              <a:t>The development, delivery, and maintenance of a comprehensive Test and Evaluation Master Plan (TEMP) and all detailed test plans and procedures.</a:t>
            </a:r>
            <a:endParaRPr lang="en-US"/>
          </a:p>
          <a:p>
            <a:pPr marL="683895" lvl="1" indent="-223520">
              <a:buFont typeface="Arial" panose="05000000000000000000" pitchFamily="2" charset="2"/>
              <a:buChar char="–"/>
            </a:pPr>
            <a:r>
              <a:rPr lang="en-US">
                <a:ea typeface="+mn-lt"/>
                <a:cs typeface="+mn-lt"/>
              </a:rPr>
              <a:t>A commitment to detailed reporting, including the delivery of a final test report after each event and providing Object Quality Evidence (OQE) for all environmental qualification tests.</a:t>
            </a:r>
            <a:endParaRPr lang="en-US"/>
          </a:p>
          <a:p>
            <a:pPr marL="683895" lvl="1" indent="-223520">
              <a:buFont typeface="Arial" panose="05000000000000000000" pitchFamily="2" charset="2"/>
              <a:buChar char="–"/>
            </a:pPr>
            <a:r>
              <a:rPr lang="en-US">
                <a:ea typeface="+mn-lt"/>
                <a:cs typeface="+mn-lt"/>
              </a:rPr>
              <a:t>The capability to provide reclamation support to test, repair, and certify assets recovered from fleet and shore installations.</a:t>
            </a:r>
            <a:endParaRPr lang="en-US"/>
          </a:p>
          <a:p>
            <a:pPr marL="229870" indent="-229870"/>
            <a:endParaRPr lang="en-US" dirty="0">
              <a:ea typeface="Calibri"/>
              <a:cs typeface="Calibri"/>
            </a:endParaRPr>
          </a:p>
        </p:txBody>
      </p:sp>
    </p:spTree>
    <p:extLst>
      <p:ext uri="{BB962C8B-B14F-4D97-AF65-F5344CB8AC3E}">
        <p14:creationId xmlns:p14="http://schemas.microsoft.com/office/powerpoint/2010/main" val="1581365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DEBA4-545D-66D9-B6D7-1DC69AB7BB42}"/>
              </a:ext>
            </a:extLst>
          </p:cNvPr>
          <p:cNvSpPr>
            <a:spLocks noGrp="1"/>
          </p:cNvSpPr>
          <p:nvPr>
            <p:ph type="title"/>
          </p:nvPr>
        </p:nvSpPr>
        <p:spPr/>
        <p:txBody>
          <a:bodyPr/>
          <a:lstStyle/>
          <a:p>
            <a:r>
              <a:rPr lang="en-US">
                <a:ea typeface="Calibri"/>
                <a:cs typeface="Calibri"/>
              </a:rPr>
              <a:t>Technical Services</a:t>
            </a:r>
            <a:endParaRPr lang="en-US"/>
          </a:p>
        </p:txBody>
      </p:sp>
      <p:sp>
        <p:nvSpPr>
          <p:cNvPr id="3" name="Content Placeholder 2">
            <a:extLst>
              <a:ext uri="{FF2B5EF4-FFF2-40B4-BE49-F238E27FC236}">
                <a16:creationId xmlns:a16="http://schemas.microsoft.com/office/drawing/2014/main" id="{E32B6316-308A-9BA0-3ED5-305BF2E2EAFE}"/>
              </a:ext>
            </a:extLst>
          </p:cNvPr>
          <p:cNvSpPr>
            <a:spLocks noGrp="1"/>
          </p:cNvSpPr>
          <p:nvPr>
            <p:ph idx="1"/>
          </p:nvPr>
        </p:nvSpPr>
        <p:spPr/>
        <p:txBody>
          <a:bodyPr vert="horz" lIns="91440" tIns="45720" rIns="91440" bIns="45720" rtlCol="0" anchor="t">
            <a:normAutofit fontScale="92500" lnSpcReduction="20000"/>
          </a:bodyPr>
          <a:lstStyle/>
          <a:p>
            <a:pPr marL="229870" indent="-229870"/>
            <a:r>
              <a:rPr lang="en-US">
                <a:ea typeface="+mn-lt"/>
                <a:cs typeface="+mn-lt"/>
              </a:rPr>
              <a:t>Objective: Deliver responsive, long-term technical support to ensure the operational availability and lifecycle sustainment of all fielded systems.</a:t>
            </a:r>
            <a:endParaRPr lang="en-US"/>
          </a:p>
          <a:p>
            <a:pPr marL="229870" indent="-229870"/>
            <a:endParaRPr lang="en-US" dirty="0">
              <a:ea typeface="+mn-lt"/>
              <a:cs typeface="+mn-lt"/>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a:ea typeface="+mn-lt"/>
                <a:cs typeface="+mn-lt"/>
              </a:rPr>
              <a:t>The ability to provide rapid technical assistance for fleet casualties, both at a distance and on-site, and to perform repairs or replacements as directed by the government.</a:t>
            </a:r>
            <a:endParaRPr lang="en-US"/>
          </a:p>
          <a:p>
            <a:pPr marL="683895" lvl="1" indent="-223520">
              <a:buFont typeface="Arial" panose="05000000000000000000" pitchFamily="2" charset="2"/>
              <a:buChar char="–"/>
            </a:pPr>
            <a:r>
              <a:rPr lang="en-US">
                <a:ea typeface="+mn-lt"/>
                <a:cs typeface="+mn-lt"/>
              </a:rPr>
              <a:t>A proactive approach to obsolescence management, including performing authorized lifetime buys of End-of-Life (EOL) components in coordination with NAVSUP and/or DLA.</a:t>
            </a:r>
            <a:endParaRPr lang="en-US"/>
          </a:p>
          <a:p>
            <a:pPr marL="683895" lvl="1" indent="-223520">
              <a:buFont typeface="Arial" panose="05000000000000000000" pitchFamily="2" charset="2"/>
              <a:buChar char="–"/>
            </a:pPr>
            <a:r>
              <a:rPr lang="en-US">
                <a:ea typeface="+mn-lt"/>
                <a:cs typeface="+mn-lt"/>
              </a:rPr>
              <a:t>The hands-on technical skill to build, fabricate, and assemble components in accordance with an approved Technical Data Package (TDP), including the assembly of cables, harnesses, and mechanical enclosures.</a:t>
            </a:r>
            <a:endParaRPr lang="en-US"/>
          </a:p>
          <a:p>
            <a:pPr marL="683895" lvl="1" indent="-223520">
              <a:buFont typeface="Arial" panose="05000000000000000000" pitchFamily="2" charset="2"/>
              <a:buChar char="–"/>
            </a:pPr>
            <a:r>
              <a:rPr lang="en-US">
                <a:ea typeface="+mn-lt"/>
                <a:cs typeface="+mn-lt"/>
              </a:rPr>
              <a:t>The specialized capability to repair or assemble PCBs and CCAs, including all required inspection, troubleshooting, soldering, and testing activities.</a:t>
            </a:r>
            <a:endParaRPr lang="en-US"/>
          </a:p>
          <a:p>
            <a:pPr marL="683895" lvl="1" indent="-223520">
              <a:buFont typeface="Arial" panose="05000000000000000000" pitchFamily="2" charset="2"/>
              <a:buChar char="–"/>
            </a:pPr>
            <a:r>
              <a:rPr lang="en-US">
                <a:ea typeface="+mn-lt"/>
                <a:cs typeface="+mn-lt"/>
              </a:rPr>
              <a:t>The expertise to test, assemble, and integrate repaired or newly-built radar distribution systems with other existing fleet or shore-based systems.</a:t>
            </a:r>
            <a:endParaRPr lang="en-US"/>
          </a:p>
          <a:p>
            <a:pPr marL="229870" indent="-229870"/>
            <a:endParaRPr lang="en-US" dirty="0">
              <a:ea typeface="Calibri"/>
              <a:cs typeface="Calibri"/>
            </a:endParaRPr>
          </a:p>
        </p:txBody>
      </p:sp>
    </p:spTree>
    <p:extLst>
      <p:ext uri="{BB962C8B-B14F-4D97-AF65-F5344CB8AC3E}">
        <p14:creationId xmlns:p14="http://schemas.microsoft.com/office/powerpoint/2010/main" val="196157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D5FB7-DF6D-E618-EAFC-13FF9B7739C5}"/>
              </a:ext>
            </a:extLst>
          </p:cNvPr>
          <p:cNvSpPr>
            <a:spLocks noGrp="1"/>
          </p:cNvSpPr>
          <p:nvPr>
            <p:ph type="title"/>
          </p:nvPr>
        </p:nvSpPr>
        <p:spPr/>
        <p:txBody>
          <a:bodyPr>
            <a:normAutofit/>
          </a:bodyPr>
          <a:lstStyle/>
          <a:p>
            <a:r>
              <a:rPr lang="en-US">
                <a:ea typeface="Calibri"/>
                <a:cs typeface="Calibri"/>
              </a:rPr>
              <a:t>CM and ILS</a:t>
            </a:r>
            <a:endParaRPr lang="en-US"/>
          </a:p>
        </p:txBody>
      </p:sp>
      <p:sp>
        <p:nvSpPr>
          <p:cNvPr id="3" name="Content Placeholder 2">
            <a:extLst>
              <a:ext uri="{FF2B5EF4-FFF2-40B4-BE49-F238E27FC236}">
                <a16:creationId xmlns:a16="http://schemas.microsoft.com/office/drawing/2014/main" id="{9B2D1C85-0D6F-C28C-B719-B5B25104FAD3}"/>
              </a:ext>
            </a:extLst>
          </p:cNvPr>
          <p:cNvSpPr>
            <a:spLocks noGrp="1"/>
          </p:cNvSpPr>
          <p:nvPr>
            <p:ph idx="1"/>
          </p:nvPr>
        </p:nvSpPr>
        <p:spPr/>
        <p:txBody>
          <a:bodyPr vert="horz" lIns="91440" tIns="45720" rIns="91440" bIns="45720" rtlCol="0" anchor="t">
            <a:normAutofit fontScale="92500" lnSpcReduction="20000"/>
          </a:bodyPr>
          <a:lstStyle/>
          <a:p>
            <a:pPr marL="229870" indent="-229870"/>
            <a:r>
              <a:rPr lang="en-US">
                <a:ea typeface="+mn-lt"/>
                <a:cs typeface="+mn-lt"/>
              </a:rPr>
              <a:t>Objective: Establish and execute a comprehensive framework for Configuration Management (CM) and Integrated Logistics Support (ILS) across the system's entire life cycle.</a:t>
            </a:r>
            <a:endParaRPr lang="en-US" dirty="0">
              <a:ea typeface="Calibri"/>
              <a:cs typeface="Calibri"/>
            </a:endParaRPr>
          </a:p>
          <a:p>
            <a:pPr marL="229870" indent="-229870"/>
            <a:endParaRPr lang="en-US" dirty="0">
              <a:ea typeface="+mn-lt"/>
              <a:cs typeface="+mn-lt"/>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a:ea typeface="+mn-lt"/>
                <a:cs typeface="+mn-lt"/>
              </a:rPr>
              <a:t>The ability to provide overarching Integrated Logistic Support (ILS) for the life cycle management of all radar distribution system equipment, from development to disposal.</a:t>
            </a:r>
            <a:endParaRPr lang="en-US"/>
          </a:p>
          <a:p>
            <a:pPr marL="683895" lvl="1" indent="-223520">
              <a:buFont typeface="Arial" panose="05000000000000000000" pitchFamily="2" charset="2"/>
              <a:buChar char="–"/>
            </a:pPr>
            <a:r>
              <a:rPr lang="en-US">
                <a:ea typeface="+mn-lt"/>
                <a:cs typeface="+mn-lt"/>
              </a:rPr>
              <a:t>The development and delivery of a detailed Configuration Management Plan (CMP) that defines all processes for CM planning, identification, control, audits, and status accounting.</a:t>
            </a:r>
            <a:endParaRPr lang="en-US"/>
          </a:p>
          <a:p>
            <a:pPr marL="683895" lvl="1" indent="-223520">
              <a:buFont typeface="Arial" panose="05000000000000000000" pitchFamily="2" charset="2"/>
              <a:buChar char="–"/>
            </a:pPr>
            <a:r>
              <a:rPr lang="en-US">
                <a:ea typeface="+mn-lt"/>
                <a:cs typeface="+mn-lt"/>
              </a:rPr>
              <a:t>The development and delivery of a Life Cycle Sustainment Plan (LCSP) that ensures sustainment considerations are fully integrated into all acquisition and engineering activities.</a:t>
            </a:r>
            <a:endParaRPr lang="en-US"/>
          </a:p>
          <a:p>
            <a:pPr marL="683895" lvl="1" indent="-223520">
              <a:buFont typeface="Arial" panose="05000000000000000000" pitchFamily="2" charset="2"/>
              <a:buChar char="–"/>
            </a:pPr>
            <a:r>
              <a:rPr lang="en-US">
                <a:ea typeface="+mn-lt"/>
                <a:cs typeface="+mn-lt"/>
              </a:rPr>
              <a:t>A commitment to provide critical logistics data for affordability, reliability, maintainability, and supportability analyses.</a:t>
            </a:r>
            <a:endParaRPr lang="en-US"/>
          </a:p>
          <a:p>
            <a:pPr marL="0" indent="0">
              <a:buNone/>
            </a:pPr>
            <a:endParaRPr lang="en-US" dirty="0">
              <a:ea typeface="Calibri"/>
              <a:cs typeface="Calibri"/>
            </a:endParaRPr>
          </a:p>
        </p:txBody>
      </p:sp>
    </p:spTree>
    <p:extLst>
      <p:ext uri="{BB962C8B-B14F-4D97-AF65-F5344CB8AC3E}">
        <p14:creationId xmlns:p14="http://schemas.microsoft.com/office/powerpoint/2010/main" val="402434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1047C-F786-595E-26E4-9A56063B3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5A55C-3992-9C4F-8AB7-74E59EB549ED}"/>
              </a:ext>
            </a:extLst>
          </p:cNvPr>
          <p:cNvSpPr>
            <a:spLocks noGrp="1"/>
          </p:cNvSpPr>
          <p:nvPr>
            <p:ph type="title"/>
          </p:nvPr>
        </p:nvSpPr>
        <p:spPr/>
        <p:txBody>
          <a:bodyPr>
            <a:normAutofit/>
          </a:bodyPr>
          <a:lstStyle/>
          <a:p>
            <a:r>
              <a:rPr lang="en-US">
                <a:ea typeface="Calibri"/>
                <a:cs typeface="Calibri"/>
              </a:rPr>
              <a:t>CM and ILS</a:t>
            </a:r>
            <a:endParaRPr lang="en-US"/>
          </a:p>
        </p:txBody>
      </p:sp>
      <p:sp>
        <p:nvSpPr>
          <p:cNvPr id="3" name="Content Placeholder 2">
            <a:extLst>
              <a:ext uri="{FF2B5EF4-FFF2-40B4-BE49-F238E27FC236}">
                <a16:creationId xmlns:a16="http://schemas.microsoft.com/office/drawing/2014/main" id="{A21F28CA-C398-40E5-ABC8-3EEA0D00CE11}"/>
              </a:ext>
            </a:extLst>
          </p:cNvPr>
          <p:cNvSpPr>
            <a:spLocks noGrp="1"/>
          </p:cNvSpPr>
          <p:nvPr>
            <p:ph idx="1"/>
          </p:nvPr>
        </p:nvSpPr>
        <p:spPr/>
        <p:txBody>
          <a:bodyPr vert="horz" lIns="91440" tIns="45720" rIns="91440" bIns="45720" rtlCol="0" anchor="t">
            <a:normAutofit fontScale="85000" lnSpcReduction="20000"/>
          </a:bodyPr>
          <a:lstStyle/>
          <a:p>
            <a:pPr marL="229870" indent="-229870"/>
            <a:r>
              <a:rPr lang="en-US">
                <a:ea typeface="+mn-lt"/>
                <a:cs typeface="+mn-lt"/>
              </a:rPr>
              <a:t>Objective: Implement disciplined configuration control to ensure absolute traceability and management of all system hardware, software, and documentation.</a:t>
            </a:r>
            <a:endParaRPr lang="en-US" dirty="0">
              <a:ea typeface="+mn-lt"/>
              <a:cs typeface="+mn-lt"/>
            </a:endParaRPr>
          </a:p>
          <a:p>
            <a:pPr marL="229870" indent="-229870"/>
            <a:endParaRPr lang="en-US" dirty="0">
              <a:ea typeface="+mn-lt"/>
              <a:cs typeface="+mn-lt"/>
            </a:endParaRPr>
          </a:p>
          <a:p>
            <a:pPr marL="229870" indent="-229870"/>
            <a:r>
              <a:rPr lang="en-US">
                <a:ea typeface="+mn-lt"/>
                <a:cs typeface="+mn-lt"/>
              </a:rPr>
              <a:t>Key Requirements &amp; Capabilities:</a:t>
            </a:r>
          </a:p>
          <a:p>
            <a:pPr marL="683895" lvl="1" indent="-223520">
              <a:buFont typeface="Arial" panose="05000000000000000000" pitchFamily="2" charset="2"/>
              <a:buChar char="–"/>
            </a:pPr>
            <a:r>
              <a:rPr lang="en-US" sz="2800">
                <a:ea typeface="+mn-lt"/>
                <a:cs typeface="+mn-lt"/>
              </a:rPr>
              <a:t>The establishment and maintenance of a robust Configuration Management (CM) system to provide control and traceability over every item defined in the Technical Data Package (TDP).</a:t>
            </a:r>
            <a:endParaRPr lang="en-US"/>
          </a:p>
          <a:p>
            <a:pPr marL="683895" lvl="1" indent="-223520">
              <a:buFont typeface="Arial" panose="05000000000000000000" pitchFamily="2" charset="2"/>
              <a:buChar char="–"/>
            </a:pPr>
            <a:r>
              <a:rPr lang="en-US" sz="2800">
                <a:ea typeface="+mn-lt"/>
                <a:cs typeface="+mn-lt"/>
              </a:rPr>
              <a:t>The ability to manage the developmental configuration through iterative design and release until all functional and allocated requirements are satisfied and documented.</a:t>
            </a:r>
          </a:p>
          <a:p>
            <a:pPr marL="683895" lvl="1" indent="-223520">
              <a:buFont typeface="Arial" panose="05000000000000000000" pitchFamily="2" charset="2"/>
              <a:buChar char="–"/>
            </a:pPr>
            <a:r>
              <a:rPr lang="en-US" sz="2800">
                <a:ea typeface="+mn-lt"/>
                <a:cs typeface="+mn-lt"/>
              </a:rPr>
              <a:t>A formal process for Configuration Identification, including defining the product structure, assigning identifiers to all Configuration Items (CI), and establishing their specification baselines.</a:t>
            </a:r>
            <a:endParaRPr lang="en-US"/>
          </a:p>
          <a:p>
            <a:pPr marL="683895" lvl="1" indent="-223520">
              <a:buFont typeface="Arial" panose="05000000000000000000" pitchFamily="2" charset="2"/>
              <a:buChar char="–"/>
            </a:pPr>
            <a:r>
              <a:rPr lang="en-US" sz="2800">
                <a:ea typeface="+mn-lt"/>
                <a:cs typeface="+mn-lt"/>
              </a:rPr>
              <a:t>The expertise to provide technical input through the Configuration Control Board (CCB) process to properly manage design changes and adjudicate any impacts to ILS products.</a:t>
            </a:r>
            <a:endParaRPr lang="en-US"/>
          </a:p>
          <a:p>
            <a:pPr marL="229870" indent="-229870"/>
            <a:endParaRPr lang="en-US" dirty="0">
              <a:ea typeface="Calibri"/>
              <a:cs typeface="Calibri"/>
            </a:endParaRPr>
          </a:p>
          <a:p>
            <a:pPr marL="0" indent="0">
              <a:buNone/>
            </a:pPr>
            <a:endParaRPr lang="en-US" dirty="0">
              <a:ea typeface="Calibri"/>
              <a:cs typeface="Calibri"/>
            </a:endParaRPr>
          </a:p>
        </p:txBody>
      </p:sp>
    </p:spTree>
    <p:extLst>
      <p:ext uri="{BB962C8B-B14F-4D97-AF65-F5344CB8AC3E}">
        <p14:creationId xmlns:p14="http://schemas.microsoft.com/office/powerpoint/2010/main" val="1347308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0AA2D-AF3E-66E4-8B88-57274F922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2A1EB-8078-0A07-C5EA-F770EF2BB66D}"/>
              </a:ext>
            </a:extLst>
          </p:cNvPr>
          <p:cNvSpPr>
            <a:spLocks noGrp="1"/>
          </p:cNvSpPr>
          <p:nvPr>
            <p:ph type="title"/>
          </p:nvPr>
        </p:nvSpPr>
        <p:spPr/>
        <p:txBody>
          <a:bodyPr>
            <a:normAutofit/>
          </a:bodyPr>
          <a:lstStyle/>
          <a:p>
            <a:r>
              <a:rPr lang="en-US">
                <a:ea typeface="Calibri"/>
                <a:cs typeface="Calibri"/>
              </a:rPr>
              <a:t>CM and ILS</a:t>
            </a:r>
            <a:endParaRPr lang="en-US"/>
          </a:p>
        </p:txBody>
      </p:sp>
      <p:sp>
        <p:nvSpPr>
          <p:cNvPr id="3" name="Content Placeholder 2">
            <a:extLst>
              <a:ext uri="{FF2B5EF4-FFF2-40B4-BE49-F238E27FC236}">
                <a16:creationId xmlns:a16="http://schemas.microsoft.com/office/drawing/2014/main" id="{E0FEE704-884C-A8C6-CA17-8CEB214A0AAA}"/>
              </a:ext>
            </a:extLst>
          </p:cNvPr>
          <p:cNvSpPr>
            <a:spLocks noGrp="1"/>
          </p:cNvSpPr>
          <p:nvPr>
            <p:ph idx="1"/>
          </p:nvPr>
        </p:nvSpPr>
        <p:spPr/>
        <p:txBody>
          <a:bodyPr vert="horz" lIns="91440" tIns="45720" rIns="91440" bIns="45720" rtlCol="0" anchor="t">
            <a:normAutofit fontScale="92500" lnSpcReduction="20000"/>
          </a:bodyPr>
          <a:lstStyle/>
          <a:p>
            <a:pPr marL="229870" indent="-229870"/>
            <a:r>
              <a:rPr lang="en-US">
                <a:ea typeface="+mn-lt"/>
                <a:cs typeface="+mn-lt"/>
              </a:rPr>
              <a:t>Objective: Develop, deliver, and maintain the full suite of technical data products required to train operators and maintainers and to provision the fleet.</a:t>
            </a:r>
            <a:endParaRPr lang="en-US">
              <a:ea typeface="Calibri"/>
              <a:cs typeface="Calibri"/>
            </a:endParaRPr>
          </a:p>
          <a:p>
            <a:pPr marL="229870" indent="-229870"/>
            <a:endParaRPr lang="en-US" dirty="0">
              <a:ea typeface="+mn-lt"/>
              <a:cs typeface="+mn-lt"/>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a:ea typeface="+mn-lt"/>
                <a:cs typeface="+mn-lt"/>
              </a:rPr>
              <a:t>The development and delivery of operation and maintenance technical manuals, specifically Interactive Electronic Technical Manuals (IETMs), using the S1000D format or other directed standards.</a:t>
            </a:r>
            <a:endParaRPr lang="en-US"/>
          </a:p>
          <a:p>
            <a:pPr marL="683895" lvl="1" indent="-223520">
              <a:buFont typeface="Arial" panose="05000000000000000000" pitchFamily="2" charset="2"/>
              <a:buChar char="–"/>
            </a:pPr>
            <a:r>
              <a:rPr lang="en-US">
                <a:ea typeface="+mn-lt"/>
                <a:cs typeface="+mn-lt"/>
              </a:rPr>
              <a:t>The ability to develop and update Allowance Parts Lists (APL) for new equipment and provide all necessary provisioning data to reflect changes to the approved configuration baseline.</a:t>
            </a:r>
            <a:endParaRPr lang="en-US"/>
          </a:p>
          <a:p>
            <a:pPr marL="683895" lvl="1" indent="-223520">
              <a:buFont typeface="Arial" panose="05000000000000000000" pitchFamily="2" charset="2"/>
              <a:buChar char="–"/>
            </a:pPr>
            <a:r>
              <a:rPr lang="en-US">
                <a:ea typeface="+mn-lt"/>
                <a:cs typeface="+mn-lt"/>
              </a:rPr>
              <a:t>The technical expertise to develop and update all required training data products in accordance with MIL-PRF-29612B to support life cycle maintenance.</a:t>
            </a:r>
            <a:endParaRPr lang="en-US"/>
          </a:p>
          <a:p>
            <a:pPr marL="683895" lvl="1" indent="-223520">
              <a:buFont typeface="Arial" panose="05000000000000000000" pitchFamily="2" charset="2"/>
              <a:buChar char="–"/>
            </a:pPr>
            <a:r>
              <a:rPr lang="en-US">
                <a:ea typeface="+mn-lt"/>
                <a:cs typeface="+mn-lt"/>
              </a:rPr>
              <a:t>The capability to provide technical expertise to resolve Preventative Maintenance System (PMS) Feedback Reports and ensure maintenance procedures remain accurate and effective.</a:t>
            </a:r>
            <a:endParaRPr lang="en-US"/>
          </a:p>
          <a:p>
            <a:pPr marL="229870" indent="-229870"/>
            <a:endParaRPr lang="en-US" dirty="0">
              <a:ea typeface="Calibri"/>
              <a:cs typeface="Calibri"/>
            </a:endParaRPr>
          </a:p>
          <a:p>
            <a:pPr marL="229870" indent="-229870"/>
            <a:endParaRPr lang="en-US" dirty="0">
              <a:ea typeface="Calibri"/>
              <a:cs typeface="Calibri"/>
            </a:endParaRPr>
          </a:p>
          <a:p>
            <a:pPr marL="0" indent="0">
              <a:buNone/>
            </a:pPr>
            <a:endParaRPr lang="en-US" dirty="0">
              <a:ea typeface="Calibri"/>
              <a:cs typeface="Calibri"/>
            </a:endParaRPr>
          </a:p>
        </p:txBody>
      </p:sp>
    </p:spTree>
    <p:extLst>
      <p:ext uri="{BB962C8B-B14F-4D97-AF65-F5344CB8AC3E}">
        <p14:creationId xmlns:p14="http://schemas.microsoft.com/office/powerpoint/2010/main" val="2963009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147F4-2BED-CBAC-8ED5-9DEF10227172}"/>
              </a:ext>
            </a:extLst>
          </p:cNvPr>
          <p:cNvSpPr>
            <a:spLocks noGrp="1"/>
          </p:cNvSpPr>
          <p:nvPr>
            <p:ph type="title"/>
          </p:nvPr>
        </p:nvSpPr>
        <p:spPr/>
        <p:txBody>
          <a:bodyPr/>
          <a:lstStyle/>
          <a:p>
            <a:r>
              <a:rPr lang="en-US">
                <a:ea typeface="Calibri"/>
                <a:cs typeface="Calibri"/>
              </a:rPr>
              <a:t>Obscolesence Management</a:t>
            </a:r>
            <a:endParaRPr lang="en-US" dirty="0">
              <a:ea typeface="Calibri"/>
              <a:cs typeface="Calibri"/>
            </a:endParaRPr>
          </a:p>
        </p:txBody>
      </p:sp>
      <p:sp>
        <p:nvSpPr>
          <p:cNvPr id="3" name="Content Placeholder 2">
            <a:extLst>
              <a:ext uri="{FF2B5EF4-FFF2-40B4-BE49-F238E27FC236}">
                <a16:creationId xmlns:a16="http://schemas.microsoft.com/office/drawing/2014/main" id="{7B6BB7E5-75D1-9F00-59E6-AD3E8F3CEB6B}"/>
              </a:ext>
            </a:extLst>
          </p:cNvPr>
          <p:cNvSpPr>
            <a:spLocks noGrp="1"/>
          </p:cNvSpPr>
          <p:nvPr>
            <p:ph idx="1"/>
          </p:nvPr>
        </p:nvSpPr>
        <p:spPr/>
        <p:txBody>
          <a:bodyPr vert="horz" lIns="91440" tIns="45720" rIns="91440" bIns="45720" rtlCol="0" anchor="t">
            <a:normAutofit fontScale="92500" lnSpcReduction="20000"/>
          </a:bodyPr>
          <a:lstStyle/>
          <a:p>
            <a:pPr marL="229870" indent="-229870"/>
            <a:r>
              <a:rPr lang="en-US" dirty="0">
                <a:ea typeface="+mn-lt"/>
                <a:cs typeface="+mn-lt"/>
              </a:rPr>
              <a:t>Objective: To proactively identify, report, and mitigate all supply chain risks associated with component obsolescence to ensure system sustainability and availability.</a:t>
            </a:r>
            <a:endParaRPr lang="en-US" dirty="0">
              <a:ea typeface="Calibri"/>
              <a:cs typeface="Calibri"/>
            </a:endParaRPr>
          </a:p>
          <a:p>
            <a:pPr marL="229870" indent="-229870"/>
            <a:endParaRPr lang="en-US" dirty="0">
              <a:ea typeface="+mn-lt"/>
              <a:cs typeface="+mn-lt"/>
            </a:endParaRPr>
          </a:p>
          <a:p>
            <a:pPr marL="229870" indent="-229870"/>
            <a:r>
              <a:rPr lang="en-US" dirty="0">
                <a:ea typeface="+mn-lt"/>
                <a:cs typeface="+mn-lt"/>
              </a:rPr>
              <a:t>Key Requirements &amp; Capabilities:</a:t>
            </a:r>
            <a:endParaRPr lang="en-US" dirty="0"/>
          </a:p>
          <a:p>
            <a:pPr marL="683895" lvl="1" indent="-223520">
              <a:buFont typeface="Arial" panose="05000000000000000000" pitchFamily="2" charset="2"/>
              <a:buChar char="–"/>
            </a:pPr>
            <a:r>
              <a:rPr lang="en-US" dirty="0">
                <a:ea typeface="+mn-lt"/>
                <a:cs typeface="+mn-lt"/>
              </a:rPr>
              <a:t>The development, delivery, and execution of a formal Diminishing Manufacturing Sources and Material Shortages (DMSMS) Plan in accordance with TA-STD-0016.</a:t>
            </a:r>
            <a:endParaRPr lang="en-US" dirty="0"/>
          </a:p>
          <a:p>
            <a:pPr marL="683895" lvl="1" indent="-223520">
              <a:buFont typeface="Arial" panose="05000000000000000000" pitchFamily="2" charset="2"/>
              <a:buChar char="–"/>
            </a:pPr>
            <a:r>
              <a:rPr lang="en-US" dirty="0">
                <a:ea typeface="+mn-lt"/>
                <a:cs typeface="+mn-lt"/>
              </a:rPr>
              <a:t>The establishment of a formal process to continuously identify pending and emergent obsolescence issues and to immediately notify the Government of any risks affecting the approved baseline.</a:t>
            </a:r>
            <a:endParaRPr lang="en-US" dirty="0"/>
          </a:p>
          <a:p>
            <a:pPr marL="683895" lvl="1" indent="-223520">
              <a:buFont typeface="Arial" panose="05000000000000000000" pitchFamily="2" charset="2"/>
              <a:buChar char="–"/>
            </a:pPr>
            <a:r>
              <a:rPr lang="en-US" dirty="0">
                <a:ea typeface="+mn-lt"/>
                <a:cs typeface="+mn-lt"/>
              </a:rPr>
              <a:t>The capability to investigate, evaluate, develop, and replace obsolete or non-obtainable parts to mitigate program supply chain risks and ensure continued compliance with all performance requirements.</a:t>
            </a:r>
            <a:endParaRPr lang="en-US" dirty="0"/>
          </a:p>
          <a:p>
            <a:pPr marL="683895" lvl="1" indent="-223520">
              <a:buFont typeface="Arial" panose="05000000000000000000" pitchFamily="2" charset="2"/>
              <a:buChar char="–"/>
            </a:pPr>
            <a:r>
              <a:rPr lang="en-US" dirty="0">
                <a:ea typeface="+mn-lt"/>
                <a:cs typeface="+mn-lt"/>
              </a:rPr>
              <a:t>A commitment to disciplined configuration control, ensuring all obsolescence-driven changes are made in strict accordance with the Government-approved Configuration Management (CM) Plan.</a:t>
            </a:r>
            <a:endParaRPr lang="en-US" dirty="0"/>
          </a:p>
          <a:p>
            <a:pPr marL="229870" indent="-229870"/>
            <a:endParaRPr lang="en-US" dirty="0">
              <a:ea typeface="Calibri"/>
              <a:cs typeface="Calibri"/>
            </a:endParaRPr>
          </a:p>
        </p:txBody>
      </p:sp>
    </p:spTree>
    <p:extLst>
      <p:ext uri="{BB962C8B-B14F-4D97-AF65-F5344CB8AC3E}">
        <p14:creationId xmlns:p14="http://schemas.microsoft.com/office/powerpoint/2010/main" val="2441612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FFD7-03E9-9D3E-F5A0-0C6E07348F5A}"/>
              </a:ext>
            </a:extLst>
          </p:cNvPr>
          <p:cNvSpPr>
            <a:spLocks noGrp="1"/>
          </p:cNvSpPr>
          <p:nvPr>
            <p:ph type="title"/>
          </p:nvPr>
        </p:nvSpPr>
        <p:spPr/>
        <p:txBody>
          <a:bodyPr/>
          <a:lstStyle/>
          <a:p>
            <a:r>
              <a:rPr lang="en-US">
                <a:ea typeface="Calibri"/>
                <a:cs typeface="Calibri"/>
              </a:rPr>
              <a:t>Cybersecurity Support</a:t>
            </a:r>
            <a:endParaRPr lang="en-US"/>
          </a:p>
        </p:txBody>
      </p:sp>
      <p:sp>
        <p:nvSpPr>
          <p:cNvPr id="3" name="Content Placeholder 2">
            <a:extLst>
              <a:ext uri="{FF2B5EF4-FFF2-40B4-BE49-F238E27FC236}">
                <a16:creationId xmlns:a16="http://schemas.microsoft.com/office/drawing/2014/main" id="{AC1455C5-46BF-7226-6A60-28190F92C603}"/>
              </a:ext>
            </a:extLst>
          </p:cNvPr>
          <p:cNvSpPr>
            <a:spLocks noGrp="1"/>
          </p:cNvSpPr>
          <p:nvPr>
            <p:ph idx="1"/>
          </p:nvPr>
        </p:nvSpPr>
        <p:spPr/>
        <p:txBody>
          <a:bodyPr vert="horz" lIns="91440" tIns="45720" rIns="91440" bIns="45720" rtlCol="0" anchor="t">
            <a:normAutofit fontScale="85000" lnSpcReduction="20000"/>
          </a:bodyPr>
          <a:lstStyle/>
          <a:p>
            <a:pPr marL="229870" indent="-229870"/>
            <a:r>
              <a:rPr lang="en-US" dirty="0">
                <a:ea typeface="+mn-lt"/>
                <a:cs typeface="+mn-lt"/>
              </a:rPr>
              <a:t>Objective: Manage the full Risk Management Framework (RMF) lifecycle and implement a robust continuous monitoring program to obtain and maintain the system's Authority to Operate (ATO).</a:t>
            </a:r>
            <a:endParaRPr lang="en-US" dirty="0">
              <a:ea typeface="Calibri"/>
              <a:cs typeface="Calibri"/>
            </a:endParaRPr>
          </a:p>
          <a:p>
            <a:pPr marL="229870" indent="-229870"/>
            <a:endParaRPr lang="en-US" dirty="0">
              <a:ea typeface="+mn-lt"/>
              <a:cs typeface="+mn-lt"/>
            </a:endParaRPr>
          </a:p>
          <a:p>
            <a:pPr marL="229870" indent="-229870"/>
            <a:r>
              <a:rPr lang="en-US" dirty="0">
                <a:ea typeface="+mn-lt"/>
                <a:cs typeface="+mn-lt"/>
              </a:rPr>
              <a:t>Key Requirements &amp; Capabilities:</a:t>
            </a:r>
            <a:endParaRPr lang="en-US" dirty="0"/>
          </a:p>
          <a:p>
            <a:pPr marL="683895" lvl="1" indent="-223520"/>
            <a:r>
              <a:rPr lang="en-US" dirty="0">
                <a:ea typeface="+mn-lt"/>
                <a:cs typeface="+mn-lt"/>
              </a:rPr>
              <a:t>The expertise to develop complete RMF packages as the designated ISO/ISSE and Navy Qualified Validator (NQV), consistent with NAVSEA Functional Authorizing Official (FAO) guidelines.</a:t>
            </a:r>
          </a:p>
          <a:p>
            <a:pPr marL="683895" lvl="1" indent="-223520"/>
            <a:r>
              <a:rPr lang="en-US" dirty="0">
                <a:ea typeface="+mn-lt"/>
                <a:cs typeface="+mn-lt"/>
              </a:rPr>
              <a:t>The ability to conduct Annual Security Reviews (ASR) for each RMF package, including all testing, package updates, and management of any conditions tied to the ATO.</a:t>
            </a:r>
          </a:p>
          <a:p>
            <a:pPr marL="683895" lvl="1" indent="-223520"/>
            <a:r>
              <a:rPr lang="en-US" dirty="0">
                <a:ea typeface="+mn-lt"/>
                <a:cs typeface="+mn-lt"/>
              </a:rPr>
              <a:t>A commitment to provide robust continuous monitoring support, including quarterly assessments using DISA STIGs, SCAP, and vulnerability scanning with tools like the Assured Compliance Assessment Solution (ACAS).</a:t>
            </a:r>
          </a:p>
          <a:p>
            <a:pPr marL="683895" lvl="1" indent="-223520"/>
            <a:r>
              <a:rPr lang="en-US" dirty="0">
                <a:ea typeface="+mn-lt"/>
                <a:cs typeface="+mn-lt"/>
              </a:rPr>
              <a:t>The systems engineering expertise to provide technical planning and design analysis to ensure core cyber requirements are met, including availability, integrity, authentication, and confidentiality.</a:t>
            </a:r>
            <a:endParaRPr lang="en-US" dirty="0">
              <a:ea typeface="Calibri"/>
              <a:cs typeface="Calibri"/>
            </a:endParaRPr>
          </a:p>
          <a:p>
            <a:pPr marL="683895" lvl="1" indent="-223520"/>
            <a:r>
              <a:rPr lang="en-US" dirty="0">
                <a:ea typeface="+mn-lt"/>
                <a:cs typeface="+mn-lt"/>
              </a:rPr>
              <a:t>A formal process for vulnerability management, including performing technical assessments of discovered vulnerabilities and maintaining the system Plan of Actions and Milestones (POA&amp;M).</a:t>
            </a:r>
          </a:p>
          <a:p>
            <a:pPr marL="683895" lvl="1" indent="-223520">
              <a:buFont typeface="Arial" panose="05000000000000000000" pitchFamily="2" charset="2"/>
            </a:pPr>
            <a:r>
              <a:rPr lang="en-US" dirty="0">
                <a:solidFill>
                  <a:srgbClr val="000000"/>
                </a:solidFill>
                <a:ea typeface="Calibri"/>
                <a:cs typeface="Calibri"/>
              </a:rPr>
              <a:t>The ability to provide a robust software development process such as </a:t>
            </a:r>
            <a:r>
              <a:rPr lang="en-US" dirty="0" err="1">
                <a:solidFill>
                  <a:srgbClr val="000000"/>
                </a:solidFill>
                <a:ea typeface="Calibri"/>
                <a:cs typeface="Calibri"/>
              </a:rPr>
              <a:t>DevSecOps</a:t>
            </a:r>
            <a:r>
              <a:rPr lang="en-US" dirty="0">
                <a:solidFill>
                  <a:srgbClr val="000000"/>
                </a:solidFill>
                <a:ea typeface="Calibri"/>
                <a:cs typeface="Calibri"/>
              </a:rPr>
              <a:t>. </a:t>
            </a:r>
          </a:p>
          <a:p>
            <a:pPr marL="229870" indent="-229870"/>
            <a:endParaRPr lang="en-US" dirty="0">
              <a:ea typeface="Calibri"/>
              <a:cs typeface="Calibri"/>
            </a:endParaRPr>
          </a:p>
        </p:txBody>
      </p:sp>
    </p:spTree>
    <p:extLst>
      <p:ext uri="{BB962C8B-B14F-4D97-AF65-F5344CB8AC3E}">
        <p14:creationId xmlns:p14="http://schemas.microsoft.com/office/powerpoint/2010/main" val="1653495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BB95-AFC1-FBD3-C7A4-58012DF2F902}"/>
              </a:ext>
            </a:extLst>
          </p:cNvPr>
          <p:cNvSpPr>
            <a:spLocks noGrp="1"/>
          </p:cNvSpPr>
          <p:nvPr>
            <p:ph type="title"/>
          </p:nvPr>
        </p:nvSpPr>
        <p:spPr/>
        <p:txBody>
          <a:bodyPr/>
          <a:lstStyle/>
          <a:p>
            <a:r>
              <a:rPr lang="en-US">
                <a:ea typeface="Calibri"/>
                <a:cs typeface="Calibri"/>
              </a:rPr>
              <a:t>Cybersecurity Support</a:t>
            </a:r>
            <a:endParaRPr lang="en-US"/>
          </a:p>
        </p:txBody>
      </p:sp>
      <p:sp>
        <p:nvSpPr>
          <p:cNvPr id="3" name="Content Placeholder 2">
            <a:extLst>
              <a:ext uri="{FF2B5EF4-FFF2-40B4-BE49-F238E27FC236}">
                <a16:creationId xmlns:a16="http://schemas.microsoft.com/office/drawing/2014/main" id="{6A268FB1-84FC-80D6-BB7E-2742BD07AC2F}"/>
              </a:ext>
            </a:extLst>
          </p:cNvPr>
          <p:cNvSpPr>
            <a:spLocks noGrp="1"/>
          </p:cNvSpPr>
          <p:nvPr>
            <p:ph idx="1"/>
          </p:nvPr>
        </p:nvSpPr>
        <p:spPr/>
        <p:txBody>
          <a:bodyPr vert="horz" lIns="91440" tIns="45720" rIns="91440" bIns="45720" rtlCol="0" anchor="t">
            <a:normAutofit fontScale="92500" lnSpcReduction="20000"/>
          </a:bodyPr>
          <a:lstStyle/>
          <a:p>
            <a:pPr marL="229870" indent="-229870"/>
            <a:r>
              <a:rPr lang="en-US">
                <a:ea typeface="+mn-lt"/>
                <a:cs typeface="+mn-lt"/>
              </a:rPr>
              <a:t>Objective: Ensure the system is designed, configured, and hardened from the ground up to meet all DoD, DoN, and Combat System cybersecurity standards.</a:t>
            </a:r>
            <a:endParaRPr lang="en-US" dirty="0">
              <a:ea typeface="Calibri"/>
              <a:cs typeface="Calibri"/>
            </a:endParaRPr>
          </a:p>
          <a:p>
            <a:pPr marL="229870" indent="-229870"/>
            <a:r>
              <a:rPr lang="en-US">
                <a:ea typeface="+mn-lt"/>
                <a:cs typeface="+mn-lt"/>
              </a:rPr>
              <a:t>Key Requirements &amp; Capabilities:</a:t>
            </a:r>
            <a:endParaRPr lang="en-US"/>
          </a:p>
          <a:p>
            <a:pPr marL="683895" lvl="1" indent="-223520">
              <a:buFont typeface="Arial" panose="05000000000000000000" pitchFamily="2" charset="2"/>
              <a:buChar char="–"/>
            </a:pPr>
            <a:r>
              <a:rPr lang="en-US">
                <a:ea typeface="+mn-lt"/>
                <a:cs typeface="+mn-lt"/>
              </a:rPr>
              <a:t>A forward-leaning design approach that aligns the system with Combat System TA standards, PEO IWS Cyber Requirements, and Zero Trust principles, using DISA STIGs as the primary configuration standard.</a:t>
            </a:r>
            <a:endParaRPr lang="en-US"/>
          </a:p>
          <a:p>
            <a:pPr marL="683895" lvl="1" indent="-223520">
              <a:buFont typeface="Arial" panose="05000000000000000000" pitchFamily="2" charset="2"/>
              <a:buChar char="–"/>
            </a:pPr>
            <a:r>
              <a:rPr lang="en-US">
                <a:ea typeface="+mn-lt"/>
                <a:cs typeface="+mn-lt"/>
              </a:rPr>
              <a:t>The hands-on technical skill to perform operating system patching and system hardening in accordance with the latest DoD and DoN requirements.</a:t>
            </a:r>
            <a:endParaRPr lang="en-US"/>
          </a:p>
          <a:p>
            <a:pPr marL="683895" lvl="1" indent="-223520">
              <a:buFont typeface="Arial" panose="05000000000000000000" pitchFamily="2" charset="2"/>
              <a:buChar char="–"/>
            </a:pPr>
            <a:r>
              <a:rPr lang="en-US">
                <a:ea typeface="+mn-lt"/>
                <a:cs typeface="+mn-lt"/>
              </a:rPr>
              <a:t>The ability to develop and deliver all required RMF documentation, including system Network Diagrams, SOPs, and Security Assessment Plans.</a:t>
            </a:r>
            <a:endParaRPr lang="en-US"/>
          </a:p>
          <a:p>
            <a:pPr marL="683895" lvl="1" indent="-223520">
              <a:buFont typeface="Arial" panose="05000000000000000000" pitchFamily="2" charset="2"/>
              <a:buChar char="–"/>
            </a:pPr>
            <a:r>
              <a:rPr lang="en-US">
                <a:ea typeface="+mn-lt"/>
                <a:cs typeface="+mn-lt"/>
              </a:rPr>
              <a:t>The proficiency to manage system and application registration in official repositories such as DITPR-DON, DADMS, and for Ports, Protocols, and Services Management (PPSM).</a:t>
            </a:r>
            <a:endParaRPr lang="en-US"/>
          </a:p>
          <a:p>
            <a:pPr marL="683895" lvl="1" indent="-223520">
              <a:buFont typeface="Arial" panose="05000000000000000000" pitchFamily="2" charset="2"/>
              <a:buChar char="–"/>
            </a:pPr>
            <a:r>
              <a:rPr lang="en-US">
                <a:ea typeface="+mn-lt"/>
                <a:cs typeface="+mn-lt"/>
              </a:rPr>
              <a:t>A commitment to ensure all personnel supporting shipboard systems meet all Cyber Security Workforce (CSWF) and privileged access requirements.</a:t>
            </a:r>
            <a:endParaRPr lang="en-US"/>
          </a:p>
          <a:p>
            <a:pPr marL="683895" lvl="1" indent="-223520">
              <a:buFont typeface="Arial" panose="05000000000000000000" pitchFamily="2" charset="2"/>
              <a:buChar char="–"/>
            </a:pPr>
            <a:r>
              <a:rPr lang="en-US">
                <a:ea typeface="+mn-lt"/>
                <a:cs typeface="+mn-lt"/>
              </a:rPr>
              <a:t>A comprehensive understanding of acquisition security, ensuring system design is compliant with DFARS requirements for safeguarding covered defense information.</a:t>
            </a:r>
            <a:endParaRPr lang="en-US"/>
          </a:p>
          <a:p>
            <a:pPr marL="229870" indent="-229870"/>
            <a:endParaRPr lang="en-US" dirty="0">
              <a:ea typeface="Calibri"/>
              <a:cs typeface="Calibri"/>
            </a:endParaRPr>
          </a:p>
        </p:txBody>
      </p:sp>
    </p:spTree>
    <p:extLst>
      <p:ext uri="{BB962C8B-B14F-4D97-AF65-F5344CB8AC3E}">
        <p14:creationId xmlns:p14="http://schemas.microsoft.com/office/powerpoint/2010/main" val="2258478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5" name="Picture 4">
            <a:extLst>
              <a:ext uri="{FF2B5EF4-FFF2-40B4-BE49-F238E27FC236}">
                <a16:creationId xmlns:a16="http://schemas.microsoft.com/office/drawing/2014/main" id="{3E1936A6-335B-A1CC-35A7-88161FE353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28602" y="2416788"/>
            <a:ext cx="3768588" cy="2024241"/>
          </a:xfrm>
          <a:prstGeom prst="rect">
            <a:avLst/>
          </a:prstGeom>
        </p:spPr>
      </p:pic>
    </p:spTree>
    <p:extLst>
      <p:ext uri="{BB962C8B-B14F-4D97-AF65-F5344CB8AC3E}">
        <p14:creationId xmlns:p14="http://schemas.microsoft.com/office/powerpoint/2010/main" val="2454686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 Slides</a:t>
            </a:r>
          </a:p>
        </p:txBody>
      </p:sp>
    </p:spTree>
    <p:extLst>
      <p:ext uri="{BB962C8B-B14F-4D97-AF65-F5344CB8AC3E}">
        <p14:creationId xmlns:p14="http://schemas.microsoft.com/office/powerpoint/2010/main" val="1747974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48b6ab0-3b70-4558-9393-72f771d63ca2">
      <Terms xmlns="http://schemas.microsoft.com/office/infopath/2007/PartnerControls"/>
    </lcf76f155ced4ddcb4097134ff3c332f>
    <TaxCatchAll xmlns="db585c19-d20a-4e5f-bf0e-e3fdbacd712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54325773841D341BF873A96B1B662A5" ma:contentTypeVersion="11" ma:contentTypeDescription="Create a new document." ma:contentTypeScope="" ma:versionID="cca5aac5085abfadb1d2e4409eb6163e">
  <xsd:schema xmlns:xsd="http://www.w3.org/2001/XMLSchema" xmlns:xs="http://www.w3.org/2001/XMLSchema" xmlns:p="http://schemas.microsoft.com/office/2006/metadata/properties" xmlns:ns2="248b6ab0-3b70-4558-9393-72f771d63ca2" xmlns:ns3="db585c19-d20a-4e5f-bf0e-e3fdbacd7123" targetNamespace="http://schemas.microsoft.com/office/2006/metadata/properties" ma:root="true" ma:fieldsID="ea7df645175b37542cd60198dd7e8a58" ns2:_="" ns3:_="">
    <xsd:import namespace="248b6ab0-3b70-4558-9393-72f771d63ca2"/>
    <xsd:import namespace="db585c19-d20a-4e5f-bf0e-e3fdbacd712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8b6ab0-3b70-4558-9393-72f771d63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cef215b-19b7-4691-95f4-27d2fe62d5d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585c19-d20a-4e5f-bf0e-e3fdbacd712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e4518b-5822-4f17-8825-fc465b46392d}" ma:internalName="TaxCatchAll" ma:showField="CatchAllData" ma:web="db585c19-d20a-4e5f-bf0e-e3fdbacd71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A77258-EB8D-41FF-B520-6A5FE3A6DC44}">
  <ds:schemaRefs>
    <ds:schemaRef ds:uri="http://schemas.microsoft.com/sharepoint/v3/contenttype/forms"/>
  </ds:schemaRefs>
</ds:datastoreItem>
</file>

<file path=customXml/itemProps2.xml><?xml version="1.0" encoding="utf-8"?>
<ds:datastoreItem xmlns:ds="http://schemas.openxmlformats.org/officeDocument/2006/customXml" ds:itemID="{D0A48A2A-4F70-4C16-8B85-AC59315CB831}">
  <ds:schemaRefs>
    <ds:schemaRef ds:uri="http://schemas.microsoft.com/office/2006/documentManagement/types"/>
    <ds:schemaRef ds:uri="http://schemas.openxmlformats.org/package/2006/metadata/core-properties"/>
    <ds:schemaRef ds:uri="http://www.w3.org/XML/1998/namespace"/>
    <ds:schemaRef ds:uri="http://purl.org/dc/dcmitype/"/>
    <ds:schemaRef ds:uri="f054cbd5-c5a9-4630-8648-488a54799f61"/>
    <ds:schemaRef ds:uri="http://schemas.microsoft.com/office/2006/metadata/properties"/>
    <ds:schemaRef ds:uri="http://purl.org/dc/elements/1.1/"/>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3D430F26-4882-4030-B799-1C6E1E93DC8F}"/>
</file>

<file path=docMetadata/LabelInfo.xml><?xml version="1.0" encoding="utf-8"?>
<clbl:labelList xmlns:clbl="http://schemas.microsoft.com/office/2020/mipLabelMetadata">
  <clbl:label id="{196e6675-c0a9-4fb4-90ba-9df2389b72e5}" enabled="1" method="Privileged" siteId="{e3333e00-c877-4b87-b6ad-45e942de1750}" removed="0"/>
</clbl:labelList>
</file>

<file path=docProps/app.xml><?xml version="1.0" encoding="utf-8"?>
<Properties xmlns="http://schemas.openxmlformats.org/officeDocument/2006/extended-properties" xmlns:vt="http://schemas.openxmlformats.org/officeDocument/2006/docPropsVTypes">
  <TotalTime>10894</TotalTime>
  <Words>3214</Words>
  <Application>Microsoft Office PowerPoint</Application>
  <PresentationFormat>Widescreen</PresentationFormat>
  <Paragraphs>228</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Wingdings</vt:lpstr>
      <vt:lpstr>Office Theme</vt:lpstr>
      <vt:lpstr>PowerPoint Presentation</vt:lpstr>
      <vt:lpstr>Agenda</vt:lpstr>
      <vt:lpstr>Purpose of Industry Day</vt:lpstr>
      <vt:lpstr>Disclaimer</vt:lpstr>
      <vt:lpstr>Ground Rules for Question and Answer (Q&amp;A) Session</vt:lpstr>
      <vt:lpstr>Project Overview</vt:lpstr>
      <vt:lpstr>Acquisition Strategy</vt:lpstr>
      <vt:lpstr>PowerPoint Presentation</vt:lpstr>
      <vt:lpstr>DNA35 – Sensor Distribution and Display Systems </vt:lpstr>
      <vt:lpstr>Anticipated Requirements</vt:lpstr>
      <vt:lpstr>Production and Delivery</vt:lpstr>
      <vt:lpstr>Production and Delivery</vt:lpstr>
      <vt:lpstr>Production and Delivery</vt:lpstr>
      <vt:lpstr>Engineering Services </vt:lpstr>
      <vt:lpstr>Engineering Services</vt:lpstr>
      <vt:lpstr>Engineering Services</vt:lpstr>
      <vt:lpstr>Technical Services</vt:lpstr>
      <vt:lpstr>Technical Services</vt:lpstr>
      <vt:lpstr>CM and ILS</vt:lpstr>
      <vt:lpstr>CM and ILS</vt:lpstr>
      <vt:lpstr>CM and ILS</vt:lpstr>
      <vt:lpstr>Obscolesence Management</vt:lpstr>
      <vt:lpstr>Cybersecurity Support</vt:lpstr>
      <vt:lpstr>Cybersecurity Support</vt:lpstr>
      <vt:lpstr>Thank You</vt:lpstr>
      <vt:lpstr>Back-up Slides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Brandy.Plucker;alan.black@navy.mil</dc:creator>
  <cp:lastModifiedBy>Ness, Jeffery E CIV USN NSWCDD DNA (USA)</cp:lastModifiedBy>
  <cp:revision>613</cp:revision>
  <cp:lastPrinted>2017-03-31T19:34:37Z</cp:lastPrinted>
  <dcterms:created xsi:type="dcterms:W3CDTF">2015-05-18T15:45:51Z</dcterms:created>
  <dcterms:modified xsi:type="dcterms:W3CDTF">2026-04-24T16:14:53Z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0x010100D54325773841D341BF873A96B1B662A5</vt:lpwstr>
  </property>
  <property fmtid="{D5CDD505-2E9C-101B-9397-08002B2CF9AE}" pid="3" name="MSIP_Label_196e6675-c0a9-4fb4-90ba-9df2389b72e5_Enabled">
    <vt:lpwstr>True</vt:lpwstr>
  </property>
  <property fmtid="{D5CDD505-2E9C-101B-9397-08002B2CF9AE}" pid="4" name="MSIP_Label_196e6675-c0a9-4fb4-90ba-9df2389b72e5_SiteId">
    <vt:lpwstr>e3333e00-c877-4b87-b6ad-45e942de1750</vt:lpwstr>
  </property>
  <property fmtid="{D5CDD505-2E9C-101B-9397-08002B2CF9AE}" pid="5" name="MSIP_Label_196e6675-c0a9-4fb4-90ba-9df2389b72e5_SetDate">
    <vt:lpwstr>2024-08-12T17:46:11Z</vt:lpwstr>
  </property>
  <property fmtid="{D5CDD505-2E9C-101B-9397-08002B2CF9AE}" pid="6" name="MSIP_Label_196e6675-c0a9-4fb4-90ba-9df2389b72e5_Name">
    <vt:lpwstr>UNCLASSIFIED</vt:lpwstr>
  </property>
  <property fmtid="{D5CDD505-2E9C-101B-9397-08002B2CF9AE}" pid="7" name="MSIP_Label_196e6675-c0a9-4fb4-90ba-9df2389b72e5_ActionId">
    <vt:lpwstr>2b7b6456-2a90-4241-8331-2e2e3ee55d83</vt:lpwstr>
  </property>
  <property fmtid="{D5CDD505-2E9C-101B-9397-08002B2CF9AE}" pid="8" name="MSIP_Label_196e6675-c0a9-4fb4-90ba-9df2389b72e5_Removed">
    <vt:lpwstr>False</vt:lpwstr>
  </property>
  <property fmtid="{D5CDD505-2E9C-101B-9397-08002B2CF9AE}" pid="9" name="MSIP_Label_196e6675-c0a9-4fb4-90ba-9df2389b72e5_Extended_MSFT_Method">
    <vt:lpwstr>Standard</vt:lpwstr>
  </property>
  <property fmtid="{D5CDD505-2E9C-101B-9397-08002B2CF9AE}" pid="10" name="Sensitivity">
    <vt:lpwstr>UNCLASSIFIED</vt:lpwstr>
  </property>
</Properties>
</file>