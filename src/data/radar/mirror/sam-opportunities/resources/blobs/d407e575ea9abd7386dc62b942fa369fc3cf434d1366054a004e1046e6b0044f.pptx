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30" r:id="rId5"/>
    <p:sldMasterId id="2147483727" r:id="rId6"/>
    <p:sldMasterId id="2147483725" r:id="rId7"/>
  </p:sldMasterIdLst>
  <p:notesMasterIdLst>
    <p:notesMasterId r:id="rId22"/>
  </p:notesMasterIdLst>
  <p:handoutMasterIdLst>
    <p:handoutMasterId r:id="rId23"/>
  </p:handoutMasterIdLst>
  <p:sldIdLst>
    <p:sldId id="454" r:id="rId8"/>
    <p:sldId id="480" r:id="rId9"/>
    <p:sldId id="512" r:id="rId10"/>
    <p:sldId id="537" r:id="rId11"/>
    <p:sldId id="538" r:id="rId12"/>
    <p:sldId id="536" r:id="rId13"/>
    <p:sldId id="539" r:id="rId14"/>
    <p:sldId id="535" r:id="rId15"/>
    <p:sldId id="516" r:id="rId16"/>
    <p:sldId id="529" r:id="rId17"/>
    <p:sldId id="524" r:id="rId18"/>
    <p:sldId id="525" r:id="rId19"/>
    <p:sldId id="526" r:id="rId20"/>
    <p:sldId id="527" r:id="rId2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00CC"/>
    <a:srgbClr val="FFFF00"/>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7" autoAdjust="0"/>
    <p:restoredTop sz="94590" autoAdjust="0"/>
  </p:normalViewPr>
  <p:slideViewPr>
    <p:cSldViewPr>
      <p:cViewPr varScale="1">
        <p:scale>
          <a:sx n="104" d="100"/>
          <a:sy n="104" d="100"/>
        </p:scale>
        <p:origin x="1470" y="10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758E99F-C48A-4CC9-A7E5-8745441DF98A}" type="datetimeFigureOut">
              <a:rPr lang="en-US" smtClean="0"/>
              <a:t>10/22/2019</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C96F18F-AA4E-4C5C-8349-C9773A981DFA}" type="slidenum">
              <a:rPr lang="en-US" smtClean="0"/>
              <a:t>‹#›</a:t>
            </a:fld>
            <a:endParaRPr lang="en-US"/>
          </a:p>
        </p:txBody>
      </p:sp>
    </p:spTree>
    <p:extLst>
      <p:ext uri="{BB962C8B-B14F-4D97-AF65-F5344CB8AC3E}">
        <p14:creationId xmlns:p14="http://schemas.microsoft.com/office/powerpoint/2010/main" val="3403690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736" tIns="46368" rIns="92736" bIns="46368" rtlCol="0"/>
          <a:lstStyle>
            <a:lvl1pPr algn="l">
              <a:defRPr sz="1200"/>
            </a:lvl1pPr>
          </a:lstStyle>
          <a:p>
            <a:endParaRPr lang="en-US" dirty="0"/>
          </a:p>
        </p:txBody>
      </p:sp>
      <p:sp>
        <p:nvSpPr>
          <p:cNvPr id="3" name="Date Placeholder 2"/>
          <p:cNvSpPr>
            <a:spLocks noGrp="1"/>
          </p:cNvSpPr>
          <p:nvPr>
            <p:ph type="dt" idx="1"/>
          </p:nvPr>
        </p:nvSpPr>
        <p:spPr>
          <a:xfrm>
            <a:off x="3970940" y="0"/>
            <a:ext cx="3037840" cy="464820"/>
          </a:xfrm>
          <a:prstGeom prst="rect">
            <a:avLst/>
          </a:prstGeom>
        </p:spPr>
        <p:txBody>
          <a:bodyPr vert="horz" lIns="92736" tIns="46368" rIns="92736" bIns="46368" rtlCol="0"/>
          <a:lstStyle>
            <a:lvl1pPr algn="r">
              <a:defRPr sz="1200"/>
            </a:lvl1pPr>
          </a:lstStyle>
          <a:p>
            <a:fld id="{47802B59-CA50-4283-8B53-B06FA28FE7F4}" type="datetimeFigureOut">
              <a:rPr lang="en-US" smtClean="0"/>
              <a:pPr/>
              <a:t>10/22/2019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736" tIns="46368" rIns="92736" bIns="46368" rtlCol="0" anchor="ctr"/>
          <a:lstStyle/>
          <a:p>
            <a:endParaRPr lang="en-US" dirty="0"/>
          </a:p>
        </p:txBody>
      </p:sp>
      <p:sp>
        <p:nvSpPr>
          <p:cNvPr id="5" name="Notes Placeholder 4"/>
          <p:cNvSpPr>
            <a:spLocks noGrp="1"/>
          </p:cNvSpPr>
          <p:nvPr>
            <p:ph type="body" sz="quarter" idx="3"/>
          </p:nvPr>
        </p:nvSpPr>
        <p:spPr>
          <a:xfrm>
            <a:off x="701040" y="4415792"/>
            <a:ext cx="5608320" cy="4183380"/>
          </a:xfrm>
          <a:prstGeom prst="rect">
            <a:avLst/>
          </a:prstGeom>
        </p:spPr>
        <p:txBody>
          <a:bodyPr vert="horz" lIns="92736" tIns="46368" rIns="92736" bIns="4636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2736" tIns="46368" rIns="92736" bIns="463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736" tIns="46368" rIns="92736" bIns="46368"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574044-705B-4BA9-9528-EF24541C28D0}" type="slidenum">
              <a:rPr lang="en-US" smtClean="0"/>
              <a:pPr/>
              <a:t>1</a:t>
            </a:fld>
            <a:endParaRPr lang="en-US" dirty="0"/>
          </a:p>
        </p:txBody>
      </p:sp>
    </p:spTree>
    <p:extLst>
      <p:ext uri="{BB962C8B-B14F-4D97-AF65-F5344CB8AC3E}">
        <p14:creationId xmlns:p14="http://schemas.microsoft.com/office/powerpoint/2010/main" val="666591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Box 11"/>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3"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sp>
        <p:nvSpPr>
          <p:cNvPr id="15" name="Title 1"/>
          <p:cNvSpPr txBox="1">
            <a:spLocks/>
          </p:cNvSpPr>
          <p:nvPr userDrawn="1"/>
        </p:nvSpPr>
        <p:spPr>
          <a:xfrm>
            <a:off x="1628276" y="172563"/>
            <a:ext cx="3008376"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solidFill>
                  <a:prstClr val="white"/>
                </a:solidFill>
                <a:latin typeface="Franklin Gothic Medium Cond" panose="020B0606030402020204" pitchFamily="34" charset="0"/>
              </a:rPr>
              <a:t>U.S. Army Contracting </a:t>
            </a:r>
            <a:r>
              <a:rPr lang="en-US" sz="1400" dirty="0" smtClean="0">
                <a:solidFill>
                  <a:prstClr val="white"/>
                </a:solidFill>
                <a:latin typeface="Franklin Gothic Medium Cond" panose="020B0606030402020204" pitchFamily="34" charset="0"/>
              </a:rPr>
              <a:t>Command </a:t>
            </a:r>
          </a:p>
          <a:p>
            <a:r>
              <a:rPr lang="en-US" sz="1400" dirty="0" smtClean="0">
                <a:solidFill>
                  <a:prstClr val="white"/>
                </a:solidFill>
                <a:latin typeface="Franklin Gothic Medium Cond" panose="020B0606030402020204" pitchFamily="34" charset="0"/>
              </a:rPr>
              <a:t>Aberdeen </a:t>
            </a:r>
            <a:r>
              <a:rPr lang="en-US" sz="1400" dirty="0">
                <a:solidFill>
                  <a:prstClr val="white"/>
                </a:solidFill>
                <a:latin typeface="Franklin Gothic Medium Cond" panose="020B0606030402020204" pitchFamily="34" charset="0"/>
              </a:rPr>
              <a:t>Proving Ground</a:t>
            </a:r>
          </a:p>
        </p:txBody>
      </p:sp>
      <p:grpSp>
        <p:nvGrpSpPr>
          <p:cNvPr id="17" name="Group 16"/>
          <p:cNvGrpSpPr/>
          <p:nvPr userDrawn="1"/>
        </p:nvGrpSpPr>
        <p:grpSpPr>
          <a:xfrm>
            <a:off x="0" y="0"/>
            <a:ext cx="9144000" cy="1219200"/>
            <a:chOff x="0" y="0"/>
            <a:chExt cx="9144000" cy="121920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20" name="TextBox 19"/>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21"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spTree>
    <p:extLst>
      <p:ext uri="{BB962C8B-B14F-4D97-AF65-F5344CB8AC3E}">
        <p14:creationId xmlns:p14="http://schemas.microsoft.com/office/powerpoint/2010/main" val="325177489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5.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72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mailto:gwen.e.meadows.civ@mail.mi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mailto:peter.p.buckless.civ@mail.mil"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mailto:samantha.l.degele.civ@mail.mi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mailto:theresa.s.quick.civ@mail.mi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mailto:theresa.s.quick.civ@mail.mi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271828"/>
            <a:ext cx="1752600" cy="369332"/>
          </a:xfrm>
          <a:prstGeom prst="rect">
            <a:avLst/>
          </a:prstGeom>
          <a:noFill/>
        </p:spPr>
        <p:txBody>
          <a:bodyPr wrap="square" rtlCol="0">
            <a:spAutoFit/>
          </a:bodyPr>
          <a:lstStyle/>
          <a:p>
            <a:r>
              <a:rPr lang="en-US" sz="900" dirty="0" smtClean="0">
                <a:latin typeface="Arial" pitchFamily="34" charset="0"/>
                <a:cs typeface="Arial" pitchFamily="34" charset="0"/>
              </a:rPr>
              <a:t>Version Number 5</a:t>
            </a:r>
          </a:p>
          <a:p>
            <a:r>
              <a:rPr lang="en-US" sz="900" dirty="0" smtClean="0">
                <a:latin typeface="Arial" pitchFamily="34" charset="0"/>
                <a:cs typeface="Arial" pitchFamily="34" charset="0"/>
              </a:rPr>
              <a:t>As of Date: 27 Jun 2019</a:t>
            </a:r>
            <a:endParaRPr lang="en-US" sz="900" dirty="0">
              <a:latin typeface="Arial" pitchFamily="34" charset="0"/>
              <a:cs typeface="Arial" pitchFamily="34" charset="0"/>
            </a:endParaRPr>
          </a:p>
        </p:txBody>
      </p:sp>
      <p:sp>
        <p:nvSpPr>
          <p:cNvPr id="7" name="TextBox 6"/>
          <p:cNvSpPr txBox="1"/>
          <p:nvPr/>
        </p:nvSpPr>
        <p:spPr>
          <a:xfrm>
            <a:off x="-76200" y="3520953"/>
            <a:ext cx="9144000" cy="646331"/>
          </a:xfrm>
          <a:prstGeom prst="rect">
            <a:avLst/>
          </a:prstGeom>
          <a:noFill/>
        </p:spPr>
        <p:txBody>
          <a:bodyPr wrap="square" rtlCol="0">
            <a:spAutoFit/>
          </a:bodyPr>
          <a:lstStyle/>
          <a:p>
            <a:pPr algn="ctr"/>
            <a:r>
              <a:rPr lang="en-US" sz="3600" b="1" dirty="0" smtClean="0">
                <a:solidFill>
                  <a:srgbClr val="0000FF"/>
                </a:solidFill>
                <a:latin typeface="Arial" pitchFamily="34" charset="0"/>
                <a:cs typeface="Arial" pitchFamily="34" charset="0"/>
              </a:rPr>
              <a:t>ACC-APG Division D</a:t>
            </a:r>
            <a:endParaRPr lang="en-US" sz="3600" b="1" dirty="0">
              <a:solidFill>
                <a:srgbClr val="0000FF"/>
              </a:solidFill>
              <a:latin typeface="Arial" pitchFamily="34" charset="0"/>
              <a:cs typeface="Arial" pitchFamily="34" charset="0"/>
            </a:endParaRPr>
          </a:p>
        </p:txBody>
      </p:sp>
      <p:sp>
        <p:nvSpPr>
          <p:cNvPr id="11" name="Subtitle 8"/>
          <p:cNvSpPr>
            <a:spLocks noGrp="1"/>
          </p:cNvSpPr>
          <p:nvPr>
            <p:ph type="subTitle" idx="1"/>
          </p:nvPr>
        </p:nvSpPr>
        <p:spPr>
          <a:xfrm>
            <a:off x="17705" y="2197027"/>
            <a:ext cx="9126070" cy="876300"/>
          </a:xfrm>
        </p:spPr>
        <p:txBody>
          <a:bodyPr>
            <a:noAutofit/>
          </a:bodyPr>
          <a:lstStyle/>
          <a:p>
            <a:r>
              <a:rPr lang="en-US" sz="3200" b="1" dirty="0" smtClean="0"/>
              <a:t>ACC-APG </a:t>
            </a:r>
            <a:r>
              <a:rPr lang="en-US" sz="3200" b="1" dirty="0"/>
              <a:t>Competitive </a:t>
            </a:r>
            <a:r>
              <a:rPr lang="en-US" sz="3200" b="1" dirty="0" smtClean="0"/>
              <a:t>Industry </a:t>
            </a:r>
            <a:r>
              <a:rPr lang="en-US" sz="3200" b="1" dirty="0"/>
              <a:t>Updates</a:t>
            </a:r>
            <a:endParaRPr lang="en-US" sz="3200" b="1" dirty="0">
              <a:solidFill>
                <a:schemeClr val="tx1"/>
              </a:solidFill>
              <a:latin typeface="Arial" pitchFamily="34" charset="0"/>
              <a:cs typeface="Arial" pitchFamily="34" charset="0"/>
            </a:endParaRPr>
          </a:p>
        </p:txBody>
      </p:sp>
      <p:sp>
        <p:nvSpPr>
          <p:cNvPr id="12" name="TextBox 11"/>
          <p:cNvSpPr txBox="1"/>
          <p:nvPr/>
        </p:nvSpPr>
        <p:spPr>
          <a:xfrm>
            <a:off x="1524000" y="286158"/>
            <a:ext cx="5943600" cy="338554"/>
          </a:xfrm>
          <a:prstGeom prst="rect">
            <a:avLst/>
          </a:prstGeom>
          <a:noFill/>
          <a:effectLst/>
        </p:spPr>
        <p:txBody>
          <a:bodyPr wrap="square" rtlCol="0">
            <a:spAutoFit/>
          </a:bodyPr>
          <a:lstStyle/>
          <a:p>
            <a:pPr algn="ctr"/>
            <a:r>
              <a:rPr lang="en-US" sz="1600" b="1" i="1" dirty="0" smtClean="0">
                <a:solidFill>
                  <a:prstClr val="black"/>
                </a:solidFill>
                <a:latin typeface="Arial" pitchFamily="34" charset="0"/>
                <a:cs typeface="Arial" pitchFamily="34" charset="0"/>
              </a:rPr>
              <a:t>Army Contracting Command – Aberdeen Proving Ground</a:t>
            </a:r>
            <a:endParaRPr lang="en-US" sz="1600" b="1" i="1"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25672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a:t>
            </a:fld>
            <a:endParaRPr lang="en-US" sz="1000" dirty="0">
              <a:solidFill>
                <a:prstClr val="white"/>
              </a:solidFill>
            </a:endParaRPr>
          </a:p>
        </p:txBody>
      </p:sp>
      <p:sp>
        <p:nvSpPr>
          <p:cNvPr id="8" name="TextBox 8"/>
          <p:cNvSpPr txBox="1">
            <a:spLocks noChangeArrowheads="1"/>
          </p:cNvSpPr>
          <p:nvPr/>
        </p:nvSpPr>
        <p:spPr bwMode="auto">
          <a:xfrm>
            <a:off x="0" y="1066800"/>
            <a:ext cx="9144000" cy="338554"/>
          </a:xfrm>
          <a:prstGeom prst="rect">
            <a:avLst/>
          </a:prstGeom>
          <a:noFill/>
          <a:ln w="9525">
            <a:noFill/>
            <a:miter lim="800000"/>
            <a:headEnd/>
            <a:tailEnd/>
          </a:ln>
        </p:spPr>
        <p:txBody>
          <a:bodyPr wrap="square">
            <a:spAutoFit/>
          </a:bodyPr>
          <a:lstStyle/>
          <a:p>
            <a:pPr>
              <a:defRPr/>
            </a:pPr>
            <a:endParaRPr lang="en-US" sz="1600" b="1" dirty="0">
              <a:solidFill>
                <a:prstClr val="black"/>
              </a:solidFill>
              <a:latin typeface=" Arial"/>
            </a:endParaRPr>
          </a:p>
        </p:txBody>
      </p:sp>
      <p:sp>
        <p:nvSpPr>
          <p:cNvPr id="2" name="TextBox 1"/>
          <p:cNvSpPr txBox="1"/>
          <p:nvPr/>
        </p:nvSpPr>
        <p:spPr>
          <a:xfrm>
            <a:off x="838200" y="1722361"/>
            <a:ext cx="7620000" cy="2031325"/>
          </a:xfrm>
          <a:prstGeom prst="rect">
            <a:avLst/>
          </a:prstGeom>
          <a:noFill/>
        </p:spPr>
        <p:txBody>
          <a:bodyPr wrap="square" rtlCol="0">
            <a:spAutoFit/>
          </a:bodyPr>
          <a:lstStyle/>
          <a:p>
            <a:r>
              <a:rPr lang="en-US" dirty="0"/>
              <a:t>The following slides are for informational purposes ONLY. These are NOT formal solicitations / Requests for </a:t>
            </a:r>
            <a:r>
              <a:rPr lang="en-US" dirty="0" smtClean="0"/>
              <a:t>Proposals </a:t>
            </a:r>
            <a:r>
              <a:rPr lang="en-US" dirty="0"/>
              <a:t>(RFP)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p>
        </p:txBody>
      </p:sp>
    </p:spTree>
    <p:extLst>
      <p:ext uri="{BB962C8B-B14F-4D97-AF65-F5344CB8AC3E}">
        <p14:creationId xmlns:p14="http://schemas.microsoft.com/office/powerpoint/2010/main" val="694185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Aberdeen Test Center (ATC)</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smtClean="0">
                <a:solidFill>
                  <a:prstClr val="black"/>
                </a:solidFill>
                <a:latin typeface=" Arial"/>
              </a:rPr>
              <a:t>Aberdeen Test Support Services (ATSS)</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solidFill>
                  <a:prstClr val="black"/>
                </a:solidFill>
                <a:latin typeface=" Arial"/>
              </a:rPr>
              <a:t>Engineering and Technical Services in support of the Aberdeen Test Center</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W91CRB-15-D-0018</a:t>
            </a:r>
          </a:p>
          <a:p>
            <a:pPr>
              <a:defRPr/>
            </a:pPr>
            <a:r>
              <a:rPr lang="en-US" dirty="0">
                <a:solidFill>
                  <a:prstClr val="black"/>
                </a:solidFill>
                <a:latin typeface=" Arial"/>
              </a:rPr>
              <a:t>	</a:t>
            </a:r>
            <a:r>
              <a:rPr lang="en-US" dirty="0" smtClean="0">
                <a:solidFill>
                  <a:prstClr val="black"/>
                </a:solidFill>
                <a:latin typeface=" Arial"/>
              </a:rPr>
              <a:t>Incumbent Contractor:  Jacobs Technology, </a:t>
            </a:r>
            <a:r>
              <a:rPr lang="en-US" dirty="0" err="1" smtClean="0">
                <a:solidFill>
                  <a:prstClr val="black"/>
                </a:solidFill>
                <a:latin typeface=" Arial"/>
              </a:rPr>
              <a:t>Inc</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is expected to be unrestricted</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with FFP CLINs</a:t>
            </a:r>
          </a:p>
          <a:p>
            <a:pPr>
              <a:defRPr/>
            </a:pPr>
            <a:r>
              <a:rPr lang="en-US" u="sng" dirty="0" smtClean="0">
                <a:solidFill>
                  <a:prstClr val="black"/>
                </a:solidFill>
                <a:latin typeface=" Arial"/>
              </a:rPr>
              <a:t>ROM</a:t>
            </a:r>
            <a:r>
              <a:rPr lang="en-US" dirty="0" smtClean="0">
                <a:solidFill>
                  <a:prstClr val="black"/>
                </a:solidFill>
                <a:latin typeface=" Arial"/>
              </a:rPr>
              <a:t>:  </a:t>
            </a:r>
            <a:r>
              <a:rPr lang="en-US" dirty="0">
                <a:solidFill>
                  <a:prstClr val="black"/>
                </a:solidFill>
                <a:latin typeface=" Arial"/>
              </a:rPr>
              <a:t>$586M</a:t>
            </a:r>
          </a:p>
          <a:p>
            <a:pPr>
              <a:defRPr/>
            </a:pPr>
            <a:r>
              <a:rPr lang="en-US" u="sng" dirty="0" smtClean="0">
                <a:solidFill>
                  <a:prstClr val="black"/>
                </a:solidFill>
                <a:latin typeface=" Arial"/>
              </a:rPr>
              <a:t>Period </a:t>
            </a:r>
            <a:r>
              <a:rPr lang="en-US" u="sng" dirty="0" smtClean="0">
                <a:solidFill>
                  <a:prstClr val="black"/>
                </a:solidFill>
                <a:latin typeface=" Arial"/>
              </a:rPr>
              <a:t>of Performance</a:t>
            </a:r>
            <a:r>
              <a:rPr lang="en-US" dirty="0" smtClean="0">
                <a:solidFill>
                  <a:prstClr val="black"/>
                </a:solidFill>
                <a:latin typeface=" Arial"/>
              </a:rPr>
              <a:t>:  5 year ordering period, 7 year </a:t>
            </a:r>
            <a:r>
              <a:rPr lang="en-US" dirty="0" err="1" smtClean="0">
                <a:solidFill>
                  <a:prstClr val="black"/>
                </a:solidFill>
                <a:latin typeface=" Arial"/>
              </a:rPr>
              <a:t>PoP</a:t>
            </a:r>
            <a:endParaRPr lang="en-US" dirty="0" smtClean="0">
              <a:solidFill>
                <a:prstClr val="black"/>
              </a:solidFill>
              <a:latin typeface=" Arial"/>
            </a:endParaRP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latin typeface=" Arial"/>
              </a:rPr>
              <a:t>2</a:t>
            </a:r>
            <a:r>
              <a:rPr lang="en-US" dirty="0" smtClean="0">
                <a:latin typeface=" Arial"/>
              </a:rPr>
              <a:t>QFY20</a:t>
            </a:r>
            <a:endParaRPr lang="en-US" dirty="0" smtClean="0">
              <a:latin typeface=" Arial"/>
            </a:endParaRP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0825861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4</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Web Application Development</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non-personal services contract to provide </a:t>
            </a:r>
            <a:r>
              <a:rPr lang="en-US" dirty="0" smtClean="0">
                <a:latin typeface=" Arial"/>
              </a:rPr>
              <a:t>on-site </a:t>
            </a:r>
            <a:r>
              <a:rPr lang="en-US" dirty="0">
                <a:latin typeface=" Arial"/>
              </a:rPr>
              <a:t>Headquarters, Department of the Army (HQDA) G-3/5/7, Command and Control (C2), Business Application, Database and Web Maintenance Services.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W91CRB-13-D-0014</a:t>
            </a:r>
          </a:p>
          <a:p>
            <a:pPr>
              <a:defRPr/>
            </a:pPr>
            <a:r>
              <a:rPr lang="en-US" dirty="0" smtClean="0">
                <a:solidFill>
                  <a:prstClr val="black"/>
                </a:solidFill>
                <a:latin typeface=" Arial"/>
              </a:rPr>
              <a:t>	Incumbent Contractor:  SSB, Inc.</a:t>
            </a:r>
          </a:p>
          <a:p>
            <a:pPr>
              <a:defRPr/>
            </a:pPr>
            <a:r>
              <a:rPr lang="en-US" dirty="0" smtClean="0">
                <a:solidFill>
                  <a:prstClr val="black"/>
                </a:solidFill>
                <a:latin typeface=" Arial"/>
              </a:rPr>
              <a:t>	Solicitation </a:t>
            </a:r>
            <a:r>
              <a:rPr lang="en-US" dirty="0">
                <a:solidFill>
                  <a:prstClr val="black"/>
                </a:solidFill>
                <a:latin typeface=" Arial"/>
              </a:rPr>
              <a:t>Number:  W91CRB-18-R-0003</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posted on </a:t>
            </a:r>
            <a:r>
              <a:rPr lang="en-US" dirty="0" err="1" smtClean="0">
                <a:solidFill>
                  <a:prstClr val="black"/>
                </a:solidFill>
                <a:latin typeface=" Arial"/>
              </a:rPr>
              <a:t>FedBizOpps</a:t>
            </a:r>
            <a:r>
              <a:rPr lang="en-US" dirty="0" smtClean="0">
                <a:solidFill>
                  <a:prstClr val="black"/>
                </a:solidFill>
                <a:latin typeface=" Arial"/>
              </a:rPr>
              <a:t> as a small business set aside. </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ROM</a:t>
            </a:r>
            <a:r>
              <a:rPr lang="en-US" dirty="0" smtClean="0">
                <a:solidFill>
                  <a:prstClr val="black"/>
                </a:solidFill>
                <a:latin typeface=" Arial"/>
              </a:rPr>
              <a:t>:  $30M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1QFY20</a:t>
            </a:r>
          </a:p>
          <a:p>
            <a:pPr>
              <a:defRPr/>
            </a:pPr>
            <a:r>
              <a:rPr lang="en-US" u="sng" dirty="0" smtClean="0">
                <a:solidFill>
                  <a:prstClr val="black"/>
                </a:solidFill>
                <a:latin typeface=" Arial"/>
              </a:rPr>
              <a:t>Contracting Contact</a:t>
            </a:r>
            <a:r>
              <a:rPr lang="en-US" dirty="0" smtClean="0">
                <a:solidFill>
                  <a:prstClr val="black"/>
                </a:solidFill>
                <a:latin typeface=" Arial"/>
              </a:rPr>
              <a:t>:  ACC-APG</a:t>
            </a:r>
            <a:r>
              <a:rPr lang="en-US" dirty="0" smtClean="0">
                <a:latin typeface=" Arial"/>
              </a:rPr>
              <a:t>,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8716150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5</a:t>
            </a:fld>
            <a:endParaRPr lang="en-US" sz="1000" dirty="0">
              <a:solidFill>
                <a:schemeClr val="bg1"/>
              </a:solidFill>
            </a:endParaRPr>
          </a:p>
        </p:txBody>
      </p:sp>
      <p:sp>
        <p:nvSpPr>
          <p:cNvPr id="8" name="TextBox 8"/>
          <p:cNvSpPr txBox="1">
            <a:spLocks noChangeArrowheads="1"/>
          </p:cNvSpPr>
          <p:nvPr/>
        </p:nvSpPr>
        <p:spPr bwMode="auto">
          <a:xfrm>
            <a:off x="0" y="1066800"/>
            <a:ext cx="9144000" cy="5293757"/>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t>
            </a:r>
            <a:r>
              <a:rPr lang="fr-FR" dirty="0">
                <a:latin typeface=" Arial"/>
              </a:rPr>
              <a:t>Total </a:t>
            </a:r>
            <a:r>
              <a:rPr lang="fr-FR" dirty="0" err="1">
                <a:latin typeface=" Arial"/>
              </a:rPr>
              <a:t>Ammunition</a:t>
            </a:r>
            <a:r>
              <a:rPr lang="fr-FR" dirty="0">
                <a:latin typeface=" Arial"/>
              </a:rPr>
              <a:t> Management Information System </a:t>
            </a:r>
            <a:r>
              <a:rPr lang="en-US" dirty="0" smtClean="0">
                <a:latin typeface=" Arial"/>
              </a:rPr>
              <a:t>(TAMIS)</a:t>
            </a:r>
          </a:p>
          <a:p>
            <a:pPr>
              <a:defRPr/>
            </a:pPr>
            <a:endParaRPr lang="en-US" dirty="0" smtClean="0">
              <a:latin typeface=" Arial"/>
            </a:endParaRPr>
          </a:p>
          <a:p>
            <a:r>
              <a:rPr lang="en-US" u="sng" dirty="0" smtClean="0">
                <a:latin typeface=" Arial"/>
              </a:rPr>
              <a:t>Project Summary</a:t>
            </a:r>
            <a:r>
              <a:rPr lang="en-US" dirty="0" smtClean="0">
                <a:latin typeface=" Arial"/>
              </a:rPr>
              <a:t>:  </a:t>
            </a:r>
            <a:r>
              <a:rPr lang="en-US" dirty="0">
                <a:latin typeface=" Arial"/>
              </a:rPr>
              <a:t>Headquarters, Department of the Army (HQDA), G-3/5/7 Munitions Management </a:t>
            </a:r>
            <a:r>
              <a:rPr lang="en-US" dirty="0" smtClean="0">
                <a:latin typeface=" Arial"/>
              </a:rPr>
              <a:t>Office (</a:t>
            </a:r>
            <a:r>
              <a:rPr lang="en-US" dirty="0">
                <a:latin typeface=" Arial"/>
              </a:rPr>
              <a:t>DAMO-TRA) requires continued sustainment, software improvements, and </a:t>
            </a:r>
            <a:r>
              <a:rPr lang="en-US" dirty="0" smtClean="0">
                <a:latin typeface=" Arial"/>
              </a:rPr>
              <a:t>munitions management </a:t>
            </a:r>
            <a:r>
              <a:rPr lang="en-US" dirty="0">
                <a:latin typeface=" Arial"/>
              </a:rPr>
              <a:t>support for its Total Ammunition Management Information </a:t>
            </a:r>
            <a:r>
              <a:rPr lang="en-US" dirty="0" smtClean="0">
                <a:latin typeface=" Arial"/>
              </a:rPr>
              <a:t>System. </a:t>
            </a:r>
          </a:p>
          <a:p>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W91CRB-14-F-0015</a:t>
            </a:r>
          </a:p>
          <a:p>
            <a:pPr>
              <a:defRPr/>
            </a:pPr>
            <a:r>
              <a:rPr lang="en-US" dirty="0" smtClean="0">
                <a:latin typeface=" Arial"/>
              </a:rPr>
              <a:t>	Incumbent Contractor:  HP Enterprise Services, LLC. </a:t>
            </a:r>
          </a:p>
          <a:p>
            <a:pPr>
              <a:defRPr/>
            </a:pPr>
            <a:r>
              <a:rPr lang="en-US" dirty="0" smtClean="0">
                <a:latin typeface=" Arial"/>
              </a:rPr>
              <a:t>	Solicitation </a:t>
            </a:r>
            <a:r>
              <a:rPr lang="en-US" dirty="0">
                <a:latin typeface=" Arial"/>
              </a:rPr>
              <a:t>Number:  </a:t>
            </a:r>
            <a:r>
              <a:rPr lang="en-US" dirty="0" smtClean="0">
                <a:latin typeface=" Arial"/>
              </a:rPr>
              <a:t>W91CRB-19-R-0007</a:t>
            </a:r>
          </a:p>
          <a:p>
            <a:pPr>
              <a:defRPr/>
            </a:pPr>
            <a:endParaRPr lang="en-US" dirty="0">
              <a:latin typeface=" Arial"/>
            </a:endParaRPr>
          </a:p>
          <a:p>
            <a:pPr>
              <a:defRPr/>
            </a:pPr>
            <a:r>
              <a:rPr lang="en-US" u="sng" dirty="0" smtClean="0">
                <a:latin typeface=" Arial"/>
              </a:rPr>
              <a:t>Contract Type</a:t>
            </a:r>
            <a:r>
              <a:rPr lang="en-US" dirty="0" smtClean="0">
                <a:latin typeface=" Arial"/>
              </a:rPr>
              <a:t>:  FFP</a:t>
            </a:r>
          </a:p>
          <a:p>
            <a:pPr>
              <a:defRPr/>
            </a:pPr>
            <a:r>
              <a:rPr lang="en-US" u="sng" dirty="0" smtClean="0">
                <a:latin typeface=" Arial"/>
              </a:rPr>
              <a:t>ROM</a:t>
            </a:r>
            <a:r>
              <a:rPr lang="en-US" dirty="0" smtClean="0">
                <a:latin typeface=" Arial"/>
              </a:rPr>
              <a:t>:  $21M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a:t>
            </a:r>
            <a:r>
              <a:rPr lang="en-US" u="sng" dirty="0" smtClean="0">
                <a:latin typeface=" Arial"/>
              </a:rPr>
              <a:t>Release Date</a:t>
            </a:r>
            <a:r>
              <a:rPr lang="en-US" dirty="0" smtClean="0">
                <a:latin typeface=" Arial"/>
              </a:rPr>
              <a:t>:  1QFY20</a:t>
            </a:r>
          </a:p>
          <a:p>
            <a:pPr>
              <a:defRPr/>
            </a:pPr>
            <a:r>
              <a:rPr lang="en-US" u="sng" dirty="0" smtClean="0">
                <a:latin typeface=" Arial"/>
              </a:rPr>
              <a:t>Contracting Contact</a:t>
            </a:r>
            <a:r>
              <a:rPr lang="en-US" dirty="0" smtClean="0">
                <a:latin typeface=" Arial"/>
              </a:rPr>
              <a:t>:  ACC-APG, </a:t>
            </a:r>
            <a:r>
              <a:rPr lang="en-US" dirty="0" smtClean="0">
                <a:latin typeface=" Arial"/>
              </a:rPr>
              <a:t>Gwen Meadows, </a:t>
            </a:r>
            <a:r>
              <a:rPr lang="en-US" dirty="0" smtClean="0">
                <a:latin typeface="Arial" panose="020B0604020202020204" pitchFamily="34" charset="0"/>
                <a:cs typeface="Arial" panose="020B0604020202020204" pitchFamily="34" charset="0"/>
              </a:rPr>
              <a:t>KO, </a:t>
            </a:r>
            <a:r>
              <a:rPr lang="en-US" dirty="0">
                <a:latin typeface="Arial" panose="020B0604020202020204" pitchFamily="34" charset="0"/>
                <a:cs typeface="Arial" panose="020B0604020202020204" pitchFamily="34" charset="0"/>
                <a:hlinkClick r:id="rId2"/>
              </a:rPr>
              <a:t>gwen.e.meadows.civ</a:t>
            </a:r>
            <a:r>
              <a:rPr lang="en-US" dirty="0" smtClean="0">
                <a:latin typeface="Arial" panose="020B0604020202020204" pitchFamily="34" charset="0"/>
                <a:cs typeface="Arial" panose="020B0604020202020204" pitchFamily="34" charset="0"/>
                <a:hlinkClick r:id="rId2"/>
              </a:rPr>
              <a:t>@mail.mil</a:t>
            </a:r>
            <a:r>
              <a:rPr lang="en-US" dirty="0" smtClean="0">
                <a:latin typeface="Arial" panose="020B0604020202020204" pitchFamily="34" charset="0"/>
                <a:cs typeface="Arial" panose="020B0604020202020204" pitchFamily="34" charset="0"/>
              </a:rPr>
              <a:t> </a:t>
            </a:r>
            <a:endParaRPr lang="en-US" dirty="0" smtClean="0">
              <a:latin typeface="Arial" panose="020B0604020202020204" pitchFamily="34" charset="0"/>
              <a:cs typeface="Arial" panose="020B0604020202020204" pitchFamily="34" charset="0"/>
            </a:endParaRPr>
          </a:p>
          <a:p>
            <a:pPr>
              <a:defRPr/>
            </a:pPr>
            <a:endParaRPr lang="en-US" b="1" dirty="0" smtClean="0">
              <a:latin typeface="Arial" panose="020B0604020202020204" pitchFamily="34" charset="0"/>
              <a:cs typeface="Arial" panose="020B0604020202020204" pitchFamily="34" charset="0"/>
            </a:endParaRPr>
          </a:p>
          <a:p>
            <a:pPr>
              <a:defRPr/>
            </a:pPr>
            <a:r>
              <a:rPr lang="en-US" sz="1600" b="1" dirty="0" smtClean="0">
                <a:latin typeface=" Arial"/>
              </a:rPr>
              <a:t>*</a:t>
            </a: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30153321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6</a:t>
            </a:fld>
            <a:endParaRPr lang="en-US" sz="1000" dirty="0">
              <a:solidFill>
                <a:schemeClr val="bg1"/>
              </a:solidFill>
            </a:endParaRPr>
          </a:p>
        </p:txBody>
      </p:sp>
      <p:sp>
        <p:nvSpPr>
          <p:cNvPr id="5" name="TextBox 8"/>
          <p:cNvSpPr txBox="1">
            <a:spLocks noChangeArrowheads="1"/>
          </p:cNvSpPr>
          <p:nvPr/>
        </p:nvSpPr>
        <p:spPr bwMode="auto">
          <a:xfrm>
            <a:off x="0" y="1066800"/>
            <a:ext cx="9144000" cy="546303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Training Models</a:t>
            </a:r>
          </a:p>
          <a:p>
            <a:pPr>
              <a:defRPr/>
            </a:pPr>
            <a:endParaRPr lang="en-US" dirty="0" smtClean="0">
              <a:latin typeface=" Arial"/>
            </a:endParaRPr>
          </a:p>
          <a:p>
            <a:r>
              <a:rPr lang="en-US" u="sng" dirty="0" smtClean="0">
                <a:latin typeface=" Arial"/>
              </a:rPr>
              <a:t>Project Summary</a:t>
            </a:r>
            <a:r>
              <a:rPr lang="en-US" dirty="0" smtClean="0">
                <a:latin typeface=" Arial"/>
              </a:rPr>
              <a:t>:  </a:t>
            </a:r>
            <a:r>
              <a:rPr lang="en-US" dirty="0">
                <a:latin typeface="Arial" panose="020B0604020202020204" pitchFamily="34" charset="0"/>
                <a:cs typeface="Arial" panose="020B0604020202020204" pitchFamily="34" charset="0"/>
              </a:rPr>
              <a:t>The Deputy Chief of Staff (DCS), </a:t>
            </a:r>
            <a:r>
              <a:rPr lang="en-US" dirty="0">
                <a:latin typeface=" Arial"/>
                <a:cs typeface="Arial" panose="020B0604020202020204" pitchFamily="34" charset="0"/>
              </a:rPr>
              <a:t>G-3/5/7 </a:t>
            </a:r>
            <a:r>
              <a:rPr lang="en-US" dirty="0">
                <a:latin typeface=" Arial"/>
              </a:rPr>
              <a:t>is the functional proponent for Army Training and for strategic resourcing within the framework of the Planning, Programming, Budgeting, and Execution (PPBE) process.  The G-3/7 has sponsored the development of a suite of software applications to answer these questions.  In this capacity, the G-3/7 Training Directorate provides oversight and management for the training resource applications developed and supported outside HQDA.</a:t>
            </a: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W91CRB-17-F-0006</a:t>
            </a:r>
          </a:p>
          <a:p>
            <a:pPr>
              <a:defRPr/>
            </a:pPr>
            <a:r>
              <a:rPr lang="en-US" dirty="0" smtClean="0">
                <a:latin typeface=" Arial"/>
              </a:rPr>
              <a:t>	Incumbent Contractor:  Technical and Project Engineer</a:t>
            </a:r>
          </a:p>
          <a:p>
            <a:pPr>
              <a:defRPr/>
            </a:pPr>
            <a:r>
              <a:rPr lang="en-US" dirty="0" smtClean="0">
                <a:latin typeface=" Arial"/>
              </a:rPr>
              <a:t>	Solicitation </a:t>
            </a:r>
            <a:r>
              <a:rPr lang="en-US" dirty="0">
                <a:latin typeface=" Arial"/>
              </a:rPr>
              <a:t>Number:  </a:t>
            </a:r>
            <a:r>
              <a:rPr lang="en-US" dirty="0" smtClean="0">
                <a:latin typeface=" Arial"/>
              </a:rPr>
              <a:t>W91CRB-19-R-0077</a:t>
            </a:r>
          </a:p>
          <a:p>
            <a:pPr>
              <a:defRPr/>
            </a:pPr>
            <a:endParaRPr lang="en-US" dirty="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$35M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Solicitation Close Date</a:t>
            </a:r>
            <a:r>
              <a:rPr lang="en-US" dirty="0" smtClean="0">
                <a:latin typeface=" Arial"/>
              </a:rPr>
              <a:t>:  </a:t>
            </a:r>
            <a:r>
              <a:rPr lang="en-US" dirty="0" smtClean="0">
                <a:latin typeface=" Arial"/>
              </a:rPr>
              <a:t>2QFY20</a:t>
            </a:r>
            <a:endParaRPr lang="en-US" dirty="0" smtClean="0">
              <a:latin typeface=" Arial"/>
            </a:endParaRPr>
          </a:p>
          <a:p>
            <a:pPr>
              <a:defRPr/>
            </a:pPr>
            <a:r>
              <a:rPr lang="en-US" u="sng" dirty="0" smtClean="0">
                <a:latin typeface=" Arial"/>
              </a:rPr>
              <a:t>Contracting Contact</a:t>
            </a:r>
            <a:r>
              <a:rPr lang="en-US" dirty="0" smtClean="0">
                <a:latin typeface=" Arial"/>
              </a:rPr>
              <a:t>:  ACC-APG, Alex </a:t>
            </a:r>
            <a:r>
              <a:rPr lang="en-US" dirty="0" smtClean="0">
                <a:latin typeface=" Arial"/>
              </a:rPr>
              <a:t>Obriwin, </a:t>
            </a:r>
            <a:r>
              <a:rPr lang="en-US" dirty="0" smtClean="0">
                <a:latin typeface=" Arial"/>
              </a:rPr>
              <a:t>KO, </a:t>
            </a:r>
            <a:r>
              <a:rPr lang="en-US" dirty="0" smtClean="0">
                <a:latin typeface=" Arial"/>
                <a:hlinkClick r:id="rId2"/>
              </a:rPr>
              <a:t>alexander.s.obriwin.civ@mail.mil</a:t>
            </a:r>
            <a:r>
              <a:rPr lang="en-US" dirty="0" smtClean="0">
                <a:latin typeface=" Arial"/>
              </a:rPr>
              <a:t> </a:t>
            </a:r>
            <a:endParaRPr lang="en-US" dirty="0" smtClean="0">
              <a:latin typeface=" Arial"/>
            </a:endParaRP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964628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300" b="1" dirty="0">
                <a:solidFill>
                  <a:schemeClr val="bg1"/>
                </a:solidFill>
              </a:rPr>
              <a:t>Headquarters Department of the Army (HQDA), G-8</a:t>
            </a: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7</a:t>
            </a:fld>
            <a:endParaRPr lang="en-US" sz="1000" dirty="0">
              <a:solidFill>
                <a:schemeClr val="bg1"/>
              </a:solidFill>
            </a:endParaRPr>
          </a:p>
        </p:txBody>
      </p:sp>
      <p:sp>
        <p:nvSpPr>
          <p:cNvPr id="8" name="TextBox 8"/>
          <p:cNvSpPr txBox="1">
            <a:spLocks noChangeArrowheads="1"/>
          </p:cNvSpPr>
          <p:nvPr/>
        </p:nvSpPr>
        <p:spPr bwMode="auto">
          <a:xfrm>
            <a:off x="0" y="1066800"/>
            <a:ext cx="9144000" cy="550920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Equipping Enterprise System</a:t>
            </a:r>
          </a:p>
          <a:p>
            <a:r>
              <a:rPr lang="en-US" u="sng" dirty="0" smtClean="0">
                <a:latin typeface=" Arial"/>
              </a:rPr>
              <a:t>Project Summary</a:t>
            </a:r>
            <a:r>
              <a:rPr lang="en-US" dirty="0" smtClean="0">
                <a:latin typeface=" Arial"/>
              </a:rPr>
              <a:t>:  </a:t>
            </a:r>
            <a:r>
              <a:rPr lang="en-US" dirty="0">
                <a:latin typeface=" Arial"/>
              </a:rPr>
              <a:t>The contractor </a:t>
            </a:r>
            <a:r>
              <a:rPr lang="en-US" dirty="0" smtClean="0">
                <a:latin typeface=" Arial"/>
              </a:rPr>
              <a:t>shall provide non-personal </a:t>
            </a:r>
            <a:r>
              <a:rPr lang="en-US" dirty="0">
                <a:latin typeface=" Arial"/>
              </a:rPr>
              <a:t>services necessary to perform database management</a:t>
            </a:r>
            <a:r>
              <a:rPr lang="en-US" dirty="0" smtClean="0">
                <a:latin typeface=" Arial"/>
              </a:rPr>
              <a:t>, software </a:t>
            </a:r>
            <a:r>
              <a:rPr lang="en-US" dirty="0">
                <a:latin typeface=" Arial"/>
              </a:rPr>
              <a:t>development and integration, and business process development except for those items specified </a:t>
            </a:r>
            <a:r>
              <a:rPr lang="en-US" dirty="0" smtClean="0">
                <a:latin typeface=" Arial"/>
              </a:rPr>
              <a:t>as Government </a:t>
            </a:r>
            <a:r>
              <a:rPr lang="en-US" dirty="0">
                <a:latin typeface=" Arial"/>
              </a:rPr>
              <a:t>furnished property (GFP) or services, in support of Headquarters Department of the </a:t>
            </a:r>
            <a:r>
              <a:rPr lang="en-US" dirty="0" smtClean="0">
                <a:latin typeface=" Arial"/>
              </a:rPr>
              <a:t>Army (</a:t>
            </a:r>
            <a:r>
              <a:rPr lang="en-US" dirty="0">
                <a:latin typeface=" Arial"/>
              </a:rPr>
              <a:t>HQDA), G-8 Force Development (FD) and other HQDA </a:t>
            </a:r>
            <a:r>
              <a:rPr lang="en-US" dirty="0" smtClean="0">
                <a:latin typeface=" Arial"/>
              </a:rPr>
              <a:t>agencies.</a:t>
            </a:r>
          </a:p>
          <a:p>
            <a:endParaRPr lang="en-US"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W91CRB-15-C-0023</a:t>
            </a:r>
          </a:p>
          <a:p>
            <a:pPr>
              <a:defRPr/>
            </a:pPr>
            <a:r>
              <a:rPr lang="en-US" dirty="0" smtClean="0">
                <a:latin typeface=" Arial"/>
              </a:rPr>
              <a:t>	Incumbent Contractor:  Deloitte Consulting</a:t>
            </a:r>
          </a:p>
          <a:p>
            <a:pPr>
              <a:defRPr/>
            </a:pPr>
            <a:r>
              <a:rPr lang="en-US" dirty="0" smtClean="0">
                <a:latin typeface=" Arial"/>
              </a:rPr>
              <a:t>	Solicitation </a:t>
            </a:r>
            <a:r>
              <a:rPr lang="en-US" dirty="0">
                <a:latin typeface=" Arial"/>
              </a:rPr>
              <a:t>Number:  </a:t>
            </a:r>
            <a:r>
              <a:rPr lang="en-US" dirty="0" smtClean="0">
                <a:latin typeface=" Arial"/>
              </a:rPr>
              <a:t>W91CRB-19-R-0013</a:t>
            </a:r>
          </a:p>
          <a:p>
            <a:pPr>
              <a:defRPr/>
            </a:pPr>
            <a:endParaRPr lang="en-US" sz="800" dirty="0" smtClean="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CPFF and FFP</a:t>
            </a:r>
          </a:p>
          <a:p>
            <a:pPr>
              <a:defRPr/>
            </a:pPr>
            <a:r>
              <a:rPr lang="en-US" u="sng" dirty="0" smtClean="0">
                <a:latin typeface=" Arial"/>
              </a:rPr>
              <a:t>ROM</a:t>
            </a:r>
            <a:r>
              <a:rPr lang="en-US" dirty="0" smtClean="0">
                <a:latin typeface=" Arial"/>
              </a:rPr>
              <a:t>:  $</a:t>
            </a:r>
            <a:r>
              <a:rPr lang="en-US" dirty="0">
                <a:latin typeface=" Arial"/>
              </a:rPr>
              <a:t>4</a:t>
            </a:r>
            <a:r>
              <a:rPr lang="en-US" dirty="0" smtClean="0">
                <a:latin typeface=" Arial"/>
              </a:rPr>
              <a:t>5M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1QFY20</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endParaRPr lang="en-US" sz="1600" b="1"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7403218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173184"/>
            <a:ext cx="72390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smtClean="0">
                <a:solidFill>
                  <a:schemeClr val="bg1"/>
                </a:solidFill>
              </a:rPr>
              <a:t>Deputy Assistant Secretary of the Army for Defense Exports and Cooperation (DASA DEC)</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8</a:t>
            </a:fld>
            <a:endParaRPr lang="en-US" sz="1000" dirty="0">
              <a:solidFill>
                <a:schemeClr val="bg1"/>
              </a:solidFill>
            </a:endParaRPr>
          </a:p>
        </p:txBody>
      </p:sp>
      <p:sp>
        <p:nvSpPr>
          <p:cNvPr id="8" name="TextBox 8"/>
          <p:cNvSpPr txBox="1">
            <a:spLocks noChangeArrowheads="1"/>
          </p:cNvSpPr>
          <p:nvPr/>
        </p:nvSpPr>
        <p:spPr bwMode="auto">
          <a:xfrm>
            <a:off x="0" y="1066800"/>
            <a:ext cx="9144000" cy="538609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Consolidated Security Cooperation Support</a:t>
            </a:r>
          </a:p>
          <a:p>
            <a:r>
              <a:rPr lang="en-US" u="sng" dirty="0" smtClean="0">
                <a:latin typeface=" Arial"/>
              </a:rPr>
              <a:t>Project Summary</a:t>
            </a:r>
            <a:r>
              <a:rPr lang="en-US" dirty="0" smtClean="0">
                <a:latin typeface=" Arial"/>
              </a:rPr>
              <a:t>:  </a:t>
            </a:r>
            <a:r>
              <a:rPr lang="en-US" sz="1400" dirty="0">
                <a:latin typeface=" Arial"/>
              </a:rPr>
              <a:t>The contractor </a:t>
            </a:r>
            <a:r>
              <a:rPr lang="en-US" sz="1400" dirty="0" smtClean="0">
                <a:latin typeface=" Arial"/>
              </a:rPr>
              <a:t>shall provide non-personal </a:t>
            </a:r>
            <a:r>
              <a:rPr lang="en-US" sz="1400" dirty="0">
                <a:latin typeface=" Arial"/>
              </a:rPr>
              <a:t>services </a:t>
            </a:r>
            <a:r>
              <a:rPr lang="en-US" sz="1400" dirty="0" smtClean="0">
                <a:latin typeface=" Arial"/>
              </a:rPr>
              <a:t>in </a:t>
            </a:r>
            <a:r>
              <a:rPr lang="en-US" sz="1400" dirty="0">
                <a:latin typeface=" Arial"/>
              </a:rPr>
              <a:t>support of the</a:t>
            </a:r>
          </a:p>
          <a:p>
            <a:r>
              <a:rPr lang="en-US" sz="1400" dirty="0">
                <a:latin typeface=" Arial"/>
              </a:rPr>
              <a:t>Deputy Assistant Secretary of the Army for Defense Exports and Cooperation (</a:t>
            </a:r>
            <a:r>
              <a:rPr lang="en-US" sz="1400" dirty="0" smtClean="0">
                <a:latin typeface=" Arial"/>
              </a:rPr>
              <a:t>DASA DE&amp;C</a:t>
            </a:r>
            <a:r>
              <a:rPr lang="en-US" sz="1400" dirty="0">
                <a:latin typeface=" Arial"/>
              </a:rPr>
              <a:t>) and various offices within the Army Staff and/or the Army Secretariat, </a:t>
            </a:r>
            <a:r>
              <a:rPr lang="en-US" sz="1400" dirty="0" smtClean="0">
                <a:latin typeface=" Arial"/>
              </a:rPr>
              <a:t>Program Executive </a:t>
            </a:r>
            <a:r>
              <a:rPr lang="en-US" sz="1400" dirty="0">
                <a:latin typeface=" Arial"/>
              </a:rPr>
              <a:t>Office/Program Management Office (PEO/PM), Army Major Commands, </a:t>
            </a:r>
            <a:r>
              <a:rPr lang="en-US" sz="1400" dirty="0" smtClean="0">
                <a:latin typeface=" Arial"/>
              </a:rPr>
              <a:t>Joint Staff </a:t>
            </a:r>
            <a:r>
              <a:rPr lang="en-US" sz="1400" dirty="0">
                <a:latin typeface=" Arial"/>
              </a:rPr>
              <a:t>and DoD agencies to include, but not limited to the (a) assessment and </a:t>
            </a:r>
            <a:r>
              <a:rPr lang="en-US" sz="1400" dirty="0" smtClean="0">
                <a:latin typeface=" Arial"/>
              </a:rPr>
              <a:t>oversight of </a:t>
            </a:r>
            <a:r>
              <a:rPr lang="en-US" sz="1400" dirty="0">
                <a:latin typeface=" Arial"/>
              </a:rPr>
              <a:t>Army FMS Campaign Plans, (b) security cooperation program policy preparation, (c</a:t>
            </a:r>
            <a:r>
              <a:rPr lang="en-US" sz="1400" dirty="0" smtClean="0">
                <a:latin typeface=" Arial"/>
              </a:rPr>
              <a:t>) technology </a:t>
            </a:r>
            <a:r>
              <a:rPr lang="en-US" sz="1400" dirty="0">
                <a:latin typeface=" Arial"/>
              </a:rPr>
              <a:t>transfer assessments, (d) maintaining the FMS Policy Library </a:t>
            </a:r>
            <a:r>
              <a:rPr lang="en-US" sz="1400" dirty="0" smtClean="0">
                <a:latin typeface=" Arial"/>
              </a:rPr>
              <a:t>and databases</a:t>
            </a:r>
            <a:r>
              <a:rPr lang="en-US" sz="1400" dirty="0">
                <a:latin typeface=" Arial"/>
              </a:rPr>
              <a:t>, (e) supporting /utilizing various Title 10 activities, (f) </a:t>
            </a:r>
            <a:r>
              <a:rPr lang="en-US" sz="1400" dirty="0" smtClean="0">
                <a:latin typeface=" Arial"/>
              </a:rPr>
              <a:t>organizing/hosting meetings </a:t>
            </a:r>
            <a:r>
              <a:rPr lang="en-US" sz="1400" dirty="0">
                <a:latin typeface=" Arial"/>
              </a:rPr>
              <a:t>and outreach activities, (g) strategic planning and analytical services, (h</a:t>
            </a:r>
            <a:r>
              <a:rPr lang="en-US" sz="1400" dirty="0" smtClean="0">
                <a:latin typeface=" Arial"/>
              </a:rPr>
              <a:t>) disclosure/</a:t>
            </a:r>
            <a:r>
              <a:rPr lang="en-US" sz="1400" dirty="0" err="1" smtClean="0">
                <a:latin typeface=" Arial"/>
              </a:rPr>
              <a:t>releasability</a:t>
            </a:r>
            <a:r>
              <a:rPr lang="en-US" sz="1400" dirty="0" smtClean="0">
                <a:latin typeface=" Arial"/>
              </a:rPr>
              <a:t> </a:t>
            </a:r>
            <a:r>
              <a:rPr lang="en-US" sz="1400" dirty="0">
                <a:latin typeface=" Arial"/>
              </a:rPr>
              <a:t>support, (i) policy preparation and (j) drafting disclosure </a:t>
            </a:r>
            <a:r>
              <a:rPr lang="en-US" sz="1400" dirty="0" smtClean="0">
                <a:latin typeface=" Arial"/>
              </a:rPr>
              <a:t>support documentation</a:t>
            </a:r>
            <a:r>
              <a:rPr lang="en-US" sz="1400" dirty="0">
                <a:latin typeface=" Arial"/>
              </a:rPr>
              <a:t>.</a:t>
            </a:r>
            <a:endParaRPr lang="en-US" sz="14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W91CRB-15-C-0021</a:t>
            </a:r>
          </a:p>
          <a:p>
            <a:pPr>
              <a:defRPr/>
            </a:pPr>
            <a:r>
              <a:rPr lang="en-US" dirty="0" smtClean="0">
                <a:latin typeface=" Arial"/>
              </a:rPr>
              <a:t>	Incumbent Contractor:  General Dynamics Information Technology</a:t>
            </a:r>
          </a:p>
          <a:p>
            <a:pPr>
              <a:defRPr/>
            </a:pPr>
            <a:r>
              <a:rPr lang="en-US" dirty="0" smtClean="0">
                <a:latin typeface=" Arial"/>
              </a:rPr>
              <a:t>	Solicitation </a:t>
            </a:r>
            <a:r>
              <a:rPr lang="en-US" dirty="0">
                <a:latin typeface=" Arial"/>
              </a:rPr>
              <a:t>Number:  </a:t>
            </a:r>
            <a:r>
              <a:rPr lang="en-US" dirty="0" smtClean="0">
                <a:latin typeface=" Arial"/>
              </a:rPr>
              <a:t>W91CRB-19-R-0016</a:t>
            </a:r>
          </a:p>
          <a:p>
            <a:pPr>
              <a:defRPr/>
            </a:pPr>
            <a:endParaRPr lang="en-US" sz="800" dirty="0" smtClean="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CPFF </a:t>
            </a:r>
          </a:p>
          <a:p>
            <a:pPr>
              <a:defRPr/>
            </a:pPr>
            <a:r>
              <a:rPr lang="en-US" u="sng" dirty="0" smtClean="0">
                <a:latin typeface=" Arial"/>
              </a:rPr>
              <a:t>ROM</a:t>
            </a:r>
            <a:r>
              <a:rPr lang="en-US" dirty="0" smtClean="0">
                <a:latin typeface=" Arial"/>
              </a:rPr>
              <a:t>:  $37M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Solicitation </a:t>
            </a:r>
            <a:r>
              <a:rPr lang="en-US" u="sng" dirty="0" smtClean="0">
                <a:latin typeface=" Arial"/>
              </a:rPr>
              <a:t>Release Date</a:t>
            </a:r>
            <a:r>
              <a:rPr lang="en-US" dirty="0" smtClean="0">
                <a:latin typeface=" Arial"/>
              </a:rPr>
              <a:t>:  4QFY19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8878425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9</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Soldier Borne Sensors (SBS)</a:t>
            </a:r>
          </a:p>
          <a:p>
            <a:pPr>
              <a:defRPr/>
            </a:pPr>
            <a:r>
              <a:rPr lang="en-US" u="sng" dirty="0">
                <a:solidFill>
                  <a:prstClr val="black"/>
                </a:solidFill>
                <a:latin typeface=" Arial"/>
              </a:rPr>
              <a:t>Project Summary: </a:t>
            </a:r>
            <a:r>
              <a:rPr lang="en-US" dirty="0">
                <a:solidFill>
                  <a:prstClr val="black"/>
                </a:solidFill>
                <a:latin typeface=" Arial"/>
              </a:rPr>
              <a:t>The </a:t>
            </a:r>
            <a:r>
              <a:rPr lang="en-US" dirty="0" smtClean="0">
                <a:solidFill>
                  <a:prstClr val="black"/>
                </a:solidFill>
                <a:latin typeface=" Arial"/>
              </a:rPr>
              <a:t>SBS provides </a:t>
            </a:r>
            <a:r>
              <a:rPr lang="en-US" dirty="0">
                <a:solidFill>
                  <a:prstClr val="black"/>
                </a:solidFill>
                <a:latin typeface=" Arial"/>
              </a:rPr>
              <a:t>a near term solution to three Army Warfighting Challenges (AWFCs) primarily to enhance the lethality and force protection. The initial increment of the SBS provides a near term solution to address the AWFCs with mobile sensors that provide the Squad with an organic, “quick look” capability to scan larger operational areas without the delay of coordinating for non-organic assets.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p>
          <a:p>
            <a:pPr>
              <a:defRPr/>
            </a:pPr>
            <a:r>
              <a:rPr lang="en-US" dirty="0" smtClean="0">
                <a:solidFill>
                  <a:prstClr val="black"/>
                </a:solidFill>
                <a:latin typeface=" Arial"/>
              </a:rPr>
              <a:t>	Contract Number:  N/A</a:t>
            </a:r>
          </a:p>
          <a:p>
            <a:pPr>
              <a:defRPr/>
            </a:pPr>
            <a:r>
              <a:rPr lang="en-US" dirty="0" smtClean="0">
                <a:solidFill>
                  <a:prstClr val="black"/>
                </a:solidFill>
                <a:latin typeface=" Arial"/>
              </a:rPr>
              <a:t>	Incumbent Contractor: N/A</a:t>
            </a:r>
          </a:p>
          <a:p>
            <a:pPr>
              <a:defRPr/>
            </a:pPr>
            <a:endParaRPr lang="en-US" dirty="0" smtClean="0">
              <a:solidFill>
                <a:prstClr val="black"/>
              </a:solidFill>
              <a:latin typeface=" Arial"/>
            </a:endParaRPr>
          </a:p>
          <a:p>
            <a:pPr>
              <a:defRPr/>
            </a:pPr>
            <a:r>
              <a:rPr lang="en-US" u="sng" dirty="0">
                <a:solidFill>
                  <a:prstClr val="black"/>
                </a:solidFill>
                <a:latin typeface=" Arial"/>
              </a:rPr>
              <a:t>Contract Type</a:t>
            </a:r>
            <a:r>
              <a:rPr lang="en-US" dirty="0">
                <a:solidFill>
                  <a:prstClr val="black"/>
                </a:solidFill>
                <a:latin typeface=" Arial"/>
              </a:rPr>
              <a:t>:  OTA or FAR based contract</a:t>
            </a:r>
          </a:p>
          <a:p>
            <a:pPr>
              <a:defRPr/>
            </a:pPr>
            <a:r>
              <a:rPr lang="en-US" u="sng" dirty="0">
                <a:solidFill>
                  <a:prstClr val="black"/>
                </a:solidFill>
                <a:latin typeface=" Arial"/>
              </a:rPr>
              <a:t>ROM</a:t>
            </a:r>
            <a:r>
              <a:rPr lang="en-US" dirty="0">
                <a:solidFill>
                  <a:prstClr val="black"/>
                </a:solidFill>
                <a:latin typeface=" Arial"/>
              </a:rPr>
              <a:t>:  $6M</a:t>
            </a:r>
          </a:p>
          <a:p>
            <a:pPr>
              <a:defRPr/>
            </a:pPr>
            <a:r>
              <a:rPr lang="en-US" u="sng" dirty="0">
                <a:solidFill>
                  <a:prstClr val="black"/>
                </a:solidFill>
                <a:latin typeface=" Arial"/>
              </a:rPr>
              <a:t>Period of Performance</a:t>
            </a:r>
            <a:r>
              <a:rPr lang="en-US" dirty="0">
                <a:solidFill>
                  <a:prstClr val="black"/>
                </a:solidFill>
                <a:latin typeface=" Arial"/>
              </a:rPr>
              <a:t>:  TBD</a:t>
            </a:r>
          </a:p>
          <a:p>
            <a:pPr>
              <a:defRPr/>
            </a:pPr>
            <a:r>
              <a:rPr lang="en-US" u="sng" dirty="0">
                <a:solidFill>
                  <a:prstClr val="black"/>
                </a:solidFill>
                <a:latin typeface=" Arial"/>
              </a:rPr>
              <a:t>Estimated Solicitation Release Date</a:t>
            </a:r>
            <a:r>
              <a:rPr lang="en-US" dirty="0">
                <a:solidFill>
                  <a:prstClr val="black"/>
                </a:solidFill>
                <a:latin typeface=" Arial"/>
              </a:rPr>
              <a:t>:  TBD</a:t>
            </a:r>
          </a:p>
          <a:p>
            <a:pPr>
              <a:defRPr/>
            </a:pPr>
            <a:r>
              <a:rPr lang="en-US" u="sng" dirty="0">
                <a:solidFill>
                  <a:prstClr val="black"/>
                </a:solidFill>
                <a:latin typeface=" Arial"/>
              </a:rPr>
              <a:t>Contracting Contact</a:t>
            </a:r>
            <a:r>
              <a:rPr lang="en-US" dirty="0">
                <a:solidFill>
                  <a:prstClr val="black"/>
                </a:solidFill>
                <a:latin typeface=" Arial"/>
              </a:rPr>
              <a:t>: ACC-APG, Pete Buckless, KO, </a:t>
            </a:r>
            <a:r>
              <a:rPr lang="en-US" dirty="0">
                <a:solidFill>
                  <a:prstClr val="black"/>
                </a:solidFill>
                <a:latin typeface=" Arial"/>
                <a:hlinkClick r:id="rId2"/>
              </a:rPr>
              <a:t>peter.p.buckless.civ@mail.mil </a:t>
            </a:r>
            <a:endParaRPr lang="en-US" dirty="0">
              <a:solidFill>
                <a:prstClr val="black"/>
              </a:solidFill>
              <a:latin typeface=" Arial"/>
            </a:endParaRPr>
          </a:p>
          <a:p>
            <a:pPr>
              <a:defRPr/>
            </a:pP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987216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10</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Hub (NGH)</a:t>
            </a:r>
          </a:p>
          <a:p>
            <a:pPr>
              <a:defRPr/>
            </a:pPr>
            <a:r>
              <a:rPr lang="en-US" u="sng" dirty="0" smtClean="0">
                <a:solidFill>
                  <a:prstClr val="black"/>
                </a:solidFill>
                <a:latin typeface=" Arial"/>
              </a:rPr>
              <a:t>Project </a:t>
            </a:r>
            <a:r>
              <a:rPr lang="en-US" u="sng" dirty="0">
                <a:solidFill>
                  <a:prstClr val="black"/>
                </a:solidFill>
                <a:latin typeface=" Arial"/>
              </a:rPr>
              <a:t>Summary: </a:t>
            </a:r>
            <a:r>
              <a:rPr lang="en-US" dirty="0">
                <a:latin typeface=" Arial"/>
              </a:rPr>
              <a:t>The NGH functions as a Universal Serial Bus (USB) 2.0 hub for data communication among devices.  It also distributes power to provide Person Area Network (PAN) power to connected devices.  The NGH systems will support current and future </a:t>
            </a:r>
            <a:r>
              <a:rPr lang="en-US" dirty="0" err="1">
                <a:latin typeface=" Arial"/>
              </a:rPr>
              <a:t>Nett</a:t>
            </a:r>
            <a:r>
              <a:rPr lang="en-US" dirty="0">
                <a:latin typeface=" Arial"/>
              </a:rPr>
              <a:t> Warrior Soldier platforms and may support future Air Soldier (AS) System, and future Explosive Ordinance Device (EOD) capable Soldiers.</a:t>
            </a:r>
            <a:endParaRPr lang="en-US" u="sng"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smtClean="0">
                <a:solidFill>
                  <a:prstClr val="black"/>
                </a:solidFill>
                <a:latin typeface=" Arial"/>
              </a:rPr>
              <a:t>Prior/Current </a:t>
            </a:r>
            <a:r>
              <a:rPr lang="en-US" u="sng" dirty="0">
                <a:solidFill>
                  <a:prstClr val="black"/>
                </a:solidFill>
                <a:latin typeface=" Arial"/>
              </a:rPr>
              <a:t>Contract Information:</a:t>
            </a:r>
          </a:p>
          <a:p>
            <a:pPr>
              <a:defRPr/>
            </a:pPr>
            <a:r>
              <a:rPr lang="en-US" dirty="0" smtClean="0">
                <a:solidFill>
                  <a:prstClr val="black"/>
                </a:solidFill>
                <a:latin typeface=" Arial"/>
              </a:rPr>
              <a:t>	Contract Number:  N/A</a:t>
            </a:r>
          </a:p>
          <a:p>
            <a:pPr>
              <a:defRPr/>
            </a:pPr>
            <a:r>
              <a:rPr lang="en-US" dirty="0" smtClean="0">
                <a:solidFill>
                  <a:prstClr val="black"/>
                </a:solidFill>
                <a:latin typeface=" Arial"/>
              </a:rPr>
              <a:t>	Incumbent Contractor: N/A</a:t>
            </a:r>
          </a:p>
          <a:p>
            <a:pPr>
              <a:defRPr/>
            </a:pPr>
            <a:r>
              <a:rPr lang="en-US" dirty="0">
                <a:solidFill>
                  <a:prstClr val="black"/>
                </a:solidFill>
                <a:latin typeface=" Arial"/>
              </a:rPr>
              <a:t>	</a:t>
            </a:r>
            <a:r>
              <a:rPr lang="en-US" dirty="0" smtClean="0">
                <a:solidFill>
                  <a:prstClr val="black"/>
                </a:solidFill>
                <a:latin typeface=" Arial"/>
              </a:rPr>
              <a:t>Solicitation Number: W91CRB-19-R-0011</a:t>
            </a: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$96M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a:t>
            </a:r>
            <a:r>
              <a:rPr lang="en-US" dirty="0" smtClean="0">
                <a:solidFill>
                  <a:prstClr val="black"/>
                </a:solidFill>
                <a:latin typeface=" Arial"/>
              </a:rPr>
              <a:t>1QFY20</a:t>
            </a:r>
            <a:endParaRPr lang="en-US" dirty="0" smtClean="0">
              <a:solidFill>
                <a:prstClr val="black"/>
              </a:solidFill>
              <a:latin typeface=" Arial"/>
            </a:endParaRPr>
          </a:p>
          <a:p>
            <a:pPr>
              <a:defRPr/>
            </a:pPr>
            <a:r>
              <a:rPr lang="en-US" u="sng" dirty="0" smtClean="0">
                <a:solidFill>
                  <a:prstClr val="black"/>
                </a:solidFill>
                <a:latin typeface=" Arial"/>
              </a:rPr>
              <a:t>Contracting Contact</a:t>
            </a:r>
            <a:r>
              <a:rPr lang="en-US" dirty="0" smtClean="0">
                <a:solidFill>
                  <a:prstClr val="black"/>
                </a:solidFill>
                <a:latin typeface=" Arial"/>
              </a:rPr>
              <a:t>:  </a:t>
            </a:r>
            <a:r>
              <a:rPr lang="en-US" sz="1750" dirty="0">
                <a:solidFill>
                  <a:prstClr val="black"/>
                </a:solidFill>
                <a:latin typeface=" Arial"/>
              </a:rPr>
              <a:t>ACC-APG, Samantha Degele, KO, </a:t>
            </a:r>
            <a:r>
              <a:rPr lang="en-US" sz="1750" dirty="0">
                <a:solidFill>
                  <a:prstClr val="black"/>
                </a:solidFill>
                <a:latin typeface=" Arial"/>
                <a:hlinkClick r:id="rId2"/>
              </a:rPr>
              <a:t>samantha.l.degele.civ@mail.mil</a:t>
            </a:r>
            <a:r>
              <a:rPr lang="en-US" sz="1750" dirty="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592889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11</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Modular Scalable Vest (MSV)</a:t>
            </a:r>
          </a:p>
          <a:p>
            <a:pPr>
              <a:defRPr/>
            </a:pPr>
            <a:r>
              <a:rPr lang="en-US" u="sng" dirty="0">
                <a:solidFill>
                  <a:prstClr val="black"/>
                </a:solidFill>
                <a:latin typeface=" Arial"/>
                <a:cs typeface="Arial" panose="020B0604020202020204" pitchFamily="34" charset="0"/>
              </a:rPr>
              <a:t>Project Summary</a:t>
            </a:r>
            <a:r>
              <a:rPr lang="en-US" dirty="0">
                <a:solidFill>
                  <a:prstClr val="black"/>
                </a:solidFill>
                <a:latin typeface=" Arial"/>
                <a:cs typeface="Arial" panose="020B0604020202020204" pitchFamily="34" charset="0"/>
              </a:rPr>
              <a:t>:  </a:t>
            </a:r>
            <a:r>
              <a:rPr lang="en-US" dirty="0">
                <a:solidFill>
                  <a:prstClr val="black"/>
                </a:solidFill>
                <a:latin typeface=" Arial"/>
              </a:rPr>
              <a:t>The MSV is part of the Soldier Protection System Torso and Extremity Protection (SPS TEP), </a:t>
            </a:r>
            <a:r>
              <a:rPr lang="en-US" dirty="0">
                <a:latin typeface=" Arial"/>
              </a:rPr>
              <a:t>that consists of a low profile vest with four (4) soft armor panels covered in a camouflage cloth and hook and loop. The system allows for the insertion of soft armor panels into a tactical outer carrier that also accommodates hard armor protective inserts. The MSV will result in one solicitation including both Carriers and Ballistics.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W91CRB-15-D-0019/W91CRB-15-D-0021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Contractor: </a:t>
            </a:r>
            <a:r>
              <a:rPr lang="en-US" dirty="0" smtClean="0">
                <a:solidFill>
                  <a:prstClr val="black"/>
                </a:solidFill>
                <a:latin typeface=" Arial"/>
                <a:cs typeface="Arial" panose="020B0604020202020204" pitchFamily="34" charset="0"/>
              </a:rPr>
              <a:t>Bethel Defense &amp; KDH Defense Systems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$900M</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 with options</a:t>
            </a:r>
          </a:p>
          <a:p>
            <a:pPr>
              <a:defRPr/>
            </a:pPr>
            <a:r>
              <a:rPr lang="en-US" u="sng" dirty="0">
                <a:solidFill>
                  <a:prstClr val="black"/>
                </a:solidFill>
                <a:latin typeface=" Arial"/>
                <a:cs typeface="Arial" panose="020B0604020202020204" pitchFamily="34" charset="0"/>
              </a:rPr>
              <a:t>Estimated Solicitation Release Date: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1QFY20</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POC:</a:t>
            </a:r>
            <a:r>
              <a:rPr lang="en-US" dirty="0">
                <a:solidFill>
                  <a:prstClr val="black"/>
                </a:solidFill>
                <a:latin typeface=" Arial"/>
                <a:cs typeface="Arial" panose="020B0604020202020204" pitchFamily="34" charset="0"/>
              </a:rPr>
              <a:t> ACC-APG, Lisa </a:t>
            </a:r>
            <a:r>
              <a:rPr lang="en-US" dirty="0" smtClean="0">
                <a:solidFill>
                  <a:prstClr val="black"/>
                </a:solidFill>
                <a:latin typeface=" Arial"/>
                <a:cs typeface="Arial" panose="020B0604020202020204" pitchFamily="34" charset="0"/>
              </a:rPr>
              <a:t>Yamakawa, </a:t>
            </a:r>
            <a:r>
              <a:rPr lang="en-US" dirty="0" smtClean="0">
                <a:solidFill>
                  <a:prstClr val="black"/>
                </a:solidFill>
                <a:latin typeface=" Arial"/>
                <a:cs typeface="Arial" panose="020B0604020202020204" pitchFamily="34" charset="0"/>
                <a:hlinkClick r:id="rId2"/>
              </a:rPr>
              <a:t>lisa.j.yamakawa.civ@mail.mil </a:t>
            </a:r>
            <a:endParaRPr lang="en-US" dirty="0">
              <a:solidFill>
                <a:prstClr val="black"/>
              </a:solidFill>
              <a:latin typeface=" Arial"/>
              <a:cs typeface="Arial" panose="020B0604020202020204" pitchFamily="34" charset="0"/>
            </a:endParaRPr>
          </a:p>
          <a:p>
            <a:pPr>
              <a:defRPr/>
            </a:pPr>
            <a:endParaRPr lang="en-US" b="1" dirty="0" smtClean="0">
              <a:solidFill>
                <a:prstClr val="black"/>
              </a:solidFill>
              <a:latin typeface=" Arial"/>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8334316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12</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Blast Pelvic Protector (BPP)</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BPP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designed as a blast harness worn over the Flame Resistance Army Combat Uniform and affords protection to the Soldier’s pelvic region, femoral arteries, inner thigh, and lower abdominal organs in a blast or fragmentation event by reducing penetration of large threats and debris.</a:t>
            </a:r>
            <a:r>
              <a:rPr lang="en-US" dirty="0" smtClean="0">
                <a:latin typeface=" Arial"/>
              </a:rPr>
              <a:t>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W91CRB-15-D-0032/W91CRB-15-D-0033/</a:t>
            </a:r>
          </a:p>
          <a:p>
            <a:pPr>
              <a:defRPr/>
            </a:pP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W91CRB-15-D-0034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a:t>
            </a:r>
            <a:r>
              <a:rPr lang="en-US" dirty="0" smtClean="0">
                <a:solidFill>
                  <a:prstClr val="black"/>
                </a:solidFill>
                <a:latin typeface=" Arial"/>
                <a:cs typeface="Arial" panose="020B0604020202020204" pitchFamily="34" charset="0"/>
              </a:rPr>
              <a:t>Contractors: KDH Defense Systems; Hawk Protection; Bethel 	Industries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$TBD</a:t>
            </a:r>
            <a:endParaRPr lang="en-US" dirty="0">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 with options</a:t>
            </a:r>
          </a:p>
          <a:p>
            <a:pPr>
              <a:defRPr/>
            </a:pPr>
            <a:r>
              <a:rPr lang="en-US" u="sng" dirty="0">
                <a:solidFill>
                  <a:prstClr val="black"/>
                </a:solidFill>
                <a:latin typeface=" Arial"/>
                <a:cs typeface="Arial" panose="020B0604020202020204" pitchFamily="34" charset="0"/>
              </a:rPr>
              <a:t>Estimated Solicitation Release Date: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3QFY20</a:t>
            </a:r>
            <a:endParaRPr lang="en-US" dirty="0">
              <a:solidFill>
                <a:srgbClr val="FF0000"/>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Lisa Yamakawa</a:t>
            </a:r>
            <a:r>
              <a:rPr lang="en-US" dirty="0" smtClean="0">
                <a:solidFill>
                  <a:prstClr val="black"/>
                </a:solidFill>
                <a:latin typeface=" Arial"/>
                <a:cs typeface="Arial" panose="020B0604020202020204" pitchFamily="34" charset="0"/>
              </a:rPr>
              <a:t>, KO, </a:t>
            </a:r>
            <a:r>
              <a:rPr lang="en-US" dirty="0">
                <a:solidFill>
                  <a:prstClr val="black"/>
                </a:solidFill>
                <a:latin typeface=" Arial"/>
                <a:cs typeface="Arial" panose="020B0604020202020204" pitchFamily="34" charset="0"/>
                <a:hlinkClick r:id="rId2"/>
              </a:rPr>
              <a:t>lisa.j.yamakawa.civ@mail.mil </a:t>
            </a:r>
            <a:r>
              <a:rPr lang="en-US" b="1" dirty="0" smtClean="0">
                <a:solidFill>
                  <a:prstClr val="black"/>
                </a:solidFill>
                <a:latin typeface=" Arial"/>
              </a:rPr>
              <a:t>*</a:t>
            </a: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9269993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13</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Ballistic Combat Shirt (BCS)</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BPP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designed to function as an armored Army Combat Shirt (ACS).  The non-ballistic materials used in the torso and sleeves are equal to the ACS in weight and functional characteristics, to include flame resistance and moisture wicking.  The deltoid and upper thoracic portions of the BCS contain soft armor that provides protection from fragmenting munitions as well as handgun threats.</a:t>
            </a: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W91CRB-15-D-0025/W91CRB-15-D-0026/</a:t>
            </a:r>
          </a:p>
          <a:p>
            <a:pPr>
              <a:defRPr/>
            </a:pP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W91CRB-16-D-0019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a:t>
            </a:r>
            <a:r>
              <a:rPr lang="en-US" dirty="0" smtClean="0">
                <a:solidFill>
                  <a:prstClr val="black"/>
                </a:solidFill>
                <a:latin typeface=" Arial"/>
                <a:cs typeface="Arial" panose="020B0604020202020204" pitchFamily="34" charset="0"/>
              </a:rPr>
              <a:t>Contractors: Point Blank Protective Apparel &amp; Uniform; Carter 	Enterprises; Eagle Industries</a:t>
            </a:r>
            <a:endParaRPr lang="en-US" dirty="0">
              <a:solidFill>
                <a:prstClr val="black"/>
              </a:solidFill>
              <a:latin typeface=" Arial"/>
              <a:cs typeface="Arial" panose="020B0604020202020204" pitchFamily="34" charset="0"/>
            </a:endParaRPr>
          </a:p>
          <a:p>
            <a:pPr>
              <a:defRPr/>
            </a:pPr>
            <a:endParaRPr lang="en-US" u="sng" dirty="0" smtClean="0">
              <a:solidFill>
                <a:prstClr val="black"/>
              </a:solidFill>
              <a:latin typeface=" Arial"/>
              <a:cs typeface="Arial" panose="020B0604020202020204" pitchFamily="34" charset="0"/>
            </a:endParaRPr>
          </a:p>
          <a:p>
            <a:pPr>
              <a:defRPr/>
            </a:pPr>
            <a:r>
              <a:rPr lang="en-US" u="sng" dirty="0" smtClean="0">
                <a:solidFill>
                  <a:prstClr val="black"/>
                </a:solidFill>
                <a:latin typeface=" Arial"/>
                <a:cs typeface="Arial" panose="020B0604020202020204" pitchFamily="34" charset="0"/>
              </a:rPr>
              <a:t>Contract </a:t>
            </a:r>
            <a:r>
              <a:rPr lang="en-US" u="sng" dirty="0">
                <a:solidFill>
                  <a:prstClr val="black"/>
                </a:solidFill>
                <a:latin typeface=" Arial"/>
                <a:cs typeface="Arial" panose="020B0604020202020204" pitchFamily="34" charset="0"/>
              </a:rPr>
              <a:t>Type:</a:t>
            </a:r>
            <a:r>
              <a:rPr lang="en-US" dirty="0">
                <a:solidFill>
                  <a:prstClr val="black"/>
                </a:solidFill>
                <a:latin typeface=" Arial"/>
                <a:cs typeface="Arial" panose="020B0604020202020204" pitchFamily="34" charset="0"/>
              </a:rPr>
              <a:t> Delivery orders will be FFP </a:t>
            </a:r>
          </a:p>
          <a:p>
            <a:pPr>
              <a:defRPr/>
            </a:pPr>
            <a:r>
              <a:rPr lang="en-US" u="sng" dirty="0">
                <a:solidFill>
                  <a:prstClr val="black"/>
                </a:solidFill>
                <a:latin typeface=" Arial"/>
                <a:cs typeface="Arial" panose="020B0604020202020204" pitchFamily="34" charset="0"/>
              </a:rPr>
              <a:t>ROM</a:t>
            </a:r>
            <a:r>
              <a:rPr lang="en-US" dirty="0">
                <a:solidFill>
                  <a:prstClr val="black"/>
                </a:solidFill>
                <a:latin typeface=" Arial"/>
                <a:cs typeface="Arial" panose="020B0604020202020204" pitchFamily="34" charset="0"/>
              </a:rPr>
              <a:t>: $600M</a:t>
            </a:r>
            <a:endParaRPr lang="en-US" dirty="0">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 with options</a:t>
            </a:r>
          </a:p>
          <a:p>
            <a:pPr>
              <a:defRPr/>
            </a:pPr>
            <a:r>
              <a:rPr lang="en-US" u="sng" dirty="0">
                <a:solidFill>
                  <a:prstClr val="black"/>
                </a:solidFill>
                <a:latin typeface=" Arial"/>
                <a:cs typeface="Arial" panose="020B0604020202020204" pitchFamily="34" charset="0"/>
              </a:rPr>
              <a:t>Estimated Solicitation Release Date: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2QFY20</a:t>
            </a:r>
            <a:endParaRPr lang="en-US" dirty="0">
              <a:solidFill>
                <a:srgbClr val="FF0000"/>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a:t>
            </a:r>
            <a:r>
              <a:rPr lang="en-US" dirty="0">
                <a:solidFill>
                  <a:prstClr val="black"/>
                </a:solidFill>
                <a:latin typeface=" Arial"/>
              </a:rPr>
              <a:t>Terri </a:t>
            </a:r>
            <a:r>
              <a:rPr lang="en-US" dirty="0" smtClean="0">
                <a:solidFill>
                  <a:prstClr val="black"/>
                </a:solidFill>
                <a:latin typeface=" Arial"/>
                <a:cs typeface="Arial" panose="020B0604020202020204" pitchFamily="34" charset="0"/>
              </a:rPr>
              <a:t>Quick, KO, </a:t>
            </a:r>
            <a:r>
              <a:rPr lang="en-US" dirty="0" smtClean="0">
                <a:solidFill>
                  <a:prstClr val="black"/>
                </a:solidFill>
                <a:latin typeface=" Arial"/>
                <a:cs typeface="Arial" panose="020B0604020202020204" pitchFamily="34" charset="0"/>
                <a:hlinkClick r:id="rId2"/>
              </a:rPr>
              <a:t>theresa.s.quick.civ@mail.mil</a:t>
            </a:r>
            <a:r>
              <a:rPr lang="en-US" dirty="0" smtClean="0">
                <a:solidFill>
                  <a:prstClr val="black"/>
                </a:solidFill>
                <a:latin typeface=" Arial"/>
                <a:cs typeface="Arial" panose="020B0604020202020204" pitchFamily="34" charset="0"/>
              </a:rPr>
              <a:t> </a:t>
            </a:r>
            <a:endParaRPr lang="en-US" dirty="0">
              <a:solidFill>
                <a:prstClr val="black"/>
              </a:solidFill>
              <a:latin typeface=" Arial"/>
              <a:cs typeface="Arial" panose="020B0604020202020204" pitchFamily="34" charset="0"/>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0067490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14</a:t>
            </a:fld>
            <a:endParaRPr lang="en-US" sz="1000" dirty="0">
              <a:solidFill>
                <a:prstClr val="white"/>
              </a:solidFill>
            </a:endParaRPr>
          </a:p>
        </p:txBody>
      </p:sp>
      <p:sp>
        <p:nvSpPr>
          <p:cNvPr id="8" name="TextBox 8"/>
          <p:cNvSpPr txBox="1">
            <a:spLocks noChangeArrowheads="1"/>
          </p:cNvSpPr>
          <p:nvPr/>
        </p:nvSpPr>
        <p:spPr bwMode="auto">
          <a:xfrm>
            <a:off x="0" y="1066800"/>
            <a:ext cx="9144000" cy="4955203"/>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Integrated Head Protection System (NG IHPS)</a:t>
            </a:r>
          </a:p>
          <a:p>
            <a:pPr>
              <a:defRPr/>
            </a:pPr>
            <a:r>
              <a:rPr lang="en-US" u="sng" dirty="0" smtClean="0">
                <a:solidFill>
                  <a:prstClr val="black"/>
                </a:solidFill>
                <a:latin typeface=" Arial"/>
              </a:rPr>
              <a:t>Project </a:t>
            </a:r>
            <a:r>
              <a:rPr lang="en-US" u="sng" dirty="0">
                <a:solidFill>
                  <a:prstClr val="black"/>
                </a:solidFill>
                <a:latin typeface=" Arial"/>
              </a:rPr>
              <a:t>Summary</a:t>
            </a:r>
            <a:r>
              <a:rPr lang="en-US" u="sng" dirty="0" smtClean="0">
                <a:solidFill>
                  <a:prstClr val="black"/>
                </a:solidFill>
                <a:latin typeface=" Arial"/>
              </a:rPr>
              <a:t>: </a:t>
            </a:r>
            <a:r>
              <a:rPr lang="en-US" dirty="0">
                <a:solidFill>
                  <a:prstClr val="black"/>
                </a:solidFill>
                <a:latin typeface=" Arial"/>
              </a:rPr>
              <a:t>The NG IHPS will transition from IHPS LRIP by incorporating Polyethylene (PE) Film technology meeting the Threat P protection level without the use of the current attached Ballistic Applique.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r>
              <a:rPr lang="en-US" u="sng" dirty="0" smtClean="0">
                <a:solidFill>
                  <a:prstClr val="black"/>
                </a:solidFill>
                <a:latin typeface=" Arial"/>
              </a:rPr>
              <a:t>:  IHPS LRIP</a:t>
            </a:r>
            <a:endParaRPr lang="en-US" u="sng" dirty="0">
              <a:solidFill>
                <a:prstClr val="black"/>
              </a:solidFill>
              <a:latin typeface=" Arial"/>
            </a:endParaRPr>
          </a:p>
          <a:p>
            <a:pPr>
              <a:defRPr/>
            </a:pPr>
            <a:r>
              <a:rPr lang="en-US" dirty="0" smtClean="0">
                <a:solidFill>
                  <a:prstClr val="black"/>
                </a:solidFill>
                <a:latin typeface=" Arial"/>
              </a:rPr>
              <a:t>	Contract Number:  W91CRB-14-C-0005</a:t>
            </a:r>
          </a:p>
          <a:p>
            <a:pPr>
              <a:defRPr/>
            </a:pPr>
            <a:r>
              <a:rPr lang="en-US" dirty="0" smtClean="0">
                <a:solidFill>
                  <a:prstClr val="black"/>
                </a:solidFill>
                <a:latin typeface=" Arial"/>
              </a:rPr>
              <a:t>	Incumbent Contractor: </a:t>
            </a:r>
            <a:r>
              <a:rPr lang="en-US" dirty="0" err="1" smtClean="0">
                <a:solidFill>
                  <a:prstClr val="black"/>
                </a:solidFill>
                <a:latin typeface=" Arial"/>
              </a:rPr>
              <a:t>Ceradyne</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a:solidFill>
                  <a:prstClr val="black"/>
                </a:solidFill>
                <a:latin typeface=" Arial"/>
              </a:rPr>
              <a:t>ROM</a:t>
            </a:r>
            <a:r>
              <a:rPr lang="en-US" dirty="0">
                <a:solidFill>
                  <a:prstClr val="black"/>
                </a:solidFill>
                <a:latin typeface=" Arial"/>
              </a:rPr>
              <a:t>:  $900M</a:t>
            </a:r>
          </a:p>
          <a:p>
            <a:pPr>
              <a:defRPr/>
            </a:pPr>
            <a:r>
              <a:rPr lang="en-US" u="sng" dirty="0">
                <a:solidFill>
                  <a:prstClr val="black"/>
                </a:solidFill>
                <a:latin typeface=" Arial"/>
              </a:rPr>
              <a:t>Period of Performance</a:t>
            </a:r>
            <a:r>
              <a:rPr lang="en-US" dirty="0">
                <a:solidFill>
                  <a:prstClr val="black"/>
                </a:solidFill>
                <a:latin typeface=" Arial"/>
              </a:rPr>
              <a:t>:  5 year ordering period with options</a:t>
            </a:r>
          </a:p>
          <a:p>
            <a:pPr>
              <a:defRPr/>
            </a:pPr>
            <a:r>
              <a:rPr lang="en-US" u="sng" dirty="0">
                <a:solidFill>
                  <a:prstClr val="black"/>
                </a:solidFill>
                <a:latin typeface=" Arial"/>
              </a:rPr>
              <a:t>Estimated Solicitation Release Date</a:t>
            </a:r>
            <a:r>
              <a:rPr lang="en-US" dirty="0">
                <a:solidFill>
                  <a:prstClr val="black"/>
                </a:solidFill>
                <a:latin typeface=" Arial"/>
              </a:rPr>
              <a:t>:  </a:t>
            </a:r>
            <a:r>
              <a:rPr lang="en-US" dirty="0" smtClean="0">
                <a:solidFill>
                  <a:prstClr val="black"/>
                </a:solidFill>
                <a:latin typeface=" Arial"/>
              </a:rPr>
              <a:t>2QFY20</a:t>
            </a:r>
            <a:endParaRPr lang="en-US" dirty="0">
              <a:solidFill>
                <a:prstClr val="black"/>
              </a:solidFill>
              <a:latin typeface=" Arial"/>
            </a:endParaRPr>
          </a:p>
          <a:p>
            <a:pPr>
              <a:defRPr/>
            </a:pPr>
            <a:r>
              <a:rPr lang="en-US" u="sng" dirty="0">
                <a:solidFill>
                  <a:prstClr val="black"/>
                </a:solidFill>
                <a:latin typeface=" Arial"/>
              </a:rPr>
              <a:t>Contracting Contact</a:t>
            </a:r>
            <a:r>
              <a:rPr lang="en-US" dirty="0">
                <a:solidFill>
                  <a:prstClr val="black"/>
                </a:solidFill>
                <a:latin typeface=" Arial"/>
              </a:rPr>
              <a:t>:  ACC-APG, Terri Quick, KO, </a:t>
            </a:r>
            <a:r>
              <a:rPr lang="en-US" dirty="0">
                <a:solidFill>
                  <a:prstClr val="black"/>
                </a:solidFill>
                <a:latin typeface=" Arial"/>
                <a:cs typeface="Arial" panose="020B0604020202020204" pitchFamily="34" charset="0"/>
                <a:hlinkClick r:id="rId2"/>
              </a:rPr>
              <a:t>theresa.s.quick.civ@mail.mil</a:t>
            </a:r>
            <a:endParaRPr lang="en-US" dirty="0" smtClean="0">
              <a:solidFill>
                <a:prstClr val="black"/>
              </a:solidFill>
              <a:latin typeface=" Arial"/>
            </a:endParaRPr>
          </a:p>
          <a:p>
            <a:pPr>
              <a:defRPr/>
            </a:pPr>
            <a:endParaRPr lang="en-US" sz="1600" b="1" dirty="0" smtClean="0">
              <a:solidFill>
                <a:prstClr val="black"/>
              </a:solidFill>
              <a:latin typeface=" Arial"/>
            </a:endParaRPr>
          </a:p>
          <a:p>
            <a:pPr>
              <a:defRPr/>
            </a:pPr>
            <a:endParaRPr lang="en-US" sz="1600" b="1" dirty="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704304766"/>
      </p:ext>
    </p:extLst>
  </p:cSld>
  <p:clrMapOvr>
    <a:masterClrMapping/>
  </p:clrMapOvr>
  <p:timing>
    <p:tnLst>
      <p:par>
        <p:cTn id="1" dur="indefinite" restart="never" nodeType="tmRoot"/>
      </p:par>
    </p:tnLst>
  </p:timing>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2C78E9BD999AC46B3EB03425BB53FA5" ma:contentTypeVersion="0" ma:contentTypeDescription="Create a new document." ma:contentTypeScope="" ma:versionID="f6fc9fef488fa45be0a390bd39793c3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3164B-E357-4C61-9748-6D3606BFACD6}">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BFD0F2A9-63A1-4578-8ED3-5C6C752F0C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1A3DBC3F-1BD6-457B-823D-FD749E2AD0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7102</TotalTime>
  <Words>1129</Words>
  <Application>Microsoft Office PowerPoint</Application>
  <PresentationFormat>On-screen Show (4:3)</PresentationFormat>
  <Paragraphs>217</Paragraphs>
  <Slides>14</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14</vt:i4>
      </vt:variant>
    </vt:vector>
  </HeadingPairs>
  <TitlesOfParts>
    <vt:vector size="25" baseType="lpstr">
      <vt:lpstr>MS PGothic</vt:lpstr>
      <vt:lpstr> Arial</vt:lpstr>
      <vt:lpstr>Arial</vt:lpstr>
      <vt:lpstr>Calibri</vt:lpstr>
      <vt:lpstr>Comic Sans MS</vt:lpstr>
      <vt:lpstr>Franklin Gothic Book</vt:lpstr>
      <vt:lpstr>Franklin Gothic Medium Cond</vt:lpstr>
      <vt:lpstr>4_Custom Design</vt:lpstr>
      <vt:lpstr>6_Custom Design</vt:lpstr>
      <vt:lpstr>5_Custom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SRB Slides</dc:title>
  <dc:creator>Hessler, Kenneth CIV USA</dc:creator>
  <cp:lastModifiedBy>Allen, Sara E CIV USA AMC</cp:lastModifiedBy>
  <cp:revision>555</cp:revision>
  <cp:lastPrinted>2019-02-13T18:00:51Z</cp:lastPrinted>
  <dcterms:created xsi:type="dcterms:W3CDTF">2006-08-16T00:00:00Z</dcterms:created>
  <dcterms:modified xsi:type="dcterms:W3CDTF">2019-10-22T17:32:54Z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0x01010062C78E9BD999AC46B3EB03425BB53FA5</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