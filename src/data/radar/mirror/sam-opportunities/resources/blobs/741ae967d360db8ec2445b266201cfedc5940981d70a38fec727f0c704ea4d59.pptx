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1" r:id="rId4"/>
  </p:sldMasterIdLst>
  <p:notesMasterIdLst>
    <p:notesMasterId r:id="rId22"/>
  </p:notesMasterIdLst>
  <p:handoutMasterIdLst>
    <p:handoutMasterId r:id="rId23"/>
  </p:handoutMasterIdLst>
  <p:sldIdLst>
    <p:sldId id="611" r:id="rId5"/>
    <p:sldId id="613" r:id="rId6"/>
    <p:sldId id="614" r:id="rId7"/>
    <p:sldId id="612" r:id="rId8"/>
    <p:sldId id="615" r:id="rId9"/>
    <p:sldId id="617" r:id="rId10"/>
    <p:sldId id="618" r:id="rId11"/>
    <p:sldId id="619" r:id="rId12"/>
    <p:sldId id="621" r:id="rId13"/>
    <p:sldId id="620" r:id="rId14"/>
    <p:sldId id="622" r:id="rId15"/>
    <p:sldId id="616" r:id="rId16"/>
    <p:sldId id="624" r:id="rId17"/>
    <p:sldId id="625" r:id="rId18"/>
    <p:sldId id="623" r:id="rId19"/>
    <p:sldId id="626" r:id="rId20"/>
    <p:sldId id="627" r:id="rId21"/>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6614" algn="l" rtl="0" fontAlgn="base">
      <a:spcBef>
        <a:spcPct val="0"/>
      </a:spcBef>
      <a:spcAft>
        <a:spcPct val="0"/>
      </a:spcAft>
      <a:defRPr kern="1200">
        <a:solidFill>
          <a:schemeClr val="tx1"/>
        </a:solidFill>
        <a:latin typeface="Arial" charset="0"/>
        <a:ea typeface="+mn-ea"/>
        <a:cs typeface="+mn-cs"/>
      </a:defRPr>
    </a:lvl2pPr>
    <a:lvl3pPr marL="913224" algn="l" rtl="0" fontAlgn="base">
      <a:spcBef>
        <a:spcPct val="0"/>
      </a:spcBef>
      <a:spcAft>
        <a:spcPct val="0"/>
      </a:spcAft>
      <a:defRPr kern="1200">
        <a:solidFill>
          <a:schemeClr val="tx1"/>
        </a:solidFill>
        <a:latin typeface="Arial" charset="0"/>
        <a:ea typeface="+mn-ea"/>
        <a:cs typeface="+mn-cs"/>
      </a:defRPr>
    </a:lvl3pPr>
    <a:lvl4pPr marL="1369838" algn="l" rtl="0" fontAlgn="base">
      <a:spcBef>
        <a:spcPct val="0"/>
      </a:spcBef>
      <a:spcAft>
        <a:spcPct val="0"/>
      </a:spcAft>
      <a:defRPr kern="1200">
        <a:solidFill>
          <a:schemeClr val="tx1"/>
        </a:solidFill>
        <a:latin typeface="Arial" charset="0"/>
        <a:ea typeface="+mn-ea"/>
        <a:cs typeface="+mn-cs"/>
      </a:defRPr>
    </a:lvl4pPr>
    <a:lvl5pPr marL="1826449" algn="l" rtl="0" fontAlgn="base">
      <a:spcBef>
        <a:spcPct val="0"/>
      </a:spcBef>
      <a:spcAft>
        <a:spcPct val="0"/>
      </a:spcAft>
      <a:defRPr kern="1200">
        <a:solidFill>
          <a:schemeClr val="tx1"/>
        </a:solidFill>
        <a:latin typeface="Arial" charset="0"/>
        <a:ea typeface="+mn-ea"/>
        <a:cs typeface="+mn-cs"/>
      </a:defRPr>
    </a:lvl5pPr>
    <a:lvl6pPr marL="2283063" algn="l" defTabSz="913224" rtl="0" eaLnBrk="1" latinLnBrk="0" hangingPunct="1">
      <a:defRPr kern="1200">
        <a:solidFill>
          <a:schemeClr val="tx1"/>
        </a:solidFill>
        <a:latin typeface="Arial" charset="0"/>
        <a:ea typeface="+mn-ea"/>
        <a:cs typeface="+mn-cs"/>
      </a:defRPr>
    </a:lvl6pPr>
    <a:lvl7pPr marL="2739672" algn="l" defTabSz="913224" rtl="0" eaLnBrk="1" latinLnBrk="0" hangingPunct="1">
      <a:defRPr kern="1200">
        <a:solidFill>
          <a:schemeClr val="tx1"/>
        </a:solidFill>
        <a:latin typeface="Arial" charset="0"/>
        <a:ea typeface="+mn-ea"/>
        <a:cs typeface="+mn-cs"/>
      </a:defRPr>
    </a:lvl7pPr>
    <a:lvl8pPr marL="3196287" algn="l" defTabSz="913224" rtl="0" eaLnBrk="1" latinLnBrk="0" hangingPunct="1">
      <a:defRPr kern="1200">
        <a:solidFill>
          <a:schemeClr val="tx1"/>
        </a:solidFill>
        <a:latin typeface="Arial" charset="0"/>
        <a:ea typeface="+mn-ea"/>
        <a:cs typeface="+mn-cs"/>
      </a:defRPr>
    </a:lvl8pPr>
    <a:lvl9pPr marL="3652897" algn="l" defTabSz="913224"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952" userDrawn="1">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A7872E-7B99-29D2-3714-BA67B649BE17}" name="Simpson, Emily-Rebecca CIV USN NSWCDIV  PHL PA (USA)" initials="ES" userId="S::emily-rebecca.simpson.civ@us.navy.mil::21dae811-1e8a-41b5-8250-64ece32a59da" providerId="AD"/>
  <p188:author id="{683A4DE0-13F0-208E-7483-69230CA36363}" name="Cirone, Anthony J III CIV USN NSWCDIV  PHL PA (USA)" initials="AC" userId="S::anthony.j.cirone2.civ@us.navy.mil::61ca8c6f-cbd8-4531-8c8d-ed3867e0154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58"/>
    <a:srgbClr val="C4D5E9"/>
    <a:srgbClr val="17375E"/>
    <a:srgbClr val="4F81BD"/>
    <a:srgbClr val="7BA8DF"/>
    <a:srgbClr val="1F497D"/>
    <a:srgbClr val="000050"/>
    <a:srgbClr val="2232FE"/>
    <a:srgbClr val="010DA7"/>
    <a:srgbClr val="0000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6323" autoAdjust="0"/>
  </p:normalViewPr>
  <p:slideViewPr>
    <p:cSldViewPr snapToGrid="0" snapToObjects="1" showGuides="1">
      <p:cViewPr varScale="1">
        <p:scale>
          <a:sx n="104" d="100"/>
          <a:sy n="104" d="100"/>
        </p:scale>
        <p:origin x="2148" y="132"/>
      </p:cViewPr>
      <p:guideLst>
        <p:guide orient="horz" pos="2952"/>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p:cViewPr varScale="1">
        <p:scale>
          <a:sx n="50" d="100"/>
          <a:sy n="50" d="100"/>
        </p:scale>
        <p:origin x="2684" y="4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413" cy="464180"/>
          </a:xfrm>
          <a:prstGeom prst="rect">
            <a:avLst/>
          </a:prstGeom>
        </p:spPr>
        <p:txBody>
          <a:bodyPr vert="horz" lIns="91575" tIns="45790" rIns="91575" bIns="45790" rtlCol="0"/>
          <a:lstStyle>
            <a:lvl1pPr algn="l">
              <a:defRPr sz="1200"/>
            </a:lvl1pPr>
          </a:lstStyle>
          <a:p>
            <a:pPr>
              <a:defRPr/>
            </a:pPr>
            <a:endParaRPr lang="en-US" dirty="0"/>
          </a:p>
        </p:txBody>
      </p:sp>
      <p:sp>
        <p:nvSpPr>
          <p:cNvPr id="3" name="Date Placeholder 2"/>
          <p:cNvSpPr>
            <a:spLocks noGrp="1"/>
          </p:cNvSpPr>
          <p:nvPr>
            <p:ph type="dt" sz="quarter" idx="1"/>
          </p:nvPr>
        </p:nvSpPr>
        <p:spPr>
          <a:xfrm>
            <a:off x="3971388" y="0"/>
            <a:ext cx="3037413" cy="464180"/>
          </a:xfrm>
          <a:prstGeom prst="rect">
            <a:avLst/>
          </a:prstGeom>
        </p:spPr>
        <p:txBody>
          <a:bodyPr vert="horz" lIns="91575" tIns="45790" rIns="91575" bIns="45790" rtlCol="0"/>
          <a:lstStyle>
            <a:lvl1pPr algn="r">
              <a:defRPr sz="1200"/>
            </a:lvl1pPr>
          </a:lstStyle>
          <a:p>
            <a:pPr>
              <a:defRPr/>
            </a:pPr>
            <a:fld id="{B619AAC9-9373-4903-9ABF-65CAF55FEF8E}" type="datetimeFigureOut">
              <a:rPr lang="en-US"/>
              <a:pPr>
                <a:defRPr/>
              </a:pPr>
              <a:t>3/12/2026</a:t>
            </a:fld>
            <a:endParaRPr lang="en-US" dirty="0"/>
          </a:p>
        </p:txBody>
      </p:sp>
      <p:sp>
        <p:nvSpPr>
          <p:cNvPr id="4" name="Footer Placeholder 3"/>
          <p:cNvSpPr>
            <a:spLocks noGrp="1"/>
          </p:cNvSpPr>
          <p:nvPr>
            <p:ph type="ftr" sz="quarter" idx="2"/>
          </p:nvPr>
        </p:nvSpPr>
        <p:spPr>
          <a:xfrm>
            <a:off x="1" y="8830621"/>
            <a:ext cx="3037413" cy="464180"/>
          </a:xfrm>
          <a:prstGeom prst="rect">
            <a:avLst/>
          </a:prstGeom>
        </p:spPr>
        <p:txBody>
          <a:bodyPr vert="horz" lIns="91575" tIns="45790" rIns="91575" bIns="45790" rtlCol="0" anchor="b"/>
          <a:lstStyle>
            <a:lvl1pPr algn="l">
              <a:defRPr sz="1200"/>
            </a:lvl1pPr>
          </a:lstStyle>
          <a:p>
            <a:pPr>
              <a:defRPr/>
            </a:pPr>
            <a:endParaRPr lang="en-US" dirty="0"/>
          </a:p>
        </p:txBody>
      </p:sp>
      <p:sp>
        <p:nvSpPr>
          <p:cNvPr id="5" name="Slide Number Placeholder 4"/>
          <p:cNvSpPr>
            <a:spLocks noGrp="1"/>
          </p:cNvSpPr>
          <p:nvPr>
            <p:ph type="sldNum" sz="quarter" idx="3"/>
          </p:nvPr>
        </p:nvSpPr>
        <p:spPr>
          <a:xfrm>
            <a:off x="3971388" y="8830621"/>
            <a:ext cx="3037413" cy="464180"/>
          </a:xfrm>
          <a:prstGeom prst="rect">
            <a:avLst/>
          </a:prstGeom>
        </p:spPr>
        <p:txBody>
          <a:bodyPr vert="horz" lIns="91575" tIns="45790" rIns="91575" bIns="45790" rtlCol="0" anchor="b"/>
          <a:lstStyle>
            <a:lvl1pPr algn="r">
              <a:defRPr sz="1200"/>
            </a:lvl1pPr>
          </a:lstStyle>
          <a:p>
            <a:pPr>
              <a:defRPr/>
            </a:pPr>
            <a:fld id="{B8CE2A97-8D0D-4202-B0FD-EE32A851C8E5}" type="slidenum">
              <a:rPr lang="en-US"/>
              <a:pPr>
                <a:defRPr/>
              </a:pPr>
              <a:t>‹#›</a:t>
            </a:fld>
            <a:endParaRPr lang="en-US" dirty="0"/>
          </a:p>
        </p:txBody>
      </p:sp>
    </p:spTree>
    <p:extLst>
      <p:ext uri="{BB962C8B-B14F-4D97-AF65-F5344CB8AC3E}">
        <p14:creationId xmlns:p14="http://schemas.microsoft.com/office/powerpoint/2010/main" val="31320641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413" cy="464180"/>
          </a:xfrm>
          <a:prstGeom prst="rect">
            <a:avLst/>
          </a:prstGeom>
        </p:spPr>
        <p:txBody>
          <a:bodyPr vert="horz" lIns="91575" tIns="45790" rIns="91575" bIns="45790" rtlCol="0"/>
          <a:lstStyle>
            <a:lvl1pPr algn="l">
              <a:defRPr sz="1200">
                <a:latin typeface="Arial" charset="0"/>
              </a:defRPr>
            </a:lvl1pPr>
          </a:lstStyle>
          <a:p>
            <a:pPr>
              <a:defRPr/>
            </a:pPr>
            <a:endParaRPr lang="en-US" dirty="0"/>
          </a:p>
        </p:txBody>
      </p:sp>
      <p:sp>
        <p:nvSpPr>
          <p:cNvPr id="3" name="Date Placeholder 2"/>
          <p:cNvSpPr>
            <a:spLocks noGrp="1"/>
          </p:cNvSpPr>
          <p:nvPr>
            <p:ph type="dt" idx="1"/>
          </p:nvPr>
        </p:nvSpPr>
        <p:spPr>
          <a:xfrm>
            <a:off x="3971388" y="0"/>
            <a:ext cx="3037413" cy="464180"/>
          </a:xfrm>
          <a:prstGeom prst="rect">
            <a:avLst/>
          </a:prstGeom>
        </p:spPr>
        <p:txBody>
          <a:bodyPr vert="horz" lIns="91575" tIns="45790" rIns="91575" bIns="45790" rtlCol="0"/>
          <a:lstStyle>
            <a:lvl1pPr algn="r">
              <a:defRPr sz="1200">
                <a:latin typeface="Arial" charset="0"/>
              </a:defRPr>
            </a:lvl1pPr>
          </a:lstStyle>
          <a:p>
            <a:pPr>
              <a:defRPr/>
            </a:pPr>
            <a:fld id="{A5ABBAF9-7BDA-422D-BEAF-CB9FB0A82248}" type="datetimeFigureOut">
              <a:rPr lang="en-US"/>
              <a:pPr>
                <a:defRPr/>
              </a:pPr>
              <a:t>3/12/2026</a:t>
            </a:fld>
            <a:endParaRPr lang="en-US" dirty="0"/>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1575" tIns="45790" rIns="91575" bIns="45790" rtlCol="0" anchor="ctr"/>
          <a:lstStyle/>
          <a:p>
            <a:pPr lvl="0"/>
            <a:endParaRPr lang="en-US" noProof="0" dirty="0"/>
          </a:p>
        </p:txBody>
      </p:sp>
      <p:sp>
        <p:nvSpPr>
          <p:cNvPr id="5" name="Notes Placeholder 4"/>
          <p:cNvSpPr>
            <a:spLocks noGrp="1"/>
          </p:cNvSpPr>
          <p:nvPr>
            <p:ph type="body" sz="quarter" idx="3"/>
          </p:nvPr>
        </p:nvSpPr>
        <p:spPr>
          <a:xfrm>
            <a:off x="700083" y="4414512"/>
            <a:ext cx="5610242" cy="4184020"/>
          </a:xfrm>
          <a:prstGeom prst="rect">
            <a:avLst/>
          </a:prstGeom>
        </p:spPr>
        <p:txBody>
          <a:bodyPr vert="horz" lIns="91575" tIns="45790" rIns="91575" bIns="4579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830621"/>
            <a:ext cx="3037413" cy="464180"/>
          </a:xfrm>
          <a:prstGeom prst="rect">
            <a:avLst/>
          </a:prstGeom>
        </p:spPr>
        <p:txBody>
          <a:bodyPr vert="horz" lIns="91575" tIns="45790" rIns="91575" bIns="45790" rtlCol="0" anchor="b"/>
          <a:lstStyle>
            <a:lvl1pPr algn="l">
              <a:defRPr sz="1200">
                <a:latin typeface="Arial" charset="0"/>
              </a:defRPr>
            </a:lvl1pPr>
          </a:lstStyle>
          <a:p>
            <a:pPr>
              <a:defRPr/>
            </a:pPr>
            <a:endParaRPr lang="en-US" dirty="0"/>
          </a:p>
        </p:txBody>
      </p:sp>
      <p:sp>
        <p:nvSpPr>
          <p:cNvPr id="7" name="Slide Number Placeholder 6"/>
          <p:cNvSpPr>
            <a:spLocks noGrp="1"/>
          </p:cNvSpPr>
          <p:nvPr>
            <p:ph type="sldNum" sz="quarter" idx="5"/>
          </p:nvPr>
        </p:nvSpPr>
        <p:spPr>
          <a:xfrm>
            <a:off x="3971388" y="8830621"/>
            <a:ext cx="3037413" cy="464180"/>
          </a:xfrm>
          <a:prstGeom prst="rect">
            <a:avLst/>
          </a:prstGeom>
        </p:spPr>
        <p:txBody>
          <a:bodyPr vert="horz" lIns="91575" tIns="45790" rIns="91575" bIns="45790" rtlCol="0" anchor="b"/>
          <a:lstStyle>
            <a:lvl1pPr algn="r">
              <a:defRPr sz="1200">
                <a:latin typeface="Arial" charset="0"/>
              </a:defRPr>
            </a:lvl1pPr>
          </a:lstStyle>
          <a:p>
            <a:pPr>
              <a:defRPr/>
            </a:pPr>
            <a:fld id="{54F17513-A8A8-4192-8AF0-F89F32B1EC71}" type="slidenum">
              <a:rPr lang="en-US"/>
              <a:pPr>
                <a:defRPr/>
              </a:pPr>
              <a:t>‹#›</a:t>
            </a:fld>
            <a:endParaRPr lang="en-US" dirty="0"/>
          </a:p>
        </p:txBody>
      </p:sp>
    </p:spTree>
    <p:extLst>
      <p:ext uri="{BB962C8B-B14F-4D97-AF65-F5344CB8AC3E}">
        <p14:creationId xmlns:p14="http://schemas.microsoft.com/office/powerpoint/2010/main" val="11170410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6614" algn="l" rtl="0" eaLnBrk="0" fontAlgn="base" hangingPunct="0">
      <a:spcBef>
        <a:spcPct val="30000"/>
      </a:spcBef>
      <a:spcAft>
        <a:spcPct val="0"/>
      </a:spcAft>
      <a:defRPr sz="1200" kern="1200">
        <a:solidFill>
          <a:schemeClr val="tx1"/>
        </a:solidFill>
        <a:latin typeface="+mn-lt"/>
        <a:ea typeface="+mn-ea"/>
        <a:cs typeface="+mn-cs"/>
      </a:defRPr>
    </a:lvl2pPr>
    <a:lvl3pPr marL="913224" algn="l" rtl="0" eaLnBrk="0" fontAlgn="base" hangingPunct="0">
      <a:spcBef>
        <a:spcPct val="30000"/>
      </a:spcBef>
      <a:spcAft>
        <a:spcPct val="0"/>
      </a:spcAft>
      <a:defRPr sz="1200" kern="1200">
        <a:solidFill>
          <a:schemeClr val="tx1"/>
        </a:solidFill>
        <a:latin typeface="+mn-lt"/>
        <a:ea typeface="+mn-ea"/>
        <a:cs typeface="+mn-cs"/>
      </a:defRPr>
    </a:lvl3pPr>
    <a:lvl4pPr marL="1369838" algn="l" rtl="0" eaLnBrk="0" fontAlgn="base" hangingPunct="0">
      <a:spcBef>
        <a:spcPct val="30000"/>
      </a:spcBef>
      <a:spcAft>
        <a:spcPct val="0"/>
      </a:spcAft>
      <a:defRPr sz="1200" kern="1200">
        <a:solidFill>
          <a:schemeClr val="tx1"/>
        </a:solidFill>
        <a:latin typeface="+mn-lt"/>
        <a:ea typeface="+mn-ea"/>
        <a:cs typeface="+mn-cs"/>
      </a:defRPr>
    </a:lvl4pPr>
    <a:lvl5pPr marL="1826449" algn="l" rtl="0" eaLnBrk="0" fontAlgn="base" hangingPunct="0">
      <a:spcBef>
        <a:spcPct val="30000"/>
      </a:spcBef>
      <a:spcAft>
        <a:spcPct val="0"/>
      </a:spcAft>
      <a:defRPr sz="1200" kern="1200">
        <a:solidFill>
          <a:schemeClr val="tx1"/>
        </a:solidFill>
        <a:latin typeface="+mn-lt"/>
        <a:ea typeface="+mn-ea"/>
        <a:cs typeface="+mn-cs"/>
      </a:defRPr>
    </a:lvl5pPr>
    <a:lvl6pPr marL="2283063" algn="l" defTabSz="913224" rtl="0" eaLnBrk="1" latinLnBrk="0" hangingPunct="1">
      <a:defRPr sz="1200" kern="1200">
        <a:solidFill>
          <a:schemeClr val="tx1"/>
        </a:solidFill>
        <a:latin typeface="+mn-lt"/>
        <a:ea typeface="+mn-ea"/>
        <a:cs typeface="+mn-cs"/>
      </a:defRPr>
    </a:lvl6pPr>
    <a:lvl7pPr marL="2739672" algn="l" defTabSz="913224" rtl="0" eaLnBrk="1" latinLnBrk="0" hangingPunct="1">
      <a:defRPr sz="1200" kern="1200">
        <a:solidFill>
          <a:schemeClr val="tx1"/>
        </a:solidFill>
        <a:latin typeface="+mn-lt"/>
        <a:ea typeface="+mn-ea"/>
        <a:cs typeface="+mn-cs"/>
      </a:defRPr>
    </a:lvl7pPr>
    <a:lvl8pPr marL="3196287" algn="l" defTabSz="913224" rtl="0" eaLnBrk="1" latinLnBrk="0" hangingPunct="1">
      <a:defRPr sz="1200" kern="1200">
        <a:solidFill>
          <a:schemeClr val="tx1"/>
        </a:solidFill>
        <a:latin typeface="+mn-lt"/>
        <a:ea typeface="+mn-ea"/>
        <a:cs typeface="+mn-cs"/>
      </a:defRPr>
    </a:lvl8pPr>
    <a:lvl9pPr marL="3652897" algn="l" defTabSz="91322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E18F7C9-AA92-4C62-B652-0FCFEC93E0C6}" type="slidenum">
              <a:rPr lang="en-US" smtClean="0">
                <a:solidFill>
                  <a:srgbClr val="000000"/>
                </a:solidFill>
              </a:rPr>
              <a:pPr fontAlgn="base">
                <a:spcBef>
                  <a:spcPct val="0"/>
                </a:spcBef>
                <a:spcAft>
                  <a:spcPct val="0"/>
                </a:spcAft>
                <a:defRPr/>
              </a:pPr>
              <a:t>1</a:t>
            </a:fld>
            <a:endParaRPr lang="en-US" dirty="0">
              <a:solidFill>
                <a:srgbClr val="000000"/>
              </a:solidFill>
            </a:endParaRPr>
          </a:p>
        </p:txBody>
      </p:sp>
      <p:sp>
        <p:nvSpPr>
          <p:cNvPr id="28675" name="Rectangle 2"/>
          <p:cNvSpPr>
            <a:spLocks noGrp="1" noRot="1" noChangeAspect="1" noChangeArrowheads="1" noTextEdit="1"/>
          </p:cNvSpPr>
          <p:nvPr>
            <p:ph type="sldImg"/>
          </p:nvPr>
        </p:nvSpPr>
        <p:spPr bwMode="auto">
          <a:xfrm>
            <a:off x="1208088" y="695325"/>
            <a:ext cx="4600575" cy="3451225"/>
          </a:xfrm>
          <a:noFill/>
          <a:ln>
            <a:solidFill>
              <a:srgbClr val="000000"/>
            </a:solidFill>
            <a:miter lim="800000"/>
            <a:headEnd/>
            <a:tailEnd/>
          </a:ln>
        </p:spPr>
      </p:sp>
      <p:sp>
        <p:nvSpPr>
          <p:cNvPr id="28676" name="Rectangle 3"/>
          <p:cNvSpPr>
            <a:spLocks noGrp="1" noChangeArrowheads="1"/>
          </p:cNvSpPr>
          <p:nvPr>
            <p:ph type="body" idx="1"/>
          </p:nvPr>
        </p:nvSpPr>
        <p:spPr bwMode="auto">
          <a:xfrm>
            <a:off x="922761" y="4380900"/>
            <a:ext cx="5164883" cy="4220834"/>
          </a:xfrm>
          <a:noFill/>
        </p:spPr>
        <p:txBody>
          <a:bodyPr wrap="square" numCol="1" anchor="t" anchorCtr="0" compatLnSpc="1">
            <a:prstTxWarp prst="textNoShape">
              <a:avLst/>
            </a:prstTxWarp>
          </a:bodyPr>
          <a:lstStyle/>
          <a:p>
            <a:pPr lvl="0" eaLnBrk="1" hangingPunct="1">
              <a:spcBef>
                <a:spcPct val="0"/>
              </a:spcBef>
            </a:pPr>
            <a:r>
              <a:rPr lang="en-US"/>
              <a:t>.</a:t>
            </a:r>
            <a:endParaRPr lang="en-US" dirty="0">
              <a:latin typeface="Courier (W1)"/>
            </a:endParaRPr>
          </a:p>
        </p:txBody>
      </p:sp>
    </p:spTree>
    <p:extLst>
      <p:ext uri="{BB962C8B-B14F-4D97-AF65-F5344CB8AC3E}">
        <p14:creationId xmlns:p14="http://schemas.microsoft.com/office/powerpoint/2010/main" val="2659104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757DD-7F79-DFB7-FD4E-DCDD2CDBE9FB}"/>
            </a:ext>
          </a:extLst>
        </p:cNvPr>
        <p:cNvGrpSpPr/>
        <p:nvPr/>
      </p:nvGrpSpPr>
      <p:grpSpPr>
        <a:xfrm>
          <a:off x="0" y="0"/>
          <a:ext cx="0" cy="0"/>
          <a:chOff x="0" y="0"/>
          <a:chExt cx="0" cy="0"/>
        </a:xfrm>
      </p:grpSpPr>
      <p:sp>
        <p:nvSpPr>
          <p:cNvPr id="171010" name="Rectangle 7">
            <a:extLst>
              <a:ext uri="{FF2B5EF4-FFF2-40B4-BE49-F238E27FC236}">
                <a16:creationId xmlns:a16="http://schemas.microsoft.com/office/drawing/2014/main" id="{9321A2E2-369D-2786-2F01-F5E9AC270A25}"/>
              </a:ext>
            </a:extLst>
          </p:cNvPr>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E18F7C9-AA92-4C62-B652-0FCFEC93E0C6}" type="slidenum">
              <a:rPr lang="en-US" smtClean="0">
                <a:solidFill>
                  <a:srgbClr val="000000"/>
                </a:solidFill>
              </a:rPr>
              <a:pPr fontAlgn="base">
                <a:spcBef>
                  <a:spcPct val="0"/>
                </a:spcBef>
                <a:spcAft>
                  <a:spcPct val="0"/>
                </a:spcAft>
                <a:defRPr/>
              </a:pPr>
              <a:t>2</a:t>
            </a:fld>
            <a:endParaRPr lang="en-US" dirty="0">
              <a:solidFill>
                <a:srgbClr val="000000"/>
              </a:solidFill>
            </a:endParaRPr>
          </a:p>
        </p:txBody>
      </p:sp>
      <p:sp>
        <p:nvSpPr>
          <p:cNvPr id="28675" name="Rectangle 2">
            <a:extLst>
              <a:ext uri="{FF2B5EF4-FFF2-40B4-BE49-F238E27FC236}">
                <a16:creationId xmlns:a16="http://schemas.microsoft.com/office/drawing/2014/main" id="{3570D5B0-FDC2-2559-ED28-0EC90F88E2B9}"/>
              </a:ext>
            </a:extLst>
          </p:cNvPr>
          <p:cNvSpPr>
            <a:spLocks noGrp="1" noRot="1" noChangeAspect="1" noChangeArrowheads="1" noTextEdit="1"/>
          </p:cNvSpPr>
          <p:nvPr>
            <p:ph type="sldImg"/>
          </p:nvPr>
        </p:nvSpPr>
        <p:spPr bwMode="auto">
          <a:xfrm>
            <a:off x="1208088" y="695325"/>
            <a:ext cx="4600575" cy="3451225"/>
          </a:xfrm>
          <a:noFill/>
          <a:ln>
            <a:solidFill>
              <a:srgbClr val="000000"/>
            </a:solidFill>
            <a:miter lim="800000"/>
            <a:headEnd/>
            <a:tailEnd/>
          </a:ln>
        </p:spPr>
      </p:sp>
      <p:sp>
        <p:nvSpPr>
          <p:cNvPr id="28676" name="Rectangle 3">
            <a:extLst>
              <a:ext uri="{FF2B5EF4-FFF2-40B4-BE49-F238E27FC236}">
                <a16:creationId xmlns:a16="http://schemas.microsoft.com/office/drawing/2014/main" id="{8C11E035-4428-DDB8-F0CA-8D99C0BEE137}"/>
              </a:ext>
            </a:extLst>
          </p:cNvPr>
          <p:cNvSpPr>
            <a:spLocks noGrp="1" noChangeArrowheads="1"/>
          </p:cNvSpPr>
          <p:nvPr>
            <p:ph type="body" idx="1"/>
          </p:nvPr>
        </p:nvSpPr>
        <p:spPr bwMode="auto">
          <a:xfrm>
            <a:off x="922761" y="4380900"/>
            <a:ext cx="5164883" cy="4220834"/>
          </a:xfrm>
          <a:noFill/>
        </p:spPr>
        <p:txBody>
          <a:bodyPr wrap="square" numCol="1" anchor="t" anchorCtr="0" compatLnSpc="1">
            <a:prstTxWarp prst="textNoShape">
              <a:avLst/>
            </a:prstTxWarp>
          </a:bodyPr>
          <a:lstStyle/>
          <a:p>
            <a:pPr lvl="0" eaLnBrk="1" hangingPunct="1">
              <a:spcBef>
                <a:spcPct val="0"/>
              </a:spcBef>
            </a:pPr>
            <a:r>
              <a:rPr lang="en-US"/>
              <a:t>.</a:t>
            </a:r>
            <a:endParaRPr lang="en-US" dirty="0">
              <a:latin typeface="Courier (W1)"/>
            </a:endParaRPr>
          </a:p>
        </p:txBody>
      </p:sp>
    </p:spTree>
    <p:extLst>
      <p:ext uri="{BB962C8B-B14F-4D97-AF65-F5344CB8AC3E}">
        <p14:creationId xmlns:p14="http://schemas.microsoft.com/office/powerpoint/2010/main" val="2681486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379E5-3D6C-D557-824C-285FCA6C6568}"/>
            </a:ext>
          </a:extLst>
        </p:cNvPr>
        <p:cNvGrpSpPr/>
        <p:nvPr/>
      </p:nvGrpSpPr>
      <p:grpSpPr>
        <a:xfrm>
          <a:off x="0" y="0"/>
          <a:ext cx="0" cy="0"/>
          <a:chOff x="0" y="0"/>
          <a:chExt cx="0" cy="0"/>
        </a:xfrm>
      </p:grpSpPr>
      <p:sp>
        <p:nvSpPr>
          <p:cNvPr id="171010" name="Rectangle 7">
            <a:extLst>
              <a:ext uri="{FF2B5EF4-FFF2-40B4-BE49-F238E27FC236}">
                <a16:creationId xmlns:a16="http://schemas.microsoft.com/office/drawing/2014/main" id="{C63C40EC-962D-3F7E-E89A-DB2C5F4FA69F}"/>
              </a:ext>
            </a:extLst>
          </p:cNvPr>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E18F7C9-AA92-4C62-B652-0FCFEC93E0C6}" type="slidenum">
              <a:rPr lang="en-US" smtClean="0">
                <a:solidFill>
                  <a:srgbClr val="000000"/>
                </a:solidFill>
              </a:rPr>
              <a:pPr fontAlgn="base">
                <a:spcBef>
                  <a:spcPct val="0"/>
                </a:spcBef>
                <a:spcAft>
                  <a:spcPct val="0"/>
                </a:spcAft>
                <a:defRPr/>
              </a:pPr>
              <a:t>3</a:t>
            </a:fld>
            <a:endParaRPr lang="en-US" dirty="0">
              <a:solidFill>
                <a:srgbClr val="000000"/>
              </a:solidFill>
            </a:endParaRPr>
          </a:p>
        </p:txBody>
      </p:sp>
      <p:sp>
        <p:nvSpPr>
          <p:cNvPr id="28675" name="Rectangle 2">
            <a:extLst>
              <a:ext uri="{FF2B5EF4-FFF2-40B4-BE49-F238E27FC236}">
                <a16:creationId xmlns:a16="http://schemas.microsoft.com/office/drawing/2014/main" id="{7A2FD743-52FA-71E8-E327-F673A9183BA7}"/>
              </a:ext>
            </a:extLst>
          </p:cNvPr>
          <p:cNvSpPr>
            <a:spLocks noGrp="1" noRot="1" noChangeAspect="1" noChangeArrowheads="1" noTextEdit="1"/>
          </p:cNvSpPr>
          <p:nvPr>
            <p:ph type="sldImg"/>
          </p:nvPr>
        </p:nvSpPr>
        <p:spPr bwMode="auto">
          <a:xfrm>
            <a:off x="1208088" y="695325"/>
            <a:ext cx="4600575" cy="3451225"/>
          </a:xfrm>
          <a:noFill/>
          <a:ln>
            <a:solidFill>
              <a:srgbClr val="000000"/>
            </a:solidFill>
            <a:miter lim="800000"/>
            <a:headEnd/>
            <a:tailEnd/>
          </a:ln>
        </p:spPr>
      </p:sp>
      <p:sp>
        <p:nvSpPr>
          <p:cNvPr id="28676" name="Rectangle 3">
            <a:extLst>
              <a:ext uri="{FF2B5EF4-FFF2-40B4-BE49-F238E27FC236}">
                <a16:creationId xmlns:a16="http://schemas.microsoft.com/office/drawing/2014/main" id="{E62DD1D2-D544-6B27-EDA3-EFD63E3D7E25}"/>
              </a:ext>
            </a:extLst>
          </p:cNvPr>
          <p:cNvSpPr>
            <a:spLocks noGrp="1" noChangeArrowheads="1"/>
          </p:cNvSpPr>
          <p:nvPr>
            <p:ph type="body" idx="1"/>
          </p:nvPr>
        </p:nvSpPr>
        <p:spPr bwMode="auto">
          <a:xfrm>
            <a:off x="922761" y="4380900"/>
            <a:ext cx="5164883" cy="4220834"/>
          </a:xfrm>
          <a:noFill/>
        </p:spPr>
        <p:txBody>
          <a:bodyPr wrap="square" numCol="1" anchor="t" anchorCtr="0" compatLnSpc="1">
            <a:prstTxWarp prst="textNoShape">
              <a:avLst/>
            </a:prstTxWarp>
          </a:bodyPr>
          <a:lstStyle/>
          <a:p>
            <a:pPr lvl="0" eaLnBrk="1" hangingPunct="1">
              <a:spcBef>
                <a:spcPct val="0"/>
              </a:spcBef>
            </a:pPr>
            <a:r>
              <a:rPr lang="en-US" dirty="0"/>
              <a:t>.</a:t>
            </a:r>
            <a:endParaRPr lang="en-US" dirty="0">
              <a:latin typeface="Courier (W1)"/>
            </a:endParaRPr>
          </a:p>
        </p:txBody>
      </p:sp>
    </p:spTree>
    <p:extLst>
      <p:ext uri="{BB962C8B-B14F-4D97-AF65-F5344CB8AC3E}">
        <p14:creationId xmlns:p14="http://schemas.microsoft.com/office/powerpoint/2010/main" val="6374975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Picture 17" descr="Text&#10;&#10;AI-generated content may be incorrect.">
            <a:extLst>
              <a:ext uri="{FF2B5EF4-FFF2-40B4-BE49-F238E27FC236}">
                <a16:creationId xmlns:a16="http://schemas.microsoft.com/office/drawing/2014/main" id="{78F54079-DC3A-A63B-DB3A-3BF0A31D02C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90866" y="574549"/>
            <a:ext cx="1534578" cy="816640"/>
          </a:xfrm>
          <a:prstGeom prst="rect">
            <a:avLst/>
          </a:prstGeom>
        </p:spPr>
      </p:pic>
      <p:pic>
        <p:nvPicPr>
          <p:cNvPr id="19" name="Picture 18" descr="Logo&#10;&#10;AI-generated content may be incorrect.">
            <a:extLst>
              <a:ext uri="{FF2B5EF4-FFF2-40B4-BE49-F238E27FC236}">
                <a16:creationId xmlns:a16="http://schemas.microsoft.com/office/drawing/2014/main" id="{E04256E7-D7CF-87B0-6BF3-89BCACE9B6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1919" y="333138"/>
            <a:ext cx="1341215" cy="1235903"/>
          </a:xfrm>
          <a:prstGeom prst="rect">
            <a:avLst/>
          </a:prstGeom>
        </p:spPr>
      </p:pic>
    </p:spTree>
    <p:extLst>
      <p:ext uri="{BB962C8B-B14F-4D97-AF65-F5344CB8AC3E}">
        <p14:creationId xmlns:p14="http://schemas.microsoft.com/office/powerpoint/2010/main" val="112878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33" y="3739893"/>
            <a:ext cx="8991600" cy="3035814"/>
          </a:xfrm>
          <a:prstGeom prst="rect">
            <a:avLst/>
          </a:prstGeom>
        </p:spPr>
      </p:pic>
      <p:sp>
        <p:nvSpPr>
          <p:cNvPr id="3" name="Content Placeholder 2"/>
          <p:cNvSpPr>
            <a:spLocks noGrp="1"/>
          </p:cNvSpPr>
          <p:nvPr>
            <p:ph idx="1"/>
          </p:nvPr>
        </p:nvSpPr>
        <p:spPr>
          <a:xfrm>
            <a:off x="280087" y="1296456"/>
            <a:ext cx="8547042" cy="4351338"/>
          </a:xfrm>
          <a:prstGeom prst="rect">
            <a:avLst/>
          </a:prstGeom>
        </p:spPr>
        <p:txBody>
          <a:bodyPr/>
          <a:lstStyle>
            <a:lvl1pPr>
              <a:defRPr sz="2400"/>
            </a:lvl1pPr>
            <a:lvl2pPr marL="685800" indent="-228600">
              <a:buFont typeface="Calibri" panose="020F0502020204030204" pitchFamily="34" charset="0"/>
              <a:buChar char="⁻"/>
              <a:defRPr sz="2000"/>
            </a:lvl2pPr>
            <a:lvl3pPr>
              <a:defRPr sz="1800"/>
            </a:lvl3pPr>
            <a:lvl4pPr marL="1600200" indent="-228600">
              <a:buFont typeface="Calibri" panose="020F0502020204030204" pitchFamily="34" charset="0"/>
              <a:buChar char="⁻"/>
              <a:defRPr sz="1600"/>
            </a:lvl4pPr>
            <a:lvl5pPr marL="2057400" indent="-228600">
              <a:buFont typeface="Arial" panose="020B0604020202020204" pitchFamily="34" charset="0"/>
              <a:buChar cha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p:cNvSpPr txBox="1">
            <a:spLocks/>
          </p:cNvSpPr>
          <p:nvPr userDrawn="1"/>
        </p:nvSpPr>
        <p:spPr>
          <a:xfrm>
            <a:off x="1588554" y="516801"/>
            <a:ext cx="6323614" cy="6191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b="1" dirty="0">
              <a:latin typeface="Georgia" panose="02040502050405020303" pitchFamily="18" charset="0"/>
            </a:endParaRPr>
          </a:p>
        </p:txBody>
      </p:sp>
      <p:pic>
        <p:nvPicPr>
          <p:cNvPr id="11" name="Picture 10" descr="Logo&#10;&#10;AI-generated content may be incorrect.">
            <a:extLst>
              <a:ext uri="{FF2B5EF4-FFF2-40B4-BE49-F238E27FC236}">
                <a16:creationId xmlns:a16="http://schemas.microsoft.com/office/drawing/2014/main" id="{8AA92CBE-AECF-37E6-1F16-8B22F6B57FB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88831" y="143094"/>
            <a:ext cx="1127940" cy="1039374"/>
          </a:xfrm>
          <a:prstGeom prst="rect">
            <a:avLst/>
          </a:prstGeom>
        </p:spPr>
      </p:pic>
      <p:sp>
        <p:nvSpPr>
          <p:cNvPr id="21" name="Title 1">
            <a:extLst>
              <a:ext uri="{FF2B5EF4-FFF2-40B4-BE49-F238E27FC236}">
                <a16:creationId xmlns:a16="http://schemas.microsoft.com/office/drawing/2014/main" id="{10DA2FF5-8056-3C5B-994A-FB3B5BADF419}"/>
              </a:ext>
            </a:extLst>
          </p:cNvPr>
          <p:cNvSpPr>
            <a:spLocks noGrp="1"/>
          </p:cNvSpPr>
          <p:nvPr>
            <p:ph type="title"/>
          </p:nvPr>
        </p:nvSpPr>
        <p:spPr>
          <a:xfrm>
            <a:off x="1659616" y="63371"/>
            <a:ext cx="7685140" cy="1325563"/>
          </a:xfrm>
          <a:prstGeom prst="rect">
            <a:avLst/>
          </a:prstGeom>
        </p:spPr>
        <p:txBody>
          <a:bodyPr/>
          <a:lstStyle/>
          <a:p>
            <a:r>
              <a:rPr lang="en-US" dirty="0"/>
              <a:t>Click to edit Master title style</a:t>
            </a:r>
          </a:p>
        </p:txBody>
      </p:sp>
      <p:cxnSp>
        <p:nvCxnSpPr>
          <p:cNvPr id="22" name="Straight Connector 21">
            <a:extLst>
              <a:ext uri="{FF2B5EF4-FFF2-40B4-BE49-F238E27FC236}">
                <a16:creationId xmlns:a16="http://schemas.microsoft.com/office/drawing/2014/main" id="{DEFCA74E-E24A-CBE0-94D1-B31CE4ACA33B}"/>
              </a:ext>
            </a:extLst>
          </p:cNvPr>
          <p:cNvCxnSpPr>
            <a:cxnSpLocks/>
          </p:cNvCxnSpPr>
          <p:nvPr userDrawn="1"/>
        </p:nvCxnSpPr>
        <p:spPr>
          <a:xfrm>
            <a:off x="1659616" y="990212"/>
            <a:ext cx="6050347" cy="0"/>
          </a:xfrm>
          <a:prstGeom prst="line">
            <a:avLst/>
          </a:prstGeom>
          <a:ln w="25400">
            <a:gradFill>
              <a:gsLst>
                <a:gs pos="0">
                  <a:schemeClr val="accent1">
                    <a:lumMod val="5000"/>
                    <a:lumOff val="95000"/>
                    <a:alpha val="0"/>
                  </a:schemeClr>
                </a:gs>
                <a:gs pos="50000">
                  <a:srgbClr val="000058"/>
                </a:gs>
                <a:gs pos="25000">
                  <a:srgbClr val="6C6DA0"/>
                </a:gs>
                <a:gs pos="96000">
                  <a:srgbClr val="6971A4"/>
                </a:gs>
                <a:gs pos="100000">
                  <a:schemeClr val="accent1">
                    <a:lumMod val="30000"/>
                    <a:lumOff val="70000"/>
                    <a:alpha val="0"/>
                  </a:schemeClr>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23" name="Picture 22" descr="Text&#10;&#10;AI-generated content may be incorrect.">
            <a:extLst>
              <a:ext uri="{FF2B5EF4-FFF2-40B4-BE49-F238E27FC236}">
                <a16:creationId xmlns:a16="http://schemas.microsoft.com/office/drawing/2014/main" id="{B26AEA1F-15A2-04CA-5EB7-ABF5BA6EB84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2649" y="364669"/>
            <a:ext cx="1216030" cy="647122"/>
          </a:xfrm>
          <a:prstGeom prst="rect">
            <a:avLst/>
          </a:prstGeom>
        </p:spPr>
      </p:pic>
      <p:sp>
        <p:nvSpPr>
          <p:cNvPr id="12" name="Slide Number Placeholder 5"/>
          <p:cNvSpPr txBox="1">
            <a:spLocks/>
          </p:cNvSpPr>
          <p:nvPr userDrawn="1"/>
        </p:nvSpPr>
        <p:spPr>
          <a:xfrm>
            <a:off x="6800850" y="6583374"/>
            <a:ext cx="2133600" cy="138101"/>
          </a:xfrm>
          <a:prstGeom prst="rect">
            <a:avLst/>
          </a:prstGeom>
        </p:spPr>
        <p:txBody>
          <a:bodyPr vert="horz" lIns="91322" tIns="0" rIns="91322" bIns="0" rtlCol="0" anchor="ctr"/>
          <a:lstStyle>
            <a:defPPr>
              <a:defRPr lang="en-US"/>
            </a:defPPr>
            <a:lvl1pPr marL="0" algn="r" defTabSz="457200" rtl="0" eaLnBrk="1" fontAlgn="auto" latinLnBrk="0" hangingPunct="1">
              <a:spcBef>
                <a:spcPts val="0"/>
              </a:spcBef>
              <a:spcAft>
                <a:spcPts val="0"/>
              </a:spcAft>
              <a:defRPr sz="900" kern="1200">
                <a:solidFill>
                  <a:prstClr val="black">
                    <a:tint val="75000"/>
                  </a:prst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91AB5B9D-37E5-4B4D-B256-FEE0AD9AB671}" type="slidenum">
              <a:rPr lang="en-US" smtClean="0">
                <a:solidFill>
                  <a:schemeClr val="tx1"/>
                </a:solidFill>
              </a:rPr>
              <a:pPr>
                <a:defRPr/>
              </a:pPr>
              <a:t>‹#›</a:t>
            </a:fld>
            <a:endParaRPr lang="en-US" dirty="0">
              <a:solidFill>
                <a:schemeClr val="tx1"/>
              </a:solidFill>
            </a:endParaRPr>
          </a:p>
        </p:txBody>
      </p:sp>
    </p:spTree>
    <p:extLst>
      <p:ext uri="{BB962C8B-B14F-4D97-AF65-F5344CB8AC3E}">
        <p14:creationId xmlns:p14="http://schemas.microsoft.com/office/powerpoint/2010/main" val="2661359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19754" y="1272294"/>
            <a:ext cx="3886200" cy="4351338"/>
          </a:xfrm>
          <a:prstGeom prst="rect">
            <a:avLst/>
          </a:prstGeom>
        </p:spPr>
        <p:txBody>
          <a:bodyPr/>
          <a:lstStyle>
            <a:lvl1pPr>
              <a:defRPr sz="2400"/>
            </a:lvl1pPr>
            <a:lvl2pPr>
              <a:defRPr sz="2000"/>
            </a:lvl2pPr>
            <a:lvl3pPr marL="1143000" indent="-228600">
              <a:buFont typeface="Calibri" panose="020F0502020204030204" pitchFamily="34" charset="0"/>
              <a:buChar char="⁻"/>
              <a:defRPr sz="1800"/>
            </a:lvl3pPr>
            <a:lvl4pPr>
              <a:defRPr sz="1600"/>
            </a:lvl4pPr>
            <a:lvl5pPr marL="2057400" indent="-228600">
              <a:buFont typeface="Calibri" panose="020F0502020204030204" pitchFamily="34" charset="0"/>
              <a:buChar cha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72000" y="1272294"/>
            <a:ext cx="3886200" cy="4351338"/>
          </a:xfrm>
          <a:prstGeom prst="rect">
            <a:avLst/>
          </a:prstGeom>
        </p:spPr>
        <p:txBody>
          <a:bodyPr/>
          <a:lstStyle>
            <a:lvl1pPr>
              <a:defRPr sz="2400"/>
            </a:lvl1pPr>
            <a:lvl2pPr>
              <a:defRPr sz="2000"/>
            </a:lvl2pPr>
            <a:lvl3pPr marL="1143000" indent="-228600">
              <a:buFont typeface="Calibri" panose="020F0502020204030204" pitchFamily="34" charset="0"/>
              <a:buChar char="⁻"/>
              <a:defRPr sz="1800"/>
            </a:lvl3pPr>
            <a:lvl4pPr>
              <a:defRPr sz="1600"/>
            </a:lvl4pPr>
            <a:lvl5pPr marL="2057400" indent="-228600">
              <a:buFont typeface="Calibri" panose="020F0502020204030204" pitchFamily="34" charset="0"/>
              <a:buChar cha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DEF8899F-E25E-3D65-D3B8-C141D5FFBE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33" y="3739893"/>
            <a:ext cx="8991600" cy="3035814"/>
          </a:xfrm>
          <a:prstGeom prst="rect">
            <a:avLst/>
          </a:prstGeom>
        </p:spPr>
      </p:pic>
      <p:pic>
        <p:nvPicPr>
          <p:cNvPr id="13" name="Picture 12" descr="Logo&#10;&#10;AI-generated content may be incorrect.">
            <a:extLst>
              <a:ext uri="{FF2B5EF4-FFF2-40B4-BE49-F238E27FC236}">
                <a16:creationId xmlns:a16="http://schemas.microsoft.com/office/drawing/2014/main" id="{61CFE119-F86D-ABE9-E57E-0CBB7B7F8DB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88831" y="143094"/>
            <a:ext cx="1127940" cy="1039374"/>
          </a:xfrm>
          <a:prstGeom prst="rect">
            <a:avLst/>
          </a:prstGeom>
        </p:spPr>
      </p:pic>
      <p:sp>
        <p:nvSpPr>
          <p:cNvPr id="14" name="Title 1">
            <a:extLst>
              <a:ext uri="{FF2B5EF4-FFF2-40B4-BE49-F238E27FC236}">
                <a16:creationId xmlns:a16="http://schemas.microsoft.com/office/drawing/2014/main" id="{73DF3790-EB66-3121-E46E-DB723A9D2CE7}"/>
              </a:ext>
            </a:extLst>
          </p:cNvPr>
          <p:cNvSpPr>
            <a:spLocks noGrp="1"/>
          </p:cNvSpPr>
          <p:nvPr>
            <p:ph type="title"/>
          </p:nvPr>
        </p:nvSpPr>
        <p:spPr>
          <a:xfrm>
            <a:off x="1659616" y="63371"/>
            <a:ext cx="7685140" cy="1325563"/>
          </a:xfrm>
          <a:prstGeom prst="rect">
            <a:avLst/>
          </a:prstGeom>
        </p:spPr>
        <p:txBody>
          <a:bodyPr/>
          <a:lstStyle/>
          <a:p>
            <a:r>
              <a:rPr lang="en-US" dirty="0"/>
              <a:t>Click to edit Master title style</a:t>
            </a:r>
          </a:p>
        </p:txBody>
      </p:sp>
      <p:pic>
        <p:nvPicPr>
          <p:cNvPr id="16" name="Picture 15" descr="Text&#10;&#10;AI-generated content may be incorrect.">
            <a:extLst>
              <a:ext uri="{FF2B5EF4-FFF2-40B4-BE49-F238E27FC236}">
                <a16:creationId xmlns:a16="http://schemas.microsoft.com/office/drawing/2014/main" id="{42764ECD-2DA0-840B-1208-7301070600F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2649" y="364669"/>
            <a:ext cx="1216030" cy="647122"/>
          </a:xfrm>
          <a:prstGeom prst="rect">
            <a:avLst/>
          </a:prstGeom>
        </p:spPr>
      </p:pic>
      <p:cxnSp>
        <p:nvCxnSpPr>
          <p:cNvPr id="17" name="Straight Connector 16">
            <a:extLst>
              <a:ext uri="{FF2B5EF4-FFF2-40B4-BE49-F238E27FC236}">
                <a16:creationId xmlns:a16="http://schemas.microsoft.com/office/drawing/2014/main" id="{D4564C7F-B192-A63C-8EA7-80C686B296F6}"/>
              </a:ext>
            </a:extLst>
          </p:cNvPr>
          <p:cNvCxnSpPr>
            <a:cxnSpLocks/>
          </p:cNvCxnSpPr>
          <p:nvPr userDrawn="1"/>
        </p:nvCxnSpPr>
        <p:spPr>
          <a:xfrm>
            <a:off x="1659616" y="990212"/>
            <a:ext cx="6050347" cy="0"/>
          </a:xfrm>
          <a:prstGeom prst="line">
            <a:avLst/>
          </a:prstGeom>
          <a:ln w="25400">
            <a:gradFill>
              <a:gsLst>
                <a:gs pos="0">
                  <a:schemeClr val="accent1">
                    <a:lumMod val="5000"/>
                    <a:lumOff val="95000"/>
                    <a:alpha val="0"/>
                  </a:schemeClr>
                </a:gs>
                <a:gs pos="50000">
                  <a:srgbClr val="000058"/>
                </a:gs>
                <a:gs pos="25000">
                  <a:srgbClr val="6C6DA0"/>
                </a:gs>
                <a:gs pos="96000">
                  <a:srgbClr val="6971A4"/>
                </a:gs>
                <a:gs pos="100000">
                  <a:schemeClr val="accent1">
                    <a:lumMod val="30000"/>
                    <a:lumOff val="70000"/>
                    <a:alpha val="0"/>
                  </a:schemeClr>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0B07850C-5CF8-0AC8-57E5-773FE4F961EA}"/>
              </a:ext>
            </a:extLst>
          </p:cNvPr>
          <p:cNvSpPr txBox="1">
            <a:spLocks/>
          </p:cNvSpPr>
          <p:nvPr userDrawn="1"/>
        </p:nvSpPr>
        <p:spPr>
          <a:xfrm>
            <a:off x="6800850" y="6583374"/>
            <a:ext cx="2133600" cy="138101"/>
          </a:xfrm>
          <a:prstGeom prst="rect">
            <a:avLst/>
          </a:prstGeom>
        </p:spPr>
        <p:txBody>
          <a:bodyPr vert="horz" lIns="91322" tIns="0" rIns="91322" bIns="0" rtlCol="0" anchor="ctr"/>
          <a:lstStyle>
            <a:defPPr>
              <a:defRPr lang="en-US"/>
            </a:defPPr>
            <a:lvl1pPr marL="0" algn="r" defTabSz="457200" rtl="0" eaLnBrk="1" fontAlgn="auto" latinLnBrk="0" hangingPunct="1">
              <a:spcBef>
                <a:spcPts val="0"/>
              </a:spcBef>
              <a:spcAft>
                <a:spcPts val="0"/>
              </a:spcAft>
              <a:defRPr sz="900" kern="1200">
                <a:solidFill>
                  <a:prstClr val="black">
                    <a:tint val="75000"/>
                  </a:prst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91AB5B9D-37E5-4B4D-B256-FEE0AD9AB671}" type="slidenum">
              <a:rPr lang="en-US" smtClean="0">
                <a:solidFill>
                  <a:schemeClr val="tx1"/>
                </a:solidFill>
              </a:rPr>
              <a:pPr>
                <a:defRPr/>
              </a:pPr>
              <a:t>‹#›</a:t>
            </a:fld>
            <a:endParaRPr lang="en-US" dirty="0">
              <a:solidFill>
                <a:schemeClr val="tx1"/>
              </a:solidFill>
            </a:endParaRPr>
          </a:p>
        </p:txBody>
      </p:sp>
    </p:spTree>
    <p:extLst>
      <p:ext uri="{BB962C8B-B14F-4D97-AF65-F5344CB8AC3E}">
        <p14:creationId xmlns:p14="http://schemas.microsoft.com/office/powerpoint/2010/main" val="305910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200D38-207D-C9B5-BE38-C94EF10A86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33" y="3739893"/>
            <a:ext cx="8991600" cy="3035814"/>
          </a:xfrm>
          <a:prstGeom prst="rect">
            <a:avLst/>
          </a:prstGeom>
        </p:spPr>
      </p:pic>
      <p:pic>
        <p:nvPicPr>
          <p:cNvPr id="11" name="Picture 10" descr="Logo&#10;&#10;AI-generated content may be incorrect.">
            <a:extLst>
              <a:ext uri="{FF2B5EF4-FFF2-40B4-BE49-F238E27FC236}">
                <a16:creationId xmlns:a16="http://schemas.microsoft.com/office/drawing/2014/main" id="{9B116349-EA66-594E-8FC2-471007449FD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88831" y="143094"/>
            <a:ext cx="1127940" cy="1039374"/>
          </a:xfrm>
          <a:prstGeom prst="rect">
            <a:avLst/>
          </a:prstGeom>
        </p:spPr>
      </p:pic>
      <p:sp>
        <p:nvSpPr>
          <p:cNvPr id="12" name="Title 1">
            <a:extLst>
              <a:ext uri="{FF2B5EF4-FFF2-40B4-BE49-F238E27FC236}">
                <a16:creationId xmlns:a16="http://schemas.microsoft.com/office/drawing/2014/main" id="{53DE2624-C8F9-4E77-4442-4182670C3F75}"/>
              </a:ext>
            </a:extLst>
          </p:cNvPr>
          <p:cNvSpPr>
            <a:spLocks noGrp="1"/>
          </p:cNvSpPr>
          <p:nvPr>
            <p:ph type="title"/>
          </p:nvPr>
        </p:nvSpPr>
        <p:spPr>
          <a:xfrm>
            <a:off x="1659616" y="63371"/>
            <a:ext cx="7685140" cy="1325563"/>
          </a:xfrm>
          <a:prstGeom prst="rect">
            <a:avLst/>
          </a:prstGeom>
        </p:spPr>
        <p:txBody>
          <a:bodyPr/>
          <a:lstStyle/>
          <a:p>
            <a:r>
              <a:rPr lang="en-US" dirty="0"/>
              <a:t>Click to edit Master title style</a:t>
            </a:r>
          </a:p>
        </p:txBody>
      </p:sp>
      <p:pic>
        <p:nvPicPr>
          <p:cNvPr id="14" name="Picture 13" descr="Text&#10;&#10;AI-generated content may be incorrect.">
            <a:extLst>
              <a:ext uri="{FF2B5EF4-FFF2-40B4-BE49-F238E27FC236}">
                <a16:creationId xmlns:a16="http://schemas.microsoft.com/office/drawing/2014/main" id="{6FCE71DB-87A0-C378-DBE2-605ED1A3A0A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2649" y="364669"/>
            <a:ext cx="1216030" cy="647122"/>
          </a:xfrm>
          <a:prstGeom prst="rect">
            <a:avLst/>
          </a:prstGeom>
        </p:spPr>
      </p:pic>
      <p:cxnSp>
        <p:nvCxnSpPr>
          <p:cNvPr id="15" name="Straight Connector 14">
            <a:extLst>
              <a:ext uri="{FF2B5EF4-FFF2-40B4-BE49-F238E27FC236}">
                <a16:creationId xmlns:a16="http://schemas.microsoft.com/office/drawing/2014/main" id="{A2BAA39D-0577-C7A8-81BB-A51B88F1F294}"/>
              </a:ext>
            </a:extLst>
          </p:cNvPr>
          <p:cNvCxnSpPr>
            <a:cxnSpLocks/>
          </p:cNvCxnSpPr>
          <p:nvPr userDrawn="1"/>
        </p:nvCxnSpPr>
        <p:spPr>
          <a:xfrm>
            <a:off x="1659616" y="990212"/>
            <a:ext cx="6050347" cy="0"/>
          </a:xfrm>
          <a:prstGeom prst="line">
            <a:avLst/>
          </a:prstGeom>
          <a:ln w="25400">
            <a:gradFill>
              <a:gsLst>
                <a:gs pos="0">
                  <a:schemeClr val="accent1">
                    <a:lumMod val="5000"/>
                    <a:lumOff val="95000"/>
                    <a:alpha val="0"/>
                  </a:schemeClr>
                </a:gs>
                <a:gs pos="50000">
                  <a:srgbClr val="000058"/>
                </a:gs>
                <a:gs pos="25000">
                  <a:srgbClr val="6C6DA0"/>
                </a:gs>
                <a:gs pos="96000">
                  <a:srgbClr val="6971A4"/>
                </a:gs>
                <a:gs pos="100000">
                  <a:schemeClr val="accent1">
                    <a:lumMod val="30000"/>
                    <a:lumOff val="70000"/>
                    <a:alpha val="0"/>
                  </a:schemeClr>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9753CD1F-5ECE-8F21-4DB4-3343997EC257}"/>
              </a:ext>
            </a:extLst>
          </p:cNvPr>
          <p:cNvSpPr txBox="1">
            <a:spLocks/>
          </p:cNvSpPr>
          <p:nvPr userDrawn="1"/>
        </p:nvSpPr>
        <p:spPr>
          <a:xfrm>
            <a:off x="6800850" y="6583374"/>
            <a:ext cx="2133600" cy="138101"/>
          </a:xfrm>
          <a:prstGeom prst="rect">
            <a:avLst/>
          </a:prstGeom>
        </p:spPr>
        <p:txBody>
          <a:bodyPr vert="horz" lIns="91322" tIns="0" rIns="91322" bIns="0" rtlCol="0" anchor="ctr"/>
          <a:lstStyle>
            <a:defPPr>
              <a:defRPr lang="en-US"/>
            </a:defPPr>
            <a:lvl1pPr marL="0" algn="r" defTabSz="457200" rtl="0" eaLnBrk="1" fontAlgn="auto" latinLnBrk="0" hangingPunct="1">
              <a:spcBef>
                <a:spcPts val="0"/>
              </a:spcBef>
              <a:spcAft>
                <a:spcPts val="0"/>
              </a:spcAft>
              <a:defRPr sz="900" kern="1200">
                <a:solidFill>
                  <a:prstClr val="black">
                    <a:tint val="75000"/>
                  </a:prst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91AB5B9D-37E5-4B4D-B256-FEE0AD9AB671}" type="slidenum">
              <a:rPr lang="en-US" smtClean="0">
                <a:solidFill>
                  <a:schemeClr val="tx1"/>
                </a:solidFill>
              </a:rPr>
              <a:pPr>
                <a:defRPr/>
              </a:pPr>
              <a:t>‹#›</a:t>
            </a:fld>
            <a:endParaRPr lang="en-US" dirty="0">
              <a:solidFill>
                <a:schemeClr val="tx1"/>
              </a:solidFill>
            </a:endParaRPr>
          </a:p>
        </p:txBody>
      </p:sp>
    </p:spTree>
    <p:extLst>
      <p:ext uri="{BB962C8B-B14F-4D97-AF65-F5344CB8AC3E}">
        <p14:creationId xmlns:p14="http://schemas.microsoft.com/office/powerpoint/2010/main" val="10721499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B89103EB-AD88-37FF-1A25-5F1DE663904D}"/>
              </a:ext>
            </a:extLst>
          </p:cNvPr>
          <p:cNvSpPr txBox="1"/>
          <p:nvPr userDrawn="1"/>
        </p:nvSpPr>
        <p:spPr>
          <a:xfrm>
            <a:off x="93133" y="6418204"/>
            <a:ext cx="8957734" cy="261610"/>
          </a:xfrm>
          <a:prstGeom prst="rect">
            <a:avLst/>
          </a:prstGeom>
          <a:noFill/>
        </p:spPr>
        <p:txBody>
          <a:bodyPr wrap="square" rtlCol="0" anchor="b">
            <a:spAutoFit/>
          </a:bodyPr>
          <a:lstStyle/>
          <a:p>
            <a:pPr algn="ctr"/>
            <a:r>
              <a:rPr lang="en-US" sz="1100" b="0" i="0" kern="1200" dirty="0">
                <a:solidFill>
                  <a:schemeClr val="tx1"/>
                </a:solidFill>
                <a:effectLst/>
                <a:latin typeface="Arial" charset="0"/>
                <a:ea typeface="+mn-ea"/>
                <a:cs typeface="+mn-cs"/>
              </a:rPr>
              <a:t>STATEMENT A: Approved for public release; distribution is unlimited.</a:t>
            </a:r>
            <a:endParaRPr lang="en-US" sz="1100" dirty="0">
              <a:latin typeface="+mn-lt"/>
            </a:endParaRPr>
          </a:p>
        </p:txBody>
      </p:sp>
      <p:sp>
        <p:nvSpPr>
          <p:cNvPr id="9" name="Half Frame 8"/>
          <p:cNvSpPr/>
          <p:nvPr userDrawn="1"/>
        </p:nvSpPr>
        <p:spPr>
          <a:xfrm rot="10800000">
            <a:off x="0" y="-87550"/>
            <a:ext cx="9144000" cy="6941675"/>
          </a:xfrm>
          <a:prstGeom prst="halfFrame">
            <a:avLst>
              <a:gd name="adj1" fmla="val 1196"/>
              <a:gd name="adj2" fmla="val 1196"/>
            </a:avLst>
          </a:prstGeom>
          <a:gradFill>
            <a:gsLst>
              <a:gs pos="100000">
                <a:schemeClr val="bg1">
                  <a:alpha val="0"/>
                </a:schemeClr>
              </a:gs>
              <a:gs pos="2000">
                <a:srgbClr val="00005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Half Frame 9"/>
          <p:cNvSpPr/>
          <p:nvPr userDrawn="1"/>
        </p:nvSpPr>
        <p:spPr>
          <a:xfrm>
            <a:off x="0" y="0"/>
            <a:ext cx="9144000" cy="6721475"/>
          </a:xfrm>
          <a:prstGeom prst="halfFrame">
            <a:avLst>
              <a:gd name="adj1" fmla="val 1173"/>
              <a:gd name="adj2" fmla="val 1318"/>
            </a:avLst>
          </a:prstGeom>
          <a:gradFill>
            <a:gsLst>
              <a:gs pos="100000">
                <a:schemeClr val="bg1">
                  <a:alpha val="0"/>
                </a:schemeClr>
              </a:gs>
              <a:gs pos="2000">
                <a:srgbClr val="00005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3" name="Round Same Side Corner Rectangle 12"/>
          <p:cNvSpPr/>
          <p:nvPr userDrawn="1"/>
        </p:nvSpPr>
        <p:spPr>
          <a:xfrm>
            <a:off x="2800350" y="0"/>
            <a:ext cx="3543300" cy="161925"/>
          </a:xfrm>
          <a:prstGeom prst="round2SameRect">
            <a:avLst>
              <a:gd name="adj1" fmla="val 16667"/>
              <a:gd name="adj2" fmla="val 50000"/>
            </a:avLst>
          </a:prstGeom>
          <a:solidFill>
            <a:srgbClr val="0000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4" name="TextBox 13"/>
          <p:cNvSpPr txBox="1"/>
          <p:nvPr userDrawn="1"/>
        </p:nvSpPr>
        <p:spPr>
          <a:xfrm>
            <a:off x="0" y="-3389"/>
            <a:ext cx="9143999" cy="261610"/>
          </a:xfrm>
          <a:prstGeom prst="rect">
            <a:avLst/>
          </a:prstGeom>
          <a:noFill/>
        </p:spPr>
        <p:txBody>
          <a:bodyPr wrap="square" lIns="0" tIns="0" rIns="0" bIns="0" rtlCol="0">
            <a:noAutofit/>
          </a:bodyPr>
          <a:lstStyle/>
          <a:p>
            <a:pPr algn="ctr"/>
            <a:r>
              <a:rPr lang="en-US" sz="1000" kern="1500" spc="600" baseline="0" dirty="0">
                <a:solidFill>
                  <a:srgbClr val="FFFF00"/>
                </a:solidFill>
                <a:latin typeface="+mn-lt"/>
              </a:rPr>
              <a:t>NAVSEA WARFARE CENTERS</a:t>
            </a:r>
          </a:p>
        </p:txBody>
      </p:sp>
      <p:sp>
        <p:nvSpPr>
          <p:cNvPr id="15" name="Round Same Side Corner Rectangle 14"/>
          <p:cNvSpPr/>
          <p:nvPr userDrawn="1"/>
        </p:nvSpPr>
        <p:spPr>
          <a:xfrm flipV="1">
            <a:off x="2800350" y="6682418"/>
            <a:ext cx="3543300" cy="161925"/>
          </a:xfrm>
          <a:prstGeom prst="round2SameRect">
            <a:avLst>
              <a:gd name="adj1" fmla="val 16667"/>
              <a:gd name="adj2" fmla="val 50000"/>
            </a:avLst>
          </a:prstGeom>
          <a:solidFill>
            <a:srgbClr val="0000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6" name="TextBox 15"/>
          <p:cNvSpPr txBox="1"/>
          <p:nvPr userDrawn="1"/>
        </p:nvSpPr>
        <p:spPr>
          <a:xfrm>
            <a:off x="0" y="6679029"/>
            <a:ext cx="9143999" cy="261610"/>
          </a:xfrm>
          <a:prstGeom prst="rect">
            <a:avLst/>
          </a:prstGeom>
          <a:noFill/>
        </p:spPr>
        <p:txBody>
          <a:bodyPr wrap="square" lIns="0" tIns="0" rIns="0" bIns="0" rtlCol="0">
            <a:noAutofit/>
          </a:bodyPr>
          <a:lstStyle/>
          <a:p>
            <a:pPr algn="ctr"/>
            <a:r>
              <a:rPr lang="en-US" sz="1000" kern="1500" spc="600" baseline="0" dirty="0">
                <a:solidFill>
                  <a:srgbClr val="FFFF00"/>
                </a:solidFill>
                <a:latin typeface="+mn-lt"/>
              </a:rPr>
              <a:t>NAVSEA WARFARE CENTERS</a:t>
            </a:r>
          </a:p>
        </p:txBody>
      </p:sp>
      <p:sp>
        <p:nvSpPr>
          <p:cNvPr id="2" name="Title Placeholder 1"/>
          <p:cNvSpPr>
            <a:spLocks noGrp="1"/>
          </p:cNvSpPr>
          <p:nvPr>
            <p:ph type="title"/>
          </p:nvPr>
        </p:nvSpPr>
        <p:spPr>
          <a:xfrm>
            <a:off x="1448783" y="4583"/>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45770" y="1399281"/>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2901267"/>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Lst>
  <p:txStyles>
    <p:titleStyle>
      <a:lvl1pPr algn="l" defTabSz="914400" rtl="0" eaLnBrk="1" latinLnBrk="0" hangingPunct="1">
        <a:lnSpc>
          <a:spcPct val="90000"/>
        </a:lnSpc>
        <a:spcBef>
          <a:spcPct val="0"/>
        </a:spcBef>
        <a:buNone/>
        <a:defRPr sz="2400" b="1"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sean.p.mcginley4.civ@us.navy.mi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mailto:Christie.l.colaianni.civ@us.navy.mil" TargetMode="External"/><Relationship Id="rId4" Type="http://schemas.openxmlformats.org/officeDocument/2006/relationships/hyperlink" Target="mailto:Emily-Rebecca.simpson.civ@us.navy.mi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dcio.defense.gov/CMMC/Resources-Documentation/" TargetMode="External"/><Relationship Id="rId2" Type="http://schemas.openxmlformats.org/officeDocument/2006/relationships/hyperlink" Target="https://dodcio.defense.gov/cmmc/About/" TargetMode="External"/><Relationship Id="rId1" Type="http://schemas.openxmlformats.org/officeDocument/2006/relationships/slideLayout" Target="../slideLayouts/slideLayout2.xml"/><Relationship Id="rId4" Type="http://schemas.openxmlformats.org/officeDocument/2006/relationships/hyperlink" Target="https://www.sprs.csd.disa.mil/pdf/CMMCQuickEntryGuide.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Half Frame 24"/>
          <p:cNvSpPr/>
          <p:nvPr/>
        </p:nvSpPr>
        <p:spPr>
          <a:xfrm rot="10800000">
            <a:off x="0" y="-87550"/>
            <a:ext cx="9144000" cy="6941675"/>
          </a:xfrm>
          <a:prstGeom prst="halfFrame">
            <a:avLst>
              <a:gd name="adj1" fmla="val 1196"/>
              <a:gd name="adj2" fmla="val 1196"/>
            </a:avLst>
          </a:prstGeom>
          <a:gradFill>
            <a:gsLst>
              <a:gs pos="100000">
                <a:schemeClr val="bg1">
                  <a:alpha val="0"/>
                </a:schemeClr>
              </a:gs>
              <a:gs pos="2000">
                <a:srgbClr val="00005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Half Frame 26"/>
          <p:cNvSpPr/>
          <p:nvPr/>
        </p:nvSpPr>
        <p:spPr>
          <a:xfrm>
            <a:off x="0" y="0"/>
            <a:ext cx="9144000" cy="6721475"/>
          </a:xfrm>
          <a:prstGeom prst="halfFrame">
            <a:avLst>
              <a:gd name="adj1" fmla="val 1173"/>
              <a:gd name="adj2" fmla="val 1318"/>
            </a:avLst>
          </a:prstGeom>
          <a:gradFill>
            <a:gsLst>
              <a:gs pos="100000">
                <a:schemeClr val="bg1">
                  <a:alpha val="0"/>
                </a:schemeClr>
              </a:gs>
              <a:gs pos="2000">
                <a:srgbClr val="00005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8" name="Round Same Side Corner Rectangle 27"/>
          <p:cNvSpPr/>
          <p:nvPr/>
        </p:nvSpPr>
        <p:spPr>
          <a:xfrm>
            <a:off x="2800350" y="0"/>
            <a:ext cx="3543300" cy="161925"/>
          </a:xfrm>
          <a:prstGeom prst="round2SameRect">
            <a:avLst>
              <a:gd name="adj1" fmla="val 16667"/>
              <a:gd name="adj2" fmla="val 50000"/>
            </a:avLst>
          </a:prstGeom>
          <a:solidFill>
            <a:srgbClr val="0000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31" name="TextBox 30"/>
          <p:cNvSpPr txBox="1"/>
          <p:nvPr/>
        </p:nvSpPr>
        <p:spPr>
          <a:xfrm>
            <a:off x="2800349" y="-3389"/>
            <a:ext cx="3543301" cy="165314"/>
          </a:xfrm>
          <a:prstGeom prst="rect">
            <a:avLst/>
          </a:prstGeom>
          <a:noFill/>
        </p:spPr>
        <p:txBody>
          <a:bodyPr wrap="square" lIns="0" tIns="0" rIns="0" bIns="0" rtlCol="0">
            <a:noAutofit/>
          </a:bodyPr>
          <a:lstStyle/>
          <a:p>
            <a:pPr algn="ctr"/>
            <a:r>
              <a:rPr lang="en-US" sz="1000" kern="1500" spc="600" baseline="0" dirty="0">
                <a:solidFill>
                  <a:srgbClr val="FFFF00"/>
                </a:solidFill>
                <a:latin typeface="+mn-lt"/>
              </a:rPr>
              <a:t>NAVSEA WARFARE CENTERS</a:t>
            </a:r>
          </a:p>
        </p:txBody>
      </p:sp>
      <p:sp>
        <p:nvSpPr>
          <p:cNvPr id="34" name="Round Same Side Corner Rectangle 33"/>
          <p:cNvSpPr/>
          <p:nvPr/>
        </p:nvSpPr>
        <p:spPr>
          <a:xfrm flipV="1">
            <a:off x="2800350" y="6682418"/>
            <a:ext cx="3543300" cy="161925"/>
          </a:xfrm>
          <a:prstGeom prst="round2SameRect">
            <a:avLst>
              <a:gd name="adj1" fmla="val 16667"/>
              <a:gd name="adj2" fmla="val 50000"/>
            </a:avLst>
          </a:prstGeom>
          <a:solidFill>
            <a:srgbClr val="0000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35" name="TextBox 34"/>
          <p:cNvSpPr txBox="1"/>
          <p:nvPr/>
        </p:nvSpPr>
        <p:spPr>
          <a:xfrm>
            <a:off x="2800349" y="6679029"/>
            <a:ext cx="3543301" cy="165314"/>
          </a:xfrm>
          <a:prstGeom prst="rect">
            <a:avLst/>
          </a:prstGeom>
          <a:noFill/>
        </p:spPr>
        <p:txBody>
          <a:bodyPr wrap="square" lIns="0" tIns="0" rIns="0" bIns="0" rtlCol="0">
            <a:noAutofit/>
          </a:bodyPr>
          <a:lstStyle/>
          <a:p>
            <a:pPr algn="ctr"/>
            <a:r>
              <a:rPr lang="en-US" sz="1000" kern="1500" spc="600" baseline="0" dirty="0">
                <a:solidFill>
                  <a:srgbClr val="FFFF00"/>
                </a:solidFill>
                <a:latin typeface="+mn-lt"/>
              </a:rPr>
              <a:t>NAVSEA WARFARE CENTERS</a:t>
            </a:r>
          </a:p>
        </p:txBody>
      </p:sp>
      <p:sp>
        <p:nvSpPr>
          <p:cNvPr id="30" name="TextBox 29"/>
          <p:cNvSpPr txBox="1"/>
          <p:nvPr/>
        </p:nvSpPr>
        <p:spPr>
          <a:xfrm>
            <a:off x="920415" y="4781289"/>
            <a:ext cx="7341577" cy="414409"/>
          </a:xfrm>
          <a:prstGeom prst="rect">
            <a:avLst/>
          </a:prstGeom>
          <a:noFill/>
        </p:spPr>
        <p:txBody>
          <a:bodyPr wrap="square" rtlCol="0">
            <a:noAutofit/>
          </a:bodyPr>
          <a:lstStyle/>
          <a:p>
            <a:pPr algn="ctr"/>
            <a:r>
              <a:rPr lang="en-US" b="1" dirty="0">
                <a:solidFill>
                  <a:srgbClr val="000058"/>
                </a:solidFill>
                <a:latin typeface="+mn-lt"/>
              </a:rPr>
              <a:t>NSWCPD Contracting</a:t>
            </a:r>
          </a:p>
        </p:txBody>
      </p:sp>
      <p:sp>
        <p:nvSpPr>
          <p:cNvPr id="33" name="Rectangle 2"/>
          <p:cNvSpPr txBox="1">
            <a:spLocks noChangeArrowheads="1"/>
          </p:cNvSpPr>
          <p:nvPr/>
        </p:nvSpPr>
        <p:spPr bwMode="auto">
          <a:xfrm>
            <a:off x="892418" y="1343156"/>
            <a:ext cx="7359161" cy="1896218"/>
          </a:xfrm>
          <a:prstGeom prst="rect">
            <a:avLst/>
          </a:prstGeom>
          <a:noFill/>
          <a:ln w="9525">
            <a:noFill/>
            <a:miter lim="800000"/>
            <a:headEnd/>
            <a:tailEnd/>
          </a:ln>
        </p:spPr>
        <p:txBody>
          <a:bodyPr vert="horz" wrap="square" lIns="91322" tIns="45662" rIns="91322" bIns="45662" numCol="1" anchor="ctr" anchorCtr="0" compatLnSpc="1">
            <a:prstTxWarp prst="textNoShape">
              <a:avLst/>
            </a:prstTxWarp>
          </a:bodyPr>
          <a:lstStyle>
            <a:lvl1pPr algn="ctr" rtl="0" eaLnBrk="0" fontAlgn="base" hangingPunct="0">
              <a:spcBef>
                <a:spcPct val="0"/>
              </a:spcBef>
              <a:spcAft>
                <a:spcPct val="0"/>
              </a:spcAft>
              <a:defRPr sz="3200" b="1" kern="1200">
                <a:solidFill>
                  <a:schemeClr val="tx1"/>
                </a:solidFill>
                <a:latin typeface="Georgia" panose="02040502050405020303" pitchFamily="18" charset="0"/>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6614" algn="ctr" rtl="0" eaLnBrk="1" fontAlgn="base" hangingPunct="1">
              <a:spcBef>
                <a:spcPct val="0"/>
              </a:spcBef>
              <a:spcAft>
                <a:spcPct val="0"/>
              </a:spcAft>
              <a:defRPr sz="4400">
                <a:solidFill>
                  <a:schemeClr val="tx1"/>
                </a:solidFill>
                <a:latin typeface="Calibri" pitchFamily="34" charset="0"/>
              </a:defRPr>
            </a:lvl6pPr>
            <a:lvl7pPr marL="913224" algn="ctr" rtl="0" eaLnBrk="1" fontAlgn="base" hangingPunct="1">
              <a:spcBef>
                <a:spcPct val="0"/>
              </a:spcBef>
              <a:spcAft>
                <a:spcPct val="0"/>
              </a:spcAft>
              <a:defRPr sz="4400">
                <a:solidFill>
                  <a:schemeClr val="tx1"/>
                </a:solidFill>
                <a:latin typeface="Calibri" pitchFamily="34" charset="0"/>
              </a:defRPr>
            </a:lvl7pPr>
            <a:lvl8pPr marL="1369838" algn="ctr" rtl="0" eaLnBrk="1" fontAlgn="base" hangingPunct="1">
              <a:spcBef>
                <a:spcPct val="0"/>
              </a:spcBef>
              <a:spcAft>
                <a:spcPct val="0"/>
              </a:spcAft>
              <a:defRPr sz="4400">
                <a:solidFill>
                  <a:schemeClr val="tx1"/>
                </a:solidFill>
                <a:latin typeface="Calibri" pitchFamily="34" charset="0"/>
              </a:defRPr>
            </a:lvl8pPr>
            <a:lvl9pPr marL="1826449" algn="ctr" rtl="0" eaLnBrk="1" fontAlgn="base" hangingPunct="1">
              <a:spcBef>
                <a:spcPct val="0"/>
              </a:spcBef>
              <a:spcAft>
                <a:spcPct val="0"/>
              </a:spcAft>
              <a:defRPr sz="4400">
                <a:solidFill>
                  <a:schemeClr val="tx1"/>
                </a:solidFill>
                <a:latin typeface="Calibri" pitchFamily="34" charset="0"/>
              </a:defRPr>
            </a:lvl9pPr>
          </a:lstStyle>
          <a:p>
            <a:pPr eaLnBrk="1" hangingPunct="1"/>
            <a:r>
              <a:rPr lang="en-US" sz="3600" dirty="0">
                <a:solidFill>
                  <a:srgbClr val="000058"/>
                </a:solidFill>
              </a:rPr>
              <a:t>BIG BLUE IV</a:t>
            </a:r>
          </a:p>
          <a:p>
            <a:pPr eaLnBrk="1" hangingPunct="1"/>
            <a:r>
              <a:rPr lang="en-US" sz="3600" dirty="0">
                <a:solidFill>
                  <a:srgbClr val="000058"/>
                </a:solidFill>
              </a:rPr>
              <a:t> INDUSTRY DAY </a:t>
            </a:r>
            <a:endParaRPr lang="en-US" sz="2800" dirty="0"/>
          </a:p>
        </p:txBody>
      </p:sp>
      <p:sp>
        <p:nvSpPr>
          <p:cNvPr id="36" name="Rectangle 35"/>
          <p:cNvSpPr/>
          <p:nvPr/>
        </p:nvSpPr>
        <p:spPr>
          <a:xfrm>
            <a:off x="920415" y="5908499"/>
            <a:ext cx="7359161" cy="238814"/>
          </a:xfrm>
          <a:prstGeom prst="rect">
            <a:avLst/>
          </a:prstGeom>
        </p:spPr>
        <p:txBody>
          <a:bodyPr wrap="square" lIns="91322" tIns="0" rIns="91322" bIns="0" anchor="t">
            <a:noAutofit/>
          </a:bodyPr>
          <a:lstStyle/>
          <a:p>
            <a:pPr algn="ctr" eaLnBrk="0" hangingPunct="0">
              <a:lnSpc>
                <a:spcPct val="181159"/>
              </a:lnSpc>
              <a:spcBef>
                <a:spcPts val="800"/>
              </a:spcBef>
              <a:buClr>
                <a:prstClr val="black"/>
              </a:buClr>
              <a:buSzPct val="116000"/>
            </a:pPr>
            <a:r>
              <a:rPr lang="en-US" sz="1600" dirty="0">
                <a:solidFill>
                  <a:srgbClr val="000058"/>
                </a:solidFill>
                <a:latin typeface="+mn-lt"/>
              </a:rPr>
              <a:t>- 18 March 2026 -</a:t>
            </a:r>
            <a:endParaRPr lang="en-US" dirty="0"/>
          </a:p>
        </p:txBody>
      </p:sp>
      <p:sp>
        <p:nvSpPr>
          <p:cNvPr id="37" name="TextBox 36"/>
          <p:cNvSpPr txBox="1"/>
          <p:nvPr/>
        </p:nvSpPr>
        <p:spPr>
          <a:xfrm>
            <a:off x="929207" y="4319270"/>
            <a:ext cx="7347803" cy="275341"/>
          </a:xfrm>
          <a:prstGeom prst="rect">
            <a:avLst/>
          </a:prstGeom>
          <a:noFill/>
        </p:spPr>
        <p:txBody>
          <a:bodyPr wrap="square" lIns="91440" tIns="45720" rIns="91440" bIns="45720" rtlCol="0" anchor="t">
            <a:noAutofit/>
          </a:bodyPr>
          <a:lstStyle/>
          <a:p>
            <a:pPr algn="ctr" eaLnBrk="0" hangingPunct="0">
              <a:lnSpc>
                <a:spcPct val="181159"/>
              </a:lnSpc>
              <a:spcBef>
                <a:spcPts val="800"/>
              </a:spcBef>
              <a:buClr>
                <a:prstClr val="black"/>
              </a:buClr>
              <a:buSzPct val="116000"/>
            </a:pPr>
            <a:r>
              <a:rPr lang="en-US" sz="1600" dirty="0">
                <a:solidFill>
                  <a:srgbClr val="000058"/>
                </a:solidFill>
                <a:latin typeface="+mn-lt"/>
              </a:rPr>
              <a:t>Presented by:</a:t>
            </a:r>
            <a:endParaRPr lang="en-US"/>
          </a:p>
        </p:txBody>
      </p:sp>
      <p:sp>
        <p:nvSpPr>
          <p:cNvPr id="38" name="TextBox 37"/>
          <p:cNvSpPr txBox="1"/>
          <p:nvPr/>
        </p:nvSpPr>
        <p:spPr>
          <a:xfrm>
            <a:off x="929208" y="3062952"/>
            <a:ext cx="7341577" cy="275341"/>
          </a:xfrm>
          <a:prstGeom prst="rect">
            <a:avLst/>
          </a:prstGeom>
          <a:noFill/>
        </p:spPr>
        <p:txBody>
          <a:bodyPr wrap="square" rtlCol="0">
            <a:noAutofit/>
          </a:bodyPr>
          <a:lstStyle/>
          <a:p>
            <a:pPr algn="ctr"/>
            <a:r>
              <a:rPr lang="en-US" sz="1400" dirty="0">
                <a:solidFill>
                  <a:srgbClr val="000058"/>
                </a:solidFill>
                <a:latin typeface="Calibri" panose="020F0502020204030204" pitchFamily="34" charset="0"/>
              </a:rPr>
              <a:t>Presented to:</a:t>
            </a:r>
          </a:p>
        </p:txBody>
      </p:sp>
      <p:cxnSp>
        <p:nvCxnSpPr>
          <p:cNvPr id="39" name="Straight Connector 38"/>
          <p:cNvCxnSpPr/>
          <p:nvPr/>
        </p:nvCxnSpPr>
        <p:spPr>
          <a:xfrm>
            <a:off x="1117403" y="3057586"/>
            <a:ext cx="7126312" cy="0"/>
          </a:xfrm>
          <a:prstGeom prst="line">
            <a:avLst/>
          </a:prstGeom>
          <a:ln w="15875">
            <a:gradFill>
              <a:gsLst>
                <a:gs pos="0">
                  <a:schemeClr val="accent1">
                    <a:lumMod val="5000"/>
                    <a:lumOff val="95000"/>
                    <a:alpha val="0"/>
                  </a:schemeClr>
                </a:gs>
                <a:gs pos="50000">
                  <a:srgbClr val="000058"/>
                </a:gs>
                <a:gs pos="25000">
                  <a:srgbClr val="6C6DA0"/>
                </a:gs>
                <a:gs pos="76000">
                  <a:srgbClr val="6971A4"/>
                </a:gs>
                <a:gs pos="100000">
                  <a:schemeClr val="accent1">
                    <a:lumMod val="30000"/>
                    <a:lumOff val="70000"/>
                    <a:alpha val="0"/>
                  </a:schemeClr>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1117403" y="4118642"/>
            <a:ext cx="7126312" cy="0"/>
          </a:xfrm>
          <a:prstGeom prst="line">
            <a:avLst/>
          </a:prstGeom>
          <a:ln w="15875">
            <a:gradFill>
              <a:gsLst>
                <a:gs pos="0">
                  <a:schemeClr val="accent1">
                    <a:lumMod val="5000"/>
                    <a:lumOff val="95000"/>
                    <a:alpha val="0"/>
                  </a:schemeClr>
                </a:gs>
                <a:gs pos="50000">
                  <a:srgbClr val="000058"/>
                </a:gs>
                <a:gs pos="25000">
                  <a:srgbClr val="6C6DA0"/>
                </a:gs>
                <a:gs pos="76000">
                  <a:srgbClr val="6971A4"/>
                </a:gs>
                <a:gs pos="100000">
                  <a:schemeClr val="accent1">
                    <a:lumMod val="30000"/>
                    <a:lumOff val="70000"/>
                    <a:alpha val="0"/>
                  </a:schemeClr>
                </a:gs>
              </a:gsLst>
              <a:lin ang="10800000" scaled="0"/>
            </a:gradFill>
          </a:ln>
        </p:spPr>
        <p:style>
          <a:lnRef idx="1">
            <a:schemeClr val="accent1"/>
          </a:lnRef>
          <a:fillRef idx="0">
            <a:schemeClr val="accent1"/>
          </a:fillRef>
          <a:effectRef idx="0">
            <a:schemeClr val="accent1"/>
          </a:effectRef>
          <a:fontRef idx="minor">
            <a:schemeClr val="tx1"/>
          </a:fontRef>
        </p:style>
      </p:cxnSp>
      <p:sp>
        <p:nvSpPr>
          <p:cNvPr id="41" name="Rectangle 2"/>
          <p:cNvSpPr txBox="1">
            <a:spLocks noChangeArrowheads="1"/>
          </p:cNvSpPr>
          <p:nvPr/>
        </p:nvSpPr>
        <p:spPr bwMode="auto">
          <a:xfrm>
            <a:off x="929208" y="3215228"/>
            <a:ext cx="7341577" cy="579218"/>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ctr" rtl="0" eaLnBrk="0" fontAlgn="base" hangingPunct="0">
              <a:spcBef>
                <a:spcPct val="0"/>
              </a:spcBef>
              <a:spcAft>
                <a:spcPct val="0"/>
              </a:spcAft>
              <a:defRPr sz="3200" b="1" kern="1200">
                <a:solidFill>
                  <a:schemeClr val="tx1"/>
                </a:solidFill>
                <a:latin typeface="Georgia" panose="02040502050405020303" pitchFamily="18" charset="0"/>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6614" algn="ctr" rtl="0" eaLnBrk="1" fontAlgn="base" hangingPunct="1">
              <a:spcBef>
                <a:spcPct val="0"/>
              </a:spcBef>
              <a:spcAft>
                <a:spcPct val="0"/>
              </a:spcAft>
              <a:defRPr sz="4400">
                <a:solidFill>
                  <a:schemeClr val="tx1"/>
                </a:solidFill>
                <a:latin typeface="Calibri" pitchFamily="34" charset="0"/>
              </a:defRPr>
            </a:lvl6pPr>
            <a:lvl7pPr marL="913224" algn="ctr" rtl="0" eaLnBrk="1" fontAlgn="base" hangingPunct="1">
              <a:spcBef>
                <a:spcPct val="0"/>
              </a:spcBef>
              <a:spcAft>
                <a:spcPct val="0"/>
              </a:spcAft>
              <a:defRPr sz="4400">
                <a:solidFill>
                  <a:schemeClr val="tx1"/>
                </a:solidFill>
                <a:latin typeface="Calibri" pitchFamily="34" charset="0"/>
              </a:defRPr>
            </a:lvl7pPr>
            <a:lvl8pPr marL="1369838" algn="ctr" rtl="0" eaLnBrk="1" fontAlgn="base" hangingPunct="1">
              <a:spcBef>
                <a:spcPct val="0"/>
              </a:spcBef>
              <a:spcAft>
                <a:spcPct val="0"/>
              </a:spcAft>
              <a:defRPr sz="4400">
                <a:solidFill>
                  <a:schemeClr val="tx1"/>
                </a:solidFill>
                <a:latin typeface="Calibri" pitchFamily="34" charset="0"/>
              </a:defRPr>
            </a:lvl8pPr>
            <a:lvl9pPr marL="1826449" algn="ctr" rtl="0" eaLnBrk="1" fontAlgn="base" hangingPunct="1">
              <a:spcBef>
                <a:spcPct val="0"/>
              </a:spcBef>
              <a:spcAft>
                <a:spcPct val="0"/>
              </a:spcAft>
              <a:defRPr sz="4400">
                <a:solidFill>
                  <a:schemeClr val="tx1"/>
                </a:solidFill>
                <a:latin typeface="Calibri" pitchFamily="34" charset="0"/>
              </a:defRPr>
            </a:lvl9pPr>
          </a:lstStyle>
          <a:p>
            <a:pPr eaLnBrk="1" hangingPunct="1">
              <a:lnSpc>
                <a:spcPct val="166666"/>
              </a:lnSpc>
            </a:pPr>
            <a:r>
              <a:rPr lang="en-US" sz="2000" dirty="0">
                <a:solidFill>
                  <a:srgbClr val="000058"/>
                </a:solidFill>
              </a:rPr>
              <a:t>Industry</a:t>
            </a:r>
            <a:endParaRPr lang="en-US" dirty="0"/>
          </a:p>
        </p:txBody>
      </p:sp>
    </p:spTree>
    <p:extLst>
      <p:ext uri="{BB962C8B-B14F-4D97-AF65-F5344CB8AC3E}">
        <p14:creationId xmlns:p14="http://schemas.microsoft.com/office/powerpoint/2010/main" val="61475631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A0C89-78DC-E937-4FED-37F491496D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8A9D00-64B1-1ADC-FB7F-7BB2981B8A28}"/>
              </a:ext>
            </a:extLst>
          </p:cNvPr>
          <p:cNvSpPr>
            <a:spLocks noGrp="1"/>
          </p:cNvSpPr>
          <p:nvPr>
            <p:ph idx="1"/>
          </p:nvPr>
        </p:nvSpPr>
        <p:spPr/>
        <p:txBody>
          <a:bodyPr>
            <a:normAutofit fontScale="92500" lnSpcReduction="10000"/>
          </a:bodyPr>
          <a:lstStyle/>
          <a:p>
            <a:r>
              <a:rPr lang="en-US" dirty="0">
                <a:latin typeface="Arial" panose="020B0604020202020204" pitchFamily="34" charset="0"/>
                <a:cs typeface="Arial" panose="020B0604020202020204" pitchFamily="34" charset="0"/>
              </a:rPr>
              <a:t>Ground Rules</a:t>
            </a:r>
          </a:p>
          <a:p>
            <a:r>
              <a:rPr lang="en-US" dirty="0">
                <a:latin typeface="Arial" panose="020B0604020202020204" pitchFamily="34" charset="0"/>
                <a:cs typeface="Arial" panose="020B0604020202020204" pitchFamily="34" charset="0"/>
              </a:rPr>
              <a:t>Disclaimer Statements</a:t>
            </a:r>
          </a:p>
          <a:p>
            <a:r>
              <a:rPr lang="en-US" dirty="0">
                <a:latin typeface="Arial" panose="020B0604020202020204" pitchFamily="34" charset="0"/>
                <a:cs typeface="Arial" panose="020B0604020202020204" pitchFamily="34" charset="0"/>
              </a:rPr>
              <a:t>Current Big Blue III Contract Details</a:t>
            </a:r>
          </a:p>
          <a:p>
            <a:r>
              <a:rPr lang="en-US" dirty="0">
                <a:latin typeface="Arial" panose="020B0604020202020204" pitchFamily="34" charset="0"/>
                <a:cs typeface="Arial" panose="020B0604020202020204" pitchFamily="34" charset="0"/>
              </a:rPr>
              <a:t>Big Blue IV Task Areas</a:t>
            </a:r>
          </a:p>
          <a:p>
            <a:r>
              <a:rPr lang="en-US" dirty="0">
                <a:latin typeface="Arial" panose="020B0604020202020204" pitchFamily="34" charset="0"/>
                <a:cs typeface="Arial" panose="020B0604020202020204" pitchFamily="34" charset="0"/>
              </a:rPr>
              <a:t>Level of Effort</a:t>
            </a:r>
          </a:p>
          <a:p>
            <a:r>
              <a:rPr lang="en-US" dirty="0">
                <a:latin typeface="Arial" panose="020B0604020202020204" pitchFamily="34" charset="0"/>
                <a:cs typeface="Arial" panose="020B0604020202020204" pitchFamily="34" charset="0"/>
              </a:rPr>
              <a:t>Labor Categories</a:t>
            </a:r>
          </a:p>
          <a:p>
            <a:r>
              <a:rPr lang="en-US" dirty="0">
                <a:latin typeface="Arial" panose="020B0604020202020204" pitchFamily="34" charset="0"/>
                <a:cs typeface="Arial" panose="020B0604020202020204" pitchFamily="34" charset="0"/>
              </a:rPr>
              <a:t>Big Blue III vs. Big Blue IV</a:t>
            </a:r>
          </a:p>
          <a:p>
            <a:r>
              <a:rPr lang="en-US" dirty="0">
                <a:latin typeface="Arial" panose="020B0604020202020204" pitchFamily="34" charset="0"/>
                <a:cs typeface="Arial" panose="020B0604020202020204" pitchFamily="34" charset="0"/>
              </a:rPr>
              <a:t>CMMC Certification</a:t>
            </a:r>
          </a:p>
          <a:p>
            <a:r>
              <a:rPr lang="en-US" dirty="0">
                <a:latin typeface="Arial" panose="020B0604020202020204" pitchFamily="34" charset="0"/>
                <a:cs typeface="Arial" panose="020B0604020202020204" pitchFamily="34" charset="0"/>
              </a:rPr>
              <a:t>How will Big Blue IV work? </a:t>
            </a:r>
          </a:p>
          <a:p>
            <a:r>
              <a:rPr lang="en-US" dirty="0">
                <a:latin typeface="Arial" panose="020B0604020202020204" pitchFamily="34" charset="0"/>
                <a:cs typeface="Arial" panose="020B0604020202020204" pitchFamily="34" charset="0"/>
              </a:rPr>
              <a:t>Anticipated Timeline</a:t>
            </a:r>
          </a:p>
          <a:p>
            <a:r>
              <a:rPr lang="en-US" dirty="0">
                <a:latin typeface="Arial" panose="020B0604020202020204" pitchFamily="34" charset="0"/>
                <a:cs typeface="Arial" panose="020B0604020202020204" pitchFamily="34" charset="0"/>
              </a:rPr>
              <a:t>Open Dialogue</a:t>
            </a:r>
          </a:p>
        </p:txBody>
      </p:sp>
      <p:sp>
        <p:nvSpPr>
          <p:cNvPr id="9218" name="Rectangle 2">
            <a:extLst>
              <a:ext uri="{FF2B5EF4-FFF2-40B4-BE49-F238E27FC236}">
                <a16:creationId xmlns:a16="http://schemas.microsoft.com/office/drawing/2014/main" id="{A2A3315B-A72E-C89F-4FCB-DFF1B4DAAB79}"/>
              </a:ext>
            </a:extLst>
          </p:cNvPr>
          <p:cNvSpPr>
            <a:spLocks noGrp="1" noChangeArrowheads="1"/>
          </p:cNvSpPr>
          <p:nvPr>
            <p:ph type="title"/>
          </p:nvPr>
        </p:nvSpPr>
        <p:spPr>
          <a:xfrm>
            <a:off x="704465" y="63371"/>
            <a:ext cx="7685140" cy="1325563"/>
          </a:xfrm>
        </p:spPr>
        <p:txBody>
          <a:bodyPr>
            <a:normAutofit/>
          </a:bodyPr>
          <a:lstStyle/>
          <a:p>
            <a:pPr algn="ctr"/>
            <a:r>
              <a:rPr lang="en-US" sz="4000" dirty="0"/>
              <a:t>Agenda</a:t>
            </a:r>
            <a:endParaRPr lang="en-US" sz="4000" b="1" dirty="0"/>
          </a:p>
        </p:txBody>
      </p:sp>
      <p:sp>
        <p:nvSpPr>
          <p:cNvPr id="15" name="Half Frame 14">
            <a:extLst>
              <a:ext uri="{FF2B5EF4-FFF2-40B4-BE49-F238E27FC236}">
                <a16:creationId xmlns:a16="http://schemas.microsoft.com/office/drawing/2014/main" id="{BDC41ED1-15DD-9B5E-733A-70F1B5AFED56}"/>
              </a:ext>
            </a:extLst>
          </p:cNvPr>
          <p:cNvSpPr/>
          <p:nvPr/>
        </p:nvSpPr>
        <p:spPr>
          <a:xfrm rot="10800000">
            <a:off x="0" y="-87550"/>
            <a:ext cx="9144000" cy="6941675"/>
          </a:xfrm>
          <a:prstGeom prst="halfFrame">
            <a:avLst>
              <a:gd name="adj1" fmla="val 1196"/>
              <a:gd name="adj2" fmla="val 1196"/>
            </a:avLst>
          </a:prstGeom>
          <a:gradFill>
            <a:gsLst>
              <a:gs pos="100000">
                <a:schemeClr val="bg1">
                  <a:alpha val="0"/>
                </a:schemeClr>
              </a:gs>
              <a:gs pos="2000">
                <a:srgbClr val="00005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Half Frame 15">
            <a:extLst>
              <a:ext uri="{FF2B5EF4-FFF2-40B4-BE49-F238E27FC236}">
                <a16:creationId xmlns:a16="http://schemas.microsoft.com/office/drawing/2014/main" id="{F1C6D509-8242-0FEF-5B2B-C210E65E86BC}"/>
              </a:ext>
            </a:extLst>
          </p:cNvPr>
          <p:cNvSpPr/>
          <p:nvPr/>
        </p:nvSpPr>
        <p:spPr>
          <a:xfrm>
            <a:off x="0" y="0"/>
            <a:ext cx="9144000" cy="6721475"/>
          </a:xfrm>
          <a:prstGeom prst="halfFrame">
            <a:avLst>
              <a:gd name="adj1" fmla="val 1173"/>
              <a:gd name="adj2" fmla="val 1318"/>
            </a:avLst>
          </a:prstGeom>
          <a:gradFill>
            <a:gsLst>
              <a:gs pos="100000">
                <a:schemeClr val="bg1">
                  <a:alpha val="0"/>
                </a:schemeClr>
              </a:gs>
              <a:gs pos="2000">
                <a:srgbClr val="00005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 name="Round Same Side Corner Rectangle 17">
            <a:extLst>
              <a:ext uri="{FF2B5EF4-FFF2-40B4-BE49-F238E27FC236}">
                <a16:creationId xmlns:a16="http://schemas.microsoft.com/office/drawing/2014/main" id="{C02A47D3-65D2-5E0E-F7BC-B720E39AA2A2}"/>
              </a:ext>
            </a:extLst>
          </p:cNvPr>
          <p:cNvSpPr/>
          <p:nvPr/>
        </p:nvSpPr>
        <p:spPr>
          <a:xfrm>
            <a:off x="2800350" y="0"/>
            <a:ext cx="3543300" cy="161925"/>
          </a:xfrm>
          <a:prstGeom prst="round2SameRect">
            <a:avLst>
              <a:gd name="adj1" fmla="val 16667"/>
              <a:gd name="adj2" fmla="val 50000"/>
            </a:avLst>
          </a:prstGeom>
          <a:solidFill>
            <a:srgbClr val="0000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9" name="TextBox 18">
            <a:extLst>
              <a:ext uri="{FF2B5EF4-FFF2-40B4-BE49-F238E27FC236}">
                <a16:creationId xmlns:a16="http://schemas.microsoft.com/office/drawing/2014/main" id="{A6F97492-E990-DE48-817D-315B33D0A396}"/>
              </a:ext>
            </a:extLst>
          </p:cNvPr>
          <p:cNvSpPr txBox="1"/>
          <p:nvPr/>
        </p:nvSpPr>
        <p:spPr>
          <a:xfrm>
            <a:off x="0" y="-3389"/>
            <a:ext cx="9143999" cy="261610"/>
          </a:xfrm>
          <a:prstGeom prst="rect">
            <a:avLst/>
          </a:prstGeom>
          <a:noFill/>
        </p:spPr>
        <p:txBody>
          <a:bodyPr wrap="square" lIns="0" tIns="0" rIns="0" bIns="0" rtlCol="0">
            <a:noAutofit/>
          </a:bodyPr>
          <a:lstStyle/>
          <a:p>
            <a:pPr algn="ctr"/>
            <a:r>
              <a:rPr lang="en-US" sz="1000" kern="1500" spc="600" baseline="0" dirty="0">
                <a:solidFill>
                  <a:srgbClr val="FFFF00"/>
                </a:solidFill>
                <a:latin typeface="+mn-lt"/>
              </a:rPr>
              <a:t>NAVSEA WARFARE CENTERS</a:t>
            </a:r>
          </a:p>
        </p:txBody>
      </p:sp>
      <p:sp>
        <p:nvSpPr>
          <p:cNvPr id="20" name="Round Same Side Corner Rectangle 19">
            <a:extLst>
              <a:ext uri="{FF2B5EF4-FFF2-40B4-BE49-F238E27FC236}">
                <a16:creationId xmlns:a16="http://schemas.microsoft.com/office/drawing/2014/main" id="{D195DA20-8E60-6803-B898-0E1EC92129C7}"/>
              </a:ext>
            </a:extLst>
          </p:cNvPr>
          <p:cNvSpPr/>
          <p:nvPr/>
        </p:nvSpPr>
        <p:spPr>
          <a:xfrm flipV="1">
            <a:off x="2800350" y="6682418"/>
            <a:ext cx="3543300" cy="161925"/>
          </a:xfrm>
          <a:prstGeom prst="round2SameRect">
            <a:avLst>
              <a:gd name="adj1" fmla="val 16667"/>
              <a:gd name="adj2" fmla="val 50000"/>
            </a:avLst>
          </a:prstGeom>
          <a:solidFill>
            <a:srgbClr val="0000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1" name="TextBox 20">
            <a:extLst>
              <a:ext uri="{FF2B5EF4-FFF2-40B4-BE49-F238E27FC236}">
                <a16:creationId xmlns:a16="http://schemas.microsoft.com/office/drawing/2014/main" id="{356B07B2-4535-D6C2-0EAE-0FAE1C56F0BA}"/>
              </a:ext>
            </a:extLst>
          </p:cNvPr>
          <p:cNvSpPr txBox="1"/>
          <p:nvPr/>
        </p:nvSpPr>
        <p:spPr>
          <a:xfrm>
            <a:off x="0" y="6679029"/>
            <a:ext cx="9143999" cy="261610"/>
          </a:xfrm>
          <a:prstGeom prst="rect">
            <a:avLst/>
          </a:prstGeom>
          <a:noFill/>
        </p:spPr>
        <p:txBody>
          <a:bodyPr wrap="square" lIns="0" tIns="0" rIns="0" bIns="0" rtlCol="0">
            <a:noAutofit/>
          </a:bodyPr>
          <a:lstStyle/>
          <a:p>
            <a:pPr algn="ctr"/>
            <a:r>
              <a:rPr lang="en-US" sz="1000" kern="1500" spc="600" baseline="0" dirty="0">
                <a:solidFill>
                  <a:srgbClr val="FFFF00"/>
                </a:solidFill>
                <a:latin typeface="+mn-lt"/>
              </a:rPr>
              <a:t>NAVSEA WARFARE CENTERS</a:t>
            </a:r>
          </a:p>
        </p:txBody>
      </p:sp>
    </p:spTree>
    <p:extLst>
      <p:ext uri="{BB962C8B-B14F-4D97-AF65-F5344CB8AC3E}">
        <p14:creationId xmlns:p14="http://schemas.microsoft.com/office/powerpoint/2010/main" val="180941590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9B176-6D3D-DE2C-AB75-B66A62709AF1}"/>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0CB159B3-EA67-069C-3C33-2E738DA1ACB4}"/>
              </a:ext>
            </a:extLst>
          </p:cNvPr>
          <p:cNvSpPr>
            <a:spLocks noGrp="1" noChangeArrowheads="1"/>
          </p:cNvSpPr>
          <p:nvPr>
            <p:ph type="title"/>
          </p:nvPr>
        </p:nvSpPr>
        <p:spPr>
          <a:xfrm>
            <a:off x="711038" y="80962"/>
            <a:ext cx="7685140" cy="1325563"/>
          </a:xfrm>
        </p:spPr>
        <p:txBody>
          <a:bodyPr>
            <a:normAutofit/>
          </a:bodyPr>
          <a:lstStyle/>
          <a:p>
            <a:pPr algn="ctr"/>
            <a:r>
              <a:rPr lang="en-US" sz="4000" dirty="0"/>
              <a:t>Points of Contact</a:t>
            </a:r>
            <a:endParaRPr lang="en-US" sz="4000" b="1" dirty="0"/>
          </a:p>
        </p:txBody>
      </p:sp>
      <p:sp>
        <p:nvSpPr>
          <p:cNvPr id="15" name="Half Frame 14">
            <a:extLst>
              <a:ext uri="{FF2B5EF4-FFF2-40B4-BE49-F238E27FC236}">
                <a16:creationId xmlns:a16="http://schemas.microsoft.com/office/drawing/2014/main" id="{D562CA1F-4EEC-B8D4-80B5-C790A923C1B4}"/>
              </a:ext>
            </a:extLst>
          </p:cNvPr>
          <p:cNvSpPr/>
          <p:nvPr/>
        </p:nvSpPr>
        <p:spPr>
          <a:xfrm rot="10800000">
            <a:off x="0" y="-87550"/>
            <a:ext cx="9144000" cy="6941675"/>
          </a:xfrm>
          <a:prstGeom prst="halfFrame">
            <a:avLst>
              <a:gd name="adj1" fmla="val 1196"/>
              <a:gd name="adj2" fmla="val 1196"/>
            </a:avLst>
          </a:prstGeom>
          <a:gradFill>
            <a:gsLst>
              <a:gs pos="100000">
                <a:schemeClr val="bg1">
                  <a:alpha val="0"/>
                </a:schemeClr>
              </a:gs>
              <a:gs pos="2000">
                <a:srgbClr val="00005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Half Frame 15">
            <a:extLst>
              <a:ext uri="{FF2B5EF4-FFF2-40B4-BE49-F238E27FC236}">
                <a16:creationId xmlns:a16="http://schemas.microsoft.com/office/drawing/2014/main" id="{FBBEC089-7092-E68F-CF72-39B23219360B}"/>
              </a:ext>
            </a:extLst>
          </p:cNvPr>
          <p:cNvSpPr/>
          <p:nvPr/>
        </p:nvSpPr>
        <p:spPr>
          <a:xfrm>
            <a:off x="0" y="0"/>
            <a:ext cx="9144000" cy="6721475"/>
          </a:xfrm>
          <a:prstGeom prst="halfFrame">
            <a:avLst>
              <a:gd name="adj1" fmla="val 1173"/>
              <a:gd name="adj2" fmla="val 1318"/>
            </a:avLst>
          </a:prstGeom>
          <a:gradFill>
            <a:gsLst>
              <a:gs pos="100000">
                <a:schemeClr val="bg1">
                  <a:alpha val="0"/>
                </a:schemeClr>
              </a:gs>
              <a:gs pos="2000">
                <a:srgbClr val="00005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8" name="Round Same Side Corner Rectangle 17">
            <a:extLst>
              <a:ext uri="{FF2B5EF4-FFF2-40B4-BE49-F238E27FC236}">
                <a16:creationId xmlns:a16="http://schemas.microsoft.com/office/drawing/2014/main" id="{972728BF-F3B0-9B2F-1545-E13F1D3F6318}"/>
              </a:ext>
            </a:extLst>
          </p:cNvPr>
          <p:cNvSpPr/>
          <p:nvPr/>
        </p:nvSpPr>
        <p:spPr>
          <a:xfrm>
            <a:off x="2800350" y="0"/>
            <a:ext cx="3543300" cy="161925"/>
          </a:xfrm>
          <a:prstGeom prst="round2SameRect">
            <a:avLst>
              <a:gd name="adj1" fmla="val 16667"/>
              <a:gd name="adj2" fmla="val 50000"/>
            </a:avLst>
          </a:prstGeom>
          <a:solidFill>
            <a:srgbClr val="0000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9" name="TextBox 18">
            <a:extLst>
              <a:ext uri="{FF2B5EF4-FFF2-40B4-BE49-F238E27FC236}">
                <a16:creationId xmlns:a16="http://schemas.microsoft.com/office/drawing/2014/main" id="{031B4885-9DFB-98A4-ABDD-C54CACE6CEE8}"/>
              </a:ext>
            </a:extLst>
          </p:cNvPr>
          <p:cNvSpPr txBox="1"/>
          <p:nvPr/>
        </p:nvSpPr>
        <p:spPr>
          <a:xfrm>
            <a:off x="0" y="-3389"/>
            <a:ext cx="9143999" cy="261610"/>
          </a:xfrm>
          <a:prstGeom prst="rect">
            <a:avLst/>
          </a:prstGeom>
          <a:noFill/>
        </p:spPr>
        <p:txBody>
          <a:bodyPr wrap="square" lIns="0" tIns="0" rIns="0" bIns="0" rtlCol="0">
            <a:noAutofit/>
          </a:bodyPr>
          <a:lstStyle/>
          <a:p>
            <a:pPr algn="ctr"/>
            <a:r>
              <a:rPr lang="en-US" sz="1000" kern="1500" spc="600" baseline="0" dirty="0">
                <a:solidFill>
                  <a:srgbClr val="FFFF00"/>
                </a:solidFill>
                <a:latin typeface="+mn-lt"/>
              </a:rPr>
              <a:t>NAVSEA WARFARE CENTERS</a:t>
            </a:r>
          </a:p>
        </p:txBody>
      </p:sp>
      <p:sp>
        <p:nvSpPr>
          <p:cNvPr id="20" name="Round Same Side Corner Rectangle 19">
            <a:extLst>
              <a:ext uri="{FF2B5EF4-FFF2-40B4-BE49-F238E27FC236}">
                <a16:creationId xmlns:a16="http://schemas.microsoft.com/office/drawing/2014/main" id="{3BE14A4A-328D-FFCF-BC1C-BEFDB4987AEB}"/>
              </a:ext>
            </a:extLst>
          </p:cNvPr>
          <p:cNvSpPr/>
          <p:nvPr/>
        </p:nvSpPr>
        <p:spPr>
          <a:xfrm flipV="1">
            <a:off x="2800350" y="6682418"/>
            <a:ext cx="3543300" cy="161925"/>
          </a:xfrm>
          <a:prstGeom prst="round2SameRect">
            <a:avLst>
              <a:gd name="adj1" fmla="val 16667"/>
              <a:gd name="adj2" fmla="val 50000"/>
            </a:avLst>
          </a:prstGeom>
          <a:solidFill>
            <a:srgbClr val="0000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1" name="TextBox 20">
            <a:extLst>
              <a:ext uri="{FF2B5EF4-FFF2-40B4-BE49-F238E27FC236}">
                <a16:creationId xmlns:a16="http://schemas.microsoft.com/office/drawing/2014/main" id="{F67FB240-85A6-6BB5-3CCC-680B2437072A}"/>
              </a:ext>
            </a:extLst>
          </p:cNvPr>
          <p:cNvSpPr txBox="1"/>
          <p:nvPr/>
        </p:nvSpPr>
        <p:spPr>
          <a:xfrm>
            <a:off x="0" y="6679029"/>
            <a:ext cx="9143999" cy="261610"/>
          </a:xfrm>
          <a:prstGeom prst="rect">
            <a:avLst/>
          </a:prstGeom>
          <a:noFill/>
        </p:spPr>
        <p:txBody>
          <a:bodyPr wrap="square" lIns="0" tIns="0" rIns="0" bIns="0" rtlCol="0">
            <a:noAutofit/>
          </a:bodyPr>
          <a:lstStyle/>
          <a:p>
            <a:pPr algn="ctr"/>
            <a:r>
              <a:rPr lang="en-US" sz="1000" kern="1500" spc="600" baseline="0" dirty="0">
                <a:solidFill>
                  <a:srgbClr val="FFFF00"/>
                </a:solidFill>
                <a:latin typeface="+mn-lt"/>
              </a:rPr>
              <a:t>NAVSEA WARFARE CENTERS</a:t>
            </a:r>
          </a:p>
        </p:txBody>
      </p:sp>
      <p:sp>
        <p:nvSpPr>
          <p:cNvPr id="5" name="Content Placeholder 7">
            <a:extLst>
              <a:ext uri="{FF2B5EF4-FFF2-40B4-BE49-F238E27FC236}">
                <a16:creationId xmlns:a16="http://schemas.microsoft.com/office/drawing/2014/main" id="{0AE2390C-4098-4DD7-8A01-08146B568455}"/>
              </a:ext>
            </a:extLst>
          </p:cNvPr>
          <p:cNvSpPr txBox="1">
            <a:spLocks/>
          </p:cNvSpPr>
          <p:nvPr/>
        </p:nvSpPr>
        <p:spPr>
          <a:xfrm>
            <a:off x="342404" y="1231395"/>
            <a:ext cx="4381995" cy="50401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2400" b="1" dirty="0"/>
              <a:t>Contracting</a:t>
            </a:r>
          </a:p>
          <a:p>
            <a:pPr marL="457200" lvl="1" indent="0" fontAlgn="auto">
              <a:spcBef>
                <a:spcPts val="0"/>
              </a:spcBef>
              <a:spcAft>
                <a:spcPts val="0"/>
              </a:spcAft>
              <a:buFont typeface="Arial" panose="020B0604020202020204" pitchFamily="34" charset="0"/>
              <a:buNone/>
            </a:pPr>
            <a:endParaRPr lang="en-US" sz="1600" dirty="0"/>
          </a:p>
          <a:p>
            <a:pPr marL="457200" lvl="1" indent="0" fontAlgn="auto">
              <a:spcBef>
                <a:spcPts val="0"/>
              </a:spcBef>
              <a:spcAft>
                <a:spcPts val="0"/>
              </a:spcAft>
              <a:buFont typeface="Arial" panose="020B0604020202020204" pitchFamily="34" charset="0"/>
              <a:buNone/>
            </a:pPr>
            <a:endParaRPr lang="en-US" sz="200" dirty="0"/>
          </a:p>
          <a:p>
            <a:pPr fontAlgn="auto">
              <a:spcBef>
                <a:spcPts val="0"/>
              </a:spcBef>
              <a:spcAft>
                <a:spcPts val="0"/>
              </a:spcAft>
            </a:pPr>
            <a:r>
              <a:rPr lang="en-US" sz="2000" dirty="0"/>
              <a:t>Sean McGinley</a:t>
            </a:r>
          </a:p>
          <a:p>
            <a:pPr marL="457200" lvl="1" indent="0" fontAlgn="auto">
              <a:spcBef>
                <a:spcPts val="0"/>
              </a:spcBef>
              <a:spcAft>
                <a:spcPts val="0"/>
              </a:spcAft>
              <a:buFont typeface="Arial" panose="020B0604020202020204" pitchFamily="34" charset="0"/>
              <a:buNone/>
            </a:pPr>
            <a:r>
              <a:rPr lang="en-US" sz="1800" i="1" dirty="0"/>
              <a:t>Big Blue Contract Manager </a:t>
            </a:r>
          </a:p>
          <a:p>
            <a:pPr marL="457200" lvl="1" indent="0" fontAlgn="auto">
              <a:spcBef>
                <a:spcPts val="0"/>
              </a:spcBef>
              <a:spcAft>
                <a:spcPts val="0"/>
              </a:spcAft>
              <a:buFont typeface="Arial" panose="020B0604020202020204" pitchFamily="34" charset="0"/>
              <a:buNone/>
            </a:pPr>
            <a:r>
              <a:rPr lang="en-US" sz="1800" dirty="0"/>
              <a:t>Contracting Officer</a:t>
            </a:r>
          </a:p>
          <a:p>
            <a:pPr marL="457200" lvl="1" indent="0" fontAlgn="auto">
              <a:spcBef>
                <a:spcPts val="0"/>
              </a:spcBef>
              <a:spcAft>
                <a:spcPts val="0"/>
              </a:spcAft>
              <a:buFont typeface="Arial" panose="020B0604020202020204" pitchFamily="34" charset="0"/>
              <a:buNone/>
            </a:pPr>
            <a:r>
              <a:rPr lang="en-US" sz="1800" dirty="0">
                <a:hlinkClick r:id="rId3"/>
              </a:rPr>
              <a:t>sean.p.mcginley4.civ@us.navy.mil</a:t>
            </a:r>
            <a:endParaRPr lang="en-US" sz="1800" dirty="0"/>
          </a:p>
          <a:p>
            <a:pPr marL="457200" lvl="1" indent="0" fontAlgn="auto">
              <a:spcBef>
                <a:spcPts val="0"/>
              </a:spcBef>
              <a:spcAft>
                <a:spcPts val="0"/>
              </a:spcAft>
              <a:buFont typeface="Arial" panose="020B0604020202020204" pitchFamily="34" charset="0"/>
              <a:buNone/>
            </a:pPr>
            <a:endParaRPr lang="en-US" sz="1800" dirty="0"/>
          </a:p>
          <a:p>
            <a:pPr fontAlgn="auto">
              <a:spcBef>
                <a:spcPts val="0"/>
              </a:spcBef>
              <a:spcAft>
                <a:spcPts val="0"/>
              </a:spcAft>
            </a:pPr>
            <a:r>
              <a:rPr lang="en-US" sz="2000" dirty="0"/>
              <a:t>Emily Simpson</a:t>
            </a:r>
          </a:p>
          <a:p>
            <a:pPr lvl="1" indent="0" fontAlgn="auto">
              <a:spcBef>
                <a:spcPts val="0"/>
              </a:spcBef>
              <a:spcAft>
                <a:spcPts val="0"/>
              </a:spcAft>
              <a:buFont typeface="Arial" panose="020B0604020202020204" pitchFamily="34" charset="0"/>
              <a:buNone/>
            </a:pPr>
            <a:r>
              <a:rPr lang="en-US" sz="1800" dirty="0"/>
              <a:t>Contract Specialist</a:t>
            </a:r>
          </a:p>
          <a:p>
            <a:pPr lvl="1" indent="0" fontAlgn="auto">
              <a:spcBef>
                <a:spcPts val="0"/>
              </a:spcBef>
              <a:spcAft>
                <a:spcPts val="0"/>
              </a:spcAft>
              <a:buFont typeface="Arial" panose="020B0604020202020204" pitchFamily="34" charset="0"/>
              <a:buNone/>
            </a:pPr>
            <a:r>
              <a:rPr lang="en-US" sz="1700" dirty="0">
                <a:hlinkClick r:id="rId4"/>
              </a:rPr>
              <a:t>Emily-Rebecca.simpson.civ@us.navy.mil</a:t>
            </a:r>
            <a:r>
              <a:rPr lang="en-US" sz="1700" dirty="0"/>
              <a:t> </a:t>
            </a:r>
          </a:p>
          <a:p>
            <a:pPr marL="457200" lvl="1" indent="0" fontAlgn="auto">
              <a:spcBef>
                <a:spcPts val="0"/>
              </a:spcBef>
              <a:spcAft>
                <a:spcPts val="0"/>
              </a:spcAft>
              <a:buFont typeface="Arial" panose="020B0604020202020204" pitchFamily="34" charset="0"/>
              <a:buNone/>
            </a:pPr>
            <a:endParaRPr lang="en-US" sz="2200" dirty="0"/>
          </a:p>
          <a:p>
            <a:pPr indent="0" fontAlgn="auto">
              <a:spcBef>
                <a:spcPts val="0"/>
              </a:spcBef>
              <a:spcAft>
                <a:spcPts val="0"/>
              </a:spcAft>
              <a:buFont typeface="Arial" panose="020B0604020202020204" pitchFamily="34" charset="0"/>
              <a:buNone/>
            </a:pPr>
            <a:endParaRPr lang="en-US" sz="2200" dirty="0"/>
          </a:p>
          <a:p>
            <a:pPr indent="0" fontAlgn="auto">
              <a:spcBef>
                <a:spcPts val="0"/>
              </a:spcBef>
              <a:spcAft>
                <a:spcPts val="0"/>
              </a:spcAft>
              <a:buFont typeface="Arial" panose="020B0604020202020204" pitchFamily="34" charset="0"/>
              <a:buNone/>
            </a:pPr>
            <a:endParaRPr lang="en-US" sz="2200" dirty="0"/>
          </a:p>
          <a:p>
            <a:pPr indent="0" fontAlgn="auto">
              <a:spcBef>
                <a:spcPts val="0"/>
              </a:spcBef>
              <a:spcAft>
                <a:spcPts val="0"/>
              </a:spcAft>
              <a:buFont typeface="Arial" panose="020B0604020202020204" pitchFamily="34" charset="0"/>
              <a:buNone/>
            </a:pPr>
            <a:endParaRPr lang="en-US" sz="2200" dirty="0"/>
          </a:p>
          <a:p>
            <a:pPr marL="457200" lvl="1" indent="0" fontAlgn="auto">
              <a:spcBef>
                <a:spcPts val="0"/>
              </a:spcBef>
              <a:spcAft>
                <a:spcPts val="0"/>
              </a:spcAft>
              <a:buFont typeface="Arial" panose="020B0604020202020204" pitchFamily="34" charset="0"/>
              <a:buNone/>
            </a:pPr>
            <a:endParaRPr lang="en-US" dirty="0">
              <a:solidFill>
                <a:srgbClr val="FF0000"/>
              </a:solidFill>
            </a:endParaRPr>
          </a:p>
        </p:txBody>
      </p:sp>
      <p:sp>
        <p:nvSpPr>
          <p:cNvPr id="6" name="Content Placeholder 9">
            <a:extLst>
              <a:ext uri="{FF2B5EF4-FFF2-40B4-BE49-F238E27FC236}">
                <a16:creationId xmlns:a16="http://schemas.microsoft.com/office/drawing/2014/main" id="{E613A3BF-7B5B-DB74-413A-13A262C73431}"/>
              </a:ext>
            </a:extLst>
          </p:cNvPr>
          <p:cNvSpPr txBox="1">
            <a:spLocks/>
          </p:cNvSpPr>
          <p:nvPr/>
        </p:nvSpPr>
        <p:spPr>
          <a:xfrm>
            <a:off x="4490216" y="823861"/>
            <a:ext cx="4513684" cy="43735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fontAlgn="auto">
              <a:spcBef>
                <a:spcPts val="0"/>
              </a:spcBef>
              <a:spcAft>
                <a:spcPts val="0"/>
              </a:spcAft>
              <a:buFont typeface="Arial" panose="020B0604020202020204" pitchFamily="34" charset="0"/>
              <a:buNone/>
            </a:pPr>
            <a:endParaRPr lang="en-US" sz="1800" dirty="0"/>
          </a:p>
          <a:p>
            <a:pPr fontAlgn="auto">
              <a:spcAft>
                <a:spcPts val="0"/>
              </a:spcAft>
            </a:pPr>
            <a:r>
              <a:rPr lang="en-US" sz="2400" b="1" dirty="0"/>
              <a:t>Small Business</a:t>
            </a:r>
          </a:p>
          <a:p>
            <a:pPr fontAlgn="auto">
              <a:spcAft>
                <a:spcPts val="0"/>
              </a:spcAft>
            </a:pPr>
            <a:r>
              <a:rPr lang="en-US" sz="2000" dirty="0"/>
              <a:t>Christie Colaianni</a:t>
            </a:r>
          </a:p>
          <a:p>
            <a:pPr marL="457200" lvl="1" indent="0" fontAlgn="auto">
              <a:spcBef>
                <a:spcPts val="0"/>
              </a:spcBef>
              <a:spcAft>
                <a:spcPts val="0"/>
              </a:spcAft>
              <a:buFont typeface="Arial" panose="020B0604020202020204" pitchFamily="34" charset="0"/>
              <a:buNone/>
            </a:pPr>
            <a:r>
              <a:rPr lang="en-US" sz="1800" i="1" dirty="0"/>
              <a:t>Deputy for Small Business</a:t>
            </a:r>
          </a:p>
          <a:p>
            <a:pPr marL="457200" lvl="1" indent="0" fontAlgn="auto">
              <a:spcBef>
                <a:spcPts val="0"/>
              </a:spcBef>
              <a:spcAft>
                <a:spcPts val="0"/>
              </a:spcAft>
              <a:buFont typeface="Arial" panose="020B0604020202020204" pitchFamily="34" charset="0"/>
              <a:buNone/>
            </a:pPr>
            <a:r>
              <a:rPr lang="en-US" sz="1800" dirty="0">
                <a:hlinkClick r:id="rId5"/>
              </a:rPr>
              <a:t>Christie.l.colaianni.civ@us.navy.mil</a:t>
            </a:r>
            <a:endParaRPr lang="en-US" sz="1800" dirty="0"/>
          </a:p>
          <a:p>
            <a:pPr marL="0" indent="0" fontAlgn="auto">
              <a:spcAft>
                <a:spcPts val="0"/>
              </a:spcAft>
              <a:buFont typeface="Arial" panose="020B0604020202020204" pitchFamily="34" charset="0"/>
              <a:buNone/>
            </a:pPr>
            <a:endParaRPr lang="en-US" sz="3200" dirty="0"/>
          </a:p>
          <a:p>
            <a:pPr marL="457200" lvl="1" indent="0" fontAlgn="auto">
              <a:spcBef>
                <a:spcPts val="0"/>
              </a:spcBef>
              <a:spcAft>
                <a:spcPts val="0"/>
              </a:spcAft>
              <a:buFont typeface="Arial" panose="020B0604020202020204" pitchFamily="34" charset="0"/>
              <a:buNone/>
            </a:pPr>
            <a:endParaRPr lang="en-US" sz="3200" dirty="0"/>
          </a:p>
        </p:txBody>
      </p:sp>
    </p:spTree>
    <p:extLst>
      <p:ext uri="{BB962C8B-B14F-4D97-AF65-F5344CB8AC3E}">
        <p14:creationId xmlns:p14="http://schemas.microsoft.com/office/powerpoint/2010/main" val="216146610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F013A9-761E-969C-0ADB-D783EB5475BB}"/>
              </a:ext>
            </a:extLst>
          </p:cNvPr>
          <p:cNvSpPr>
            <a:spLocks noGrp="1"/>
          </p:cNvSpPr>
          <p:nvPr>
            <p:ph idx="1"/>
          </p:nvPr>
        </p:nvSpPr>
        <p:spPr>
          <a:xfrm>
            <a:off x="280087" y="1060704"/>
            <a:ext cx="8547042" cy="5474208"/>
          </a:xfrm>
        </p:spPr>
        <p:txBody>
          <a:bodyPr>
            <a:normAutofit/>
          </a:bodyPr>
          <a:lstStyle/>
          <a:p>
            <a:r>
              <a:rPr lang="en-US" dirty="0">
                <a:cs typeface="Arial" panose="020B0604020202020204" pitchFamily="34" charset="0"/>
              </a:rPr>
              <a:t>Please ensure mics are muted during presentation.</a:t>
            </a:r>
          </a:p>
          <a:p>
            <a:r>
              <a:rPr lang="en-US" dirty="0">
                <a:cs typeface="Arial" panose="020B0604020202020204" pitchFamily="34" charset="0"/>
              </a:rPr>
              <a:t>This presentation is being </a:t>
            </a:r>
            <a:r>
              <a:rPr lang="en-US" b="1" dirty="0">
                <a:cs typeface="Arial" panose="020B0604020202020204" pitchFamily="34" charset="0"/>
              </a:rPr>
              <a:t>recorded by NSWCPD.</a:t>
            </a:r>
          </a:p>
          <a:p>
            <a:r>
              <a:rPr lang="en-US" dirty="0">
                <a:cs typeface="Arial" panose="020B0604020202020204" pitchFamily="34" charset="0"/>
              </a:rPr>
              <a:t>Please save any questions for the end of the presentation.</a:t>
            </a:r>
          </a:p>
          <a:p>
            <a:r>
              <a:rPr lang="en-US" dirty="0">
                <a:cs typeface="Arial" panose="020B0604020202020204" pitchFamily="34" charset="0"/>
              </a:rPr>
              <a:t>Q&amp;A will be posted to SAM.gov. </a:t>
            </a:r>
          </a:p>
          <a:p>
            <a:r>
              <a:rPr lang="en-US" dirty="0">
                <a:cs typeface="Arial" panose="020B0604020202020204" pitchFamily="34" charset="0"/>
              </a:rPr>
              <a:t>The attendees list will be posted to SAM.gov. </a:t>
            </a:r>
          </a:p>
          <a:p>
            <a:r>
              <a:rPr lang="en-US" b="1" u="sng" dirty="0">
                <a:cs typeface="Arial" panose="020B0604020202020204" pitchFamily="34" charset="0"/>
              </a:rPr>
              <a:t>DO NOT directly contact NSWCPD technical code </a:t>
            </a:r>
            <a:r>
              <a:rPr lang="en-US" dirty="0">
                <a:cs typeface="Arial" panose="020B0604020202020204" pitchFamily="34" charset="0"/>
              </a:rPr>
              <a:t>after today - all further dialogue will be accomplished via email directed to the Contracts Office.</a:t>
            </a:r>
          </a:p>
          <a:p>
            <a:r>
              <a:rPr lang="en-US" dirty="0">
                <a:cs typeface="Arial" panose="020B0604020202020204" pitchFamily="34" charset="0"/>
              </a:rPr>
              <a:t>Technical requirements contained in this briefing are presented as a summary.</a:t>
            </a:r>
          </a:p>
          <a:p>
            <a:r>
              <a:rPr lang="en-US" dirty="0">
                <a:cs typeface="Arial" panose="020B0604020202020204" pitchFamily="34" charset="0"/>
              </a:rPr>
              <a:t>Final Technical Requirements will be provided in the Request for Proposal (RFP).</a:t>
            </a:r>
          </a:p>
        </p:txBody>
      </p:sp>
      <p:sp>
        <p:nvSpPr>
          <p:cNvPr id="3" name="Title 2">
            <a:extLst>
              <a:ext uri="{FF2B5EF4-FFF2-40B4-BE49-F238E27FC236}">
                <a16:creationId xmlns:a16="http://schemas.microsoft.com/office/drawing/2014/main" id="{998C4347-DC8C-23DF-73BB-3B2791979860}"/>
              </a:ext>
            </a:extLst>
          </p:cNvPr>
          <p:cNvSpPr>
            <a:spLocks noGrp="1"/>
          </p:cNvSpPr>
          <p:nvPr>
            <p:ph type="title"/>
          </p:nvPr>
        </p:nvSpPr>
        <p:spPr>
          <a:xfrm>
            <a:off x="729430" y="63371"/>
            <a:ext cx="7685140" cy="1325563"/>
          </a:xfrm>
        </p:spPr>
        <p:txBody>
          <a:bodyPr>
            <a:normAutofit/>
          </a:bodyPr>
          <a:lstStyle/>
          <a:p>
            <a:pPr algn="ctr"/>
            <a:r>
              <a:rPr lang="en-US" sz="4000" dirty="0">
                <a:cs typeface="Arial" panose="020B0604020202020204" pitchFamily="34" charset="0"/>
              </a:rPr>
              <a:t>Ground Rules</a:t>
            </a:r>
            <a:endParaRPr lang="en-US" sz="4000" dirty="0"/>
          </a:p>
        </p:txBody>
      </p:sp>
    </p:spTree>
    <p:extLst>
      <p:ext uri="{BB962C8B-B14F-4D97-AF65-F5344CB8AC3E}">
        <p14:creationId xmlns:p14="http://schemas.microsoft.com/office/powerpoint/2010/main" val="18283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BA800-6BBA-4BA6-926C-D529300F061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3CCC40-032B-12E7-DF58-647C2E3AFD42}"/>
              </a:ext>
            </a:extLst>
          </p:cNvPr>
          <p:cNvSpPr>
            <a:spLocks noGrp="1"/>
          </p:cNvSpPr>
          <p:nvPr>
            <p:ph idx="1"/>
          </p:nvPr>
        </p:nvSpPr>
        <p:spPr/>
        <p:txBody>
          <a:bodyPr>
            <a:normAutofit/>
          </a:bodyPr>
          <a:lstStyle/>
          <a:p>
            <a:r>
              <a:rPr lang="en-US" dirty="0">
                <a:cs typeface="Arial" panose="020B0604020202020204" pitchFamily="34" charset="0"/>
              </a:rPr>
              <a:t>Remarks by Government officials involved in this presentation should not be considered a guarantee of the Government’s course of action in proceeding with an acquisition.</a:t>
            </a:r>
          </a:p>
          <a:p>
            <a:pPr marL="0" indent="0">
              <a:buNone/>
            </a:pPr>
            <a:endParaRPr lang="en-US" dirty="0">
              <a:cs typeface="Arial" panose="020B0604020202020204" pitchFamily="34" charset="0"/>
            </a:endParaRPr>
          </a:p>
          <a:p>
            <a:r>
              <a:rPr lang="en-US" dirty="0">
                <a:cs typeface="Arial" panose="020B0604020202020204" pitchFamily="34" charset="0"/>
              </a:rPr>
              <a:t>The informational briefing shared today reflects current Government intentions and is subject to change based on a variety of circumstances.</a:t>
            </a:r>
          </a:p>
          <a:p>
            <a:pPr marL="0" indent="0">
              <a:buNone/>
            </a:pPr>
            <a:endParaRPr lang="en-US" dirty="0">
              <a:cs typeface="Arial" panose="020B0604020202020204" pitchFamily="34" charset="0"/>
            </a:endParaRPr>
          </a:p>
          <a:p>
            <a:r>
              <a:rPr lang="en-US" dirty="0">
                <a:cs typeface="Arial" panose="020B0604020202020204" pitchFamily="34" charset="0"/>
              </a:rPr>
              <a:t>The formal solicitation, when issued, is the only document that should be relied upon in determining the Government’s requirements.</a:t>
            </a:r>
          </a:p>
          <a:p>
            <a:pPr marL="0" indent="0">
              <a:buNone/>
            </a:pPr>
            <a:endParaRPr lang="en-US" dirty="0"/>
          </a:p>
        </p:txBody>
      </p:sp>
      <p:sp>
        <p:nvSpPr>
          <p:cNvPr id="3" name="Title 2">
            <a:extLst>
              <a:ext uri="{FF2B5EF4-FFF2-40B4-BE49-F238E27FC236}">
                <a16:creationId xmlns:a16="http://schemas.microsoft.com/office/drawing/2014/main" id="{C94AB73F-7007-70A8-B55C-A90A20401807}"/>
              </a:ext>
            </a:extLst>
          </p:cNvPr>
          <p:cNvSpPr>
            <a:spLocks noGrp="1"/>
          </p:cNvSpPr>
          <p:nvPr>
            <p:ph type="title"/>
          </p:nvPr>
        </p:nvSpPr>
        <p:spPr>
          <a:xfrm>
            <a:off x="729430" y="63371"/>
            <a:ext cx="7685140" cy="1325563"/>
          </a:xfrm>
        </p:spPr>
        <p:txBody>
          <a:bodyPr>
            <a:normAutofit/>
          </a:bodyPr>
          <a:lstStyle/>
          <a:p>
            <a:pPr algn="ctr"/>
            <a:r>
              <a:rPr lang="en-US" sz="4000" dirty="0"/>
              <a:t>Disclaimer Statement</a:t>
            </a:r>
          </a:p>
        </p:txBody>
      </p:sp>
    </p:spTree>
    <p:extLst>
      <p:ext uri="{BB962C8B-B14F-4D97-AF65-F5344CB8AC3E}">
        <p14:creationId xmlns:p14="http://schemas.microsoft.com/office/powerpoint/2010/main" val="921111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099B-B39F-4ECE-C64F-AF70B4E345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A4B6B7-88CB-B747-0D68-3B78065A41D8}"/>
              </a:ext>
            </a:extLst>
          </p:cNvPr>
          <p:cNvSpPr>
            <a:spLocks noGrp="1"/>
          </p:cNvSpPr>
          <p:nvPr>
            <p:ph idx="1"/>
          </p:nvPr>
        </p:nvSpPr>
        <p:spPr>
          <a:xfrm>
            <a:off x="280087" y="1296456"/>
            <a:ext cx="8547042" cy="4897080"/>
          </a:xfrm>
        </p:spPr>
        <p:txBody>
          <a:bodyPr>
            <a:normAutofit/>
          </a:bodyPr>
          <a:lstStyle/>
          <a:p>
            <a:pPr eaLnBrk="0" hangingPunct="0">
              <a:buFont typeface="Arial" charset="0"/>
              <a:buChar char="•"/>
            </a:pPr>
            <a:r>
              <a:rPr lang="en-US" sz="2000" dirty="0">
                <a:cs typeface="Arial" panose="020B0604020202020204" pitchFamily="34" charset="0"/>
              </a:rPr>
              <a:t>FAR 10 – Market Research</a:t>
            </a:r>
          </a:p>
          <a:p>
            <a:pPr marL="685214" lvl="1" eaLnBrk="0" hangingPunct="0">
              <a:buFont typeface="Arial" charset="0"/>
              <a:buChar char="•"/>
            </a:pPr>
            <a:r>
              <a:rPr lang="en-US" dirty="0">
                <a:cs typeface="Arial" panose="020B0604020202020204" pitchFamily="34" charset="0"/>
              </a:rPr>
              <a:t>All information is </a:t>
            </a:r>
            <a:r>
              <a:rPr lang="en-US" b="1" dirty="0">
                <a:cs typeface="Arial" panose="020B0604020202020204" pitchFamily="34" charset="0"/>
              </a:rPr>
              <a:t>tentative</a:t>
            </a:r>
            <a:r>
              <a:rPr lang="en-US" dirty="0">
                <a:cs typeface="Arial" panose="020B0604020202020204" pitchFamily="34" charset="0"/>
              </a:rPr>
              <a:t> and can change </a:t>
            </a:r>
          </a:p>
          <a:p>
            <a:pPr eaLnBrk="0" hangingPunct="0">
              <a:buFont typeface="Arial" charset="0"/>
              <a:buChar char="•"/>
            </a:pPr>
            <a:r>
              <a:rPr lang="en-US" sz="2000" dirty="0">
                <a:cs typeface="Arial" panose="020B0604020202020204" pitchFamily="34" charset="0"/>
              </a:rPr>
              <a:t>FAR 15.201 – Exchanges with industry before receipt of proposals</a:t>
            </a:r>
          </a:p>
          <a:p>
            <a:pPr marL="685214" lvl="1" eaLnBrk="0" hangingPunct="0">
              <a:buFont typeface="Arial" charset="0"/>
              <a:buChar char="•"/>
            </a:pPr>
            <a:r>
              <a:rPr lang="en-US" dirty="0">
                <a:cs typeface="Arial" panose="020B0604020202020204" pitchFamily="34" charset="0"/>
              </a:rPr>
              <a:t>“(b) </a:t>
            </a:r>
            <a:r>
              <a:rPr lang="en-US" b="1" dirty="0">
                <a:cs typeface="Arial" panose="020B0604020202020204" pitchFamily="34" charset="0"/>
              </a:rPr>
              <a:t>The purpose of exchanging information is to improve the understanding of Government requirements and industry capabilities</a:t>
            </a:r>
            <a:r>
              <a:rPr lang="en-US" dirty="0">
                <a:cs typeface="Arial" panose="020B0604020202020204" pitchFamily="34" charset="0"/>
              </a:rPr>
              <a:t>, thereby allowing potential Offerors to judge whether or how they can satisfy the Government’s requirements, and enhancing the Government’s ability to obtain quality supplies and services, including construction, at reasonable prices , and increase efficiency in proposal preparation, proposal evaluation, negotiation, and contract award.”</a:t>
            </a:r>
          </a:p>
          <a:p>
            <a:pPr marL="685214" lvl="1" eaLnBrk="0" hangingPunct="0">
              <a:buFont typeface="Arial" charset="0"/>
              <a:buChar char="•"/>
            </a:pPr>
            <a:r>
              <a:rPr lang="en-US" dirty="0">
                <a:cs typeface="Arial" panose="020B0604020202020204" pitchFamily="34" charset="0"/>
              </a:rPr>
              <a:t>“(c) …</a:t>
            </a:r>
            <a:r>
              <a:rPr lang="en-US" b="1" dirty="0">
                <a:cs typeface="Arial" panose="020B0604020202020204" pitchFamily="34" charset="0"/>
              </a:rPr>
              <a:t>An early exchange of information…can identify and resolve concerns</a:t>
            </a:r>
            <a:r>
              <a:rPr lang="en-US" dirty="0">
                <a:cs typeface="Arial" panose="020B0604020202020204" pitchFamily="34" charset="0"/>
              </a:rPr>
              <a:t> regarding the acquisition strategy, including proposed contract type, terms and conditions, and acquisition planning schedules; the feasibility of the requirement…”</a:t>
            </a:r>
          </a:p>
          <a:p>
            <a:endParaRPr lang="en-US" dirty="0"/>
          </a:p>
        </p:txBody>
      </p:sp>
      <p:sp>
        <p:nvSpPr>
          <p:cNvPr id="3" name="Title 2">
            <a:extLst>
              <a:ext uri="{FF2B5EF4-FFF2-40B4-BE49-F238E27FC236}">
                <a16:creationId xmlns:a16="http://schemas.microsoft.com/office/drawing/2014/main" id="{CF9B7F5C-9EEC-9AF4-3163-EDEB27947678}"/>
              </a:ext>
            </a:extLst>
          </p:cNvPr>
          <p:cNvSpPr>
            <a:spLocks noGrp="1"/>
          </p:cNvSpPr>
          <p:nvPr>
            <p:ph type="title"/>
          </p:nvPr>
        </p:nvSpPr>
        <p:spPr>
          <a:xfrm>
            <a:off x="729430" y="63371"/>
            <a:ext cx="7685140" cy="1325563"/>
          </a:xfrm>
        </p:spPr>
        <p:txBody>
          <a:bodyPr>
            <a:normAutofit/>
          </a:bodyPr>
          <a:lstStyle/>
          <a:p>
            <a:pPr algn="ctr"/>
            <a:r>
              <a:rPr lang="en-US" sz="3200" dirty="0"/>
              <a:t>Disclaimer Statement / FAR</a:t>
            </a:r>
          </a:p>
        </p:txBody>
      </p:sp>
    </p:spTree>
    <p:extLst>
      <p:ext uri="{BB962C8B-B14F-4D97-AF65-F5344CB8AC3E}">
        <p14:creationId xmlns:p14="http://schemas.microsoft.com/office/powerpoint/2010/main" val="1072704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50FEE-CDC8-C772-76A4-8CBBFF9F08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10AC70-0B65-B9DF-3E79-E8E9117F2F99}"/>
              </a:ext>
            </a:extLst>
          </p:cNvPr>
          <p:cNvSpPr>
            <a:spLocks noGrp="1"/>
          </p:cNvSpPr>
          <p:nvPr>
            <p:ph idx="1"/>
          </p:nvPr>
        </p:nvSpPr>
        <p:spPr>
          <a:xfrm>
            <a:off x="-199747" y="1253331"/>
            <a:ext cx="8547042" cy="4351338"/>
          </a:xfrm>
        </p:spPr>
        <p:txBody>
          <a:bodyPr>
            <a:normAutofit fontScale="92500" lnSpcReduction="10000"/>
          </a:bodyPr>
          <a:lstStyle/>
          <a:p>
            <a:pPr lvl="1">
              <a:spcBef>
                <a:spcPts val="0"/>
              </a:spcBef>
              <a:buFont typeface="Arial" panose="020B0604020202020204" pitchFamily="34" charset="0"/>
              <a:buChar char="•"/>
            </a:pPr>
            <a:r>
              <a:rPr lang="en-US" sz="2400" dirty="0">
                <a:cs typeface="Arial" panose="020B0604020202020204" pitchFamily="34" charset="0"/>
              </a:rPr>
              <a:t>Award date:  March 15, 2021</a:t>
            </a:r>
          </a:p>
          <a:p>
            <a:pPr lvl="1">
              <a:spcBef>
                <a:spcPts val="0"/>
              </a:spcBef>
              <a:buFont typeface="Arial" panose="020B0604020202020204" pitchFamily="34" charset="0"/>
              <a:buChar char="•"/>
            </a:pPr>
            <a:endParaRPr lang="en-US" sz="2400" dirty="0">
              <a:cs typeface="Arial" panose="020B0604020202020204" pitchFamily="34" charset="0"/>
            </a:endParaRPr>
          </a:p>
          <a:p>
            <a:pPr lvl="1">
              <a:spcBef>
                <a:spcPts val="0"/>
              </a:spcBef>
              <a:buFont typeface="Arial" panose="020B0604020202020204" pitchFamily="34" charset="0"/>
              <a:buChar char="•"/>
            </a:pPr>
            <a:r>
              <a:rPr lang="en-US" sz="2400" dirty="0">
                <a:cs typeface="Arial" panose="020B0604020202020204" pitchFamily="34" charset="0"/>
              </a:rPr>
              <a:t>Ordering Period End Date:  March 14, 2028</a:t>
            </a:r>
          </a:p>
          <a:p>
            <a:pPr marL="457200" lvl="1" indent="0">
              <a:spcBef>
                <a:spcPts val="0"/>
              </a:spcBef>
              <a:buNone/>
            </a:pPr>
            <a:endParaRPr lang="en-US" sz="2400" dirty="0">
              <a:cs typeface="Arial" panose="020B0604020202020204" pitchFamily="34" charset="0"/>
            </a:endParaRPr>
          </a:p>
          <a:p>
            <a:pPr lvl="1">
              <a:spcBef>
                <a:spcPts val="0"/>
              </a:spcBef>
              <a:buFont typeface="Arial" panose="020B0604020202020204" pitchFamily="34" charset="0"/>
              <a:buChar char="•"/>
            </a:pPr>
            <a:r>
              <a:rPr lang="en-US" sz="2400" dirty="0" err="1">
                <a:cs typeface="Arial" panose="020B0604020202020204" pitchFamily="34" charset="0"/>
              </a:rPr>
              <a:t>PoP</a:t>
            </a:r>
            <a:r>
              <a:rPr lang="en-US" sz="2400" dirty="0">
                <a:cs typeface="Arial" panose="020B0604020202020204" pitchFamily="34" charset="0"/>
              </a:rPr>
              <a:t> End Date:  December 14, 2029</a:t>
            </a:r>
          </a:p>
          <a:p>
            <a:pPr marL="457200" lvl="1" indent="0">
              <a:spcBef>
                <a:spcPts val="0"/>
              </a:spcBef>
              <a:buNone/>
            </a:pPr>
            <a:endParaRPr lang="en-US" sz="2400" dirty="0">
              <a:cs typeface="Arial" panose="020B0604020202020204" pitchFamily="34" charset="0"/>
            </a:endParaRPr>
          </a:p>
          <a:p>
            <a:pPr lvl="1">
              <a:spcBef>
                <a:spcPts val="0"/>
              </a:spcBef>
              <a:buFont typeface="Arial" panose="020B0604020202020204" pitchFamily="34" charset="0"/>
              <a:buChar char="•"/>
              <a:defRPr/>
            </a:pPr>
            <a:r>
              <a:rPr lang="en-US" sz="2400" dirty="0">
                <a:cs typeface="Arial" panose="020B0604020202020204" pitchFamily="34" charset="0"/>
              </a:rPr>
              <a:t>Contract Ceiling = ~$780M</a:t>
            </a:r>
          </a:p>
          <a:p>
            <a:pPr marL="457200" lvl="1" indent="0">
              <a:spcBef>
                <a:spcPts val="0"/>
              </a:spcBef>
              <a:buNone/>
              <a:defRPr/>
            </a:pPr>
            <a:endParaRPr lang="en-US" sz="2400" dirty="0">
              <a:cs typeface="Arial" panose="020B0604020202020204" pitchFamily="34" charset="0"/>
            </a:endParaRPr>
          </a:p>
          <a:p>
            <a:pPr lvl="1">
              <a:spcBef>
                <a:spcPts val="0"/>
              </a:spcBef>
              <a:buFont typeface="Arial" panose="020B0604020202020204" pitchFamily="34" charset="0"/>
              <a:buChar char="•"/>
              <a:defRPr/>
            </a:pPr>
            <a:r>
              <a:rPr lang="en-US" sz="2400" dirty="0">
                <a:cs typeface="Arial" panose="020B0604020202020204" pitchFamily="34" charset="0"/>
              </a:rPr>
              <a:t>“Estimated” Level of Effort = 9,816,000 labor hours</a:t>
            </a:r>
          </a:p>
          <a:p>
            <a:pPr marL="457200" lvl="1" indent="0">
              <a:spcBef>
                <a:spcPts val="0"/>
              </a:spcBef>
              <a:buNone/>
              <a:defRPr/>
            </a:pPr>
            <a:endParaRPr lang="en-US" sz="2400" dirty="0">
              <a:cs typeface="Arial" panose="020B0604020202020204" pitchFamily="34" charset="0"/>
            </a:endParaRPr>
          </a:p>
          <a:p>
            <a:pPr lvl="1">
              <a:spcBef>
                <a:spcPts val="0"/>
              </a:spcBef>
              <a:buFont typeface="Arial" panose="020B0604020202020204" pitchFamily="34" charset="0"/>
              <a:buChar char="•"/>
              <a:defRPr/>
            </a:pPr>
            <a:r>
              <a:rPr lang="en-US" sz="2400" dirty="0">
                <a:cs typeface="Arial" panose="020B0604020202020204" pitchFamily="34" charset="0"/>
              </a:rPr>
              <a:t>Classification Level = SECRET Security Level</a:t>
            </a:r>
          </a:p>
          <a:p>
            <a:pPr marL="457200" lvl="1" indent="0">
              <a:spcBef>
                <a:spcPts val="0"/>
              </a:spcBef>
              <a:buNone/>
              <a:defRPr/>
            </a:pPr>
            <a:r>
              <a:rPr lang="en-US" sz="2400" dirty="0">
                <a:cs typeface="Arial" panose="020B0604020202020204" pitchFamily="34" charset="0"/>
              </a:rPr>
              <a:t> </a:t>
            </a:r>
          </a:p>
          <a:p>
            <a:pPr lvl="1">
              <a:spcBef>
                <a:spcPts val="0"/>
              </a:spcBef>
              <a:buFont typeface="Arial" panose="020B0604020202020204" pitchFamily="34" charset="0"/>
              <a:buChar char="•"/>
              <a:defRPr/>
            </a:pPr>
            <a:r>
              <a:rPr lang="en-US" sz="2400" dirty="0">
                <a:cs typeface="Arial" panose="020B0604020202020204" pitchFamily="34" charset="0"/>
              </a:rPr>
              <a:t>Contract Type = Cost-Plus-Fixed-Fee (CPFF)/Firm-Fixed-Price (FFP), Indefinite-Delivery/Indefinite-Quantity (IDIQ) Multiple Award Contract (MAC)</a:t>
            </a:r>
          </a:p>
          <a:p>
            <a:endParaRPr lang="en-US" dirty="0"/>
          </a:p>
        </p:txBody>
      </p:sp>
      <p:sp>
        <p:nvSpPr>
          <p:cNvPr id="3" name="Title 2">
            <a:extLst>
              <a:ext uri="{FF2B5EF4-FFF2-40B4-BE49-F238E27FC236}">
                <a16:creationId xmlns:a16="http://schemas.microsoft.com/office/drawing/2014/main" id="{C3AF252E-7935-62A7-C7C5-2549C1730F71}"/>
              </a:ext>
            </a:extLst>
          </p:cNvPr>
          <p:cNvSpPr>
            <a:spLocks noGrp="1"/>
          </p:cNvSpPr>
          <p:nvPr>
            <p:ph type="title"/>
          </p:nvPr>
        </p:nvSpPr>
        <p:spPr>
          <a:xfrm>
            <a:off x="871964" y="63371"/>
            <a:ext cx="7685140" cy="1325563"/>
          </a:xfrm>
        </p:spPr>
        <p:txBody>
          <a:bodyPr>
            <a:normAutofit/>
          </a:bodyPr>
          <a:lstStyle/>
          <a:p>
            <a:pPr algn="ctr"/>
            <a:r>
              <a:rPr lang="en-US" sz="3400" dirty="0"/>
              <a:t>Big Blue III MAC Contract</a:t>
            </a:r>
          </a:p>
        </p:txBody>
      </p:sp>
    </p:spTree>
    <p:extLst>
      <p:ext uri="{BB962C8B-B14F-4D97-AF65-F5344CB8AC3E}">
        <p14:creationId xmlns:p14="http://schemas.microsoft.com/office/powerpoint/2010/main" val="3530861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F96EA-6341-4EDF-8127-91B6852F0B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788DF2-CFF9-D2D8-21B0-9602731B259B}"/>
              </a:ext>
            </a:extLst>
          </p:cNvPr>
          <p:cNvSpPr>
            <a:spLocks noGrp="1"/>
          </p:cNvSpPr>
          <p:nvPr>
            <p:ph idx="1"/>
          </p:nvPr>
        </p:nvSpPr>
        <p:spPr>
          <a:xfrm>
            <a:off x="280087" y="1296456"/>
            <a:ext cx="8547042" cy="4715046"/>
          </a:xfrm>
        </p:spPr>
        <p:txBody>
          <a:bodyPr>
            <a:normAutofit fontScale="85000" lnSpcReduction="10000"/>
          </a:bodyPr>
          <a:lstStyle/>
          <a:p>
            <a:r>
              <a:rPr lang="en-US" dirty="0">
                <a:cs typeface="Arial" panose="020B0604020202020204" pitchFamily="34" charset="0"/>
              </a:rPr>
              <a:t>Misson: Support transition of Hull, Mechanical &amp; Electrical machinery technology to the U.S. Navy active/reserve Fleet and support various sponsors for Navy Modernization Programs. </a:t>
            </a:r>
          </a:p>
          <a:p>
            <a:r>
              <a:rPr lang="en-US" dirty="0">
                <a:cs typeface="Arial" panose="020B0604020202020204" pitchFamily="34" charset="0"/>
              </a:rPr>
              <a:t>This requires development and execution of various Ship Changes (SCs) and SHIPALTs to upgrade and maintain system/equipment readiness for various Navy HM&amp;E and electronic systems in cost-effective and timely manner. </a:t>
            </a:r>
          </a:p>
          <a:p>
            <a:r>
              <a:rPr lang="en-US" dirty="0">
                <a:cs typeface="Arial" panose="020B0604020202020204" pitchFamily="34" charset="0"/>
              </a:rPr>
              <a:t>Program would cover mid to large level modernization projects that are accomplished both pier-side and in drydock at various </a:t>
            </a:r>
            <a:r>
              <a:rPr lang="en-US">
                <a:cs typeface="Arial" panose="020B0604020202020204" pitchFamily="34" charset="0"/>
              </a:rPr>
              <a:t>naval installations </a:t>
            </a:r>
            <a:r>
              <a:rPr lang="en-US" dirty="0">
                <a:cs typeface="Arial" panose="020B0604020202020204" pitchFamily="34" charset="0"/>
              </a:rPr>
              <a:t>and shipyards. </a:t>
            </a:r>
          </a:p>
          <a:p>
            <a:r>
              <a:rPr lang="en-US" dirty="0">
                <a:cs typeface="Arial" panose="020B0604020202020204" pitchFamily="34" charset="0"/>
              </a:rPr>
              <a:t>Program consist of critical-path SCDs/Alterations that are typically complex in nature, crucial to execution of meeting key production, lights-off and testing milestones during ship CNO availabilities. Installs also are intricate in system arrangement, interface and distributive system impact. </a:t>
            </a:r>
          </a:p>
          <a:p>
            <a:r>
              <a:rPr lang="en-US" dirty="0">
                <a:cs typeface="Arial" panose="020B0604020202020204" pitchFamily="34" charset="0"/>
              </a:rPr>
              <a:t>Program supports both CONUS and OCONUS site locations. </a:t>
            </a:r>
          </a:p>
          <a:p>
            <a:r>
              <a:rPr lang="en-US" dirty="0">
                <a:cs typeface="Arial" panose="020B0604020202020204" pitchFamily="34" charset="0"/>
              </a:rPr>
              <a:t>Work includes all platforms including, but not limited to, Surface, Submarine, Carrier, and Amphibious ships. </a:t>
            </a:r>
          </a:p>
          <a:p>
            <a:endParaRPr lang="en-US" dirty="0"/>
          </a:p>
        </p:txBody>
      </p:sp>
      <p:sp>
        <p:nvSpPr>
          <p:cNvPr id="3" name="Title 2">
            <a:extLst>
              <a:ext uri="{FF2B5EF4-FFF2-40B4-BE49-F238E27FC236}">
                <a16:creationId xmlns:a16="http://schemas.microsoft.com/office/drawing/2014/main" id="{DAEB1ABC-FA01-332F-ACCE-1F17E9A8262D}"/>
              </a:ext>
            </a:extLst>
          </p:cNvPr>
          <p:cNvSpPr>
            <a:spLocks noGrp="1"/>
          </p:cNvSpPr>
          <p:nvPr>
            <p:ph type="title"/>
          </p:nvPr>
        </p:nvSpPr>
        <p:spPr>
          <a:xfrm>
            <a:off x="729430" y="63371"/>
            <a:ext cx="7685140" cy="1325563"/>
          </a:xfrm>
        </p:spPr>
        <p:txBody>
          <a:bodyPr>
            <a:normAutofit/>
          </a:bodyPr>
          <a:lstStyle/>
          <a:p>
            <a:pPr algn="ctr"/>
            <a:r>
              <a:rPr lang="en-US" sz="3600" dirty="0"/>
              <a:t>Big Blue IV Task Areas</a:t>
            </a:r>
          </a:p>
        </p:txBody>
      </p:sp>
    </p:spTree>
    <p:extLst>
      <p:ext uri="{BB962C8B-B14F-4D97-AF65-F5344CB8AC3E}">
        <p14:creationId xmlns:p14="http://schemas.microsoft.com/office/powerpoint/2010/main" val="272497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9334C-8652-60B5-80A3-480057EAF1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A116F8-A77B-17B3-F27D-99BF499CDE7D}"/>
              </a:ext>
            </a:extLst>
          </p:cNvPr>
          <p:cNvSpPr>
            <a:spLocks noGrp="1"/>
          </p:cNvSpPr>
          <p:nvPr>
            <p:ph idx="1"/>
          </p:nvPr>
        </p:nvSpPr>
        <p:spPr>
          <a:xfrm>
            <a:off x="280087" y="1296456"/>
            <a:ext cx="8547042" cy="4715046"/>
          </a:xfrm>
        </p:spPr>
        <p:txBody>
          <a:bodyPr>
            <a:normAutofit fontScale="92500" lnSpcReduction="10000"/>
          </a:bodyPr>
          <a:lstStyle/>
          <a:p>
            <a:pPr>
              <a:defRPr/>
            </a:pPr>
            <a:r>
              <a:rPr lang="en-US" dirty="0">
                <a:cs typeface="Arial" panose="020B0604020202020204" pitchFamily="34" charset="0"/>
              </a:rPr>
              <a:t>Examples of Big Blue projects:</a:t>
            </a:r>
          </a:p>
          <a:p>
            <a:pPr>
              <a:defRPr/>
            </a:pPr>
            <a:endParaRPr lang="en-US" dirty="0">
              <a:cs typeface="Arial" panose="020B0604020202020204" pitchFamily="34" charset="0"/>
            </a:endParaRPr>
          </a:p>
          <a:p>
            <a:pPr marL="742950" lvl="1" indent="-285750">
              <a:defRPr/>
            </a:pPr>
            <a:r>
              <a:rPr lang="en-US" dirty="0">
                <a:cs typeface="Arial" panose="020B0604020202020204" pitchFamily="34" charset="0"/>
              </a:rPr>
              <a:t>Structural, outfitting, piping, ventilation, and electrical system modifications to existing compartments </a:t>
            </a:r>
          </a:p>
          <a:p>
            <a:pPr lvl="1">
              <a:defRPr/>
            </a:pPr>
            <a:endParaRPr lang="en-US" dirty="0">
              <a:cs typeface="Arial" panose="020B0604020202020204" pitchFamily="34" charset="0"/>
            </a:endParaRPr>
          </a:p>
          <a:p>
            <a:pPr marL="742950" lvl="1" indent="-285750">
              <a:defRPr/>
            </a:pPr>
            <a:r>
              <a:rPr lang="en-US" dirty="0">
                <a:cs typeface="Arial" panose="020B0604020202020204" pitchFamily="34" charset="0"/>
              </a:rPr>
              <a:t>Install Display Units, terminal boxes and switches, and electrical cable</a:t>
            </a:r>
          </a:p>
          <a:p>
            <a:pPr lvl="1">
              <a:defRPr/>
            </a:pPr>
            <a:endParaRPr lang="en-US" dirty="0">
              <a:cs typeface="Arial" panose="020B0604020202020204" pitchFamily="34" charset="0"/>
            </a:endParaRPr>
          </a:p>
          <a:p>
            <a:pPr marL="742950" lvl="1" indent="-285750">
              <a:defRPr/>
            </a:pPr>
            <a:r>
              <a:rPr lang="en-US" dirty="0">
                <a:cs typeface="Arial" panose="020B0604020202020204" pitchFamily="34" charset="0"/>
              </a:rPr>
              <a:t>Test and verify fiber optic connections</a:t>
            </a:r>
          </a:p>
          <a:p>
            <a:pPr lvl="1">
              <a:defRPr/>
            </a:pPr>
            <a:endParaRPr lang="en-US" dirty="0">
              <a:cs typeface="Arial" panose="020B0604020202020204" pitchFamily="34" charset="0"/>
            </a:endParaRPr>
          </a:p>
          <a:p>
            <a:pPr marL="742950" lvl="1" indent="-285750">
              <a:defRPr/>
            </a:pPr>
            <a:r>
              <a:rPr lang="en-US" dirty="0">
                <a:cs typeface="Arial" panose="020B0604020202020204" pitchFamily="34" charset="0"/>
              </a:rPr>
              <a:t>Equipment/system repair that interfaces with an approved Ship Change (SC) and would need to be fully operational in order to successfully light off and test the SC.</a:t>
            </a:r>
          </a:p>
          <a:p>
            <a:pPr marL="742950" lvl="1" indent="-285750">
              <a:defRPr/>
            </a:pPr>
            <a:endParaRPr lang="en-US" dirty="0">
              <a:cs typeface="Arial" panose="020B0604020202020204" pitchFamily="34" charset="0"/>
            </a:endParaRPr>
          </a:p>
          <a:p>
            <a:pPr lvl="1">
              <a:defRPr/>
            </a:pPr>
            <a:r>
              <a:rPr lang="en-US" dirty="0">
                <a:cs typeface="Arial" panose="020B0604020202020204" pitchFamily="34" charset="0"/>
              </a:rPr>
              <a:t>Additional examples of projects/programs supported included in draft Statement of Work (SOW). </a:t>
            </a:r>
          </a:p>
          <a:p>
            <a:endParaRPr lang="en-US" dirty="0"/>
          </a:p>
        </p:txBody>
      </p:sp>
      <p:sp>
        <p:nvSpPr>
          <p:cNvPr id="3" name="Title 2">
            <a:extLst>
              <a:ext uri="{FF2B5EF4-FFF2-40B4-BE49-F238E27FC236}">
                <a16:creationId xmlns:a16="http://schemas.microsoft.com/office/drawing/2014/main" id="{4D24C43F-0CE5-175F-FD3F-C29E7335D137}"/>
              </a:ext>
            </a:extLst>
          </p:cNvPr>
          <p:cNvSpPr>
            <a:spLocks noGrp="1"/>
          </p:cNvSpPr>
          <p:nvPr>
            <p:ph type="title"/>
          </p:nvPr>
        </p:nvSpPr>
        <p:spPr>
          <a:xfrm>
            <a:off x="729430" y="63371"/>
            <a:ext cx="7685140" cy="1325563"/>
          </a:xfrm>
        </p:spPr>
        <p:txBody>
          <a:bodyPr>
            <a:normAutofit/>
          </a:bodyPr>
          <a:lstStyle/>
          <a:p>
            <a:pPr algn="ctr"/>
            <a:r>
              <a:rPr lang="en-US" sz="3600" dirty="0"/>
              <a:t>Big Blue IV Task Areas</a:t>
            </a:r>
          </a:p>
        </p:txBody>
      </p:sp>
    </p:spTree>
    <p:extLst>
      <p:ext uri="{BB962C8B-B14F-4D97-AF65-F5344CB8AC3E}">
        <p14:creationId xmlns:p14="http://schemas.microsoft.com/office/powerpoint/2010/main" val="4234235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F675D-800E-405A-E68D-1913A4605B0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65F8D4-EEB3-02D4-9C66-3F29B788D787}"/>
              </a:ext>
            </a:extLst>
          </p:cNvPr>
          <p:cNvSpPr>
            <a:spLocks noGrp="1"/>
          </p:cNvSpPr>
          <p:nvPr>
            <p:ph idx="1"/>
          </p:nvPr>
        </p:nvSpPr>
        <p:spPr/>
        <p:txBody>
          <a:bodyPr/>
          <a:lstStyle/>
          <a:p>
            <a:r>
              <a:rPr lang="en-US" dirty="0">
                <a:cs typeface="Arial" panose="020B0604020202020204" pitchFamily="34" charset="0"/>
              </a:rPr>
              <a:t>Contract is estimated to be five (5) base years and five (5) one (1) year option periods.</a:t>
            </a:r>
          </a:p>
          <a:p>
            <a:r>
              <a:rPr lang="en-US" dirty="0">
                <a:cs typeface="Arial" panose="020B0604020202020204" pitchFamily="34" charset="0"/>
              </a:rPr>
              <a:t>The projected Level of Effort (LOE) is approx. 1.3M labor hours per year.</a:t>
            </a:r>
          </a:p>
          <a:p>
            <a:r>
              <a:rPr lang="en-US" dirty="0">
                <a:cs typeface="Arial" panose="020B0604020202020204" pitchFamily="34" charset="0"/>
              </a:rPr>
              <a:t>Some overtime hours are expected to be included in the estimated LOE.</a:t>
            </a:r>
          </a:p>
          <a:p>
            <a:r>
              <a:rPr lang="en-US" dirty="0">
                <a:cs typeface="Arial" panose="020B0604020202020204" pitchFamily="34" charset="0"/>
              </a:rPr>
              <a:t>The work location is expected to be roughly 85% Government Site/15% Contractor Site</a:t>
            </a:r>
          </a:p>
          <a:p>
            <a:endParaRPr lang="en-US" dirty="0"/>
          </a:p>
        </p:txBody>
      </p:sp>
      <p:sp>
        <p:nvSpPr>
          <p:cNvPr id="3" name="Title 2">
            <a:extLst>
              <a:ext uri="{FF2B5EF4-FFF2-40B4-BE49-F238E27FC236}">
                <a16:creationId xmlns:a16="http://schemas.microsoft.com/office/drawing/2014/main" id="{D57A6D9E-728B-679F-38DD-132761458702}"/>
              </a:ext>
            </a:extLst>
          </p:cNvPr>
          <p:cNvSpPr>
            <a:spLocks noGrp="1"/>
          </p:cNvSpPr>
          <p:nvPr>
            <p:ph type="title"/>
          </p:nvPr>
        </p:nvSpPr>
        <p:spPr>
          <a:xfrm>
            <a:off x="716476" y="126746"/>
            <a:ext cx="7685140" cy="1325563"/>
          </a:xfrm>
        </p:spPr>
        <p:txBody>
          <a:bodyPr>
            <a:normAutofit/>
          </a:bodyPr>
          <a:lstStyle/>
          <a:p>
            <a:pPr algn="ctr"/>
            <a:r>
              <a:rPr lang="en-US" sz="3200" dirty="0"/>
              <a:t>Big Blue IV Level of Effort</a:t>
            </a:r>
          </a:p>
        </p:txBody>
      </p:sp>
    </p:spTree>
    <p:extLst>
      <p:ext uri="{BB962C8B-B14F-4D97-AF65-F5344CB8AC3E}">
        <p14:creationId xmlns:p14="http://schemas.microsoft.com/office/powerpoint/2010/main" val="412995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40E17-E9DD-F1C0-104C-A5BE84DBA3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3A9D1A-D7EC-7C6F-BB65-C166EE353F82}"/>
              </a:ext>
            </a:extLst>
          </p:cNvPr>
          <p:cNvSpPr>
            <a:spLocks noGrp="1"/>
          </p:cNvSpPr>
          <p:nvPr>
            <p:ph type="title"/>
          </p:nvPr>
        </p:nvSpPr>
        <p:spPr>
          <a:xfrm>
            <a:off x="711038" y="63371"/>
            <a:ext cx="7685140" cy="1325563"/>
          </a:xfrm>
        </p:spPr>
        <p:txBody>
          <a:bodyPr>
            <a:normAutofit/>
          </a:bodyPr>
          <a:lstStyle/>
          <a:p>
            <a:pPr algn="ctr"/>
            <a:r>
              <a:rPr lang="en-US" sz="4000" dirty="0"/>
              <a:t>Labor Categories*</a:t>
            </a:r>
          </a:p>
        </p:txBody>
      </p:sp>
      <p:sp>
        <p:nvSpPr>
          <p:cNvPr id="4" name="Content Placeholder 2">
            <a:extLst>
              <a:ext uri="{FF2B5EF4-FFF2-40B4-BE49-F238E27FC236}">
                <a16:creationId xmlns:a16="http://schemas.microsoft.com/office/drawing/2014/main" id="{5CED9EDA-C323-49CE-224F-3499C6894922}"/>
              </a:ext>
            </a:extLst>
          </p:cNvPr>
          <p:cNvSpPr>
            <a:spLocks noGrp="1"/>
          </p:cNvSpPr>
          <p:nvPr>
            <p:ph idx="1"/>
          </p:nvPr>
        </p:nvSpPr>
        <p:spPr>
          <a:xfrm>
            <a:off x="172108" y="1198969"/>
            <a:ext cx="8763000" cy="5007867"/>
          </a:xfrm>
        </p:spPr>
        <p:txBody>
          <a:bodyPr numCol="3">
            <a:normAutofit/>
          </a:bodyPr>
          <a:lstStyle/>
          <a:p>
            <a:pPr marL="0" indent="0">
              <a:buNone/>
            </a:pPr>
            <a:r>
              <a:rPr lang="en-US" sz="1200" dirty="0">
                <a:cs typeface="Arial" panose="020B0604020202020204" pitchFamily="34" charset="0"/>
              </a:rPr>
              <a:t>Senior Program Manager (MANP2) </a:t>
            </a:r>
          </a:p>
          <a:p>
            <a:pPr marL="0" indent="0">
              <a:buNone/>
            </a:pPr>
            <a:r>
              <a:rPr lang="en-US" sz="1200" dirty="0">
                <a:cs typeface="Arial" panose="020B0604020202020204" pitchFamily="34" charset="0"/>
              </a:rPr>
              <a:t>Site Foreman (MANP1) </a:t>
            </a:r>
          </a:p>
          <a:p>
            <a:pPr marL="0" indent="0">
              <a:buNone/>
            </a:pPr>
            <a:r>
              <a:rPr lang="en-US" sz="1200" dirty="0">
                <a:cs typeface="Arial" panose="020B0604020202020204" pitchFamily="34" charset="0"/>
              </a:rPr>
              <a:t>Program Manager (MANP2) </a:t>
            </a:r>
          </a:p>
          <a:p>
            <a:pPr marL="0" indent="0">
              <a:buNone/>
            </a:pPr>
            <a:r>
              <a:rPr lang="en-US" sz="1200" dirty="0">
                <a:cs typeface="Arial" panose="020B0604020202020204" pitchFamily="34" charset="0"/>
              </a:rPr>
              <a:t>Assistant Site Foreman (MANP1) </a:t>
            </a:r>
          </a:p>
          <a:p>
            <a:pPr marL="0" indent="0">
              <a:buNone/>
            </a:pPr>
            <a:r>
              <a:rPr lang="en-US" sz="1200" dirty="0">
                <a:cs typeface="Arial" panose="020B0604020202020204" pitchFamily="34" charset="0"/>
              </a:rPr>
              <a:t>Quality Assurance (QA) Specialist (99610)</a:t>
            </a:r>
          </a:p>
          <a:p>
            <a:pPr marL="0" indent="0">
              <a:buNone/>
            </a:pPr>
            <a:r>
              <a:rPr lang="en-US" sz="1200" dirty="0">
                <a:cs typeface="Arial" panose="020B0604020202020204" pitchFamily="34" charset="0"/>
              </a:rPr>
              <a:t>Senior Engineering Technician (30085)</a:t>
            </a:r>
          </a:p>
          <a:p>
            <a:pPr marL="0" indent="0">
              <a:buNone/>
            </a:pPr>
            <a:r>
              <a:rPr lang="en-US" sz="1200" dirty="0">
                <a:cs typeface="Arial" panose="020B0604020202020204" pitchFamily="34" charset="0"/>
              </a:rPr>
              <a:t>Planner/Estimator (LGT2)</a:t>
            </a:r>
          </a:p>
          <a:p>
            <a:pPr marL="0" indent="0">
              <a:buNone/>
            </a:pPr>
            <a:r>
              <a:rPr lang="en-US" sz="1200" dirty="0">
                <a:cs typeface="Arial" panose="020B0604020202020204" pitchFamily="34" charset="0"/>
              </a:rPr>
              <a:t>Logistician (LGT1) </a:t>
            </a:r>
          </a:p>
          <a:p>
            <a:pPr marL="0" indent="0">
              <a:buNone/>
            </a:pPr>
            <a:r>
              <a:rPr lang="en-US" sz="1200" dirty="0">
                <a:cs typeface="Arial" panose="020B0604020202020204" pitchFamily="34" charset="0"/>
              </a:rPr>
              <a:t>Senior Engineer (EE3) </a:t>
            </a:r>
          </a:p>
          <a:p>
            <a:pPr marL="0" indent="0">
              <a:buNone/>
            </a:pPr>
            <a:r>
              <a:rPr lang="en-US" sz="1200" dirty="0">
                <a:cs typeface="Arial" panose="020B0604020202020204" pitchFamily="34" charset="0"/>
              </a:rPr>
              <a:t>Engineer (EE2) </a:t>
            </a:r>
          </a:p>
          <a:p>
            <a:pPr marL="0" indent="0">
              <a:buNone/>
            </a:pPr>
            <a:r>
              <a:rPr lang="en-US" sz="1200" dirty="0">
                <a:cs typeface="Arial" panose="020B0604020202020204" pitchFamily="34" charset="0"/>
              </a:rPr>
              <a:t>Engineering Technician (30083)</a:t>
            </a:r>
          </a:p>
          <a:p>
            <a:pPr marL="0" indent="0">
              <a:buNone/>
            </a:pPr>
            <a:r>
              <a:rPr lang="en-US" sz="1200" dirty="0">
                <a:cs typeface="Arial" panose="020B0604020202020204" pitchFamily="34" charset="0"/>
              </a:rPr>
              <a:t>Quality Assurance Technician (99610)</a:t>
            </a:r>
          </a:p>
          <a:p>
            <a:pPr marL="0" indent="0">
              <a:buNone/>
            </a:pPr>
            <a:r>
              <a:rPr lang="en-US" sz="1200" dirty="0">
                <a:cs typeface="Arial" panose="020B0604020202020204" pitchFamily="34" charset="0"/>
              </a:rPr>
              <a:t>Electronics Technician (23183)</a:t>
            </a:r>
          </a:p>
          <a:p>
            <a:pPr marL="0" indent="0">
              <a:buNone/>
            </a:pPr>
            <a:r>
              <a:rPr lang="en-US" sz="1200" dirty="0">
                <a:cs typeface="Arial" panose="020B0604020202020204" pitchFamily="34" charset="0"/>
              </a:rPr>
              <a:t>Computer Programmer (EC2) </a:t>
            </a:r>
          </a:p>
          <a:p>
            <a:pPr marL="0" indent="0">
              <a:buNone/>
            </a:pPr>
            <a:r>
              <a:rPr lang="en-US" sz="1200" dirty="0">
                <a:cs typeface="Arial" panose="020B0604020202020204" pitchFamily="34" charset="0"/>
              </a:rPr>
              <a:t>Systems/Program Analyst (ANM1) </a:t>
            </a:r>
          </a:p>
          <a:p>
            <a:pPr marL="0" indent="0">
              <a:buNone/>
            </a:pPr>
            <a:r>
              <a:rPr lang="en-US" sz="1200" dirty="0">
                <a:cs typeface="Arial" panose="020B0604020202020204" pitchFamily="34" charset="0"/>
              </a:rPr>
              <a:t>Shipfitter/Welder/Burner (23960)</a:t>
            </a:r>
          </a:p>
          <a:p>
            <a:pPr marL="0" indent="0">
              <a:buNone/>
            </a:pPr>
            <a:r>
              <a:rPr lang="en-US" sz="1200" dirty="0">
                <a:cs typeface="Arial" panose="020B0604020202020204" pitchFamily="34" charset="0"/>
              </a:rPr>
              <a:t>Marine Electrician (30083)</a:t>
            </a:r>
          </a:p>
          <a:p>
            <a:pPr marL="0" indent="0">
              <a:buNone/>
            </a:pPr>
            <a:r>
              <a:rPr lang="en-US" sz="1200" dirty="0">
                <a:cs typeface="Arial" panose="020B0604020202020204" pitchFamily="34" charset="0"/>
              </a:rPr>
              <a:t>HVAC Technician (23410)</a:t>
            </a:r>
          </a:p>
          <a:p>
            <a:pPr marL="0" indent="0">
              <a:buNone/>
            </a:pPr>
            <a:r>
              <a:rPr lang="en-US" sz="1200" dirty="0">
                <a:cs typeface="Arial" panose="020B0604020202020204" pitchFamily="34" charset="0"/>
              </a:rPr>
              <a:t>Marine Equipment Mechanic (23530)</a:t>
            </a:r>
          </a:p>
          <a:p>
            <a:pPr marL="0" indent="0">
              <a:buNone/>
            </a:pPr>
            <a:r>
              <a:rPr lang="en-US" sz="1200" dirty="0">
                <a:cs typeface="Arial" panose="020B0604020202020204" pitchFamily="34" charset="0"/>
              </a:rPr>
              <a:t>Pipe Fitter/Brazier (47101)</a:t>
            </a:r>
          </a:p>
          <a:p>
            <a:pPr marL="0" indent="0">
              <a:buNone/>
            </a:pPr>
            <a:r>
              <a:rPr lang="en-US" sz="1200" dirty="0">
                <a:cs typeface="Arial" panose="020B0604020202020204" pitchFamily="34" charset="0"/>
              </a:rPr>
              <a:t>Machinist (23550)</a:t>
            </a:r>
          </a:p>
          <a:p>
            <a:pPr marL="0" indent="0">
              <a:buNone/>
            </a:pPr>
            <a:r>
              <a:rPr lang="en-US" sz="1200" dirty="0">
                <a:cs typeface="Arial" panose="020B0604020202020204" pitchFamily="34" charset="0"/>
              </a:rPr>
              <a:t>Maintenance Trades Helper (23580)</a:t>
            </a:r>
          </a:p>
          <a:p>
            <a:pPr marL="0" indent="0">
              <a:buNone/>
            </a:pPr>
            <a:r>
              <a:rPr lang="en-US" sz="1200" dirty="0">
                <a:cs typeface="Arial" panose="020B0604020202020204" pitchFamily="34" charset="0"/>
              </a:rPr>
              <a:t>CAD Designer (30064)</a:t>
            </a:r>
          </a:p>
          <a:p>
            <a:pPr marL="0" indent="0">
              <a:buNone/>
            </a:pPr>
            <a:r>
              <a:rPr lang="en-US" sz="1200" dirty="0">
                <a:cs typeface="Arial" panose="020B0604020202020204" pitchFamily="34" charset="0"/>
              </a:rPr>
              <a:t>Technical Writer (TECW)</a:t>
            </a:r>
          </a:p>
          <a:p>
            <a:pPr marL="0" indent="0">
              <a:buNone/>
            </a:pPr>
            <a:r>
              <a:rPr lang="en-US" sz="1200" dirty="0">
                <a:cs typeface="Arial" panose="020B0604020202020204" pitchFamily="34" charset="0"/>
              </a:rPr>
              <a:t>Painter/Sandblaster (23760)</a:t>
            </a:r>
          </a:p>
          <a:p>
            <a:pPr marL="0" indent="0">
              <a:buNone/>
            </a:pPr>
            <a:r>
              <a:rPr lang="en-US" sz="1200" dirty="0">
                <a:cs typeface="Arial" panose="020B0604020202020204" pitchFamily="34" charset="0"/>
              </a:rPr>
              <a:t>Insulator/Lagger (47101)</a:t>
            </a:r>
          </a:p>
          <a:p>
            <a:pPr marL="0" indent="0">
              <a:buNone/>
            </a:pPr>
            <a:r>
              <a:rPr lang="en-US" sz="1200" dirty="0">
                <a:cs typeface="Arial" panose="020B0604020202020204" pitchFamily="34" charset="0"/>
              </a:rPr>
              <a:t>Clerk/Typist (01611)</a:t>
            </a:r>
          </a:p>
          <a:p>
            <a:pPr marL="0" indent="0">
              <a:buNone/>
            </a:pPr>
            <a:r>
              <a:rPr lang="en-US" sz="1200" dirty="0">
                <a:cs typeface="Arial" panose="020B0604020202020204" pitchFamily="34" charset="0"/>
              </a:rPr>
              <a:t>Scheduler (MANA2)</a:t>
            </a:r>
          </a:p>
          <a:p>
            <a:pPr marL="0" indent="0">
              <a:buNone/>
            </a:pPr>
            <a:r>
              <a:rPr lang="en-US" sz="1200" dirty="0">
                <a:cs typeface="Arial" panose="020B0604020202020204" pitchFamily="34" charset="0"/>
              </a:rPr>
              <a:t>Configuration </a:t>
            </a:r>
            <a:r>
              <a:rPr lang="en-US" sz="1200" dirty="0" err="1">
                <a:cs typeface="Arial" panose="020B0604020202020204" pitchFamily="34" charset="0"/>
              </a:rPr>
              <a:t>Mgmt</a:t>
            </a:r>
            <a:r>
              <a:rPr lang="en-US" sz="1200" dirty="0">
                <a:cs typeface="Arial" panose="020B0604020202020204" pitchFamily="34" charset="0"/>
              </a:rPr>
              <a:t> Specialist (SCM2) </a:t>
            </a:r>
          </a:p>
          <a:p>
            <a:pPr marL="0" indent="0">
              <a:buNone/>
            </a:pPr>
            <a:r>
              <a:rPr lang="en-US" sz="1200" dirty="0">
                <a:cs typeface="Arial" panose="020B0604020202020204" pitchFamily="34" charset="0"/>
              </a:rPr>
              <a:t>Operations Analyst (ANP1) </a:t>
            </a:r>
          </a:p>
          <a:p>
            <a:pPr marL="0" indent="0">
              <a:buNone/>
            </a:pPr>
            <a:r>
              <a:rPr lang="en-US" sz="1200" dirty="0">
                <a:cs typeface="Arial" panose="020B0604020202020204" pitchFamily="34" charset="0"/>
              </a:rPr>
              <a:t>Electronics Maintenance Tech III (23183)</a:t>
            </a:r>
          </a:p>
          <a:p>
            <a:pPr marL="0" indent="0">
              <a:buNone/>
            </a:pPr>
            <a:r>
              <a:rPr lang="en-US" sz="1200" dirty="0">
                <a:cs typeface="Arial" panose="020B0604020202020204" pitchFamily="34" charset="0"/>
              </a:rPr>
              <a:t>Electronics Maintenance Tech I (23181) </a:t>
            </a:r>
          </a:p>
          <a:p>
            <a:pPr marL="0" indent="0">
              <a:buNone/>
            </a:pPr>
            <a:r>
              <a:rPr lang="en-US" sz="1200" dirty="0">
                <a:cs typeface="Arial" panose="020B0604020202020204" pitchFamily="34" charset="0"/>
              </a:rPr>
              <a:t>Electrical Engineer IV (EE4)</a:t>
            </a:r>
          </a:p>
          <a:p>
            <a:pPr marL="0" indent="0">
              <a:buNone/>
            </a:pPr>
            <a:r>
              <a:rPr lang="en-US" sz="1200" dirty="0">
                <a:cs typeface="Arial" panose="020B0604020202020204" pitchFamily="34" charset="0"/>
              </a:rPr>
              <a:t>Mechanical Engineer III (EM3) </a:t>
            </a:r>
          </a:p>
          <a:p>
            <a:pPr marL="0" indent="0">
              <a:buNone/>
            </a:pPr>
            <a:r>
              <a:rPr lang="en-US" sz="1200" dirty="0">
                <a:cs typeface="Arial" panose="020B0604020202020204" pitchFamily="34" charset="0"/>
              </a:rPr>
              <a:t>Administrative Manager II (MANA2) </a:t>
            </a:r>
          </a:p>
          <a:p>
            <a:pPr marL="0" indent="0">
              <a:buNone/>
            </a:pPr>
            <a:r>
              <a:rPr lang="en-US" sz="1200" dirty="0">
                <a:cs typeface="Arial" panose="020B0604020202020204" pitchFamily="34" charset="0"/>
              </a:rPr>
              <a:t>Mechanical Engineer II (EM2) </a:t>
            </a:r>
          </a:p>
          <a:p>
            <a:pPr marL="0" indent="0">
              <a:buNone/>
            </a:pPr>
            <a:r>
              <a:rPr lang="en-US" sz="1200" dirty="0">
                <a:cs typeface="Arial" panose="020B0604020202020204" pitchFamily="34" charset="0"/>
              </a:rPr>
              <a:t>Electrical Engineer I (EE1)</a:t>
            </a:r>
          </a:p>
          <a:p>
            <a:pPr marL="0" indent="0">
              <a:buNone/>
            </a:pPr>
            <a:r>
              <a:rPr lang="en-US" sz="1200" dirty="0">
                <a:cs typeface="Arial" panose="020B0604020202020204" pitchFamily="34" charset="0"/>
              </a:rPr>
              <a:t>Drafter/CAD Operator II (30062)</a:t>
            </a:r>
          </a:p>
          <a:p>
            <a:pPr marL="0" indent="0">
              <a:buNone/>
            </a:pPr>
            <a:r>
              <a:rPr lang="en-US" sz="1200" dirty="0">
                <a:cs typeface="Arial" panose="020B0604020202020204" pitchFamily="34" charset="0"/>
              </a:rPr>
              <a:t>Maintenance Electrician (23160)</a:t>
            </a:r>
          </a:p>
          <a:p>
            <a:pPr marL="0" indent="0">
              <a:buNone/>
            </a:pPr>
            <a:r>
              <a:rPr lang="en-US" sz="1200" dirty="0">
                <a:cs typeface="Arial" panose="020B0604020202020204" pitchFamily="34" charset="0"/>
              </a:rPr>
              <a:t>Maintenance Machinist (23550) </a:t>
            </a:r>
          </a:p>
        </p:txBody>
      </p:sp>
      <p:sp>
        <p:nvSpPr>
          <p:cNvPr id="2" name="TextBox 1">
            <a:extLst>
              <a:ext uri="{FF2B5EF4-FFF2-40B4-BE49-F238E27FC236}">
                <a16:creationId xmlns:a16="http://schemas.microsoft.com/office/drawing/2014/main" id="{F54814EF-9B2D-177D-9C14-5CADAE40CA90}"/>
              </a:ext>
            </a:extLst>
          </p:cNvPr>
          <p:cNvSpPr txBox="1"/>
          <p:nvPr/>
        </p:nvSpPr>
        <p:spPr>
          <a:xfrm>
            <a:off x="172108" y="6326909"/>
            <a:ext cx="2173928" cy="261610"/>
          </a:xfrm>
          <a:prstGeom prst="rect">
            <a:avLst/>
          </a:prstGeom>
          <a:noFill/>
        </p:spPr>
        <p:txBody>
          <a:bodyPr wrap="square" rtlCol="0">
            <a:spAutoFit/>
          </a:bodyPr>
          <a:lstStyle/>
          <a:p>
            <a:r>
              <a:rPr lang="en-US" sz="1100" dirty="0"/>
              <a:t>*SUBJECT TO CHANGE</a:t>
            </a:r>
          </a:p>
        </p:txBody>
      </p:sp>
    </p:spTree>
    <p:extLst>
      <p:ext uri="{BB962C8B-B14F-4D97-AF65-F5344CB8AC3E}">
        <p14:creationId xmlns:p14="http://schemas.microsoft.com/office/powerpoint/2010/main" val="1140727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2AAAA-DD0E-C2AB-EF03-F1E8BAB83E3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7627157-6604-FD89-4683-170A160053B3}"/>
              </a:ext>
            </a:extLst>
          </p:cNvPr>
          <p:cNvSpPr>
            <a:spLocks noGrp="1"/>
          </p:cNvSpPr>
          <p:nvPr>
            <p:ph sz="half" idx="1"/>
          </p:nvPr>
        </p:nvSpPr>
        <p:spPr/>
        <p:txBody>
          <a:bodyPr/>
          <a:lstStyle/>
          <a:p>
            <a:pPr marL="0" indent="0" algn="ctr">
              <a:buNone/>
            </a:pPr>
            <a:r>
              <a:rPr lang="en-US" sz="2200" u="sng" dirty="0">
                <a:cs typeface="Arial" panose="020B0604020202020204" pitchFamily="34" charset="0"/>
              </a:rPr>
              <a:t>Big Blue III</a:t>
            </a:r>
          </a:p>
          <a:p>
            <a:r>
              <a:rPr lang="en-US" sz="2200" dirty="0">
                <a:cs typeface="Arial" panose="020B0604020202020204" pitchFamily="34" charset="0"/>
              </a:rPr>
              <a:t>All base, with no option periods</a:t>
            </a:r>
          </a:p>
          <a:p>
            <a:r>
              <a:rPr lang="en-US" sz="2200" dirty="0">
                <a:cs typeface="Arial" panose="020B0604020202020204" pitchFamily="34" charset="0"/>
              </a:rPr>
              <a:t>Once award was made to contractors no “rolling admission” for other contractors to become “primes” </a:t>
            </a:r>
          </a:p>
          <a:p>
            <a:r>
              <a:rPr lang="en-US" sz="2200" dirty="0">
                <a:cs typeface="Arial" panose="020B0604020202020204" pitchFamily="34" charset="0"/>
              </a:rPr>
              <a:t>Cost proposals were submitted with proposals. </a:t>
            </a:r>
          </a:p>
          <a:p>
            <a:endParaRPr lang="en-US" dirty="0"/>
          </a:p>
        </p:txBody>
      </p:sp>
      <p:sp>
        <p:nvSpPr>
          <p:cNvPr id="5" name="Content Placeholder 4">
            <a:extLst>
              <a:ext uri="{FF2B5EF4-FFF2-40B4-BE49-F238E27FC236}">
                <a16:creationId xmlns:a16="http://schemas.microsoft.com/office/drawing/2014/main" id="{AEC385A5-9EFD-C3AF-EC51-A1DA54960F88}"/>
              </a:ext>
            </a:extLst>
          </p:cNvPr>
          <p:cNvSpPr>
            <a:spLocks noGrp="1"/>
          </p:cNvSpPr>
          <p:nvPr>
            <p:ph sz="half" idx="2"/>
          </p:nvPr>
        </p:nvSpPr>
        <p:spPr/>
        <p:txBody>
          <a:bodyPr>
            <a:normAutofit/>
          </a:bodyPr>
          <a:lstStyle/>
          <a:p>
            <a:pPr marL="0" indent="0" algn="ctr">
              <a:buNone/>
            </a:pPr>
            <a:r>
              <a:rPr lang="en-US" u="sng" dirty="0">
                <a:cs typeface="Arial" panose="020B0604020202020204" pitchFamily="34" charset="0"/>
              </a:rPr>
              <a:t>Big Blue IV</a:t>
            </a:r>
          </a:p>
          <a:p>
            <a:r>
              <a:rPr lang="en-US" dirty="0">
                <a:cs typeface="Arial" panose="020B0604020202020204" pitchFamily="34" charset="0"/>
              </a:rPr>
              <a:t>5-year base with 5 1-year option periods </a:t>
            </a:r>
          </a:p>
          <a:p>
            <a:r>
              <a:rPr lang="en-US" dirty="0">
                <a:cs typeface="Arial" panose="020B0604020202020204" pitchFamily="34" charset="0"/>
              </a:rPr>
              <a:t>New policy regulations result in CMMC certification needed for all awarded companies. </a:t>
            </a:r>
          </a:p>
          <a:p>
            <a:r>
              <a:rPr lang="en-US" dirty="0">
                <a:cs typeface="Arial" panose="020B0604020202020204" pitchFamily="34" charset="0"/>
              </a:rPr>
              <a:t>Considering “rolling admissions”</a:t>
            </a:r>
          </a:p>
          <a:p>
            <a:r>
              <a:rPr lang="en-US" dirty="0">
                <a:cs typeface="Arial" panose="020B0604020202020204" pitchFamily="34" charset="0"/>
              </a:rPr>
              <a:t>Cost will not be evaluated for solicitation.  </a:t>
            </a:r>
          </a:p>
          <a:p>
            <a:endParaRPr lang="en-US" dirty="0"/>
          </a:p>
        </p:txBody>
      </p:sp>
      <p:sp>
        <p:nvSpPr>
          <p:cNvPr id="3" name="Title 2">
            <a:extLst>
              <a:ext uri="{FF2B5EF4-FFF2-40B4-BE49-F238E27FC236}">
                <a16:creationId xmlns:a16="http://schemas.microsoft.com/office/drawing/2014/main" id="{F6225DE2-D428-629D-A542-DCB01961901B}"/>
              </a:ext>
            </a:extLst>
          </p:cNvPr>
          <p:cNvSpPr>
            <a:spLocks noGrp="1"/>
          </p:cNvSpPr>
          <p:nvPr>
            <p:ph type="title"/>
          </p:nvPr>
        </p:nvSpPr>
        <p:spPr/>
        <p:txBody>
          <a:bodyPr>
            <a:normAutofit/>
          </a:bodyPr>
          <a:lstStyle/>
          <a:p>
            <a:r>
              <a:rPr lang="en-US" sz="3200" dirty="0"/>
              <a:t>Big Blue III vs Big Blue IV</a:t>
            </a:r>
          </a:p>
        </p:txBody>
      </p:sp>
    </p:spTree>
    <p:extLst>
      <p:ext uri="{BB962C8B-B14F-4D97-AF65-F5344CB8AC3E}">
        <p14:creationId xmlns:p14="http://schemas.microsoft.com/office/powerpoint/2010/main" val="326423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1F9F2-A442-D72E-F146-BFF562A3744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7DA9C9-131C-BA34-ED7F-BCCE712199E5}"/>
              </a:ext>
            </a:extLst>
          </p:cNvPr>
          <p:cNvSpPr>
            <a:spLocks noGrp="1"/>
          </p:cNvSpPr>
          <p:nvPr>
            <p:ph idx="1"/>
          </p:nvPr>
        </p:nvSpPr>
        <p:spPr/>
        <p:txBody>
          <a:bodyPr>
            <a:normAutofit/>
          </a:bodyPr>
          <a:lstStyle/>
          <a:p>
            <a:pPr eaLnBrk="0" hangingPunct="0">
              <a:buFont typeface="Arial" charset="0"/>
              <a:buChar char="•"/>
            </a:pPr>
            <a:r>
              <a:rPr lang="en-US" dirty="0">
                <a:cs typeface="Arial" panose="020B0604020202020204" pitchFamily="34" charset="0"/>
              </a:rPr>
              <a:t>Effective November 10, 2025, DFARS 252.204-7025 has been updated to incorporate Cybersecurity Maturity Model Certification (CMMC) requirements for contracts involving Controlled Unclassified Information (CUI) or Federal Contract Information (FCI). As your contract involves the handling of CUI or FCI, it will be subject to these new CMMC requirements.</a:t>
            </a:r>
          </a:p>
          <a:p>
            <a:pPr eaLnBrk="0" hangingPunct="0">
              <a:buFont typeface="Arial" charset="0"/>
              <a:buChar char="•"/>
            </a:pPr>
            <a:endParaRPr lang="en-US" dirty="0">
              <a:solidFill>
                <a:srgbClr val="FFC000"/>
              </a:solidFill>
              <a:cs typeface="Arial" panose="020B0604020202020204" pitchFamily="34" charset="0"/>
            </a:endParaRPr>
          </a:p>
          <a:p>
            <a:pPr eaLnBrk="0" hangingPunct="0">
              <a:buFont typeface="Arial" charset="0"/>
              <a:buChar char="•"/>
            </a:pPr>
            <a:r>
              <a:rPr lang="en-US" dirty="0">
                <a:cs typeface="Arial" panose="020B0604020202020204" pitchFamily="34" charset="0"/>
              </a:rPr>
              <a:t>Starting in November 2026, all contractors must undergo a CMMC Level 2 C3PAO assessment. Contractors failing to maintain a CMMC Level 2 C3PAO Assessment with a score above 88 by this deadline will face risks and potential delays in receiving new contract awards and exercising future option periods.</a:t>
            </a:r>
          </a:p>
          <a:p>
            <a:endParaRPr lang="en-US" dirty="0"/>
          </a:p>
        </p:txBody>
      </p:sp>
      <p:sp>
        <p:nvSpPr>
          <p:cNvPr id="3" name="Title 2">
            <a:extLst>
              <a:ext uri="{FF2B5EF4-FFF2-40B4-BE49-F238E27FC236}">
                <a16:creationId xmlns:a16="http://schemas.microsoft.com/office/drawing/2014/main" id="{98199C0A-9A45-B288-DBA6-3E78951BB031}"/>
              </a:ext>
            </a:extLst>
          </p:cNvPr>
          <p:cNvSpPr>
            <a:spLocks noGrp="1"/>
          </p:cNvSpPr>
          <p:nvPr>
            <p:ph type="title"/>
          </p:nvPr>
        </p:nvSpPr>
        <p:spPr>
          <a:xfrm>
            <a:off x="729430" y="63371"/>
            <a:ext cx="7685140" cy="1325563"/>
          </a:xfrm>
        </p:spPr>
        <p:txBody>
          <a:bodyPr>
            <a:normAutofit/>
          </a:bodyPr>
          <a:lstStyle/>
          <a:p>
            <a:pPr algn="ctr"/>
            <a:r>
              <a:rPr lang="en-US" sz="4000" dirty="0"/>
              <a:t>CMMC</a:t>
            </a:r>
          </a:p>
        </p:txBody>
      </p:sp>
    </p:spTree>
    <p:extLst>
      <p:ext uri="{BB962C8B-B14F-4D97-AF65-F5344CB8AC3E}">
        <p14:creationId xmlns:p14="http://schemas.microsoft.com/office/powerpoint/2010/main" val="2994033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EE284-26E8-1A95-5A94-0B1EEF5F5B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F0E23A-7A1A-00E3-0586-E4D24B089E79}"/>
              </a:ext>
            </a:extLst>
          </p:cNvPr>
          <p:cNvSpPr>
            <a:spLocks noGrp="1"/>
          </p:cNvSpPr>
          <p:nvPr>
            <p:ph type="title"/>
          </p:nvPr>
        </p:nvSpPr>
        <p:spPr>
          <a:xfrm>
            <a:off x="729430" y="63371"/>
            <a:ext cx="7685140" cy="1325563"/>
          </a:xfrm>
        </p:spPr>
        <p:txBody>
          <a:bodyPr>
            <a:normAutofit/>
          </a:bodyPr>
          <a:lstStyle/>
          <a:p>
            <a:pPr algn="ctr"/>
            <a:r>
              <a:rPr lang="en-US" sz="4000" dirty="0"/>
              <a:t>CMMC </a:t>
            </a:r>
            <a:r>
              <a:rPr lang="en-US" sz="4000" dirty="0" err="1"/>
              <a:t>Con’t</a:t>
            </a:r>
            <a:endParaRPr lang="en-US" sz="4000" dirty="0"/>
          </a:p>
        </p:txBody>
      </p:sp>
      <p:sp>
        <p:nvSpPr>
          <p:cNvPr id="6" name="Content Placeholder 2">
            <a:extLst>
              <a:ext uri="{FF2B5EF4-FFF2-40B4-BE49-F238E27FC236}">
                <a16:creationId xmlns:a16="http://schemas.microsoft.com/office/drawing/2014/main" id="{A66A598F-DDF1-0415-BFB6-EBEC85CE2D75}"/>
              </a:ext>
            </a:extLst>
          </p:cNvPr>
          <p:cNvSpPr>
            <a:spLocks noGrp="1"/>
          </p:cNvSpPr>
          <p:nvPr>
            <p:ph idx="1"/>
          </p:nvPr>
        </p:nvSpPr>
        <p:spPr>
          <a:xfrm>
            <a:off x="279400" y="1296988"/>
            <a:ext cx="8547100" cy="4351337"/>
          </a:xfrm>
        </p:spPr>
        <p:txBody>
          <a:bodyPr/>
          <a:lstStyle/>
          <a:p>
            <a:r>
              <a:rPr lang="en-US" dirty="0"/>
              <a:t>Resources for additional information/understanding: </a:t>
            </a:r>
          </a:p>
          <a:p>
            <a:pPr lvl="1"/>
            <a:r>
              <a:rPr lang="en-US" dirty="0"/>
              <a:t>About CMMC: </a:t>
            </a:r>
            <a:r>
              <a:rPr lang="en-US" dirty="0">
                <a:hlinkClick r:id="rId2"/>
              </a:rPr>
              <a:t>https://dodcio.defense.gov/cmmc/About/</a:t>
            </a:r>
            <a:endParaRPr lang="en-US" dirty="0"/>
          </a:p>
          <a:p>
            <a:pPr marL="228600" lvl="1" indent="0">
              <a:buNone/>
            </a:pPr>
            <a:endParaRPr lang="en-US" dirty="0"/>
          </a:p>
          <a:p>
            <a:pPr lvl="1"/>
            <a:r>
              <a:rPr lang="en-US" dirty="0"/>
              <a:t>Link for CMMC resources and documentation from CIO U.S. Department of War: </a:t>
            </a:r>
          </a:p>
          <a:p>
            <a:pPr lvl="2"/>
            <a:r>
              <a:rPr lang="en-US" dirty="0">
                <a:hlinkClick r:id="rId3"/>
              </a:rPr>
              <a:t>https://dodcio.defense.gov/CMMC/Resources-Documentation/</a:t>
            </a:r>
            <a:endParaRPr lang="en-US" dirty="0"/>
          </a:p>
          <a:p>
            <a:pPr lvl="2"/>
            <a:endParaRPr lang="en-US" dirty="0"/>
          </a:p>
          <a:p>
            <a:pPr lvl="1"/>
            <a:r>
              <a:rPr lang="en-US" dirty="0"/>
              <a:t>PIEE SPRS CMMC Level I Self Assessment Guide</a:t>
            </a:r>
          </a:p>
          <a:p>
            <a:pPr lvl="1"/>
            <a:r>
              <a:rPr lang="en-US" dirty="0"/>
              <a:t>PIEE SPRS CMMC Level II Self Assessment Guide</a:t>
            </a:r>
          </a:p>
          <a:p>
            <a:pPr lvl="2"/>
            <a:r>
              <a:rPr lang="en-US" dirty="0">
                <a:hlinkClick r:id="rId4"/>
              </a:rPr>
              <a:t>https://www.sprs.csd.disa.mil/pdf/CMMCQuickEntryGuide.pdf</a:t>
            </a:r>
            <a:endParaRPr lang="en-US" dirty="0"/>
          </a:p>
          <a:p>
            <a:pPr lvl="2"/>
            <a:endParaRPr lang="en-US" dirty="0"/>
          </a:p>
          <a:p>
            <a:pPr lvl="2"/>
            <a:endParaRPr lang="en-US" dirty="0"/>
          </a:p>
          <a:p>
            <a:pPr lvl="1"/>
            <a:endParaRPr lang="en-US" dirty="0"/>
          </a:p>
          <a:p>
            <a:pPr lvl="1"/>
            <a:endParaRPr lang="en-US" dirty="0"/>
          </a:p>
        </p:txBody>
      </p:sp>
    </p:spTree>
    <p:extLst>
      <p:ext uri="{BB962C8B-B14F-4D97-AF65-F5344CB8AC3E}">
        <p14:creationId xmlns:p14="http://schemas.microsoft.com/office/powerpoint/2010/main" val="2008230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CCAC2-FEAF-8BD3-5C86-4FD14C2828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A0557F-37B4-884F-FE1A-D31D80A588E4}"/>
              </a:ext>
            </a:extLst>
          </p:cNvPr>
          <p:cNvSpPr>
            <a:spLocks noGrp="1"/>
          </p:cNvSpPr>
          <p:nvPr>
            <p:ph idx="1"/>
          </p:nvPr>
        </p:nvSpPr>
        <p:spPr/>
        <p:txBody>
          <a:bodyPr>
            <a:normAutofit fontScale="92500"/>
          </a:bodyPr>
          <a:lstStyle/>
          <a:p>
            <a:r>
              <a:rPr lang="en-US" sz="2200" dirty="0">
                <a:cs typeface="Arial" panose="020B0604020202020204" pitchFamily="34" charset="0"/>
              </a:rPr>
              <a:t>Each Prime contractor will be awarded a BASE contract with an UNFUNDED ceiling and an estimated total Level of Effort for the 5-year contract period.   </a:t>
            </a:r>
          </a:p>
          <a:p>
            <a:r>
              <a:rPr lang="en-US" sz="2200" dirty="0">
                <a:cs typeface="Arial" panose="020B0604020202020204" pitchFamily="34" charset="0"/>
              </a:rPr>
              <a:t>After award of the BASE contract, a task order will be awarded to each MAC holder to meet the minimum guaranteed dollar amount specified in the solicitation.  Then, moving forward, Individual Task Orders will be solicited and competed between all MAC contract holders.  </a:t>
            </a:r>
          </a:p>
          <a:p>
            <a:r>
              <a:rPr lang="en-US" sz="2200" dirty="0">
                <a:cs typeface="Arial" panose="020B0604020202020204" pitchFamily="34" charset="0"/>
              </a:rPr>
              <a:t>Task Orders will be awarded to the MAC contract vendors in accordance with the Task Order’s solicitation.  </a:t>
            </a:r>
          </a:p>
          <a:p>
            <a:pPr lvl="1"/>
            <a:r>
              <a:rPr lang="en-US" sz="2200" dirty="0">
                <a:cs typeface="Arial" panose="020B0604020202020204" pitchFamily="34" charset="0"/>
              </a:rPr>
              <a:t>The offers will be evaluated to confirm compliance with the solicitation as well as evaluated on the cost, technical and past performance factors.</a:t>
            </a:r>
          </a:p>
          <a:p>
            <a:r>
              <a:rPr lang="en-US" sz="2200" dirty="0">
                <a:cs typeface="Arial" panose="020B0604020202020204" pitchFamily="34" charset="0"/>
              </a:rPr>
              <a:t>Task Orders will either be fully funded at time of award or Incrementally funded over time through funding modifications to the order.</a:t>
            </a:r>
          </a:p>
          <a:p>
            <a:endParaRPr lang="en-US" dirty="0"/>
          </a:p>
        </p:txBody>
      </p:sp>
      <p:sp>
        <p:nvSpPr>
          <p:cNvPr id="3" name="Title 2">
            <a:extLst>
              <a:ext uri="{FF2B5EF4-FFF2-40B4-BE49-F238E27FC236}">
                <a16:creationId xmlns:a16="http://schemas.microsoft.com/office/drawing/2014/main" id="{362EF397-8F37-0D48-8F7C-52A53DED7DC6}"/>
              </a:ext>
            </a:extLst>
          </p:cNvPr>
          <p:cNvSpPr>
            <a:spLocks noGrp="1"/>
          </p:cNvSpPr>
          <p:nvPr>
            <p:ph type="title"/>
          </p:nvPr>
        </p:nvSpPr>
        <p:spPr/>
        <p:txBody>
          <a:bodyPr>
            <a:normAutofit/>
          </a:bodyPr>
          <a:lstStyle/>
          <a:p>
            <a:r>
              <a:rPr lang="en-US" sz="3200" dirty="0"/>
              <a:t>How Big Blue IV Will Work</a:t>
            </a:r>
          </a:p>
        </p:txBody>
      </p:sp>
    </p:spTree>
    <p:extLst>
      <p:ext uri="{BB962C8B-B14F-4D97-AF65-F5344CB8AC3E}">
        <p14:creationId xmlns:p14="http://schemas.microsoft.com/office/powerpoint/2010/main" val="2760338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F56CC-EA9F-3E01-18E9-74FFB504AE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276CC2-29E1-9F45-849C-BF2995CB0DF1}"/>
              </a:ext>
            </a:extLst>
          </p:cNvPr>
          <p:cNvSpPr>
            <a:spLocks noGrp="1"/>
          </p:cNvSpPr>
          <p:nvPr>
            <p:ph idx="1"/>
          </p:nvPr>
        </p:nvSpPr>
        <p:spPr/>
        <p:txBody>
          <a:bodyPr/>
          <a:lstStyle/>
          <a:p>
            <a:pPr eaLnBrk="0" hangingPunct="0">
              <a:buFont typeface="Arial" charset="0"/>
              <a:buChar char="•"/>
            </a:pPr>
            <a:r>
              <a:rPr lang="en-US" dirty="0"/>
              <a:t>Solicitation Schedule</a:t>
            </a:r>
          </a:p>
          <a:p>
            <a:pPr marL="685214" lvl="1" eaLnBrk="0" hangingPunct="0">
              <a:buFont typeface="Arial" charset="0"/>
              <a:buChar char="•"/>
            </a:pPr>
            <a:r>
              <a:rPr lang="en-US" sz="2400" dirty="0"/>
              <a:t>RFP Released:  </a:t>
            </a:r>
            <a:r>
              <a:rPr lang="en-US" sz="2400" dirty="0" err="1"/>
              <a:t>Qtr</a:t>
            </a:r>
            <a:r>
              <a:rPr lang="en-US" sz="2400" dirty="0"/>
              <a:t> 4 FY 26</a:t>
            </a:r>
          </a:p>
          <a:p>
            <a:pPr marL="685214" lvl="1" eaLnBrk="0" hangingPunct="0">
              <a:buFont typeface="Arial" charset="0"/>
              <a:buChar char="•"/>
            </a:pPr>
            <a:r>
              <a:rPr lang="en-US" sz="2400" dirty="0"/>
              <a:t>RFP Closes:  </a:t>
            </a:r>
            <a:r>
              <a:rPr lang="en-US" sz="2400" dirty="0" err="1"/>
              <a:t>Qtr</a:t>
            </a:r>
            <a:r>
              <a:rPr lang="en-US" sz="2400" dirty="0"/>
              <a:t> 1 FY 27</a:t>
            </a:r>
          </a:p>
          <a:p>
            <a:pPr marL="685214" lvl="1" eaLnBrk="0" hangingPunct="0">
              <a:buFont typeface="Arial" charset="0"/>
              <a:buChar char="•"/>
            </a:pPr>
            <a:r>
              <a:rPr lang="en-US" sz="2400" dirty="0"/>
              <a:t>Contract Award:  </a:t>
            </a:r>
            <a:r>
              <a:rPr lang="en-US" sz="2400" dirty="0" err="1"/>
              <a:t>Qtr</a:t>
            </a:r>
            <a:r>
              <a:rPr lang="en-US" sz="2400" dirty="0"/>
              <a:t> 2 FY 28</a:t>
            </a:r>
          </a:p>
          <a:p>
            <a:pPr eaLnBrk="0" hangingPunct="0">
              <a:buFont typeface="Arial" charset="0"/>
              <a:buChar char="•"/>
            </a:pPr>
            <a:r>
              <a:rPr lang="en-US" dirty="0"/>
              <a:t>All time frames listed are tentative</a:t>
            </a:r>
          </a:p>
          <a:p>
            <a:endParaRPr lang="en-US" dirty="0"/>
          </a:p>
        </p:txBody>
      </p:sp>
      <p:sp>
        <p:nvSpPr>
          <p:cNvPr id="3" name="Title 2">
            <a:extLst>
              <a:ext uri="{FF2B5EF4-FFF2-40B4-BE49-F238E27FC236}">
                <a16:creationId xmlns:a16="http://schemas.microsoft.com/office/drawing/2014/main" id="{29B65B05-16D9-E473-1D14-CA49FEB35C79}"/>
              </a:ext>
            </a:extLst>
          </p:cNvPr>
          <p:cNvSpPr>
            <a:spLocks noGrp="1"/>
          </p:cNvSpPr>
          <p:nvPr>
            <p:ph type="title"/>
          </p:nvPr>
        </p:nvSpPr>
        <p:spPr/>
        <p:txBody>
          <a:bodyPr>
            <a:normAutofit/>
          </a:bodyPr>
          <a:lstStyle/>
          <a:p>
            <a:r>
              <a:rPr lang="en-US" sz="4000" dirty="0"/>
              <a:t>Anticipated Timeline</a:t>
            </a:r>
          </a:p>
        </p:txBody>
      </p:sp>
    </p:spTree>
    <p:extLst>
      <p:ext uri="{BB962C8B-B14F-4D97-AF65-F5344CB8AC3E}">
        <p14:creationId xmlns:p14="http://schemas.microsoft.com/office/powerpoint/2010/main" val="2304659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7149E-C06F-D5F9-B30A-C8CD6C9C332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FEC0FB-F058-FF2E-3B43-1453E35D630B}"/>
              </a:ext>
            </a:extLst>
          </p:cNvPr>
          <p:cNvSpPr>
            <a:spLocks noGrp="1"/>
          </p:cNvSpPr>
          <p:nvPr>
            <p:ph idx="1"/>
          </p:nvPr>
        </p:nvSpPr>
        <p:spPr/>
        <p:txBody>
          <a:bodyPr>
            <a:normAutofit lnSpcReduction="10000"/>
          </a:bodyPr>
          <a:lstStyle/>
          <a:p>
            <a:r>
              <a:rPr lang="en-US" dirty="0">
                <a:cs typeface="Arial" panose="020B0604020202020204" pitchFamily="34" charset="0"/>
              </a:rPr>
              <a:t>Questions?</a:t>
            </a:r>
          </a:p>
          <a:p>
            <a:r>
              <a:rPr lang="en-US" dirty="0">
                <a:cs typeface="Arial" panose="020B0604020202020204" pitchFamily="34" charset="0"/>
              </a:rPr>
              <a:t>Comments?</a:t>
            </a:r>
          </a:p>
          <a:p>
            <a:r>
              <a:rPr lang="en-US" dirty="0">
                <a:cs typeface="Arial" panose="020B0604020202020204" pitchFamily="34" charset="0"/>
              </a:rPr>
              <a:t>Suggestions?</a:t>
            </a:r>
          </a:p>
          <a:p>
            <a:pPr marL="0" indent="0">
              <a:buNone/>
            </a:pPr>
            <a:endParaRPr lang="en-US" dirty="0">
              <a:cs typeface="Arial" panose="020B0604020202020204" pitchFamily="34" charset="0"/>
            </a:endParaRPr>
          </a:p>
          <a:p>
            <a:pPr marL="0" indent="0">
              <a:buNone/>
            </a:pPr>
            <a:r>
              <a:rPr lang="en-US" b="1" dirty="0">
                <a:cs typeface="Arial" panose="020B0604020202020204" pitchFamily="34" charset="0"/>
              </a:rPr>
              <a:t>*Remember to keep an eye on SAM.gov. Q&amp;A will be provided on SAM.  </a:t>
            </a:r>
          </a:p>
          <a:p>
            <a:pPr marL="0" indent="0">
              <a:buNone/>
            </a:pPr>
            <a:endParaRPr lang="en-US" b="1" dirty="0">
              <a:solidFill>
                <a:srgbClr val="FF0000"/>
              </a:solidFill>
              <a:cs typeface="Arial" panose="020B0604020202020204" pitchFamily="34" charset="0"/>
            </a:endParaRPr>
          </a:p>
          <a:p>
            <a:pPr marL="0" indent="0">
              <a:buNone/>
            </a:pPr>
            <a:endParaRPr lang="en-US" dirty="0">
              <a:solidFill>
                <a:srgbClr val="FF0000"/>
              </a:solidFill>
              <a:cs typeface="Arial" panose="020B0604020202020204" pitchFamily="34" charset="0"/>
            </a:endParaRPr>
          </a:p>
          <a:p>
            <a:pPr marL="0" indent="0">
              <a:buNone/>
            </a:pPr>
            <a:r>
              <a:rPr lang="en-US" dirty="0">
                <a:cs typeface="Arial" panose="020B0604020202020204" pitchFamily="34" charset="0"/>
              </a:rPr>
              <a:t>**If you have any additional questions/concerns from what has been provided, please send an email to the Contract Specialist Emily Simpson (Emily-rebecca.simpson.civ@us.navy.mil)</a:t>
            </a:r>
          </a:p>
          <a:p>
            <a:endParaRPr lang="en-US" dirty="0"/>
          </a:p>
        </p:txBody>
      </p:sp>
      <p:sp>
        <p:nvSpPr>
          <p:cNvPr id="3" name="Title 2">
            <a:extLst>
              <a:ext uri="{FF2B5EF4-FFF2-40B4-BE49-F238E27FC236}">
                <a16:creationId xmlns:a16="http://schemas.microsoft.com/office/drawing/2014/main" id="{D11189EA-139E-DC5F-2B0A-432B886990F5}"/>
              </a:ext>
            </a:extLst>
          </p:cNvPr>
          <p:cNvSpPr>
            <a:spLocks noGrp="1"/>
          </p:cNvSpPr>
          <p:nvPr>
            <p:ph type="title"/>
          </p:nvPr>
        </p:nvSpPr>
        <p:spPr>
          <a:xfrm>
            <a:off x="729430" y="63371"/>
            <a:ext cx="7685140" cy="1325563"/>
          </a:xfrm>
        </p:spPr>
        <p:txBody>
          <a:bodyPr>
            <a:normAutofit/>
          </a:bodyPr>
          <a:lstStyle/>
          <a:p>
            <a:pPr algn="ctr"/>
            <a:r>
              <a:rPr lang="en-US" sz="4000" dirty="0"/>
              <a:t>Open Dialogue</a:t>
            </a:r>
          </a:p>
        </p:txBody>
      </p:sp>
    </p:spTree>
    <p:extLst>
      <p:ext uri="{BB962C8B-B14F-4D97-AF65-F5344CB8AC3E}">
        <p14:creationId xmlns:p14="http://schemas.microsoft.com/office/powerpoint/2010/main" val="18477226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ublishingExpirationDate xmlns="7e41e11e-1451-4443-843a-7a6617d01f61" xsi:nil="true"/>
    <PublishingStartDate xmlns="7e41e11e-1451-4443-843a-7a6617d01f61" xsi:nil="true"/>
  </documentManagement>
</p:properties>
</file>

<file path=customXml/item2.xml><?xml version="1.0" encoding="utf-8"?>
<?mso-contentType ?>
<FormTemplates xmlns="http://schemas.microsoft.com/sharepoint/v3/contenttype/forms"/>
</file>

<file path=customXml/item3.xml><?xml version="1.0" encoding="utf-8"?>
<ct:contentTypeSchema xmlns:ct="http://schemas.microsoft.com/office/2006/metadata/contentType" xmlns:ma="http://schemas.microsoft.com/office/2006/metadata/properties/metaAttributes" ct:_="" ma:_="" ma:contentTypeName="Document" ma:contentTypeID="0x01010085EC0C6C04D8904A812472061AE8114A" ma:contentTypeVersion="10" ma:contentTypeDescription="Create a new document." ma:contentTypeScope="" ma:versionID="c706492bb6180547d259c5c0d4f9c1ed">
  <xsd:schema xmlns:xsd="http://www.w3.org/2001/XMLSchema" xmlns:xs="http://www.w3.org/2001/XMLSchema" xmlns:p="http://schemas.microsoft.com/office/2006/metadata/properties" xmlns:ns2="7e41e11e-1451-4443-843a-7a6617d01f61" targetNamespace="http://schemas.microsoft.com/office/2006/metadata/properties" ma:root="true" ma:fieldsID="34956e9f50263eabc35bd51a086257df" ns2:_="">
    <xsd:import namespace="7e41e11e-1451-4443-843a-7a6617d01f61"/>
    <xsd:element name="properties">
      <xsd:complexType>
        <xsd:sequence>
          <xsd:element name="documentManagement">
            <xsd:complexType>
              <xsd:all>
                <xsd:element ref="ns2:PublishingStartDate" minOccurs="0"/>
                <xsd:element ref="ns2:PublishingExpirationDate" minOccurs="0"/>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41e11e-1451-4443-843a-7a6617d01f61" elementFormDefault="qualified">
    <xsd:import namespace="http://schemas.microsoft.com/office/2006/documentManagement/types"/>
    <xsd:import namespace="http://schemas.microsoft.com/office/infopath/2007/PartnerControls"/>
    <xsd:element name="PublishingStartDate" ma:index="4" nillable="true" ma:displayName="Scheduling Start Date" ma:description="Scheduling Start Date is a site column created by the Publishing feature. It is used to specify the date and time on which this page will first appear to site visitors." ma:format="DateTime" ma:internalName="PublishingStartDate" ma:readOnly="false">
      <xsd:simpleType>
        <xsd:restriction base="dms:Unknown"/>
      </xsd:simpleType>
    </xsd:element>
    <xsd:element name="PublishingExpirationDate" ma:index="5" nillable="true" ma:displayName="Scheduling End Date" ma:description="Scheduling End Date is a site column created by the Publishing feature. It is used to specify the date and time on which this page will no longer appear to site visitors." ma:format="DateTime" ma:internalName="PublishingExpirationDate" ma:readOnly="false">
      <xsd:simpleType>
        <xsd:restriction base="dms:Unknow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9C9DFB-79E8-4F20-8E9E-EE05B56AD9CB}">
  <ds:schemaRefs>
    <ds:schemaRef ds:uri="http://schemas.microsoft.com/office/2006/metadata/properties"/>
    <ds:schemaRef ds:uri="7e41e11e-1451-4443-843a-7a6617d01f61"/>
  </ds:schemaRefs>
</ds:datastoreItem>
</file>

<file path=customXml/itemProps2.xml><?xml version="1.0" encoding="utf-8"?>
<ds:datastoreItem xmlns:ds="http://schemas.openxmlformats.org/officeDocument/2006/customXml" ds:itemID="{ADE3584B-2C02-4A88-8821-6C285768B2AD}">
  <ds:schemaRefs>
    <ds:schemaRef ds:uri="http://schemas.microsoft.com/sharepoint/v3/contenttype/forms"/>
  </ds:schemaRefs>
</ds:datastoreItem>
</file>

<file path=customXml/itemProps3.xml><?xml version="1.0" encoding="utf-8"?>
<ds:datastoreItem xmlns:ds="http://schemas.openxmlformats.org/officeDocument/2006/customXml" ds:itemID="{0BB7A56D-CD58-4E5C-B767-591D500085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41e11e-1451-4443-843a-7a6617d01f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NAVSEA WCs</Template>
  <TotalTime>11622</TotalTime>
  <Words>1626</Words>
  <Application>Microsoft Office PowerPoint</Application>
  <PresentationFormat>On-screen Show (4:3)</PresentationFormat>
  <Paragraphs>199</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Courier (W1)</vt:lpstr>
      <vt:lpstr>Georgia</vt:lpstr>
      <vt:lpstr>Office Theme</vt:lpstr>
      <vt:lpstr>PowerPoint Presentation</vt:lpstr>
      <vt:lpstr>Agenda</vt:lpstr>
      <vt:lpstr>Points of Contact</vt:lpstr>
      <vt:lpstr>Ground Rules</vt:lpstr>
      <vt:lpstr>Disclaimer Statement</vt:lpstr>
      <vt:lpstr>Disclaimer Statement / FAR</vt:lpstr>
      <vt:lpstr>Big Blue III MAC Contract</vt:lpstr>
      <vt:lpstr>Big Blue IV Task Areas</vt:lpstr>
      <vt:lpstr>Big Blue IV Task Areas</vt:lpstr>
      <vt:lpstr>Big Blue IV Level of Effort</vt:lpstr>
      <vt:lpstr>Labor Categories*</vt:lpstr>
      <vt:lpstr>Big Blue III vs Big Blue IV</vt:lpstr>
      <vt:lpstr>CMMC</vt:lpstr>
      <vt:lpstr>CMMC Con’t</vt:lpstr>
      <vt:lpstr>How Big Blue IV Will Work</vt:lpstr>
      <vt:lpstr>Anticipated Timeline</vt:lpstr>
      <vt:lpstr>Open Dialogue</vt:lpstr>
    </vt:vector>
  </TitlesOfParts>
  <Company>NMCI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carrie.e.davis</dc:creator>
  <cp:lastModifiedBy>Simpson, Emily-Rebecca CIV USN NSWCDIV  PHL PA (USA)</cp:lastModifiedBy>
  <cp:revision>1016</cp:revision>
  <cp:lastPrinted>2017-09-20T12:57:47Z</cp:lastPrinted>
  <dcterms:created xsi:type="dcterms:W3CDTF">2011-12-02T00:51:10Z</dcterms:created>
  <dcterms:modified xsi:type="dcterms:W3CDTF">2026-03-12T13:57:35Z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0x01010085EC0C6C04D8904A812472061AE8114A</vt:lpwstr>
  </property>
  <property fmtid="{D5CDD505-2E9C-101B-9397-08002B2CF9AE}" pid="3" name="_dlc_DocIdItemGuid">
    <vt:lpwstr>dbfeddbe-2950-40d6-b8e9-34b72bb43d69</vt:lpwstr>
  </property>
  <property fmtid="{D5CDD505-2E9C-101B-9397-08002B2CF9AE}" pid="4" name="Order">
    <vt:r8>500</vt:r8>
  </property>
</Properties>
</file>