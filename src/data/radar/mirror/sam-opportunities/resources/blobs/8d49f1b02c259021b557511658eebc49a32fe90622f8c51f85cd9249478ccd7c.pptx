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9" r:id="rId4"/>
    <p:sldMasterId id="2147483730" r:id="rId5"/>
    <p:sldMasterId id="2147483727" r:id="rId6"/>
    <p:sldMasterId id="2147483725" r:id="rId7"/>
  </p:sldMasterIdLst>
  <p:notesMasterIdLst>
    <p:notesMasterId r:id="rId33"/>
  </p:notesMasterIdLst>
  <p:handoutMasterIdLst>
    <p:handoutMasterId r:id="rId34"/>
  </p:handoutMasterIdLst>
  <p:sldIdLst>
    <p:sldId id="454" r:id="rId8"/>
    <p:sldId id="480" r:id="rId9"/>
    <p:sldId id="512" r:id="rId10"/>
    <p:sldId id="513" r:id="rId11"/>
    <p:sldId id="514" r:id="rId12"/>
    <p:sldId id="488" r:id="rId13"/>
    <p:sldId id="489" r:id="rId14"/>
    <p:sldId id="490" r:id="rId15"/>
    <p:sldId id="491" r:id="rId16"/>
    <p:sldId id="510" r:id="rId17"/>
    <p:sldId id="492" r:id="rId18"/>
    <p:sldId id="493" r:id="rId19"/>
    <p:sldId id="494" r:id="rId20"/>
    <p:sldId id="495" r:id="rId21"/>
    <p:sldId id="511" r:id="rId22"/>
    <p:sldId id="528" r:id="rId23"/>
    <p:sldId id="516" r:id="rId24"/>
    <p:sldId id="529" r:id="rId25"/>
    <p:sldId id="530" r:id="rId26"/>
    <p:sldId id="520" r:id="rId27"/>
    <p:sldId id="521" r:id="rId28"/>
    <p:sldId id="524" r:id="rId29"/>
    <p:sldId id="525" r:id="rId30"/>
    <p:sldId id="526" r:id="rId31"/>
    <p:sldId id="527" r:id="rId32"/>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6600CC"/>
    <a:srgbClr val="FFFF00"/>
    <a:srgbClr val="0066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561" autoAdjust="0"/>
    <p:restoredTop sz="94590" autoAdjust="0"/>
  </p:normalViewPr>
  <p:slideViewPr>
    <p:cSldViewPr>
      <p:cViewPr varScale="1">
        <p:scale>
          <a:sx n="107" d="100"/>
          <a:sy n="107" d="100"/>
        </p:scale>
        <p:origin x="1356" y="102"/>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customXml" Target="../customXml/item3.xml"/><Relationship Id="rId21" Type="http://schemas.openxmlformats.org/officeDocument/2006/relationships/slide" Target="slides/slide14.xml"/><Relationship Id="rId34" Type="http://schemas.openxmlformats.org/officeDocument/2006/relationships/handoutMaster" Target="handoutMasters/handoutMaster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3758E99F-C48A-4CC9-A7E5-8745441DF98A}" type="datetimeFigureOut">
              <a:rPr lang="en-US" smtClean="0"/>
              <a:t>2/13/2019</a:t>
            </a:fld>
            <a:endParaRPr lang="en-US"/>
          </a:p>
        </p:txBody>
      </p:sp>
      <p:sp>
        <p:nvSpPr>
          <p:cNvPr id="4" name="Footer Placeholder 3"/>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FC96F18F-AA4E-4C5C-8349-C9773A981DFA}" type="slidenum">
              <a:rPr lang="en-US" smtClean="0"/>
              <a:t>‹#›</a:t>
            </a:fld>
            <a:endParaRPr lang="en-US"/>
          </a:p>
        </p:txBody>
      </p:sp>
    </p:spTree>
    <p:extLst>
      <p:ext uri="{BB962C8B-B14F-4D97-AF65-F5344CB8AC3E}">
        <p14:creationId xmlns:p14="http://schemas.microsoft.com/office/powerpoint/2010/main" val="34036907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2736" tIns="46368" rIns="92736" bIns="46368" rtlCol="0"/>
          <a:lstStyle>
            <a:lvl1pPr algn="l">
              <a:defRPr sz="1200"/>
            </a:lvl1pPr>
          </a:lstStyle>
          <a:p>
            <a:endParaRPr lang="en-US" dirty="0"/>
          </a:p>
        </p:txBody>
      </p:sp>
      <p:sp>
        <p:nvSpPr>
          <p:cNvPr id="3" name="Date Placeholder 2"/>
          <p:cNvSpPr>
            <a:spLocks noGrp="1"/>
          </p:cNvSpPr>
          <p:nvPr>
            <p:ph type="dt" idx="1"/>
          </p:nvPr>
        </p:nvSpPr>
        <p:spPr>
          <a:xfrm>
            <a:off x="3970940" y="0"/>
            <a:ext cx="3037840" cy="464820"/>
          </a:xfrm>
          <a:prstGeom prst="rect">
            <a:avLst/>
          </a:prstGeom>
        </p:spPr>
        <p:txBody>
          <a:bodyPr vert="horz" lIns="92736" tIns="46368" rIns="92736" bIns="46368" rtlCol="0"/>
          <a:lstStyle>
            <a:lvl1pPr algn="r">
              <a:defRPr sz="1200"/>
            </a:lvl1pPr>
          </a:lstStyle>
          <a:p>
            <a:fld id="{47802B59-CA50-4283-8B53-B06FA28FE7F4}" type="datetimeFigureOut">
              <a:rPr lang="en-US" smtClean="0"/>
              <a:pPr/>
              <a:t>2/13/2019</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2736" tIns="46368" rIns="92736" bIns="46368" rtlCol="0" anchor="ctr"/>
          <a:lstStyle/>
          <a:p>
            <a:endParaRPr lang="en-US" dirty="0"/>
          </a:p>
        </p:txBody>
      </p:sp>
      <p:sp>
        <p:nvSpPr>
          <p:cNvPr id="5" name="Notes Placeholder 4"/>
          <p:cNvSpPr>
            <a:spLocks noGrp="1"/>
          </p:cNvSpPr>
          <p:nvPr>
            <p:ph type="body" sz="quarter" idx="3"/>
          </p:nvPr>
        </p:nvSpPr>
        <p:spPr>
          <a:xfrm>
            <a:off x="701040" y="4415792"/>
            <a:ext cx="5608320" cy="4183380"/>
          </a:xfrm>
          <a:prstGeom prst="rect">
            <a:avLst/>
          </a:prstGeom>
        </p:spPr>
        <p:txBody>
          <a:bodyPr vert="horz" lIns="92736" tIns="46368" rIns="92736" bIns="46368"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8"/>
            <a:ext cx="3037840" cy="464820"/>
          </a:xfrm>
          <a:prstGeom prst="rect">
            <a:avLst/>
          </a:prstGeom>
        </p:spPr>
        <p:txBody>
          <a:bodyPr vert="horz" lIns="92736" tIns="46368" rIns="92736" bIns="46368"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40" y="8829968"/>
            <a:ext cx="3037840" cy="464820"/>
          </a:xfrm>
          <a:prstGeom prst="rect">
            <a:avLst/>
          </a:prstGeom>
        </p:spPr>
        <p:txBody>
          <a:bodyPr vert="horz" lIns="92736" tIns="46368" rIns="92736" bIns="46368" rtlCol="0" anchor="b"/>
          <a:lstStyle>
            <a:lvl1pPr algn="r">
              <a:defRPr sz="1200"/>
            </a:lvl1pPr>
          </a:lstStyle>
          <a:p>
            <a:fld id="{6C574044-705B-4BA9-9528-EF24541C28D0}" type="slidenum">
              <a:rPr lang="en-US" smtClean="0"/>
              <a:pPr/>
              <a:t>‹#›</a:t>
            </a:fld>
            <a:endParaRPr lang="en-US" dirty="0"/>
          </a:p>
        </p:txBody>
      </p:sp>
    </p:spTree>
    <p:extLst>
      <p:ext uri="{BB962C8B-B14F-4D97-AF65-F5344CB8AC3E}">
        <p14:creationId xmlns:p14="http://schemas.microsoft.com/office/powerpoint/2010/main" val="2725129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574044-705B-4BA9-9528-EF24541C28D0}" type="slidenum">
              <a:rPr lang="en-US" smtClean="0"/>
              <a:pPr/>
              <a:t>1</a:t>
            </a:fld>
            <a:endParaRPr lang="en-US" dirty="0"/>
          </a:p>
        </p:txBody>
      </p:sp>
    </p:spTree>
    <p:extLst>
      <p:ext uri="{BB962C8B-B14F-4D97-AF65-F5344CB8AC3E}">
        <p14:creationId xmlns:p14="http://schemas.microsoft.com/office/powerpoint/2010/main" val="6665914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5" Type="http://schemas.openxmlformats.org/officeDocument/2006/relationships/image" Target="../media/image9.gif"/><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Slide Number Placeholder 3"/>
          <p:cNvSpPr>
            <a:spLocks noGrp="1"/>
          </p:cNvSpPr>
          <p:nvPr>
            <p:ph type="sldNum" sz="quarter" idx="12"/>
          </p:nvPr>
        </p:nvSpPr>
        <p:spPr>
          <a:xfrm>
            <a:off x="8494776" y="6462611"/>
            <a:ext cx="612648" cy="365125"/>
          </a:xfrm>
          <a:prstGeom prst="rect">
            <a:avLst/>
          </a:prstGeom>
        </p:spPr>
        <p:txBody>
          <a:bodyPr/>
          <a:lstStyle/>
          <a:p>
            <a:fld id="{89F2C004-2715-FE49-B628-06E74F704CD7}" type="slidenum">
              <a:rPr lang="en-US" smtClean="0">
                <a:solidFill>
                  <a:prstClr val="white"/>
                </a:solidFill>
              </a:rPr>
              <a:pPr/>
              <a:t>‹#›</a:t>
            </a:fld>
            <a:endParaRPr lang="en-US" dirty="0">
              <a:solidFill>
                <a:prstClr val="white"/>
              </a:solidFill>
            </a:endParaRPr>
          </a:p>
        </p:txBody>
      </p:sp>
      <p:grpSp>
        <p:nvGrpSpPr>
          <p:cNvPr id="3" name="Group 2"/>
          <p:cNvGrpSpPr/>
          <p:nvPr userDrawn="1"/>
        </p:nvGrpSpPr>
        <p:grpSpPr>
          <a:xfrm>
            <a:off x="144954" y="79430"/>
            <a:ext cx="8084889" cy="903338"/>
            <a:chOff x="144954" y="71442"/>
            <a:chExt cx="8084889" cy="903338"/>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46878" y="105766"/>
            <a:ext cx="784898" cy="784898"/>
          </a:xfrm>
          <a:prstGeom prst="rect">
            <a:avLst/>
          </a:prstGeom>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5" name="Picture 4" descr="PPTCoverBkgrd1b.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719984" y="2371726"/>
            <a:ext cx="7772400" cy="1470025"/>
          </a:xfrm>
          <a:prstGeom prst="rect">
            <a:avLst/>
          </a:prstGeom>
        </p:spPr>
        <p:txBody>
          <a:bodyPr/>
          <a:lstStyle>
            <a:lvl1pPr>
              <a:defRPr sz="3200">
                <a:solidFill>
                  <a:schemeClr val="tx1"/>
                </a:solidFill>
                <a:effectLst/>
                <a:latin typeface="Arial" pitchFamily="34" charset="0"/>
                <a:cs typeface="Arial" pitchFamily="34"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pic>
        <p:nvPicPr>
          <p:cNvPr id="8" name="Picture 7" descr="US ARMY Black and Gold.png"/>
          <p:cNvPicPr>
            <a:picLocks noChangeAspect="1"/>
          </p:cNvPicPr>
          <p:nvPr userDrawn="1"/>
        </p:nvPicPr>
        <p:blipFill>
          <a:blip r:embed="rId3" cstate="print"/>
          <a:stretch>
            <a:fillRect/>
          </a:stretch>
        </p:blipFill>
        <p:spPr>
          <a:xfrm>
            <a:off x="304800" y="717686"/>
            <a:ext cx="801518" cy="1000410"/>
          </a:xfrm>
          <a:prstGeom prst="rect">
            <a:avLst/>
          </a:prstGeom>
        </p:spPr>
      </p:pic>
      <p:pic>
        <p:nvPicPr>
          <p:cNvPr id="7" name="Picture 6" descr="AMC_Logo.png"/>
          <p:cNvPicPr>
            <a:picLocks noChangeAspect="1"/>
          </p:cNvPicPr>
          <p:nvPr userDrawn="1"/>
        </p:nvPicPr>
        <p:blipFill>
          <a:blip r:embed="rId4" cstate="print"/>
          <a:stretch>
            <a:fillRect/>
          </a:stretch>
        </p:blipFill>
        <p:spPr>
          <a:xfrm>
            <a:off x="7304395" y="732607"/>
            <a:ext cx="713442" cy="839838"/>
          </a:xfrm>
          <a:prstGeom prst="rect">
            <a:avLst/>
          </a:prstGeom>
          <a:effectLst>
            <a:outerShdw blurRad="50800" dist="38100" dir="2700000" algn="tl" rotWithShape="0">
              <a:prstClr val="black">
                <a:alpha val="40000"/>
              </a:prstClr>
            </a:outerShdw>
          </a:effectLst>
        </p:spPr>
      </p:pic>
      <p:sp>
        <p:nvSpPr>
          <p:cNvPr id="9" name="Footer Placeholder 16"/>
          <p:cNvSpPr txBox="1">
            <a:spLocks/>
          </p:cNvSpPr>
          <p:nvPr userDrawn="1"/>
        </p:nvSpPr>
        <p:spPr>
          <a:xfrm>
            <a:off x="-17930" y="-3890"/>
            <a:ext cx="9144000" cy="231776"/>
          </a:xfrm>
          <a:prstGeom prst="rect">
            <a:avLst/>
          </a:prstGeom>
        </p:spPr>
        <p:txBody>
          <a:bodyPr/>
          <a:lstStyle/>
          <a:p>
            <a:pPr algn="ct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sp>
        <p:nvSpPr>
          <p:cNvPr id="10" name="Footer Placeholder 16"/>
          <p:cNvSpPr txBox="1">
            <a:spLocks/>
          </p:cNvSpPr>
          <p:nvPr userDrawn="1"/>
        </p:nvSpPr>
        <p:spPr>
          <a:xfrm>
            <a:off x="0" y="6629400"/>
            <a:ext cx="1721687" cy="184151"/>
          </a:xfrm>
          <a:prstGeom prst="rect">
            <a:avLst/>
          </a:prstGeom>
        </p:spPr>
        <p:txBody>
          <a:bodyPr/>
          <a:lstStyle/>
          <a:p>
            <a:pPr algn="l">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109888" y="729150"/>
            <a:ext cx="793014" cy="794850"/>
          </a:xfrm>
          <a:prstGeom prst="rect">
            <a:avLst/>
          </a:prstGeom>
        </p:spPr>
      </p:pic>
    </p:spTree>
    <p:extLst>
      <p:ext uri="{BB962C8B-B14F-4D97-AF65-F5344CB8AC3E}">
        <p14:creationId xmlns:p14="http://schemas.microsoft.com/office/powerpoint/2010/main" val="115918365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Slide Number Placeholder 3"/>
          <p:cNvSpPr>
            <a:spLocks noGrp="1"/>
          </p:cNvSpPr>
          <p:nvPr>
            <p:ph type="sldNum" sz="quarter" idx="12"/>
          </p:nvPr>
        </p:nvSpPr>
        <p:spPr>
          <a:xfrm>
            <a:off x="8494776" y="6462611"/>
            <a:ext cx="612648" cy="365125"/>
          </a:xfrm>
          <a:prstGeom prst="rect">
            <a:avLst/>
          </a:prstGeom>
        </p:spPr>
        <p:txBody>
          <a:bodyPr/>
          <a:lstStyle/>
          <a:p>
            <a:fld id="{89F2C004-2715-FE49-B628-06E74F704CD7}"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171675431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50" y="1825625"/>
            <a:ext cx="7886700" cy="4351338"/>
          </a:xfrm>
          <a:prstGeom prst="rect">
            <a:avLst/>
          </a:prstGeom>
        </p:spPr>
        <p:txBody>
          <a:bodyPr/>
          <a:lstStyle>
            <a:lvl1pPr>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2" name="TextBox 11"/>
          <p:cNvSpPr txBox="1"/>
          <p:nvPr userDrawn="1"/>
        </p:nvSpPr>
        <p:spPr>
          <a:xfrm>
            <a:off x="4026452" y="17826"/>
            <a:ext cx="1125931" cy="246221"/>
          </a:xfrm>
          <a:prstGeom prst="rect">
            <a:avLst/>
          </a:prstGeom>
          <a:noFill/>
        </p:spPr>
        <p:txBody>
          <a:bodyPr wrap="square" rtlCol="0">
            <a:spAutoFit/>
          </a:bodyPr>
          <a:lstStyle/>
          <a:p>
            <a:pPr algn="ctr"/>
            <a:r>
              <a:rPr lang="en-US" sz="1000" dirty="0" smtClean="0">
                <a:solidFill>
                  <a:schemeClr val="bg1"/>
                </a:solidFill>
                <a:latin typeface="Franklin Gothic Book" panose="020B0503020102020204" pitchFamily="34" charset="0"/>
              </a:rPr>
              <a:t>UNCLASSIFIED</a:t>
            </a:r>
            <a:endParaRPr lang="en-US" sz="1000" dirty="0">
              <a:solidFill>
                <a:schemeClr val="bg1"/>
              </a:solidFill>
              <a:latin typeface="Franklin Gothic Book" panose="020B0503020102020204" pitchFamily="34" charset="0"/>
            </a:endParaRPr>
          </a:p>
        </p:txBody>
      </p:sp>
      <p:sp>
        <p:nvSpPr>
          <p:cNvPr id="11" name="Date Placeholder 4"/>
          <p:cNvSpPr>
            <a:spLocks noGrp="1"/>
          </p:cNvSpPr>
          <p:nvPr>
            <p:ph type="dt" sz="half" idx="10"/>
          </p:nvPr>
        </p:nvSpPr>
        <p:spPr>
          <a:xfrm>
            <a:off x="11487" y="6467184"/>
            <a:ext cx="2057400" cy="365125"/>
          </a:xfrm>
          <a:prstGeom prst="rect">
            <a:avLst/>
          </a:prstGeom>
        </p:spPr>
        <p:txBody>
          <a:bodyPr anchor="b"/>
          <a:lstStyle>
            <a:lvl1pPr>
              <a:defRPr sz="1100" b="1">
                <a:latin typeface="Franklin Gothic Book" panose="020B0503020102020204" pitchFamily="34" charset="0"/>
              </a:defRPr>
            </a:lvl1pPr>
          </a:lstStyle>
          <a:p>
            <a:endParaRPr lang="en-US" dirty="0"/>
          </a:p>
        </p:txBody>
      </p:sp>
      <p:sp>
        <p:nvSpPr>
          <p:cNvPr id="13" name="Footer Placeholder 5"/>
          <p:cNvSpPr>
            <a:spLocks noGrp="1"/>
          </p:cNvSpPr>
          <p:nvPr>
            <p:ph type="ftr" sz="quarter" idx="11"/>
          </p:nvPr>
        </p:nvSpPr>
        <p:spPr>
          <a:xfrm>
            <a:off x="3028950" y="6467184"/>
            <a:ext cx="3086100" cy="365125"/>
          </a:xfrm>
          <a:prstGeom prst="rect">
            <a:avLst/>
          </a:prstGeom>
        </p:spPr>
        <p:txBody>
          <a:bodyPr anchor="b"/>
          <a:lstStyle>
            <a:lvl1pPr algn="ctr">
              <a:defRPr sz="1100" b="1">
                <a:latin typeface="Franklin Gothic Book" panose="020B0503020102020204" pitchFamily="34" charset="0"/>
              </a:defRPr>
            </a:lvl1pPr>
          </a:lstStyle>
          <a:p>
            <a:endParaRPr lang="en-US" dirty="0"/>
          </a:p>
        </p:txBody>
      </p:sp>
      <p:sp>
        <p:nvSpPr>
          <p:cNvPr id="14" name="Slide Number Placeholder 6"/>
          <p:cNvSpPr>
            <a:spLocks noGrp="1"/>
          </p:cNvSpPr>
          <p:nvPr>
            <p:ph type="sldNum" sz="quarter" idx="12"/>
          </p:nvPr>
        </p:nvSpPr>
        <p:spPr>
          <a:xfrm>
            <a:off x="7065877" y="6451430"/>
            <a:ext cx="2057400" cy="365125"/>
          </a:xfrm>
          <a:prstGeom prst="rect">
            <a:avLst/>
          </a:prstGeom>
        </p:spPr>
        <p:txBody>
          <a:bodyPr anchor="b"/>
          <a:lstStyle>
            <a:lvl1pPr algn="r">
              <a:defRPr sz="1100" b="1">
                <a:latin typeface="Franklin Gothic Book" panose="020B0503020102020204" pitchFamily="34" charset="0"/>
              </a:defRPr>
            </a:lvl1pPr>
          </a:lstStyle>
          <a:p>
            <a:fld id="{9A10A7E2-7F46-414B-AFCE-C9BEAFC48089}" type="slidenum">
              <a:rPr lang="en-US" smtClean="0"/>
              <a:pPr/>
              <a:t>‹#›</a:t>
            </a:fld>
            <a:endParaRPr lang="en-US" dirty="0"/>
          </a:p>
        </p:txBody>
      </p:sp>
      <p:sp>
        <p:nvSpPr>
          <p:cNvPr id="15" name="Title 1"/>
          <p:cNvSpPr txBox="1">
            <a:spLocks/>
          </p:cNvSpPr>
          <p:nvPr userDrawn="1"/>
        </p:nvSpPr>
        <p:spPr>
          <a:xfrm>
            <a:off x="1628276" y="172563"/>
            <a:ext cx="3008376" cy="52164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solidFill>
                  <a:prstClr val="white"/>
                </a:solidFill>
                <a:latin typeface="Franklin Gothic Medium Cond" panose="020B0606030402020204" pitchFamily="34" charset="0"/>
              </a:rPr>
              <a:t>U.S. Army Contracting </a:t>
            </a:r>
            <a:r>
              <a:rPr lang="en-US" sz="1400" dirty="0" smtClean="0">
                <a:solidFill>
                  <a:prstClr val="white"/>
                </a:solidFill>
                <a:latin typeface="Franklin Gothic Medium Cond" panose="020B0606030402020204" pitchFamily="34" charset="0"/>
              </a:rPr>
              <a:t>Command </a:t>
            </a:r>
          </a:p>
          <a:p>
            <a:r>
              <a:rPr lang="en-US" sz="1400" dirty="0" smtClean="0">
                <a:solidFill>
                  <a:prstClr val="white"/>
                </a:solidFill>
                <a:latin typeface="Franklin Gothic Medium Cond" panose="020B0606030402020204" pitchFamily="34" charset="0"/>
              </a:rPr>
              <a:t>Aberdeen </a:t>
            </a:r>
            <a:r>
              <a:rPr lang="en-US" sz="1400" dirty="0">
                <a:solidFill>
                  <a:prstClr val="white"/>
                </a:solidFill>
                <a:latin typeface="Franklin Gothic Medium Cond" panose="020B0606030402020204" pitchFamily="34" charset="0"/>
              </a:rPr>
              <a:t>Proving Ground</a:t>
            </a:r>
          </a:p>
        </p:txBody>
      </p:sp>
      <p:grpSp>
        <p:nvGrpSpPr>
          <p:cNvPr id="17" name="Group 16"/>
          <p:cNvGrpSpPr/>
          <p:nvPr userDrawn="1"/>
        </p:nvGrpSpPr>
        <p:grpSpPr>
          <a:xfrm>
            <a:off x="0" y="0"/>
            <a:ext cx="9144000" cy="1219200"/>
            <a:chOff x="0" y="0"/>
            <a:chExt cx="9144000" cy="1219200"/>
          </a:xfrm>
        </p:grpSpPr>
        <p:pic>
          <p:nvPicPr>
            <p:cNvPr id="19" name="Picture 1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1219200"/>
            </a:xfrm>
            <a:prstGeom prst="rect">
              <a:avLst/>
            </a:prstGeom>
          </p:spPr>
        </p:pic>
        <p:sp>
          <p:nvSpPr>
            <p:cNvPr id="20" name="TextBox 19"/>
            <p:cNvSpPr txBox="1"/>
            <p:nvPr userDrawn="1"/>
          </p:nvSpPr>
          <p:spPr>
            <a:xfrm>
              <a:off x="4026452" y="17826"/>
              <a:ext cx="1125931" cy="246221"/>
            </a:xfrm>
            <a:prstGeom prst="rect">
              <a:avLst/>
            </a:prstGeom>
            <a:noFill/>
          </p:spPr>
          <p:txBody>
            <a:bodyPr wrap="square" rtlCol="0">
              <a:spAutoFit/>
            </a:bodyPr>
            <a:lstStyle/>
            <a:p>
              <a:pPr algn="ctr"/>
              <a:r>
                <a:rPr lang="en-US" sz="1000" dirty="0" smtClean="0">
                  <a:solidFill>
                    <a:schemeClr val="bg1"/>
                  </a:solidFill>
                  <a:latin typeface="Franklin Gothic Book" panose="020B0503020102020204" pitchFamily="34" charset="0"/>
                </a:rPr>
                <a:t>UNCLASSIFIED</a:t>
              </a:r>
              <a:endParaRPr lang="en-US" sz="1000" dirty="0">
                <a:solidFill>
                  <a:schemeClr val="bg1"/>
                </a:solidFill>
                <a:latin typeface="Franklin Gothic Book" panose="020B0503020102020204" pitchFamily="34" charset="0"/>
              </a:endParaRPr>
            </a:p>
          </p:txBody>
        </p:sp>
      </p:grpSp>
      <p:sp>
        <p:nvSpPr>
          <p:cNvPr id="21" name="Title 1"/>
          <p:cNvSpPr txBox="1">
            <a:spLocks/>
          </p:cNvSpPr>
          <p:nvPr userDrawn="1"/>
        </p:nvSpPr>
        <p:spPr>
          <a:xfrm>
            <a:off x="1591331" y="229373"/>
            <a:ext cx="1881541" cy="52164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solidFill>
                  <a:schemeClr val="bg1"/>
                </a:solidFill>
                <a:latin typeface="Franklin Gothic Medium Cond" panose="020B0606030402020204" pitchFamily="34" charset="0"/>
              </a:rPr>
              <a:t>U.S. Army Contracting </a:t>
            </a:r>
            <a:r>
              <a:rPr lang="en-US" sz="1100" dirty="0" smtClean="0">
                <a:solidFill>
                  <a:schemeClr val="bg1"/>
                </a:solidFill>
                <a:latin typeface="Franklin Gothic Medium Cond" panose="020B0606030402020204" pitchFamily="34" charset="0"/>
              </a:rPr>
              <a:t>Command </a:t>
            </a:r>
          </a:p>
          <a:p>
            <a:r>
              <a:rPr lang="en-US" sz="1100" dirty="0" smtClean="0">
                <a:solidFill>
                  <a:schemeClr val="bg1"/>
                </a:solidFill>
                <a:latin typeface="Franklin Gothic Medium Cond" panose="020B0606030402020204" pitchFamily="34" charset="0"/>
              </a:rPr>
              <a:t>Aberdeen </a:t>
            </a:r>
            <a:r>
              <a:rPr lang="en-US" sz="1100" dirty="0">
                <a:solidFill>
                  <a:schemeClr val="bg1"/>
                </a:solidFill>
                <a:latin typeface="Franklin Gothic Medium Cond" panose="020B0606030402020204" pitchFamily="34" charset="0"/>
              </a:rPr>
              <a:t>Proving Ground</a:t>
            </a:r>
          </a:p>
        </p:txBody>
      </p:sp>
    </p:spTree>
    <p:extLst>
      <p:ext uri="{BB962C8B-B14F-4D97-AF65-F5344CB8AC3E}">
        <p14:creationId xmlns:p14="http://schemas.microsoft.com/office/powerpoint/2010/main" val="3251774892"/>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heme" Target="../theme/theme1.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9.gif"/><Relationship Id="rId3" Type="http://schemas.openxmlformats.org/officeDocument/2006/relationships/theme" Target="../theme/theme2.xml"/><Relationship Id="rId7" Type="http://schemas.openxmlformats.org/officeDocument/2006/relationships/image" Target="../media/image4.png"/><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2.jpeg"/><Relationship Id="rId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3.xml"/><Relationship Id="rId1" Type="http://schemas.openxmlformats.org/officeDocument/2006/relationships/slideLayout" Target="../slideLayouts/slideLayout5.xml"/><Relationship Id="rId6" Type="http://schemas.openxmlformats.org/officeDocument/2006/relationships/image" Target="../media/image9.gif"/><Relationship Id="rId5" Type="http://schemas.openxmlformats.org/officeDocument/2006/relationships/image" Target="../media/image4.png"/><Relationship Id="rId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alpha val="0"/>
          </a:schemeClr>
        </a:solidFill>
        <a:effectLst/>
      </p:bgPr>
    </p:bg>
    <p:spTree>
      <p:nvGrpSpPr>
        <p:cNvPr id="1" name=""/>
        <p:cNvGrpSpPr/>
        <p:nvPr/>
      </p:nvGrpSpPr>
      <p:grpSpPr>
        <a:xfrm>
          <a:off x="0" y="0"/>
          <a:ext cx="0" cy="0"/>
          <a:chOff x="0" y="0"/>
          <a:chExt cx="0" cy="0"/>
        </a:xfrm>
      </p:grpSpPr>
      <p:pic>
        <p:nvPicPr>
          <p:cNvPr id="8" name="Picture 7" descr="Metal Header.jpg"/>
          <p:cNvPicPr>
            <a:picLocks noChangeAspect="1"/>
          </p:cNvPicPr>
          <p:nvPr userDrawn="1"/>
        </p:nvPicPr>
        <p:blipFill>
          <a:blip r:embed="rId4" cstate="print"/>
          <a:stretch>
            <a:fillRect/>
          </a:stretch>
        </p:blipFill>
        <p:spPr>
          <a:xfrm>
            <a:off x="0" y="6443663"/>
            <a:ext cx="9144000" cy="414337"/>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pic>
        <p:nvPicPr>
          <p:cNvPr id="9" name="Picture 8" descr="Metal Header.jpg"/>
          <p:cNvPicPr>
            <a:picLocks noChangeAspect="1"/>
          </p:cNvPicPr>
          <p:nvPr userDrawn="1"/>
        </p:nvPicPr>
        <p:blipFill>
          <a:blip r:embed="rId5"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10" name="Footer Placeholder 16"/>
          <p:cNvSpPr txBox="1">
            <a:spLocks/>
          </p:cNvSpPr>
          <p:nvPr userDrawn="1"/>
        </p:nvSpPr>
        <p:spPr>
          <a:xfrm>
            <a:off x="-17930" y="-29528"/>
            <a:ext cx="9144000" cy="231776"/>
          </a:xfrm>
          <a:prstGeom prst="rect">
            <a:avLst/>
          </a:prstGeom>
        </p:spPr>
        <p:txBody>
          <a:bodyPr/>
          <a:lstStyle/>
          <a:p>
            <a:pPr algn="ct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sp>
        <p:nvSpPr>
          <p:cNvPr id="11" name="Footer Placeholder 16"/>
          <p:cNvSpPr txBox="1">
            <a:spLocks/>
          </p:cNvSpPr>
          <p:nvPr userDrawn="1"/>
        </p:nvSpPr>
        <p:spPr>
          <a:xfrm>
            <a:off x="39624" y="6620256"/>
            <a:ext cx="1752600" cy="228600"/>
          </a:xfrm>
          <a:prstGeom prst="rect">
            <a:avLst/>
          </a:prstGeom>
        </p:spPr>
        <p:txBody>
          <a:bodyPr/>
          <a:lstStyle/>
          <a:p>
            <a:pPr algn="l">
              <a:defRPr/>
            </a:pPr>
            <a:r>
              <a:rPr lang="en-US" sz="1000" b="1" dirty="0" smtClean="0">
                <a:solidFill>
                  <a:prstClr val="white"/>
                </a:solidFill>
                <a:latin typeface="Arial" pitchFamily="34" charset="0"/>
                <a:ea typeface="MS PGothic" pitchFamily="34" charset="-128"/>
                <a:cs typeface="Arial" pitchFamily="34" charset="0"/>
              </a:rPr>
              <a:t>UNCLASSIFIED//FOUO</a:t>
            </a:r>
            <a:endParaRPr lang="en-US" sz="1000" b="1" dirty="0">
              <a:solidFill>
                <a:prstClr val="white"/>
              </a:solidFill>
              <a:latin typeface="Arial" pitchFamily="34" charset="0"/>
              <a:ea typeface="MS PGothic" pitchFamily="34" charset="-128"/>
              <a:cs typeface="Arial" pitchFamily="34" charset="0"/>
            </a:endParaRPr>
          </a:p>
        </p:txBody>
      </p:sp>
      <p:pic>
        <p:nvPicPr>
          <p:cNvPr id="21" name="Picture 2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46878" y="105766"/>
            <a:ext cx="784898" cy="784898"/>
          </a:xfrm>
          <a:prstGeom prst="rect">
            <a:avLst/>
          </a:prstGeom>
        </p:spPr>
      </p:pic>
      <p:pic>
        <p:nvPicPr>
          <p:cNvPr id="22" name="Picture 2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604681" y="113614"/>
            <a:ext cx="625162" cy="735484"/>
          </a:xfrm>
          <a:prstGeom prst="rect">
            <a:avLst/>
          </a:prstGeom>
          <a:effectLst>
            <a:outerShdw blurRad="50800" dist="38100" dir="2700000" algn="tl" rotWithShape="0">
              <a:prstClr val="black">
                <a:alpha val="40000"/>
              </a:prstClr>
            </a:outerShdw>
          </a:effectLst>
        </p:spPr>
      </p:pic>
      <p:pic>
        <p:nvPicPr>
          <p:cNvPr id="23" name="Picture 22"/>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44954" y="79430"/>
            <a:ext cx="699323" cy="903338"/>
          </a:xfrm>
          <a:prstGeom prst="rect">
            <a:avLst/>
          </a:prstGeom>
        </p:spPr>
      </p:pic>
    </p:spTree>
  </p:cSld>
  <p:clrMap bg1="lt1" tx1="dk1" bg2="lt2" tx2="dk2" accent1="accent1" accent2="accent2" accent3="accent3" accent4="accent4" accent5="accent5" accent6="accent6" hlink="hlink" folHlink="folHlink"/>
  <p:sldLayoutIdLst>
    <p:sldLayoutId id="2147483710" r:id="rId1"/>
    <p:sldLayoutId id="2147483713" r:id="rId2"/>
  </p:sldLayoutIdLst>
  <p:timing>
    <p:tnLst>
      <p:par>
        <p:cTn id="1" dur="indefinite" restart="never" nodeType="tmRoot"/>
      </p:par>
    </p:tnLst>
  </p:timing>
  <p:hf hdr="0" ftr="0" dt="0"/>
  <p:txStyles>
    <p:titleStyle>
      <a:lvl1pPr algn="ctr" defTabSz="914400" rtl="0" eaLnBrk="1" latinLnBrk="0" hangingPunct="1">
        <a:spcBef>
          <a:spcPct val="0"/>
        </a:spcBef>
        <a:buNone/>
        <a:defRPr sz="2800" b="1" kern="1200" baseline="0">
          <a:solidFill>
            <a:schemeClr val="bg1"/>
          </a:solidFill>
          <a:latin typeface="Comic Sans MS" pitchFamily="66" charset="0"/>
          <a:ea typeface="+mj-ea"/>
          <a:cs typeface="+mj-cs"/>
        </a:defRPr>
      </a:lvl1pPr>
    </p:titleStyle>
    <p:bodyStyle>
      <a:lvl1pPr marL="342900" indent="-342900" algn="l" defTabSz="914400" rtl="0" eaLnBrk="1" latinLnBrk="0" hangingPunct="1">
        <a:spcBef>
          <a:spcPct val="20000"/>
        </a:spcBef>
        <a:buFontTx/>
        <a:buNone/>
        <a:defRPr sz="2000" kern="1200">
          <a:solidFill>
            <a:schemeClr val="tx1"/>
          </a:solidFill>
          <a:latin typeface="Comic Sans MS" pitchFamily="66" charset="0"/>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alpha val="0"/>
          </a:schemeClr>
        </a:solidFill>
        <a:effectLst/>
      </p:bgPr>
    </p:bg>
    <p:spTree>
      <p:nvGrpSpPr>
        <p:cNvPr id="1" name=""/>
        <p:cNvGrpSpPr/>
        <p:nvPr/>
      </p:nvGrpSpPr>
      <p:grpSpPr>
        <a:xfrm>
          <a:off x="0" y="0"/>
          <a:ext cx="0" cy="0"/>
          <a:chOff x="0" y="0"/>
          <a:chExt cx="0" cy="0"/>
        </a:xfrm>
      </p:grpSpPr>
      <p:pic>
        <p:nvPicPr>
          <p:cNvPr id="8" name="Picture 7" descr="Metal Header.jpg"/>
          <p:cNvPicPr>
            <a:picLocks noChangeAspect="1"/>
          </p:cNvPicPr>
          <p:nvPr userDrawn="1"/>
        </p:nvPicPr>
        <p:blipFill>
          <a:blip r:embed="rId4" cstate="print"/>
          <a:stretch>
            <a:fillRect/>
          </a:stretch>
        </p:blipFill>
        <p:spPr>
          <a:xfrm>
            <a:off x="0" y="6443663"/>
            <a:ext cx="9144000" cy="414337"/>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pic>
        <p:nvPicPr>
          <p:cNvPr id="9" name="Picture 8" descr="Metal Header.jpg"/>
          <p:cNvPicPr>
            <a:picLocks noChangeAspect="1"/>
          </p:cNvPicPr>
          <p:nvPr userDrawn="1"/>
        </p:nvPicPr>
        <p:blipFill>
          <a:blip r:embed="rId5"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10" name="Footer Placeholder 16"/>
          <p:cNvSpPr txBox="1">
            <a:spLocks/>
          </p:cNvSpPr>
          <p:nvPr userDrawn="1"/>
        </p:nvSpPr>
        <p:spPr>
          <a:xfrm>
            <a:off x="-17930" y="-29528"/>
            <a:ext cx="9144000" cy="231776"/>
          </a:xfrm>
          <a:prstGeom prst="rect">
            <a:avLst/>
          </a:prstGeom>
        </p:spPr>
        <p:txBody>
          <a:bodyPr/>
          <a:lstStyle/>
          <a:p>
            <a:pPr algn="ct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sp>
        <p:nvSpPr>
          <p:cNvPr id="11" name="Footer Placeholder 16"/>
          <p:cNvSpPr txBox="1">
            <a:spLocks/>
          </p:cNvSpPr>
          <p:nvPr userDrawn="1"/>
        </p:nvSpPr>
        <p:spPr>
          <a:xfrm>
            <a:off x="39624" y="6620256"/>
            <a:ext cx="1752600" cy="228600"/>
          </a:xfrm>
          <a:prstGeom prst="rect">
            <a:avLst/>
          </a:prstGeom>
        </p:spPr>
        <p:txBody>
          <a:bodyPr/>
          <a:lstStyle/>
          <a:p>
            <a:pPr algn="l">
              <a:defRPr/>
            </a:pPr>
            <a:r>
              <a:rPr lang="en-US" sz="1000" b="1" dirty="0" smtClean="0">
                <a:solidFill>
                  <a:prstClr val="white"/>
                </a:solidFill>
                <a:latin typeface="Arial" pitchFamily="34" charset="0"/>
                <a:ea typeface="MS PGothic" pitchFamily="34" charset="-128"/>
                <a:cs typeface="Arial" pitchFamily="34" charset="0"/>
              </a:rPr>
              <a:t>UNCLASSIFIED//FOUO</a:t>
            </a:r>
            <a:endParaRPr lang="en-US" sz="1000" b="1" dirty="0">
              <a:solidFill>
                <a:prstClr val="white"/>
              </a:solidFill>
              <a:latin typeface="Arial" pitchFamily="34" charset="0"/>
              <a:ea typeface="MS PGothic" pitchFamily="34" charset="-128"/>
              <a:cs typeface="Arial" pitchFamily="34" charset="0"/>
            </a:endParaRPr>
          </a:p>
        </p:txBody>
      </p:sp>
      <p:grpSp>
        <p:nvGrpSpPr>
          <p:cNvPr id="12" name="Group 11"/>
          <p:cNvGrpSpPr/>
          <p:nvPr userDrawn="1"/>
        </p:nvGrpSpPr>
        <p:grpSpPr>
          <a:xfrm>
            <a:off x="144954" y="79430"/>
            <a:ext cx="8084889" cy="903338"/>
            <a:chOff x="144954" y="71442"/>
            <a:chExt cx="8084889" cy="903338"/>
          </a:xfrm>
        </p:grpSpPr>
        <p:pic>
          <p:nvPicPr>
            <p:cNvPr id="13" name="Picture 12"/>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16" name="Picture 15"/>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2" name="Picture 1"/>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284187" y="112981"/>
            <a:ext cx="723544" cy="725219"/>
          </a:xfrm>
          <a:prstGeom prst="rect">
            <a:avLst/>
          </a:prstGeom>
        </p:spPr>
      </p:pic>
    </p:spTree>
    <p:extLst>
      <p:ext uri="{BB962C8B-B14F-4D97-AF65-F5344CB8AC3E}">
        <p14:creationId xmlns:p14="http://schemas.microsoft.com/office/powerpoint/2010/main" val="1313682540"/>
      </p:ext>
    </p:extLst>
  </p:cSld>
  <p:clrMap bg1="lt1" tx1="dk1" bg2="lt2" tx2="dk2" accent1="accent1" accent2="accent2" accent3="accent3" accent4="accent4" accent5="accent5" accent6="accent6" hlink="hlink" folHlink="folHlink"/>
  <p:sldLayoutIdLst>
    <p:sldLayoutId id="2147483731" r:id="rId1"/>
    <p:sldLayoutId id="2147483733" r:id="rId2"/>
  </p:sldLayoutIdLst>
  <p:timing>
    <p:tnLst>
      <p:par>
        <p:cTn id="1" dur="indefinite" restart="never" nodeType="tmRoot"/>
      </p:par>
    </p:tnLst>
  </p:timing>
  <p:hf hdr="0" ftr="0" dt="0"/>
  <p:txStyles>
    <p:titleStyle>
      <a:lvl1pPr algn="ctr" defTabSz="914400" rtl="0" eaLnBrk="1" latinLnBrk="0" hangingPunct="1">
        <a:spcBef>
          <a:spcPct val="0"/>
        </a:spcBef>
        <a:buNone/>
        <a:defRPr sz="2800" b="1" kern="1200" baseline="0">
          <a:solidFill>
            <a:schemeClr val="bg1"/>
          </a:solidFill>
          <a:latin typeface="Comic Sans MS" pitchFamily="66" charset="0"/>
          <a:ea typeface="+mj-ea"/>
          <a:cs typeface="+mj-cs"/>
        </a:defRPr>
      </a:lvl1pPr>
    </p:titleStyle>
    <p:bodyStyle>
      <a:lvl1pPr marL="342900" indent="-342900" algn="l" defTabSz="914400" rtl="0" eaLnBrk="1" latinLnBrk="0" hangingPunct="1">
        <a:spcBef>
          <a:spcPct val="20000"/>
        </a:spcBef>
        <a:buFontTx/>
        <a:buNone/>
        <a:defRPr sz="2000" kern="1200">
          <a:solidFill>
            <a:schemeClr val="tx1"/>
          </a:solidFill>
          <a:latin typeface="Comic Sans MS" pitchFamily="66" charset="0"/>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2">
            <a:alpha val="0"/>
          </a:schemeClr>
        </a:solidFill>
        <a:effectLst/>
      </p:bgPr>
    </p:bg>
    <p:spTree>
      <p:nvGrpSpPr>
        <p:cNvPr id="1" name=""/>
        <p:cNvGrpSpPr/>
        <p:nvPr/>
      </p:nvGrpSpPr>
      <p:grpSpPr>
        <a:xfrm>
          <a:off x="0" y="0"/>
          <a:ext cx="0" cy="0"/>
          <a:chOff x="0" y="0"/>
          <a:chExt cx="0" cy="0"/>
        </a:xfrm>
      </p:grpSpPr>
      <p:sp>
        <p:nvSpPr>
          <p:cNvPr id="19" name="Rectangle 18"/>
          <p:cNvSpPr/>
          <p:nvPr userDrawn="1"/>
        </p:nvSpPr>
        <p:spPr>
          <a:xfrm>
            <a:off x="27334" y="6611779"/>
            <a:ext cx="1572866" cy="246221"/>
          </a:xfrm>
          <a:prstGeom prst="rect">
            <a:avLst/>
          </a:prstGeom>
        </p:spPr>
        <p:txBody>
          <a:bodyPr wrap="none">
            <a:spAutoFit/>
          </a:bodyPr>
          <a:lstStyle/>
          <a:p>
            <a:pP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pic>
        <p:nvPicPr>
          <p:cNvPr id="20" name="Picture 19" descr="Metal Header.jpg"/>
          <p:cNvPicPr>
            <a:picLocks noChangeAspect="1"/>
          </p:cNvPicPr>
          <p:nvPr userDrawn="1"/>
        </p:nvPicPr>
        <p:blipFill>
          <a:blip r:embed="rId3"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21" name="Footer Placeholder 16"/>
          <p:cNvSpPr txBox="1">
            <a:spLocks/>
          </p:cNvSpPr>
          <p:nvPr userDrawn="1"/>
        </p:nvSpPr>
        <p:spPr>
          <a:xfrm>
            <a:off x="-17930" y="-29528"/>
            <a:ext cx="9144000" cy="231776"/>
          </a:xfrm>
          <a:prstGeom prst="rect">
            <a:avLst/>
          </a:prstGeom>
        </p:spPr>
        <p:txBody>
          <a:bodyPr/>
          <a:lstStyle/>
          <a:p>
            <a:pPr algn="ct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grpSp>
        <p:nvGrpSpPr>
          <p:cNvPr id="8" name="Group 7"/>
          <p:cNvGrpSpPr/>
          <p:nvPr userDrawn="1"/>
        </p:nvGrpSpPr>
        <p:grpSpPr>
          <a:xfrm>
            <a:off x="144954" y="79430"/>
            <a:ext cx="8084889" cy="903338"/>
            <a:chOff x="144954" y="71442"/>
            <a:chExt cx="8084889" cy="903338"/>
          </a:xfrm>
        </p:grpSpPr>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2" name="Picture 1"/>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305800" y="113614"/>
            <a:ext cx="685800" cy="687388"/>
          </a:xfrm>
          <a:prstGeom prst="rect">
            <a:avLst/>
          </a:prstGeom>
        </p:spPr>
      </p:pic>
    </p:spTree>
  </p:cSld>
  <p:clrMap bg1="lt1" tx1="dk1" bg2="lt2" tx2="dk2" accent1="accent1" accent2="accent2" accent3="accent3" accent4="accent4" accent5="accent5" accent6="accent6" hlink="hlink" folHlink="folHlink"/>
  <p:sldLayoutIdLst>
    <p:sldLayoutId id="2147483728" r:id="rId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2">
            <a:alpha val="0"/>
          </a:schemeClr>
        </a:solidFill>
        <a:effectLst/>
      </p:bgPr>
    </p:bg>
    <p:spTree>
      <p:nvGrpSpPr>
        <p:cNvPr id="1" name=""/>
        <p:cNvGrpSpPr/>
        <p:nvPr/>
      </p:nvGrpSpPr>
      <p:grpSpPr>
        <a:xfrm>
          <a:off x="0" y="0"/>
          <a:ext cx="0" cy="0"/>
          <a:chOff x="0" y="0"/>
          <a:chExt cx="0" cy="0"/>
        </a:xfrm>
      </p:grpSpPr>
      <p:sp>
        <p:nvSpPr>
          <p:cNvPr id="8" name="Footer Placeholder 16"/>
          <p:cNvSpPr txBox="1">
            <a:spLocks/>
          </p:cNvSpPr>
          <p:nvPr userDrawn="1"/>
        </p:nvSpPr>
        <p:spPr>
          <a:xfrm>
            <a:off x="-1" y="0"/>
            <a:ext cx="9144000" cy="231776"/>
          </a:xfrm>
          <a:prstGeom prst="rect">
            <a:avLst/>
          </a:prstGeom>
        </p:spPr>
        <p:txBody>
          <a:bodyPr/>
          <a:lstStyle/>
          <a:p>
            <a:pPr algn="ctr">
              <a:defRPr/>
            </a:pPr>
            <a:r>
              <a:rPr lang="en-US" sz="1000" b="1" dirty="0" smtClean="0">
                <a:solidFill>
                  <a:schemeClr val="bg1"/>
                </a:solidFill>
                <a:latin typeface="Arial" pitchFamily="34" charset="0"/>
                <a:ea typeface="MS PGothic" pitchFamily="34" charset="-128"/>
                <a:cs typeface="Arial" pitchFamily="34" charset="0"/>
              </a:rPr>
              <a:t>UNCLASSIFIED//FOUO</a:t>
            </a:r>
            <a:endParaRPr lang="en-US" sz="1000" b="1" dirty="0">
              <a:solidFill>
                <a:schemeClr val="bg1"/>
              </a:solidFill>
              <a:latin typeface="Arial" pitchFamily="34" charset="0"/>
              <a:ea typeface="MS PGothic" pitchFamily="34" charset="-128"/>
              <a:cs typeface="Arial" pitchFamily="34" charset="0"/>
            </a:endParaRPr>
          </a:p>
        </p:txBody>
      </p:sp>
      <p:sp>
        <p:nvSpPr>
          <p:cNvPr id="19" name="Rectangle 18"/>
          <p:cNvSpPr/>
          <p:nvPr userDrawn="1"/>
        </p:nvSpPr>
        <p:spPr>
          <a:xfrm>
            <a:off x="76200" y="6611779"/>
            <a:ext cx="1572866" cy="246221"/>
          </a:xfrm>
          <a:prstGeom prst="rect">
            <a:avLst/>
          </a:prstGeom>
        </p:spPr>
        <p:txBody>
          <a:bodyPr wrap="none">
            <a:spAutoFit/>
          </a:bodyPr>
          <a:lstStyle/>
          <a:p>
            <a:pPr>
              <a:defRPr/>
            </a:pPr>
            <a:r>
              <a:rPr lang="en-US" sz="1000" b="1" dirty="0" smtClean="0">
                <a:solidFill>
                  <a:schemeClr val="bg1"/>
                </a:solidFill>
                <a:latin typeface="Arial" pitchFamily="34" charset="0"/>
                <a:ea typeface="MS PGothic" pitchFamily="34" charset="-128"/>
                <a:cs typeface="Arial" pitchFamily="34" charset="0"/>
              </a:rPr>
              <a:t>UNCLASSIFIED//FOUO</a:t>
            </a:r>
            <a:endParaRPr lang="en-US" sz="1000" b="1" dirty="0">
              <a:solidFill>
                <a:schemeClr val="bg1"/>
              </a:solidFill>
              <a:latin typeface="Arial" pitchFamily="34" charset="0"/>
              <a:ea typeface="MS PGothic" pitchFamily="34" charset="-128"/>
              <a:cs typeface="Arial" pitchFamily="34" charset="0"/>
            </a:endParaRPr>
          </a:p>
        </p:txBody>
      </p:sp>
    </p:spTree>
  </p:cSld>
  <p:clrMap bg1="lt1" tx1="dk1" bg2="lt2" tx2="dk2" accent1="accent1" accent2="accent2" accent3="accent3" accent4="accent4" accent5="accent5" accent6="accent6" hlink="hlink" folHlink="folHlink"/>
  <p:sldLayoutIdLst>
    <p:sldLayoutId id="2147483729" r:id="rId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hyperlink" Target="mailto:erin.k.weber.civ@mail.mil"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hyperlink" Target="mailto:erin.k.weber.civ@mail.mil"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hyperlink" Target="mailto:robin.m.delossantos.civ@mail.mil" TargetMode="Externa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hyperlink" Target="mailto:Sabrinna.r.cosom.civ@mail.mil"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hyperlink" Target="mailto:Sabrinna.r.cosom.civ@mail.mil"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hyperlink" Target="mailto:Sabrinna.r.cosom.civ@mail.mil"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hyperlink" Target="mailto:Sabrinna.r.cosom.civ@mail.mil"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hyperlink" Target="mailto:Sabrinna.r.cosom.civ@mail.mil"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hyperlink" Target="mailto:alexander.s.obriwin.civ@mail.mil"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hyperlink" Target="mailto:alexander.s.obriwin.civ@mail.mil"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hyperlink" Target="mailto:alexander.s.obriwin.civ@mail.mil" TargetMode="Externa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hyperlink" Target="mailto:alexander.s.obriwin.civ@mail.mil"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hyperlink" Target="mailto:alexander.s.obriwin.civ@mail.mil" TargetMode="Externa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hyperlink" Target="mailto:samantha.l.shultz2.civ@mail.mil" TargetMode="Externa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hyperlink" Target="mailto:samantha.l.shultz2.civ@mail.mil" TargetMode="Externa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hyperlink" Target="mailto:samantha.l.shultz2.civ@mail.mil" TargetMode="Externa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hyperlink" Target="mailto:Kelly.L.Doolittle.civ@mail.mil" TargetMode="Externa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hyperlink" Target="mailto:Kelly.L.Doolittle.civ@mail.mil" TargetMode="Externa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hyperlink" Target="mailto:Kelly.l.Doolittle.civ@mail.mil" TargetMode="Externa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hyperlink" Target="mailto:Theresa.S.Quick.civ@mail.mil"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6271828"/>
            <a:ext cx="1752600" cy="369332"/>
          </a:xfrm>
          <a:prstGeom prst="rect">
            <a:avLst/>
          </a:prstGeom>
          <a:noFill/>
        </p:spPr>
        <p:txBody>
          <a:bodyPr wrap="square" rtlCol="0">
            <a:spAutoFit/>
          </a:bodyPr>
          <a:lstStyle/>
          <a:p>
            <a:r>
              <a:rPr lang="en-US" sz="900" dirty="0" smtClean="0">
                <a:latin typeface="Arial" pitchFamily="34" charset="0"/>
                <a:cs typeface="Arial" pitchFamily="34" charset="0"/>
              </a:rPr>
              <a:t>Version Number 4</a:t>
            </a:r>
          </a:p>
          <a:p>
            <a:r>
              <a:rPr lang="en-US" sz="900" dirty="0" smtClean="0">
                <a:latin typeface="Arial" pitchFamily="34" charset="0"/>
                <a:cs typeface="Arial" pitchFamily="34" charset="0"/>
              </a:rPr>
              <a:t>As of Date: 14 Feb 2019</a:t>
            </a:r>
            <a:endParaRPr lang="en-US" sz="900" dirty="0">
              <a:latin typeface="Arial" pitchFamily="34" charset="0"/>
              <a:cs typeface="Arial" pitchFamily="34" charset="0"/>
            </a:endParaRPr>
          </a:p>
        </p:txBody>
      </p:sp>
      <p:sp>
        <p:nvSpPr>
          <p:cNvPr id="7" name="TextBox 6"/>
          <p:cNvSpPr txBox="1"/>
          <p:nvPr/>
        </p:nvSpPr>
        <p:spPr>
          <a:xfrm>
            <a:off x="-76200" y="3520953"/>
            <a:ext cx="9144000" cy="646331"/>
          </a:xfrm>
          <a:prstGeom prst="rect">
            <a:avLst/>
          </a:prstGeom>
          <a:noFill/>
        </p:spPr>
        <p:txBody>
          <a:bodyPr wrap="square" rtlCol="0">
            <a:spAutoFit/>
          </a:bodyPr>
          <a:lstStyle/>
          <a:p>
            <a:pPr algn="ctr"/>
            <a:r>
              <a:rPr lang="en-US" sz="3600" b="1" dirty="0" smtClean="0">
                <a:solidFill>
                  <a:srgbClr val="0000FF"/>
                </a:solidFill>
                <a:latin typeface="Arial" pitchFamily="34" charset="0"/>
                <a:cs typeface="Arial" pitchFamily="34" charset="0"/>
              </a:rPr>
              <a:t>ACC-APG Division D</a:t>
            </a:r>
            <a:endParaRPr lang="en-US" sz="3600" b="1" dirty="0">
              <a:solidFill>
                <a:srgbClr val="0000FF"/>
              </a:solidFill>
              <a:latin typeface="Arial" pitchFamily="34" charset="0"/>
              <a:cs typeface="Arial" pitchFamily="34" charset="0"/>
            </a:endParaRPr>
          </a:p>
        </p:txBody>
      </p:sp>
      <p:sp>
        <p:nvSpPr>
          <p:cNvPr id="11" name="Subtitle 8"/>
          <p:cNvSpPr>
            <a:spLocks noGrp="1"/>
          </p:cNvSpPr>
          <p:nvPr>
            <p:ph type="subTitle" idx="1"/>
          </p:nvPr>
        </p:nvSpPr>
        <p:spPr>
          <a:xfrm>
            <a:off x="17705" y="2197027"/>
            <a:ext cx="9126070" cy="876300"/>
          </a:xfrm>
        </p:spPr>
        <p:txBody>
          <a:bodyPr>
            <a:noAutofit/>
          </a:bodyPr>
          <a:lstStyle/>
          <a:p>
            <a:r>
              <a:rPr lang="en-US" sz="3200" b="1" dirty="0" smtClean="0"/>
              <a:t>ACC-APG </a:t>
            </a:r>
            <a:r>
              <a:rPr lang="en-US" sz="3200" b="1" dirty="0"/>
              <a:t>Competitive </a:t>
            </a:r>
            <a:r>
              <a:rPr lang="en-US" sz="3200" b="1" dirty="0" smtClean="0"/>
              <a:t>Industry </a:t>
            </a:r>
            <a:r>
              <a:rPr lang="en-US" sz="3200" b="1" dirty="0"/>
              <a:t>Updates</a:t>
            </a:r>
            <a:endParaRPr lang="en-US" sz="3200" b="1" dirty="0">
              <a:solidFill>
                <a:schemeClr val="tx1"/>
              </a:solidFill>
              <a:latin typeface="Arial" pitchFamily="34" charset="0"/>
              <a:cs typeface="Arial" pitchFamily="34" charset="0"/>
            </a:endParaRPr>
          </a:p>
        </p:txBody>
      </p:sp>
      <p:sp>
        <p:nvSpPr>
          <p:cNvPr id="12" name="TextBox 11"/>
          <p:cNvSpPr txBox="1"/>
          <p:nvPr/>
        </p:nvSpPr>
        <p:spPr>
          <a:xfrm>
            <a:off x="1524000" y="286158"/>
            <a:ext cx="5943600" cy="338554"/>
          </a:xfrm>
          <a:prstGeom prst="rect">
            <a:avLst/>
          </a:prstGeom>
          <a:noFill/>
          <a:effectLst/>
        </p:spPr>
        <p:txBody>
          <a:bodyPr wrap="square" rtlCol="0">
            <a:spAutoFit/>
          </a:bodyPr>
          <a:lstStyle/>
          <a:p>
            <a:pPr algn="ctr"/>
            <a:r>
              <a:rPr lang="en-US" sz="1600" b="1" i="1" dirty="0" smtClean="0">
                <a:solidFill>
                  <a:prstClr val="black"/>
                </a:solidFill>
                <a:latin typeface="Arial" pitchFamily="34" charset="0"/>
                <a:cs typeface="Arial" pitchFamily="34" charset="0"/>
              </a:rPr>
              <a:t>Army Contracting Command – Aberdeen Proving Ground</a:t>
            </a:r>
            <a:endParaRPr lang="en-US" sz="1600" b="1" i="1" dirty="0">
              <a:solidFill>
                <a:prstClr val="black"/>
              </a:solidFill>
              <a:latin typeface="Arial" pitchFamily="34" charset="0"/>
              <a:cs typeface="Arial" pitchFamily="34" charset="0"/>
            </a:endParaRPr>
          </a:p>
        </p:txBody>
      </p:sp>
    </p:spTree>
    <p:extLst>
      <p:ext uri="{BB962C8B-B14F-4D97-AF65-F5344CB8AC3E}">
        <p14:creationId xmlns:p14="http://schemas.microsoft.com/office/powerpoint/2010/main" val="22567274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2</a:t>
            </a:fld>
            <a:endParaRPr lang="en-US" sz="1000" dirty="0">
              <a:solidFill>
                <a:prstClr val="white"/>
              </a:solidFill>
            </a:endParaRPr>
          </a:p>
        </p:txBody>
      </p:sp>
      <p:sp>
        <p:nvSpPr>
          <p:cNvPr id="8" name="TextBox 8"/>
          <p:cNvSpPr txBox="1">
            <a:spLocks noChangeArrowheads="1"/>
          </p:cNvSpPr>
          <p:nvPr/>
        </p:nvSpPr>
        <p:spPr bwMode="auto">
          <a:xfrm>
            <a:off x="0" y="1066800"/>
            <a:ext cx="9144000" cy="338554"/>
          </a:xfrm>
          <a:prstGeom prst="rect">
            <a:avLst/>
          </a:prstGeom>
          <a:noFill/>
          <a:ln w="9525">
            <a:noFill/>
            <a:miter lim="800000"/>
            <a:headEnd/>
            <a:tailEnd/>
          </a:ln>
        </p:spPr>
        <p:txBody>
          <a:bodyPr wrap="square">
            <a:spAutoFit/>
          </a:bodyPr>
          <a:lstStyle/>
          <a:p>
            <a:pPr>
              <a:defRPr/>
            </a:pPr>
            <a:endParaRPr lang="en-US" sz="1600" b="1" dirty="0">
              <a:solidFill>
                <a:prstClr val="black"/>
              </a:solidFill>
              <a:latin typeface=" Arial"/>
            </a:endParaRPr>
          </a:p>
        </p:txBody>
      </p:sp>
      <p:sp>
        <p:nvSpPr>
          <p:cNvPr id="2" name="TextBox 1"/>
          <p:cNvSpPr txBox="1"/>
          <p:nvPr/>
        </p:nvSpPr>
        <p:spPr>
          <a:xfrm>
            <a:off x="838200" y="1722361"/>
            <a:ext cx="7620000" cy="2031325"/>
          </a:xfrm>
          <a:prstGeom prst="rect">
            <a:avLst/>
          </a:prstGeom>
          <a:noFill/>
        </p:spPr>
        <p:txBody>
          <a:bodyPr wrap="square" rtlCol="0">
            <a:spAutoFit/>
          </a:bodyPr>
          <a:lstStyle/>
          <a:p>
            <a:r>
              <a:rPr lang="en-US" dirty="0"/>
              <a:t>The following slides are for informational purposes ONLY. These are NOT formal solicitations / Requests for </a:t>
            </a:r>
            <a:r>
              <a:rPr lang="en-US" dirty="0" smtClean="0"/>
              <a:t>Proposals </a:t>
            </a:r>
            <a:r>
              <a:rPr lang="en-US" dirty="0"/>
              <a:t>(RFP) / Requests for Quotes (RFQ). Do NOT submit any formal proposals / quotes to this posting. All information contained in this posting is subject to change without notice. The Government will not respond and/or reimburse for any feedback, questions or documentation provided by Industry in response to this posting. </a:t>
            </a:r>
          </a:p>
          <a:p>
            <a:endParaRPr lang="en-US" dirty="0"/>
          </a:p>
        </p:txBody>
      </p:sp>
    </p:spTree>
    <p:extLst>
      <p:ext uri="{BB962C8B-B14F-4D97-AF65-F5344CB8AC3E}">
        <p14:creationId xmlns:p14="http://schemas.microsoft.com/office/powerpoint/2010/main" val="6941853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Aberdeen Test Center (ATC)</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3</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a:t>
            </a:r>
            <a:r>
              <a:rPr lang="fr-FR" dirty="0" smtClean="0">
                <a:solidFill>
                  <a:prstClr val="black"/>
                </a:solidFill>
                <a:latin typeface=" Arial"/>
              </a:rPr>
              <a:t>Aberdeen Test Support Services (ATSS)</a:t>
            </a:r>
          </a:p>
          <a:p>
            <a:endParaRPr lang="en-US" u="sng" dirty="0" smtClean="0">
              <a:solidFill>
                <a:prstClr val="black"/>
              </a:solidFill>
              <a:latin typeface=" Arial"/>
            </a:endParaRPr>
          </a:p>
          <a:p>
            <a:r>
              <a:rPr lang="en-US" u="sng" dirty="0" smtClean="0">
                <a:solidFill>
                  <a:prstClr val="black"/>
                </a:solidFill>
                <a:latin typeface=" Arial"/>
              </a:rPr>
              <a:t>Project Summary</a:t>
            </a:r>
            <a:r>
              <a:rPr lang="en-US" dirty="0" smtClean="0">
                <a:solidFill>
                  <a:prstClr val="black"/>
                </a:solidFill>
              </a:rPr>
              <a:t>:  </a:t>
            </a:r>
            <a:r>
              <a:rPr lang="en-US" dirty="0" smtClean="0">
                <a:solidFill>
                  <a:prstClr val="black"/>
                </a:solidFill>
                <a:latin typeface=" Arial"/>
              </a:rPr>
              <a:t>Engineering and Technical Services in support of the Aberdeen Test Center</a:t>
            </a:r>
          </a:p>
          <a:p>
            <a:endParaRPr lang="en-US"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W91CRB-15-D-0018</a:t>
            </a:r>
          </a:p>
          <a:p>
            <a:pPr>
              <a:defRPr/>
            </a:pPr>
            <a:r>
              <a:rPr lang="en-US" dirty="0">
                <a:solidFill>
                  <a:prstClr val="black"/>
                </a:solidFill>
                <a:latin typeface=" Arial"/>
              </a:rPr>
              <a:t>	</a:t>
            </a:r>
            <a:r>
              <a:rPr lang="en-US" dirty="0" smtClean="0">
                <a:solidFill>
                  <a:prstClr val="black"/>
                </a:solidFill>
                <a:latin typeface=" Arial"/>
              </a:rPr>
              <a:t>Incumbent Contractor:  Jacobs Technology, </a:t>
            </a:r>
            <a:r>
              <a:rPr lang="en-US" dirty="0" err="1" smtClean="0">
                <a:solidFill>
                  <a:prstClr val="black"/>
                </a:solidFill>
                <a:latin typeface=" Arial"/>
              </a:rPr>
              <a:t>Inc</a:t>
            </a:r>
            <a:endParaRPr lang="en-US" dirty="0" smtClean="0">
              <a:solidFill>
                <a:prstClr val="black"/>
              </a:solidFill>
              <a:latin typeface=" Arial"/>
            </a:endParaRPr>
          </a:p>
          <a:p>
            <a:pPr>
              <a:defRPr/>
            </a:pPr>
            <a:endParaRPr lang="en-US" dirty="0">
              <a:solidFill>
                <a:prstClr val="black"/>
              </a:solidFill>
              <a:latin typeface=" Arial"/>
            </a:endParaRPr>
          </a:p>
          <a:p>
            <a:pPr>
              <a:defRPr/>
            </a:pPr>
            <a:r>
              <a:rPr lang="en-US" dirty="0" smtClean="0">
                <a:solidFill>
                  <a:prstClr val="black"/>
                </a:solidFill>
                <a:latin typeface=" Arial"/>
              </a:rPr>
              <a:t>Note: This opportunity is expected to be unrestricted</a:t>
            </a:r>
          </a:p>
          <a:p>
            <a:pPr>
              <a:defRPr/>
            </a:pPr>
            <a:endParaRPr lang="en-US"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CPFF with FFP CLINs</a:t>
            </a:r>
          </a:p>
          <a:p>
            <a:pPr>
              <a:defRPr/>
            </a:pPr>
            <a:r>
              <a:rPr lang="en-US" u="sng" dirty="0" smtClean="0">
                <a:solidFill>
                  <a:prstClr val="black"/>
                </a:solidFill>
                <a:latin typeface=" Arial"/>
              </a:rPr>
              <a:t>ROM</a:t>
            </a:r>
            <a:r>
              <a:rPr lang="en-US" dirty="0" smtClean="0">
                <a:solidFill>
                  <a:prstClr val="black"/>
                </a:solidFill>
                <a:latin typeface=" Arial"/>
              </a:rPr>
              <a:t>:  $498M</a:t>
            </a:r>
          </a:p>
          <a:p>
            <a:pPr>
              <a:defRPr/>
            </a:pPr>
            <a:r>
              <a:rPr lang="en-US" u="sng" dirty="0" smtClean="0">
                <a:solidFill>
                  <a:prstClr val="black"/>
                </a:solidFill>
                <a:latin typeface=" Arial"/>
              </a:rPr>
              <a:t>Period of Performance</a:t>
            </a:r>
            <a:r>
              <a:rPr lang="en-US" dirty="0" smtClean="0">
                <a:solidFill>
                  <a:prstClr val="black"/>
                </a:solidFill>
                <a:latin typeface=" Arial"/>
              </a:rPr>
              <a:t>:  5 year ordering period, 7 year </a:t>
            </a:r>
            <a:r>
              <a:rPr lang="en-US" dirty="0" err="1" smtClean="0">
                <a:solidFill>
                  <a:prstClr val="black"/>
                </a:solidFill>
                <a:latin typeface=" Arial"/>
              </a:rPr>
              <a:t>PoP</a:t>
            </a:r>
            <a:endParaRPr lang="en-US" dirty="0" smtClean="0">
              <a:solidFill>
                <a:prstClr val="black"/>
              </a:solidFill>
              <a:latin typeface=" Arial"/>
            </a:endParaRPr>
          </a:p>
          <a:p>
            <a:pPr>
              <a:defRPr/>
            </a:pPr>
            <a:r>
              <a:rPr lang="en-US" u="sng" dirty="0" smtClean="0">
                <a:solidFill>
                  <a:prstClr val="black"/>
                </a:solidFill>
                <a:latin typeface=" Arial"/>
              </a:rPr>
              <a:t>Estimated Solicitation Release Date</a:t>
            </a:r>
            <a:r>
              <a:rPr lang="en-US" dirty="0" smtClean="0">
                <a:solidFill>
                  <a:prstClr val="black"/>
                </a:solidFill>
                <a:latin typeface=" Arial"/>
              </a:rPr>
              <a:t>:  </a:t>
            </a:r>
            <a:r>
              <a:rPr lang="en-US" dirty="0" smtClean="0">
                <a:latin typeface=" Arial"/>
              </a:rPr>
              <a:t>3</a:t>
            </a:r>
            <a:r>
              <a:rPr lang="en-US" baseline="30000" dirty="0" smtClean="0">
                <a:latin typeface=" Arial"/>
              </a:rPr>
              <a:t>rd</a:t>
            </a:r>
            <a:r>
              <a:rPr lang="en-US" dirty="0" smtClean="0">
                <a:latin typeface=" Arial"/>
              </a:rPr>
              <a:t> or 4</a:t>
            </a:r>
            <a:r>
              <a:rPr lang="en-US" baseline="30000" dirty="0" smtClean="0">
                <a:latin typeface=" Arial"/>
              </a:rPr>
              <a:t>th</a:t>
            </a:r>
            <a:r>
              <a:rPr lang="en-US" dirty="0" smtClean="0">
                <a:latin typeface=" Arial"/>
              </a:rPr>
              <a:t> </a:t>
            </a:r>
            <a:r>
              <a:rPr lang="en-US" dirty="0" err="1" smtClean="0">
                <a:latin typeface=" Arial"/>
              </a:rPr>
              <a:t>Qtr</a:t>
            </a:r>
            <a:r>
              <a:rPr lang="en-US" dirty="0" smtClean="0">
                <a:latin typeface=" Arial"/>
              </a:rPr>
              <a:t> FY19</a:t>
            </a:r>
          </a:p>
          <a:p>
            <a:pPr>
              <a:defRPr/>
            </a:pPr>
            <a:r>
              <a:rPr lang="en-US" u="sng" dirty="0" smtClean="0">
                <a:solidFill>
                  <a:prstClr val="black"/>
                </a:solidFill>
                <a:latin typeface=" Arial"/>
              </a:rPr>
              <a:t>Contracting Contact</a:t>
            </a:r>
            <a:r>
              <a:rPr lang="en-US" dirty="0" smtClean="0">
                <a:solidFill>
                  <a:prstClr val="black"/>
                </a:solidFill>
                <a:latin typeface=" Arial"/>
              </a:rPr>
              <a:t>:  ACC-APG, Erin Weber, KO, </a:t>
            </a:r>
            <a:r>
              <a:rPr lang="en-US" dirty="0" smtClean="0">
                <a:solidFill>
                  <a:prstClr val="black"/>
                </a:solidFill>
                <a:latin typeface=" Arial"/>
                <a:hlinkClick r:id="rId2"/>
              </a:rPr>
              <a:t>erin.k.weber.civ@mail.mil</a:t>
            </a:r>
            <a:endParaRPr lang="en-US" dirty="0" smtClean="0">
              <a:solidFill>
                <a:prstClr val="black"/>
              </a:solidFill>
              <a:latin typeface=" Arial"/>
            </a:endParaRPr>
          </a:p>
          <a:p>
            <a:pPr>
              <a:defRPr/>
            </a:pPr>
            <a:endParaRPr lang="en-US" dirty="0" smtClean="0">
              <a:solidFill>
                <a:prstClr val="black"/>
              </a:solidFill>
              <a:latin typeface=" Arial"/>
            </a:endParaRPr>
          </a:p>
          <a:p>
            <a:pPr>
              <a:defRPr/>
            </a:pPr>
            <a:endParaRPr lang="en-US" dirty="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20825861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Aberdeen Test Center (ATC)</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4</a:t>
            </a:fld>
            <a:endParaRPr lang="en-US" sz="1000" dirty="0">
              <a:solidFill>
                <a:prstClr val="white"/>
              </a:solidFill>
            </a:endParaRPr>
          </a:p>
        </p:txBody>
      </p:sp>
      <p:sp>
        <p:nvSpPr>
          <p:cNvPr id="8" name="TextBox 8"/>
          <p:cNvSpPr txBox="1">
            <a:spLocks noChangeArrowheads="1"/>
          </p:cNvSpPr>
          <p:nvPr/>
        </p:nvSpPr>
        <p:spPr bwMode="auto">
          <a:xfrm>
            <a:off x="0" y="1066800"/>
            <a:ext cx="9144000" cy="4770537"/>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a:t>
            </a:r>
            <a:r>
              <a:rPr lang="fr-FR" dirty="0" smtClean="0">
                <a:solidFill>
                  <a:prstClr val="black"/>
                </a:solidFill>
                <a:latin typeface=" Arial"/>
              </a:rPr>
              <a:t>Range Maintenance</a:t>
            </a:r>
          </a:p>
          <a:p>
            <a:endParaRPr lang="en-US" u="sng" dirty="0" smtClean="0">
              <a:solidFill>
                <a:prstClr val="black"/>
              </a:solidFill>
              <a:latin typeface=" Arial"/>
            </a:endParaRPr>
          </a:p>
          <a:p>
            <a:r>
              <a:rPr lang="en-US" u="sng" dirty="0" smtClean="0">
                <a:solidFill>
                  <a:prstClr val="black"/>
                </a:solidFill>
                <a:latin typeface=" Arial"/>
              </a:rPr>
              <a:t>Project Summary</a:t>
            </a:r>
            <a:r>
              <a:rPr lang="en-US" dirty="0" smtClean="0">
                <a:solidFill>
                  <a:prstClr val="black"/>
                </a:solidFill>
              </a:rPr>
              <a:t>:  </a:t>
            </a:r>
            <a:r>
              <a:rPr lang="en-US" dirty="0" smtClean="0">
                <a:latin typeface=" Arial"/>
              </a:rPr>
              <a:t>Aberdeen Test Center Range Maintenance Support</a:t>
            </a:r>
          </a:p>
          <a:p>
            <a:endParaRPr lang="en-US"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W91CRB-17-D-0001/0002/0003</a:t>
            </a:r>
          </a:p>
          <a:p>
            <a:pPr>
              <a:defRPr/>
            </a:pPr>
            <a:r>
              <a:rPr lang="en-US" dirty="0">
                <a:solidFill>
                  <a:prstClr val="black"/>
                </a:solidFill>
                <a:latin typeface=" Arial"/>
              </a:rPr>
              <a:t>	</a:t>
            </a:r>
            <a:r>
              <a:rPr lang="en-US" dirty="0" smtClean="0">
                <a:solidFill>
                  <a:prstClr val="black"/>
                </a:solidFill>
                <a:latin typeface=" Arial"/>
              </a:rPr>
              <a:t>Incumbent Contractors:  Fred L. Hawkins, </a:t>
            </a:r>
            <a:r>
              <a:rPr lang="en-US" dirty="0" smtClean="0">
                <a:solidFill>
                  <a:prstClr val="black"/>
                </a:solidFill>
                <a:latin typeface=" Arial"/>
              </a:rPr>
              <a:t>Inc.; </a:t>
            </a:r>
            <a:r>
              <a:rPr lang="en-US" dirty="0" smtClean="0">
                <a:solidFill>
                  <a:prstClr val="black"/>
                </a:solidFill>
                <a:latin typeface=" Arial"/>
              </a:rPr>
              <a:t>M2 Electric, </a:t>
            </a:r>
            <a:r>
              <a:rPr lang="en-US" dirty="0" smtClean="0">
                <a:solidFill>
                  <a:prstClr val="black"/>
                </a:solidFill>
                <a:latin typeface=" Arial"/>
              </a:rPr>
              <a:t>LLC; </a:t>
            </a:r>
            <a:r>
              <a:rPr lang="en-US" dirty="0" smtClean="0">
                <a:solidFill>
                  <a:prstClr val="black"/>
                </a:solidFill>
                <a:latin typeface=" Arial"/>
              </a:rPr>
              <a:t>and </a:t>
            </a:r>
            <a:r>
              <a:rPr lang="en-US" dirty="0" err="1" smtClean="0">
                <a:solidFill>
                  <a:prstClr val="black"/>
                </a:solidFill>
                <a:latin typeface=" Arial"/>
              </a:rPr>
              <a:t>Relyant</a:t>
            </a:r>
            <a:r>
              <a:rPr lang="en-US" dirty="0" smtClean="0">
                <a:solidFill>
                  <a:prstClr val="black"/>
                </a:solidFill>
                <a:latin typeface=" Arial"/>
              </a:rPr>
              <a:t> 	Global, LLC</a:t>
            </a:r>
          </a:p>
          <a:p>
            <a:pPr>
              <a:defRPr/>
            </a:pPr>
            <a:endParaRPr lang="en-US" dirty="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CPFF </a:t>
            </a:r>
          </a:p>
          <a:p>
            <a:pPr>
              <a:defRPr/>
            </a:pPr>
            <a:r>
              <a:rPr lang="en-US" u="sng" dirty="0" smtClean="0">
                <a:solidFill>
                  <a:prstClr val="black"/>
                </a:solidFill>
                <a:latin typeface=" Arial"/>
              </a:rPr>
              <a:t>ROM</a:t>
            </a:r>
            <a:r>
              <a:rPr lang="en-US" dirty="0" smtClean="0">
                <a:solidFill>
                  <a:prstClr val="black"/>
                </a:solidFill>
                <a:latin typeface=" Arial"/>
              </a:rPr>
              <a:t>:  $10M</a:t>
            </a:r>
          </a:p>
          <a:p>
            <a:pPr>
              <a:defRPr/>
            </a:pPr>
            <a:r>
              <a:rPr lang="en-US" u="sng" dirty="0" smtClean="0">
                <a:solidFill>
                  <a:prstClr val="black"/>
                </a:solidFill>
                <a:latin typeface=" Arial"/>
              </a:rPr>
              <a:t>Period of Performance</a:t>
            </a:r>
            <a:r>
              <a:rPr lang="en-US" dirty="0" smtClean="0">
                <a:solidFill>
                  <a:prstClr val="black"/>
                </a:solidFill>
                <a:latin typeface=" Arial"/>
              </a:rPr>
              <a:t>:  5 year ordering period</a:t>
            </a:r>
          </a:p>
          <a:p>
            <a:pPr>
              <a:defRPr/>
            </a:pPr>
            <a:r>
              <a:rPr lang="en-US" u="sng" dirty="0" smtClean="0">
                <a:solidFill>
                  <a:prstClr val="black"/>
                </a:solidFill>
                <a:latin typeface=" Arial"/>
              </a:rPr>
              <a:t>Estimated Solicitation Release Date</a:t>
            </a:r>
            <a:r>
              <a:rPr lang="en-US" dirty="0" smtClean="0">
                <a:solidFill>
                  <a:prstClr val="black"/>
                </a:solidFill>
                <a:latin typeface=" Arial"/>
              </a:rPr>
              <a:t>:  </a:t>
            </a:r>
            <a:r>
              <a:rPr lang="en-US" dirty="0" smtClean="0">
                <a:latin typeface=" Arial"/>
              </a:rPr>
              <a:t>3</a:t>
            </a:r>
            <a:r>
              <a:rPr lang="en-US" baseline="30000" dirty="0" smtClean="0">
                <a:latin typeface=" Arial"/>
              </a:rPr>
              <a:t>rd</a:t>
            </a:r>
            <a:r>
              <a:rPr lang="en-US" dirty="0" smtClean="0">
                <a:latin typeface=" Arial"/>
              </a:rPr>
              <a:t> or 4</a:t>
            </a:r>
            <a:r>
              <a:rPr lang="en-US" baseline="30000" dirty="0" smtClean="0">
                <a:latin typeface=" Arial"/>
              </a:rPr>
              <a:t>th</a:t>
            </a:r>
            <a:r>
              <a:rPr lang="en-US" dirty="0" smtClean="0">
                <a:latin typeface=" Arial"/>
              </a:rPr>
              <a:t> </a:t>
            </a:r>
            <a:r>
              <a:rPr lang="en-US" dirty="0" err="1" smtClean="0">
                <a:latin typeface=" Arial"/>
              </a:rPr>
              <a:t>Qtr</a:t>
            </a:r>
            <a:r>
              <a:rPr lang="en-US" dirty="0" smtClean="0">
                <a:latin typeface=" Arial"/>
              </a:rPr>
              <a:t> FY19</a:t>
            </a:r>
          </a:p>
          <a:p>
            <a:pPr>
              <a:defRPr/>
            </a:pPr>
            <a:r>
              <a:rPr lang="en-US" u="sng" dirty="0" smtClean="0">
                <a:solidFill>
                  <a:prstClr val="black"/>
                </a:solidFill>
                <a:latin typeface=" Arial"/>
              </a:rPr>
              <a:t>Contracting Contact</a:t>
            </a:r>
            <a:r>
              <a:rPr lang="en-US" dirty="0" smtClean="0">
                <a:solidFill>
                  <a:prstClr val="black"/>
                </a:solidFill>
                <a:latin typeface=" Arial"/>
              </a:rPr>
              <a:t>:  ACC-APG, Erin Weber, KO, </a:t>
            </a:r>
            <a:r>
              <a:rPr lang="en-US" dirty="0" smtClean="0">
                <a:solidFill>
                  <a:prstClr val="black"/>
                </a:solidFill>
                <a:latin typeface=" Arial"/>
                <a:hlinkClick r:id="rId2"/>
              </a:rPr>
              <a:t>erin.k.weber.civ@mail.mil</a:t>
            </a:r>
            <a:endParaRPr lang="en-US" dirty="0" smtClean="0">
              <a:solidFill>
                <a:prstClr val="black"/>
              </a:solidFill>
              <a:latin typeface=" Arial"/>
            </a:endParaRPr>
          </a:p>
          <a:p>
            <a:pPr>
              <a:defRPr/>
            </a:pPr>
            <a:endParaRPr lang="en-US" dirty="0" smtClean="0">
              <a:solidFill>
                <a:prstClr val="black"/>
              </a:solidFill>
              <a:latin typeface=" Arial"/>
            </a:endParaRPr>
          </a:p>
          <a:p>
            <a:pPr>
              <a:defRPr/>
            </a:pPr>
            <a:endParaRPr lang="en-US" dirty="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7786815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Army Evaluation Center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5</a:t>
            </a:fld>
            <a:endParaRPr lang="en-US" sz="1000" dirty="0">
              <a:solidFill>
                <a:prstClr val="white"/>
              </a:solidFill>
            </a:endParaRPr>
          </a:p>
        </p:txBody>
      </p:sp>
      <p:sp>
        <p:nvSpPr>
          <p:cNvPr id="8" name="TextBox 8"/>
          <p:cNvSpPr txBox="1">
            <a:spLocks noChangeArrowheads="1"/>
          </p:cNvSpPr>
          <p:nvPr/>
        </p:nvSpPr>
        <p:spPr bwMode="auto">
          <a:xfrm>
            <a:off x="0" y="1066800"/>
            <a:ext cx="9144000" cy="5509200"/>
          </a:xfrm>
          <a:prstGeom prst="rect">
            <a:avLst/>
          </a:prstGeom>
          <a:noFill/>
          <a:ln w="9525">
            <a:noFill/>
            <a:miter lim="800000"/>
            <a:headEnd/>
            <a:tailEnd/>
          </a:ln>
        </p:spPr>
        <p:txBody>
          <a:bodyPr wrap="square">
            <a:spAutoFit/>
          </a:bodyPr>
          <a:lstStyle/>
          <a:p>
            <a:pPr>
              <a:defRPr/>
            </a:pPr>
            <a:r>
              <a:rPr lang="en-US" sz="1600" u="sng" dirty="0" smtClean="0">
                <a:solidFill>
                  <a:prstClr val="black"/>
                </a:solidFill>
                <a:latin typeface=" Arial"/>
              </a:rPr>
              <a:t>Project Title</a:t>
            </a:r>
            <a:r>
              <a:rPr lang="en-US" sz="1600" dirty="0" smtClean="0">
                <a:solidFill>
                  <a:prstClr val="black"/>
                </a:solidFill>
                <a:latin typeface=" Arial"/>
              </a:rPr>
              <a:t>:  </a:t>
            </a:r>
            <a:r>
              <a:rPr lang="fr-FR" sz="1600" dirty="0" smtClean="0">
                <a:solidFill>
                  <a:prstClr val="black"/>
                </a:solidFill>
                <a:latin typeface=" Arial"/>
              </a:rPr>
              <a:t>Army Evaluation Center (</a:t>
            </a:r>
            <a:r>
              <a:rPr lang="en-US" sz="1600" dirty="0" smtClean="0">
                <a:latin typeface=" Arial"/>
              </a:rPr>
              <a:t>AEC) Test and Evaluation Support Services (ATESS)</a:t>
            </a:r>
          </a:p>
          <a:p>
            <a:pPr>
              <a:defRPr/>
            </a:pPr>
            <a:endParaRPr lang="en-US" sz="1600" u="sng" dirty="0" smtClean="0">
              <a:solidFill>
                <a:prstClr val="black"/>
              </a:solidFill>
              <a:latin typeface=" Arial"/>
            </a:endParaRPr>
          </a:p>
          <a:p>
            <a:r>
              <a:rPr lang="en-US" sz="1600" u="sng" dirty="0" smtClean="0">
                <a:solidFill>
                  <a:prstClr val="black"/>
                </a:solidFill>
                <a:latin typeface=" Arial"/>
              </a:rPr>
              <a:t>Project Summary</a:t>
            </a:r>
            <a:r>
              <a:rPr lang="en-US" sz="1600" dirty="0" smtClean="0">
                <a:solidFill>
                  <a:prstClr val="black"/>
                </a:solidFill>
                <a:latin typeface=" Arial"/>
              </a:rPr>
              <a:t>: </a:t>
            </a:r>
            <a:r>
              <a:rPr lang="en-US" sz="1600" dirty="0" smtClean="0">
                <a:latin typeface=" Arial"/>
              </a:rPr>
              <a:t> </a:t>
            </a:r>
            <a:r>
              <a:rPr lang="en-US" sz="1600" dirty="0">
                <a:latin typeface=" Arial"/>
              </a:rPr>
              <a:t>Test and Evaluation (T&amp;E) Support Services </a:t>
            </a:r>
            <a:endParaRPr lang="en-US" sz="1600" dirty="0" smtClean="0">
              <a:solidFill>
                <a:prstClr val="black"/>
              </a:solidFill>
              <a:latin typeface=" Arial"/>
            </a:endParaRPr>
          </a:p>
          <a:p>
            <a:endParaRPr lang="en-US" sz="1600" dirty="0">
              <a:solidFill>
                <a:prstClr val="black"/>
              </a:solidFill>
              <a:latin typeface=" Arial"/>
            </a:endParaRPr>
          </a:p>
          <a:p>
            <a:pPr>
              <a:defRPr/>
            </a:pPr>
            <a:r>
              <a:rPr lang="en-US" sz="1600" u="sng" dirty="0" smtClean="0">
                <a:solidFill>
                  <a:prstClr val="black"/>
                </a:solidFill>
                <a:latin typeface=" Arial"/>
              </a:rPr>
              <a:t>Prior/Current Contract Information</a:t>
            </a:r>
            <a:r>
              <a:rPr lang="en-US" sz="1600" dirty="0" smtClean="0">
                <a:solidFill>
                  <a:prstClr val="black"/>
                </a:solidFill>
                <a:latin typeface=" Arial"/>
              </a:rPr>
              <a:t>:</a:t>
            </a:r>
          </a:p>
          <a:p>
            <a:pPr>
              <a:defRPr/>
            </a:pPr>
            <a:r>
              <a:rPr lang="en-US" sz="1600" dirty="0" smtClean="0">
                <a:solidFill>
                  <a:prstClr val="black"/>
                </a:solidFill>
                <a:latin typeface=" Arial"/>
              </a:rPr>
              <a:t>Contract Number:  Contracts W91CRB-14-D-0023 thru W91CRB-14-D-0033</a:t>
            </a:r>
          </a:p>
          <a:p>
            <a:pPr>
              <a:defRPr/>
            </a:pPr>
            <a:endParaRPr lang="en-US" sz="1600" dirty="0" smtClean="0">
              <a:solidFill>
                <a:prstClr val="black"/>
              </a:solidFill>
              <a:latin typeface=" Arial"/>
            </a:endParaRPr>
          </a:p>
          <a:p>
            <a:pPr>
              <a:defRPr/>
            </a:pPr>
            <a:r>
              <a:rPr lang="en-US" sz="1600" dirty="0" smtClean="0">
                <a:solidFill>
                  <a:prstClr val="black"/>
                </a:solidFill>
                <a:latin typeface=" Arial"/>
              </a:rPr>
              <a:t>Incumbent Contractors: American </a:t>
            </a:r>
            <a:r>
              <a:rPr lang="en-US" sz="1600" dirty="0" smtClean="0">
                <a:solidFill>
                  <a:prstClr val="black"/>
                </a:solidFill>
                <a:latin typeface=" Arial"/>
              </a:rPr>
              <a:t>Systems; </a:t>
            </a:r>
            <a:r>
              <a:rPr lang="en-US" sz="1600" dirty="0" err="1" smtClean="0">
                <a:solidFill>
                  <a:prstClr val="black"/>
                </a:solidFill>
                <a:latin typeface=" Arial"/>
              </a:rPr>
              <a:t>Beshenich</a:t>
            </a:r>
            <a:r>
              <a:rPr lang="en-US" sz="1600" dirty="0" smtClean="0">
                <a:solidFill>
                  <a:prstClr val="black"/>
                </a:solidFill>
                <a:latin typeface=" Arial"/>
              </a:rPr>
              <a:t> Muir Associates </a:t>
            </a:r>
            <a:r>
              <a:rPr lang="en-US" sz="1600" dirty="0" smtClean="0">
                <a:solidFill>
                  <a:prstClr val="black"/>
                </a:solidFill>
                <a:latin typeface=" Arial"/>
              </a:rPr>
              <a:t>LLC; </a:t>
            </a:r>
            <a:r>
              <a:rPr lang="en-US" sz="1600" dirty="0" err="1" smtClean="0">
                <a:solidFill>
                  <a:prstClr val="black"/>
                </a:solidFill>
                <a:latin typeface=" Arial"/>
              </a:rPr>
              <a:t>Digifight</a:t>
            </a:r>
            <a:r>
              <a:rPr lang="en-US" sz="1600" dirty="0" smtClean="0">
                <a:solidFill>
                  <a:prstClr val="black"/>
                </a:solidFill>
                <a:latin typeface=" Arial"/>
              </a:rPr>
              <a:t> </a:t>
            </a:r>
            <a:r>
              <a:rPr lang="en-US" sz="1600" dirty="0" smtClean="0">
                <a:solidFill>
                  <a:prstClr val="black"/>
                </a:solidFill>
                <a:latin typeface=" Arial"/>
              </a:rPr>
              <a:t>LLC; </a:t>
            </a:r>
            <a:r>
              <a:rPr lang="en-US" sz="1600" dirty="0" smtClean="0">
                <a:solidFill>
                  <a:prstClr val="black"/>
                </a:solidFill>
                <a:latin typeface=" Arial"/>
              </a:rPr>
              <a:t>Dynamics Research </a:t>
            </a:r>
            <a:r>
              <a:rPr lang="en-US" sz="1600" dirty="0" smtClean="0">
                <a:solidFill>
                  <a:prstClr val="black"/>
                </a:solidFill>
                <a:latin typeface=" Arial"/>
              </a:rPr>
              <a:t>Corp.; </a:t>
            </a:r>
            <a:r>
              <a:rPr lang="en-US" sz="1600" dirty="0" smtClean="0">
                <a:solidFill>
                  <a:prstClr val="black"/>
                </a:solidFill>
                <a:latin typeface=" Arial"/>
              </a:rPr>
              <a:t>Geeks and Nerds </a:t>
            </a:r>
            <a:r>
              <a:rPr lang="en-US" sz="1600" dirty="0" smtClean="0">
                <a:solidFill>
                  <a:prstClr val="black"/>
                </a:solidFill>
                <a:latin typeface=" Arial"/>
              </a:rPr>
              <a:t>Corp.; </a:t>
            </a:r>
            <a:r>
              <a:rPr lang="en-US" sz="1600" dirty="0" smtClean="0">
                <a:solidFill>
                  <a:prstClr val="black"/>
                </a:solidFill>
                <a:latin typeface=" Arial"/>
              </a:rPr>
              <a:t>Joint Research and Development Inc</a:t>
            </a:r>
            <a:r>
              <a:rPr lang="en-US" sz="1600" dirty="0" smtClean="0">
                <a:solidFill>
                  <a:prstClr val="black"/>
                </a:solidFill>
                <a:latin typeface=" Arial"/>
              </a:rPr>
              <a:t>.; </a:t>
            </a:r>
            <a:r>
              <a:rPr lang="en-US" sz="1600" dirty="0" smtClean="0">
                <a:solidFill>
                  <a:prstClr val="black"/>
                </a:solidFill>
                <a:latin typeface=" Arial"/>
              </a:rPr>
              <a:t>Logistics Systems Inc</a:t>
            </a:r>
            <a:r>
              <a:rPr lang="en-US" sz="1600" dirty="0" smtClean="0">
                <a:solidFill>
                  <a:prstClr val="black"/>
                </a:solidFill>
                <a:latin typeface=" Arial"/>
              </a:rPr>
              <a:t>.; </a:t>
            </a:r>
            <a:r>
              <a:rPr lang="en-US" sz="1600" dirty="0" smtClean="0">
                <a:solidFill>
                  <a:prstClr val="black"/>
                </a:solidFill>
                <a:latin typeface=" Arial"/>
              </a:rPr>
              <a:t>Man-Machine Systems Assessment Inc</a:t>
            </a:r>
            <a:r>
              <a:rPr lang="en-US" sz="1600" dirty="0" smtClean="0">
                <a:solidFill>
                  <a:prstClr val="black"/>
                </a:solidFill>
                <a:latin typeface=" Arial"/>
              </a:rPr>
              <a:t>.; </a:t>
            </a:r>
            <a:r>
              <a:rPr lang="en-US" sz="1600" dirty="0" err="1" smtClean="0">
                <a:solidFill>
                  <a:prstClr val="black"/>
                </a:solidFill>
                <a:latin typeface=" Arial"/>
              </a:rPr>
              <a:t>Survice</a:t>
            </a:r>
            <a:r>
              <a:rPr lang="en-US" sz="1600" dirty="0" smtClean="0">
                <a:solidFill>
                  <a:prstClr val="black"/>
                </a:solidFill>
                <a:latin typeface=" Arial"/>
              </a:rPr>
              <a:t> Engineering Company </a:t>
            </a:r>
            <a:r>
              <a:rPr lang="en-US" sz="1600" dirty="0" smtClean="0">
                <a:solidFill>
                  <a:prstClr val="black"/>
                </a:solidFill>
                <a:latin typeface=" Arial"/>
              </a:rPr>
              <a:t>LLC; </a:t>
            </a:r>
            <a:r>
              <a:rPr lang="en-US" sz="1600" dirty="0" smtClean="0">
                <a:solidFill>
                  <a:prstClr val="black"/>
                </a:solidFill>
                <a:latin typeface=" Arial"/>
              </a:rPr>
              <a:t>TASC Inc</a:t>
            </a:r>
            <a:r>
              <a:rPr lang="en-US" sz="1600" dirty="0" smtClean="0">
                <a:solidFill>
                  <a:prstClr val="black"/>
                </a:solidFill>
                <a:latin typeface=" Arial"/>
              </a:rPr>
              <a:t>.; </a:t>
            </a:r>
            <a:r>
              <a:rPr lang="en-US" sz="1600" dirty="0" smtClean="0">
                <a:solidFill>
                  <a:prstClr val="black"/>
                </a:solidFill>
                <a:latin typeface=" Arial"/>
              </a:rPr>
              <a:t>VRC Corp</a:t>
            </a:r>
          </a:p>
          <a:p>
            <a:pPr>
              <a:defRPr/>
            </a:pPr>
            <a:endParaRPr lang="en-US" sz="1600" dirty="0">
              <a:solidFill>
                <a:prstClr val="black"/>
              </a:solidFill>
              <a:latin typeface=" Arial"/>
            </a:endParaRPr>
          </a:p>
          <a:p>
            <a:pPr>
              <a:defRPr/>
            </a:pPr>
            <a:r>
              <a:rPr lang="en-US" sz="1600" dirty="0" smtClean="0">
                <a:solidFill>
                  <a:prstClr val="black"/>
                </a:solidFill>
                <a:latin typeface=" Arial"/>
              </a:rPr>
              <a:t>Note: This opportunity is intended to be restricted to Small Businesses</a:t>
            </a:r>
          </a:p>
          <a:p>
            <a:pPr>
              <a:defRPr/>
            </a:pPr>
            <a:endParaRPr lang="en-US" sz="1600" dirty="0" smtClean="0">
              <a:solidFill>
                <a:prstClr val="black"/>
              </a:solidFill>
              <a:latin typeface=" Arial"/>
            </a:endParaRPr>
          </a:p>
          <a:p>
            <a:pPr>
              <a:defRPr/>
            </a:pPr>
            <a:r>
              <a:rPr lang="en-US" sz="1600" u="sng" dirty="0" smtClean="0">
                <a:solidFill>
                  <a:prstClr val="black"/>
                </a:solidFill>
                <a:latin typeface=" Arial"/>
              </a:rPr>
              <a:t>Contract Type</a:t>
            </a:r>
            <a:r>
              <a:rPr lang="en-US" sz="1600" dirty="0" smtClean="0">
                <a:solidFill>
                  <a:prstClr val="black"/>
                </a:solidFill>
                <a:latin typeface=" Arial"/>
              </a:rPr>
              <a:t>:  CPFF</a:t>
            </a:r>
          </a:p>
          <a:p>
            <a:pPr>
              <a:defRPr/>
            </a:pPr>
            <a:r>
              <a:rPr lang="en-US" sz="1600" u="sng" dirty="0" smtClean="0">
                <a:solidFill>
                  <a:prstClr val="black"/>
                </a:solidFill>
                <a:latin typeface=" Arial"/>
              </a:rPr>
              <a:t>ROM</a:t>
            </a:r>
            <a:r>
              <a:rPr lang="en-US" sz="1600" dirty="0" smtClean="0">
                <a:solidFill>
                  <a:prstClr val="black"/>
                </a:solidFill>
                <a:latin typeface=" Arial"/>
              </a:rPr>
              <a:t>:  $250M</a:t>
            </a:r>
          </a:p>
          <a:p>
            <a:pPr>
              <a:defRPr/>
            </a:pPr>
            <a:r>
              <a:rPr lang="en-US" sz="1600" u="sng" dirty="0" smtClean="0">
                <a:solidFill>
                  <a:prstClr val="black"/>
                </a:solidFill>
                <a:latin typeface=" Arial"/>
              </a:rPr>
              <a:t>Period of Performance</a:t>
            </a:r>
            <a:r>
              <a:rPr lang="en-US" sz="1600" dirty="0" smtClean="0">
                <a:solidFill>
                  <a:prstClr val="black"/>
                </a:solidFill>
                <a:latin typeface=" Arial"/>
              </a:rPr>
              <a:t>:  5 year ordering period</a:t>
            </a:r>
          </a:p>
          <a:p>
            <a:pPr>
              <a:defRPr/>
            </a:pPr>
            <a:r>
              <a:rPr lang="en-US" sz="1600" u="sng" dirty="0" smtClean="0">
                <a:solidFill>
                  <a:prstClr val="black"/>
                </a:solidFill>
                <a:latin typeface=" Arial"/>
              </a:rPr>
              <a:t>Estimated Solicitation Release Date</a:t>
            </a:r>
            <a:r>
              <a:rPr lang="en-US" sz="1600" dirty="0" smtClean="0">
                <a:solidFill>
                  <a:prstClr val="black"/>
                </a:solidFill>
                <a:latin typeface=" Arial"/>
              </a:rPr>
              <a:t>:  3</a:t>
            </a:r>
            <a:r>
              <a:rPr lang="en-US" sz="1600" dirty="0" smtClean="0">
                <a:latin typeface=" Arial"/>
              </a:rPr>
              <a:t>QFY19</a:t>
            </a:r>
          </a:p>
          <a:p>
            <a:pPr>
              <a:defRPr/>
            </a:pPr>
            <a:r>
              <a:rPr lang="en-US" sz="1600" u="sng" dirty="0" smtClean="0">
                <a:solidFill>
                  <a:prstClr val="black"/>
                </a:solidFill>
                <a:latin typeface=" Arial"/>
              </a:rPr>
              <a:t>Contracting Contact</a:t>
            </a:r>
            <a:r>
              <a:rPr lang="en-US" sz="1600" dirty="0" smtClean="0">
                <a:solidFill>
                  <a:prstClr val="black"/>
                </a:solidFill>
                <a:latin typeface=" Arial"/>
              </a:rPr>
              <a:t>:  ACC-APG, Robin Delossantos, Contract Specialist</a:t>
            </a:r>
            <a:r>
              <a:rPr lang="en-US" sz="1600" dirty="0">
                <a:solidFill>
                  <a:prstClr val="black"/>
                </a:solidFill>
                <a:latin typeface=" Arial"/>
              </a:rPr>
              <a:t>, </a:t>
            </a:r>
            <a:r>
              <a:rPr lang="en-US" sz="1600" dirty="0" smtClean="0">
                <a:solidFill>
                  <a:prstClr val="black"/>
                </a:solidFill>
                <a:latin typeface=" Arial"/>
                <a:hlinkClick r:id="rId2"/>
              </a:rPr>
              <a:t>robin.m.delossantos.civ@mail.mil</a:t>
            </a:r>
            <a:endParaRPr lang="en-US" sz="1600" dirty="0" smtClean="0">
              <a:solidFill>
                <a:prstClr val="black"/>
              </a:solidFill>
              <a:latin typeface=" Arial"/>
            </a:endParaRPr>
          </a:p>
          <a:p>
            <a:pPr>
              <a:defRPr/>
            </a:pPr>
            <a:endParaRPr lang="en-US" sz="1600" b="1"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25538397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600" b="1" dirty="0">
                <a:solidFill>
                  <a:prstClr val="white"/>
                </a:solidFill>
              </a:rPr>
              <a:t>Assistant Secretary of the </a:t>
            </a:r>
            <a:r>
              <a:rPr lang="en-US" sz="1600" b="1" dirty="0" smtClean="0">
                <a:solidFill>
                  <a:prstClr val="white"/>
                </a:solidFill>
              </a:rPr>
              <a:t>Army Financial Management and Comptroller</a:t>
            </a:r>
          </a:p>
          <a:p>
            <a:pPr algn="ct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6</a:t>
            </a:fld>
            <a:endParaRPr lang="en-US" sz="1000" dirty="0">
              <a:solidFill>
                <a:prstClr val="white"/>
              </a:solidFill>
            </a:endParaRPr>
          </a:p>
        </p:txBody>
      </p:sp>
      <p:sp>
        <p:nvSpPr>
          <p:cNvPr id="8" name="TextBox 8"/>
          <p:cNvSpPr txBox="1">
            <a:spLocks noChangeArrowheads="1"/>
          </p:cNvSpPr>
          <p:nvPr/>
        </p:nvSpPr>
        <p:spPr bwMode="auto">
          <a:xfrm>
            <a:off x="0" y="920889"/>
            <a:ext cx="9144000" cy="5093702"/>
          </a:xfrm>
          <a:prstGeom prst="rect">
            <a:avLst/>
          </a:prstGeom>
          <a:noFill/>
          <a:ln w="9525">
            <a:noFill/>
            <a:miter lim="800000"/>
            <a:headEnd/>
            <a:tailEnd/>
          </a:ln>
        </p:spPr>
        <p:txBody>
          <a:bodyPr wrap="square">
            <a:spAutoFit/>
          </a:bodyPr>
          <a:lstStyle/>
          <a:p>
            <a:pPr>
              <a:defRPr/>
            </a:pPr>
            <a:r>
              <a:rPr lang="en-US" sz="1500" u="sng" dirty="0" smtClean="0">
                <a:solidFill>
                  <a:prstClr val="black"/>
                </a:solidFill>
                <a:latin typeface=" Arial"/>
              </a:rPr>
              <a:t>Project Title</a:t>
            </a:r>
            <a:r>
              <a:rPr lang="en-US" sz="1500" dirty="0" smtClean="0">
                <a:solidFill>
                  <a:prstClr val="black"/>
                </a:solidFill>
                <a:latin typeface=" Arial"/>
              </a:rPr>
              <a:t>:  Army Financial Improvement/Audit Readiness Support Services</a:t>
            </a:r>
          </a:p>
          <a:p>
            <a:r>
              <a:rPr lang="en-US" sz="1500" u="sng" dirty="0" smtClean="0">
                <a:solidFill>
                  <a:prstClr val="black"/>
                </a:solidFill>
                <a:latin typeface=" Arial"/>
              </a:rPr>
              <a:t>Project Summary</a:t>
            </a:r>
            <a:r>
              <a:rPr lang="en-US" sz="1500" dirty="0" smtClean="0">
                <a:solidFill>
                  <a:prstClr val="black"/>
                </a:solidFill>
                <a:latin typeface=" Arial"/>
              </a:rPr>
              <a:t>: </a:t>
            </a:r>
            <a:r>
              <a:rPr lang="en-US" sz="1500" dirty="0" smtClean="0">
                <a:latin typeface=" Arial"/>
              </a:rPr>
              <a:t> Contractor </a:t>
            </a:r>
            <a:r>
              <a:rPr lang="en-US" sz="1500" dirty="0">
                <a:latin typeface=" Arial"/>
              </a:rPr>
              <a:t>support is required in the following areas: 1) Accountability and Risk Management Support; 2) </a:t>
            </a:r>
            <a:r>
              <a:rPr lang="en-US" sz="1500" dirty="0" smtClean="0">
                <a:latin typeface=" Arial"/>
              </a:rPr>
              <a:t>Program Management </a:t>
            </a:r>
            <a:r>
              <a:rPr lang="en-US" sz="1500" dirty="0">
                <a:latin typeface=" Arial"/>
              </a:rPr>
              <a:t>Support; 3) </a:t>
            </a:r>
            <a:r>
              <a:rPr lang="en-US" sz="1500" dirty="0" smtClean="0">
                <a:latin typeface=" Arial"/>
              </a:rPr>
              <a:t>Financial Management </a:t>
            </a:r>
            <a:r>
              <a:rPr lang="en-US" sz="1500" dirty="0">
                <a:latin typeface=" Arial"/>
              </a:rPr>
              <a:t>and Accounting Operations; 4) Systems Support, and 5) Financial Statement Preparation and Publication. It is expected that the preceding areas of support will be necessary throughout the </a:t>
            </a:r>
            <a:r>
              <a:rPr lang="en-US" sz="1500" dirty="0" smtClean="0">
                <a:latin typeface=" Arial"/>
              </a:rPr>
              <a:t>Army, </a:t>
            </a:r>
            <a:r>
              <a:rPr lang="en-US" sz="1500" dirty="0">
                <a:latin typeface=" Arial"/>
              </a:rPr>
              <a:t>other DOD Services, and Shared Service Providers (SSP) such as Defense Logistics Agency (DLA), Defense Finance and Accounting Service (DFAS) office </a:t>
            </a:r>
            <a:r>
              <a:rPr lang="en-US" sz="1500" dirty="0" smtClean="0">
                <a:latin typeface=" Arial"/>
              </a:rPr>
              <a:t>locations. </a:t>
            </a:r>
            <a:endParaRPr lang="en-US" sz="1500" dirty="0">
              <a:solidFill>
                <a:prstClr val="black"/>
              </a:solidFill>
              <a:latin typeface=" Arial"/>
            </a:endParaRPr>
          </a:p>
          <a:p>
            <a:pPr>
              <a:defRPr/>
            </a:pPr>
            <a:endParaRPr lang="en-US" sz="1500" u="sng" dirty="0" smtClean="0">
              <a:solidFill>
                <a:prstClr val="black"/>
              </a:solidFill>
              <a:latin typeface=" Arial"/>
            </a:endParaRPr>
          </a:p>
          <a:p>
            <a:pPr>
              <a:defRPr/>
            </a:pPr>
            <a:r>
              <a:rPr lang="en-US" sz="1500" u="sng" dirty="0" smtClean="0">
                <a:solidFill>
                  <a:prstClr val="black"/>
                </a:solidFill>
                <a:latin typeface=" Arial"/>
              </a:rPr>
              <a:t>Prior/Current Contract Information</a:t>
            </a:r>
            <a:r>
              <a:rPr lang="en-US" sz="1500" dirty="0" smtClean="0">
                <a:solidFill>
                  <a:prstClr val="black"/>
                </a:solidFill>
                <a:latin typeface=" Arial"/>
              </a:rPr>
              <a:t>:</a:t>
            </a:r>
          </a:p>
          <a:p>
            <a:pPr>
              <a:defRPr/>
            </a:pPr>
            <a:r>
              <a:rPr lang="en-US" sz="1500" dirty="0">
                <a:solidFill>
                  <a:prstClr val="black"/>
                </a:solidFill>
                <a:latin typeface=" Arial"/>
              </a:rPr>
              <a:t>	</a:t>
            </a:r>
            <a:r>
              <a:rPr lang="en-US" sz="1500" dirty="0" smtClean="0">
                <a:solidFill>
                  <a:prstClr val="black"/>
                </a:solidFill>
                <a:latin typeface=" Arial"/>
              </a:rPr>
              <a:t>Contract Number:  N/A</a:t>
            </a:r>
          </a:p>
          <a:p>
            <a:pPr>
              <a:defRPr/>
            </a:pPr>
            <a:r>
              <a:rPr lang="en-US" sz="1500" dirty="0">
                <a:solidFill>
                  <a:prstClr val="black"/>
                </a:solidFill>
                <a:latin typeface=" Arial"/>
              </a:rPr>
              <a:t>	</a:t>
            </a:r>
            <a:r>
              <a:rPr lang="en-US" sz="1500" dirty="0" smtClean="0">
                <a:solidFill>
                  <a:prstClr val="black"/>
                </a:solidFill>
                <a:latin typeface=" Arial"/>
              </a:rPr>
              <a:t>Incumbent Contractor:  N/A</a:t>
            </a:r>
          </a:p>
          <a:p>
            <a:pPr>
              <a:defRPr/>
            </a:pPr>
            <a:r>
              <a:rPr lang="en-US" sz="1500" dirty="0" smtClean="0">
                <a:solidFill>
                  <a:prstClr val="black"/>
                </a:solidFill>
                <a:latin typeface=" Arial"/>
              </a:rPr>
              <a:t>	Solicitation </a:t>
            </a:r>
            <a:r>
              <a:rPr lang="en-US" sz="1500" dirty="0">
                <a:solidFill>
                  <a:prstClr val="black"/>
                </a:solidFill>
                <a:latin typeface=" Arial"/>
              </a:rPr>
              <a:t>Number:  </a:t>
            </a:r>
            <a:r>
              <a:rPr lang="en-US" sz="1500" dirty="0" smtClean="0">
                <a:solidFill>
                  <a:prstClr val="black"/>
                </a:solidFill>
                <a:latin typeface=" Arial"/>
              </a:rPr>
              <a:t>TBD</a:t>
            </a:r>
          </a:p>
          <a:p>
            <a:pPr>
              <a:defRPr/>
            </a:pPr>
            <a:endParaRPr lang="en-US" sz="1500" dirty="0">
              <a:solidFill>
                <a:prstClr val="black"/>
              </a:solidFill>
              <a:latin typeface=" Arial"/>
            </a:endParaRPr>
          </a:p>
          <a:p>
            <a:pPr>
              <a:defRPr/>
            </a:pPr>
            <a:r>
              <a:rPr lang="en-US" sz="1500" dirty="0" smtClean="0">
                <a:solidFill>
                  <a:prstClr val="black"/>
                </a:solidFill>
                <a:latin typeface=" Arial"/>
              </a:rPr>
              <a:t>Note: This opportunity will be posted unrestricted on GSA.  </a:t>
            </a:r>
          </a:p>
          <a:p>
            <a:pPr>
              <a:defRPr/>
            </a:pPr>
            <a:endParaRPr lang="en-US" sz="1500" dirty="0" smtClean="0">
              <a:solidFill>
                <a:prstClr val="black"/>
              </a:solidFill>
              <a:latin typeface=" Arial"/>
            </a:endParaRPr>
          </a:p>
          <a:p>
            <a:pPr>
              <a:defRPr/>
            </a:pPr>
            <a:r>
              <a:rPr lang="en-US" sz="1500" u="sng" dirty="0" smtClean="0">
                <a:solidFill>
                  <a:prstClr val="black"/>
                </a:solidFill>
                <a:latin typeface=" Arial"/>
              </a:rPr>
              <a:t>Contract Type</a:t>
            </a:r>
            <a:r>
              <a:rPr lang="en-US" sz="1500" dirty="0" smtClean="0">
                <a:solidFill>
                  <a:prstClr val="black"/>
                </a:solidFill>
                <a:latin typeface=" Arial"/>
              </a:rPr>
              <a:t>:  T&amp;M</a:t>
            </a:r>
          </a:p>
          <a:p>
            <a:pPr>
              <a:defRPr/>
            </a:pPr>
            <a:r>
              <a:rPr lang="en-US" sz="1500" u="sng" dirty="0" smtClean="0">
                <a:solidFill>
                  <a:prstClr val="black"/>
                </a:solidFill>
                <a:latin typeface=" Arial"/>
              </a:rPr>
              <a:t>ROM</a:t>
            </a:r>
            <a:r>
              <a:rPr lang="en-US" sz="1500" dirty="0" smtClean="0">
                <a:solidFill>
                  <a:prstClr val="black"/>
                </a:solidFill>
                <a:latin typeface=" Arial"/>
              </a:rPr>
              <a:t>:  $650M</a:t>
            </a:r>
          </a:p>
          <a:p>
            <a:pPr>
              <a:defRPr/>
            </a:pPr>
            <a:r>
              <a:rPr lang="en-US" sz="1500" u="sng" dirty="0" smtClean="0">
                <a:solidFill>
                  <a:prstClr val="black"/>
                </a:solidFill>
                <a:latin typeface=" Arial"/>
              </a:rPr>
              <a:t>Period of Performance</a:t>
            </a:r>
            <a:r>
              <a:rPr lang="en-US" sz="1500" dirty="0" smtClean="0">
                <a:solidFill>
                  <a:prstClr val="black"/>
                </a:solidFill>
                <a:latin typeface=" Arial"/>
              </a:rPr>
              <a:t>:  5 year ordering period with a 5 year option period. </a:t>
            </a:r>
          </a:p>
          <a:p>
            <a:pPr>
              <a:defRPr/>
            </a:pPr>
            <a:r>
              <a:rPr lang="en-US" sz="1500" u="sng" dirty="0" smtClean="0">
                <a:solidFill>
                  <a:prstClr val="black"/>
                </a:solidFill>
                <a:latin typeface=" Arial"/>
              </a:rPr>
              <a:t>Estimated Solicitation Release Date</a:t>
            </a:r>
            <a:r>
              <a:rPr lang="en-US" sz="1500" dirty="0" smtClean="0">
                <a:solidFill>
                  <a:prstClr val="black"/>
                </a:solidFill>
                <a:latin typeface=" Arial"/>
              </a:rPr>
              <a:t>:  4QFY19</a:t>
            </a:r>
          </a:p>
          <a:p>
            <a:pPr>
              <a:defRPr/>
            </a:pPr>
            <a:r>
              <a:rPr lang="en-US" sz="1500" u="sng" dirty="0" smtClean="0">
                <a:solidFill>
                  <a:prstClr val="black"/>
                </a:solidFill>
                <a:latin typeface=" Arial"/>
              </a:rPr>
              <a:t>Contracting Contact</a:t>
            </a:r>
            <a:r>
              <a:rPr lang="en-US" sz="1500" dirty="0" smtClean="0">
                <a:solidFill>
                  <a:prstClr val="black"/>
                </a:solidFill>
                <a:latin typeface=" Arial"/>
              </a:rPr>
              <a:t>:  ACC-APG, Sabrinna Cosom, KO, </a:t>
            </a:r>
            <a:r>
              <a:rPr lang="en-US" sz="1500" dirty="0" smtClean="0">
                <a:solidFill>
                  <a:prstClr val="black"/>
                </a:solidFill>
                <a:latin typeface=" Arial"/>
                <a:hlinkClick r:id="rId2"/>
              </a:rPr>
              <a:t>Sabrinna.r.cosom.civ@mail.mil</a:t>
            </a:r>
            <a:r>
              <a:rPr lang="en-US" sz="1600" dirty="0" smtClean="0">
                <a:solidFill>
                  <a:prstClr val="black"/>
                </a:solidFill>
                <a:latin typeface=" Arial"/>
              </a:rPr>
              <a:t> </a:t>
            </a:r>
          </a:p>
          <a:p>
            <a:pPr>
              <a:defRPr/>
            </a:pPr>
            <a:endParaRPr lang="en-US" sz="1200" b="1" dirty="0" smtClean="0">
              <a:solidFill>
                <a:prstClr val="black"/>
              </a:solidFill>
              <a:latin typeface=" Arial"/>
            </a:endParaRPr>
          </a:p>
          <a:p>
            <a:pPr>
              <a:defRPr/>
            </a:pPr>
            <a:r>
              <a:rPr lang="en-US" sz="1200" b="1" dirty="0" smtClean="0">
                <a:solidFill>
                  <a:prstClr val="black"/>
                </a:solidFill>
                <a:latin typeface=" Arial"/>
              </a:rPr>
              <a:t>*Subject to Cancellation</a:t>
            </a:r>
            <a:endParaRPr lang="en-US" sz="1200" b="1" dirty="0">
              <a:solidFill>
                <a:prstClr val="black"/>
              </a:solidFill>
              <a:latin typeface=" Arial"/>
            </a:endParaRPr>
          </a:p>
        </p:txBody>
      </p:sp>
    </p:spTree>
    <p:extLst>
      <p:ext uri="{BB962C8B-B14F-4D97-AF65-F5344CB8AC3E}">
        <p14:creationId xmlns:p14="http://schemas.microsoft.com/office/powerpoint/2010/main" val="6077107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600" b="1" dirty="0">
                <a:solidFill>
                  <a:prstClr val="white"/>
                </a:solidFill>
              </a:rPr>
              <a:t>Assistant Secretary of the </a:t>
            </a:r>
            <a:r>
              <a:rPr lang="en-US" sz="1600" b="1" dirty="0" smtClean="0">
                <a:solidFill>
                  <a:prstClr val="white"/>
                </a:solidFill>
              </a:rPr>
              <a:t>Army Financial Management and Comptroller</a:t>
            </a:r>
          </a:p>
          <a:p>
            <a:pPr algn="ct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7</a:t>
            </a:fld>
            <a:endParaRPr lang="en-US" sz="1000" dirty="0">
              <a:solidFill>
                <a:prstClr val="white"/>
              </a:solidFill>
            </a:endParaRPr>
          </a:p>
        </p:txBody>
      </p:sp>
      <p:sp>
        <p:nvSpPr>
          <p:cNvPr id="8" name="TextBox 8"/>
          <p:cNvSpPr txBox="1">
            <a:spLocks noChangeArrowheads="1"/>
          </p:cNvSpPr>
          <p:nvPr/>
        </p:nvSpPr>
        <p:spPr bwMode="auto">
          <a:xfrm>
            <a:off x="0" y="920889"/>
            <a:ext cx="9144000" cy="5078313"/>
          </a:xfrm>
          <a:prstGeom prst="rect">
            <a:avLst/>
          </a:prstGeom>
          <a:noFill/>
          <a:ln w="9525">
            <a:noFill/>
            <a:miter lim="800000"/>
            <a:headEnd/>
            <a:tailEnd/>
          </a:ln>
        </p:spPr>
        <p:txBody>
          <a:bodyPr wrap="square">
            <a:spAutoFit/>
          </a:bodyPr>
          <a:lstStyle/>
          <a:p>
            <a:pPr>
              <a:defRPr/>
            </a:pPr>
            <a:r>
              <a:rPr lang="en-US" sz="1600" u="sng" dirty="0" smtClean="0">
                <a:solidFill>
                  <a:prstClr val="black"/>
                </a:solidFill>
                <a:latin typeface=" Arial"/>
              </a:rPr>
              <a:t>Project Title</a:t>
            </a:r>
            <a:r>
              <a:rPr lang="en-US" sz="1600" dirty="0" smtClean="0">
                <a:solidFill>
                  <a:prstClr val="black"/>
                </a:solidFill>
                <a:latin typeface=" Arial"/>
              </a:rPr>
              <a:t>:  Army Financial Statements</a:t>
            </a:r>
          </a:p>
          <a:p>
            <a:r>
              <a:rPr lang="en-US" sz="1600" u="sng" dirty="0" smtClean="0">
                <a:solidFill>
                  <a:prstClr val="black"/>
                </a:solidFill>
                <a:latin typeface=" Arial"/>
              </a:rPr>
              <a:t>Project Summary</a:t>
            </a:r>
            <a:r>
              <a:rPr lang="en-US" sz="1600" dirty="0" smtClean="0">
                <a:solidFill>
                  <a:prstClr val="black"/>
                </a:solidFill>
                <a:latin typeface=" Arial"/>
              </a:rPr>
              <a:t>:  </a:t>
            </a:r>
            <a:r>
              <a:rPr lang="en-US" sz="1600" dirty="0" smtClean="0">
                <a:latin typeface=" Arial"/>
              </a:rPr>
              <a:t> </a:t>
            </a:r>
            <a:r>
              <a:rPr lang="en-US" sz="1600" dirty="0">
                <a:latin typeface=" Arial"/>
              </a:rPr>
              <a:t>The contractor shall assist the Army with compiling and publishing the Army Financial Statements</a:t>
            </a:r>
            <a:r>
              <a:rPr lang="en-US" sz="1600" dirty="0" smtClean="0">
                <a:latin typeface=" Arial"/>
              </a:rPr>
              <a:t>. Services </a:t>
            </a:r>
            <a:r>
              <a:rPr lang="en-US" sz="1600" dirty="0">
                <a:latin typeface=" Arial"/>
              </a:rPr>
              <a:t>include providing expert advice with regard to OMB and OSD Financial Statement requirements and </a:t>
            </a:r>
            <a:r>
              <a:rPr lang="en-US" sz="1600" dirty="0" smtClean="0">
                <a:latin typeface=" Arial"/>
              </a:rPr>
              <a:t>with appropriate </a:t>
            </a:r>
            <a:r>
              <a:rPr lang="en-US" sz="1600" dirty="0">
                <a:latin typeface=" Arial"/>
              </a:rPr>
              <a:t>Standard General Ledger Account codes for transactions and </a:t>
            </a:r>
            <a:r>
              <a:rPr lang="en-US" sz="1600" dirty="0" smtClean="0">
                <a:latin typeface=" Arial"/>
              </a:rPr>
              <a:t>Analysis. </a:t>
            </a:r>
          </a:p>
          <a:p>
            <a:endParaRPr lang="en-US" sz="1600" u="sng" dirty="0">
              <a:solidFill>
                <a:prstClr val="black"/>
              </a:solidFill>
              <a:latin typeface=" Arial"/>
            </a:endParaRPr>
          </a:p>
          <a:p>
            <a:r>
              <a:rPr lang="en-US" sz="1600" u="sng" dirty="0" smtClean="0">
                <a:solidFill>
                  <a:prstClr val="black"/>
                </a:solidFill>
                <a:latin typeface=" Arial"/>
              </a:rPr>
              <a:t>Prior/Current Contract Information</a:t>
            </a:r>
            <a:r>
              <a:rPr lang="en-US" sz="1600" dirty="0" smtClean="0">
                <a:solidFill>
                  <a:prstClr val="black"/>
                </a:solidFill>
                <a:latin typeface=" Arial"/>
              </a:rPr>
              <a:t>:</a:t>
            </a:r>
          </a:p>
          <a:p>
            <a:pPr>
              <a:defRPr/>
            </a:pPr>
            <a:r>
              <a:rPr lang="en-US" sz="1600" dirty="0">
                <a:solidFill>
                  <a:prstClr val="black"/>
                </a:solidFill>
                <a:latin typeface=" Arial"/>
              </a:rPr>
              <a:t>	</a:t>
            </a:r>
            <a:r>
              <a:rPr lang="en-US" sz="1600" dirty="0" smtClean="0">
                <a:solidFill>
                  <a:prstClr val="black"/>
                </a:solidFill>
                <a:latin typeface=" Arial"/>
              </a:rPr>
              <a:t>Contract Number:  W91CRB-17-F-0002</a:t>
            </a:r>
          </a:p>
          <a:p>
            <a:pPr>
              <a:defRPr/>
            </a:pPr>
            <a:r>
              <a:rPr lang="en-US" sz="1600" dirty="0">
                <a:solidFill>
                  <a:prstClr val="black"/>
                </a:solidFill>
                <a:latin typeface=" Arial"/>
              </a:rPr>
              <a:t>	</a:t>
            </a:r>
            <a:r>
              <a:rPr lang="en-US" sz="1600" dirty="0" smtClean="0">
                <a:solidFill>
                  <a:prstClr val="black"/>
                </a:solidFill>
                <a:latin typeface=" Arial"/>
              </a:rPr>
              <a:t>Incumbent Contractor:  IBM</a:t>
            </a:r>
          </a:p>
          <a:p>
            <a:pPr>
              <a:defRPr/>
            </a:pPr>
            <a:r>
              <a:rPr lang="en-US" sz="1600" dirty="0" smtClean="0">
                <a:solidFill>
                  <a:prstClr val="black"/>
                </a:solidFill>
                <a:latin typeface=" Arial"/>
              </a:rPr>
              <a:t>	Solicitation </a:t>
            </a:r>
            <a:r>
              <a:rPr lang="en-US" sz="1600" dirty="0">
                <a:solidFill>
                  <a:prstClr val="black"/>
                </a:solidFill>
                <a:latin typeface=" Arial"/>
              </a:rPr>
              <a:t>Number:  </a:t>
            </a:r>
            <a:r>
              <a:rPr lang="en-US" sz="1600" dirty="0" smtClean="0">
                <a:solidFill>
                  <a:prstClr val="black"/>
                </a:solidFill>
                <a:latin typeface=" Arial"/>
              </a:rPr>
              <a:t>W91CRB-18-R-0050</a:t>
            </a:r>
          </a:p>
          <a:p>
            <a:pPr>
              <a:defRPr/>
            </a:pPr>
            <a:endParaRPr lang="en-US" sz="1600" dirty="0">
              <a:solidFill>
                <a:prstClr val="black"/>
              </a:solidFill>
              <a:latin typeface=" Arial"/>
            </a:endParaRPr>
          </a:p>
          <a:p>
            <a:pPr>
              <a:defRPr/>
            </a:pPr>
            <a:r>
              <a:rPr lang="en-US" sz="1600" dirty="0" smtClean="0">
                <a:solidFill>
                  <a:prstClr val="black"/>
                </a:solidFill>
                <a:latin typeface=" Arial"/>
              </a:rPr>
              <a:t>Note: This opportunity will be posted unrestricted on GSA.  </a:t>
            </a:r>
          </a:p>
          <a:p>
            <a:pPr>
              <a:defRPr/>
            </a:pPr>
            <a:endParaRPr lang="en-US" sz="1600" dirty="0" smtClean="0">
              <a:solidFill>
                <a:prstClr val="black"/>
              </a:solidFill>
              <a:latin typeface=" Arial"/>
            </a:endParaRPr>
          </a:p>
          <a:p>
            <a:pPr>
              <a:defRPr/>
            </a:pPr>
            <a:r>
              <a:rPr lang="en-US" sz="1600" u="sng" dirty="0" smtClean="0">
                <a:solidFill>
                  <a:prstClr val="black"/>
                </a:solidFill>
                <a:latin typeface=" Arial"/>
              </a:rPr>
              <a:t>Contract Type</a:t>
            </a:r>
            <a:r>
              <a:rPr lang="en-US" sz="1600" dirty="0" smtClean="0">
                <a:solidFill>
                  <a:prstClr val="black"/>
                </a:solidFill>
                <a:latin typeface=" Arial"/>
              </a:rPr>
              <a:t>:  T&amp;M</a:t>
            </a:r>
          </a:p>
          <a:p>
            <a:pPr>
              <a:defRPr/>
            </a:pPr>
            <a:r>
              <a:rPr lang="en-US" sz="1600" u="sng" dirty="0" smtClean="0">
                <a:solidFill>
                  <a:prstClr val="black"/>
                </a:solidFill>
                <a:latin typeface=" Arial"/>
              </a:rPr>
              <a:t>ROM</a:t>
            </a:r>
            <a:r>
              <a:rPr lang="en-US" sz="1600" dirty="0" smtClean="0">
                <a:solidFill>
                  <a:prstClr val="black"/>
                </a:solidFill>
                <a:latin typeface=" Arial"/>
              </a:rPr>
              <a:t>:  $6M</a:t>
            </a:r>
          </a:p>
          <a:p>
            <a:pPr>
              <a:defRPr/>
            </a:pPr>
            <a:r>
              <a:rPr lang="en-US" sz="1600" u="sng" dirty="0" smtClean="0">
                <a:solidFill>
                  <a:prstClr val="black"/>
                </a:solidFill>
                <a:latin typeface=" Arial"/>
              </a:rPr>
              <a:t>Period of Performance</a:t>
            </a:r>
            <a:r>
              <a:rPr lang="en-US" sz="1600" dirty="0" smtClean="0">
                <a:solidFill>
                  <a:prstClr val="black"/>
                </a:solidFill>
                <a:latin typeface=" Arial"/>
              </a:rPr>
              <a:t>:  </a:t>
            </a:r>
            <a:r>
              <a:rPr lang="en-US" sz="1600" dirty="0" smtClean="0">
                <a:solidFill>
                  <a:prstClr val="black"/>
                </a:solidFill>
                <a:latin typeface=" Arial"/>
              </a:rPr>
              <a:t>1 year base period plus 2 option periods</a:t>
            </a:r>
            <a:endParaRPr lang="en-US" sz="1600" dirty="0" smtClean="0">
              <a:solidFill>
                <a:prstClr val="black"/>
              </a:solidFill>
              <a:latin typeface=" Arial"/>
            </a:endParaRPr>
          </a:p>
          <a:p>
            <a:pPr>
              <a:defRPr/>
            </a:pPr>
            <a:r>
              <a:rPr lang="en-US" sz="1600" u="sng" dirty="0" smtClean="0">
                <a:solidFill>
                  <a:prstClr val="black"/>
                </a:solidFill>
                <a:latin typeface=" Arial"/>
              </a:rPr>
              <a:t>Estimated Solicitation Release Date</a:t>
            </a:r>
            <a:r>
              <a:rPr lang="en-US" sz="1600" dirty="0" smtClean="0">
                <a:solidFill>
                  <a:prstClr val="black"/>
                </a:solidFill>
                <a:latin typeface=" Arial"/>
              </a:rPr>
              <a:t>:  3QFY19</a:t>
            </a:r>
          </a:p>
          <a:p>
            <a:pPr>
              <a:defRPr/>
            </a:pPr>
            <a:r>
              <a:rPr lang="en-US" sz="1600" u="sng" dirty="0" smtClean="0">
                <a:solidFill>
                  <a:prstClr val="black"/>
                </a:solidFill>
                <a:latin typeface=" Arial"/>
              </a:rPr>
              <a:t>Contracting Contact</a:t>
            </a:r>
            <a:r>
              <a:rPr lang="en-US" sz="1600" dirty="0" smtClean="0">
                <a:solidFill>
                  <a:prstClr val="black"/>
                </a:solidFill>
                <a:latin typeface=" Arial"/>
              </a:rPr>
              <a:t>:  ACC-APG, Sabrinna Cosom, KO, </a:t>
            </a:r>
            <a:r>
              <a:rPr lang="en-US" sz="1600" dirty="0" smtClean="0">
                <a:solidFill>
                  <a:prstClr val="black"/>
                </a:solidFill>
                <a:latin typeface=" Arial"/>
                <a:hlinkClick r:id="rId2"/>
              </a:rPr>
              <a:t>Sabrinna.r.cosom.civ@mail.mil</a:t>
            </a:r>
            <a:r>
              <a:rPr lang="en-US" sz="1600" dirty="0" smtClean="0">
                <a:solidFill>
                  <a:prstClr val="black"/>
                </a:solidFill>
                <a:latin typeface=" Arial"/>
              </a:rPr>
              <a:t> </a:t>
            </a:r>
          </a:p>
          <a:p>
            <a:pPr>
              <a:defRPr/>
            </a:pPr>
            <a:endParaRPr lang="en-US" sz="1200" b="1" dirty="0" smtClean="0">
              <a:solidFill>
                <a:prstClr val="black"/>
              </a:solidFill>
              <a:latin typeface=" Arial"/>
            </a:endParaRPr>
          </a:p>
          <a:p>
            <a:pPr>
              <a:defRPr/>
            </a:pPr>
            <a:endParaRPr lang="en-US" sz="1200" b="1" dirty="0">
              <a:solidFill>
                <a:prstClr val="black"/>
              </a:solidFill>
              <a:latin typeface=" Arial"/>
            </a:endParaRPr>
          </a:p>
          <a:p>
            <a:pPr>
              <a:defRPr/>
            </a:pPr>
            <a:r>
              <a:rPr lang="en-US" sz="1400" b="1" dirty="0" smtClean="0">
                <a:solidFill>
                  <a:prstClr val="black"/>
                </a:solidFill>
                <a:latin typeface=" Arial"/>
              </a:rPr>
              <a:t>*Subject to Cancellation</a:t>
            </a:r>
            <a:endParaRPr lang="en-US" sz="1400" b="1" dirty="0">
              <a:solidFill>
                <a:prstClr val="black"/>
              </a:solidFill>
              <a:latin typeface=" Arial"/>
            </a:endParaRPr>
          </a:p>
        </p:txBody>
      </p:sp>
    </p:spTree>
    <p:extLst>
      <p:ext uri="{BB962C8B-B14F-4D97-AF65-F5344CB8AC3E}">
        <p14:creationId xmlns:p14="http://schemas.microsoft.com/office/powerpoint/2010/main" val="193924784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Chief Staff of the Army, G-3/5/7</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8</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Web Application Development</a:t>
            </a:r>
          </a:p>
          <a:p>
            <a:r>
              <a:rPr lang="en-US" u="sng" dirty="0" smtClean="0">
                <a:solidFill>
                  <a:prstClr val="black"/>
                </a:solidFill>
                <a:latin typeface=" Arial"/>
              </a:rPr>
              <a:t>Project Summary</a:t>
            </a:r>
            <a:r>
              <a:rPr lang="en-US" dirty="0" smtClean="0">
                <a:solidFill>
                  <a:prstClr val="black"/>
                </a:solidFill>
                <a:latin typeface=" Arial"/>
              </a:rPr>
              <a:t>:  </a:t>
            </a:r>
            <a:r>
              <a:rPr lang="en-US" dirty="0">
                <a:latin typeface=" Arial"/>
              </a:rPr>
              <a:t>This is a non-personal services contract to provide </a:t>
            </a:r>
            <a:r>
              <a:rPr lang="en-US" dirty="0" smtClean="0">
                <a:latin typeface=" Arial"/>
              </a:rPr>
              <a:t>on-site </a:t>
            </a:r>
            <a:r>
              <a:rPr lang="en-US" dirty="0">
                <a:latin typeface=" Arial"/>
              </a:rPr>
              <a:t>Headquarters, Department of the Army (HQDA) G-3/5/7, Command and Control (C2), Business Application, Database and Web Maintenance Services. </a:t>
            </a:r>
          </a:p>
          <a:p>
            <a:endParaRPr lang="en-US"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W91CRB-13-D-0014</a:t>
            </a:r>
          </a:p>
          <a:p>
            <a:pPr>
              <a:defRPr/>
            </a:pPr>
            <a:r>
              <a:rPr lang="en-US" dirty="0" smtClean="0">
                <a:solidFill>
                  <a:prstClr val="black"/>
                </a:solidFill>
                <a:latin typeface=" Arial"/>
              </a:rPr>
              <a:t>	Incumbent Contractor:  SSB, Inc.</a:t>
            </a:r>
          </a:p>
          <a:p>
            <a:pPr>
              <a:defRPr/>
            </a:pPr>
            <a:r>
              <a:rPr lang="en-US" dirty="0" smtClean="0">
                <a:solidFill>
                  <a:prstClr val="black"/>
                </a:solidFill>
                <a:latin typeface=" Arial"/>
              </a:rPr>
              <a:t>	Solicitation </a:t>
            </a:r>
            <a:r>
              <a:rPr lang="en-US" dirty="0">
                <a:solidFill>
                  <a:prstClr val="black"/>
                </a:solidFill>
                <a:latin typeface=" Arial"/>
              </a:rPr>
              <a:t>Number:  W91CRB-18-R-0003</a:t>
            </a:r>
            <a:endParaRPr lang="en-US" dirty="0" smtClean="0">
              <a:solidFill>
                <a:prstClr val="black"/>
              </a:solidFill>
              <a:latin typeface=" Arial"/>
            </a:endParaRPr>
          </a:p>
          <a:p>
            <a:pPr>
              <a:defRPr/>
            </a:pPr>
            <a:endParaRPr lang="en-US" dirty="0">
              <a:solidFill>
                <a:prstClr val="black"/>
              </a:solidFill>
              <a:latin typeface=" Arial"/>
            </a:endParaRPr>
          </a:p>
          <a:p>
            <a:pPr>
              <a:defRPr/>
            </a:pPr>
            <a:r>
              <a:rPr lang="en-US" dirty="0" smtClean="0">
                <a:solidFill>
                  <a:prstClr val="black"/>
                </a:solidFill>
                <a:latin typeface=" Arial"/>
              </a:rPr>
              <a:t>Note: This opportunity will be posted on </a:t>
            </a:r>
            <a:r>
              <a:rPr lang="en-US" dirty="0" err="1" smtClean="0">
                <a:solidFill>
                  <a:prstClr val="black"/>
                </a:solidFill>
                <a:latin typeface=" Arial"/>
              </a:rPr>
              <a:t>FedBizOpps</a:t>
            </a:r>
            <a:r>
              <a:rPr lang="en-US" dirty="0" smtClean="0">
                <a:solidFill>
                  <a:prstClr val="black"/>
                </a:solidFill>
                <a:latin typeface=" Arial"/>
              </a:rPr>
              <a:t> as a small business set aside. </a:t>
            </a:r>
          </a:p>
          <a:p>
            <a:pPr>
              <a:defRPr/>
            </a:pPr>
            <a:endParaRPr lang="en-US"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CPFF</a:t>
            </a:r>
          </a:p>
          <a:p>
            <a:pPr>
              <a:defRPr/>
            </a:pPr>
            <a:r>
              <a:rPr lang="en-US" u="sng" dirty="0" smtClean="0">
                <a:solidFill>
                  <a:prstClr val="black"/>
                </a:solidFill>
                <a:latin typeface=" Arial"/>
              </a:rPr>
              <a:t>ROM</a:t>
            </a:r>
            <a:r>
              <a:rPr lang="en-US" dirty="0" smtClean="0">
                <a:solidFill>
                  <a:prstClr val="black"/>
                </a:solidFill>
                <a:latin typeface=" Arial"/>
              </a:rPr>
              <a:t>:  $30M</a:t>
            </a:r>
          </a:p>
          <a:p>
            <a:pPr>
              <a:defRPr/>
            </a:pPr>
            <a:r>
              <a:rPr lang="en-US" u="sng" dirty="0" smtClean="0">
                <a:solidFill>
                  <a:prstClr val="black"/>
                </a:solidFill>
                <a:latin typeface=" Arial"/>
              </a:rPr>
              <a:t>Period of Performance</a:t>
            </a:r>
            <a:r>
              <a:rPr lang="en-US" dirty="0" smtClean="0">
                <a:solidFill>
                  <a:prstClr val="black"/>
                </a:solidFill>
                <a:latin typeface=" Arial"/>
              </a:rPr>
              <a:t>:  5 year ordering period</a:t>
            </a:r>
          </a:p>
          <a:p>
            <a:pPr>
              <a:defRPr/>
            </a:pPr>
            <a:r>
              <a:rPr lang="en-US" u="sng" dirty="0" smtClean="0">
                <a:solidFill>
                  <a:prstClr val="black"/>
                </a:solidFill>
                <a:latin typeface=" Arial"/>
              </a:rPr>
              <a:t>Estimated Solicitation Release Date</a:t>
            </a:r>
            <a:r>
              <a:rPr lang="en-US" dirty="0" smtClean="0">
                <a:solidFill>
                  <a:prstClr val="black"/>
                </a:solidFill>
                <a:latin typeface=" Arial"/>
              </a:rPr>
              <a:t>:  </a:t>
            </a:r>
            <a:r>
              <a:rPr lang="en-US" dirty="0">
                <a:solidFill>
                  <a:prstClr val="black"/>
                </a:solidFill>
                <a:latin typeface=" Arial"/>
              </a:rPr>
              <a:t>2</a:t>
            </a:r>
            <a:r>
              <a:rPr lang="en-US" dirty="0" smtClean="0">
                <a:solidFill>
                  <a:prstClr val="black"/>
                </a:solidFill>
                <a:latin typeface=" Arial"/>
              </a:rPr>
              <a:t>QFY19</a:t>
            </a:r>
          </a:p>
          <a:p>
            <a:pPr>
              <a:defRPr/>
            </a:pPr>
            <a:r>
              <a:rPr lang="en-US" u="sng" dirty="0" smtClean="0">
                <a:solidFill>
                  <a:prstClr val="black"/>
                </a:solidFill>
                <a:latin typeface=" Arial"/>
              </a:rPr>
              <a:t>Contracting Contact</a:t>
            </a:r>
            <a:r>
              <a:rPr lang="en-US" dirty="0" smtClean="0">
                <a:solidFill>
                  <a:prstClr val="black"/>
                </a:solidFill>
                <a:latin typeface=" Arial"/>
              </a:rPr>
              <a:t>:  ACC-APG, Sabrinna Cosom, KO, </a:t>
            </a:r>
            <a:r>
              <a:rPr lang="en-US" dirty="0" smtClean="0">
                <a:solidFill>
                  <a:prstClr val="black"/>
                </a:solidFill>
                <a:latin typeface=" Arial"/>
                <a:hlinkClick r:id="rId2"/>
              </a:rPr>
              <a:t>Sabrinna.r.cosom.civ@mail.mil</a:t>
            </a:r>
            <a:r>
              <a:rPr lang="en-US" dirty="0" smtClean="0">
                <a:solidFill>
                  <a:prstClr val="black"/>
                </a:solidFill>
                <a:latin typeface=" Arial"/>
              </a:rPr>
              <a:t> </a:t>
            </a:r>
          </a:p>
          <a:p>
            <a:pPr>
              <a:defRPr/>
            </a:pPr>
            <a:endParaRPr lang="en-US" dirty="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367317971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schemeClr val="bg1"/>
                </a:solidFill>
                <a:latin typeface=" Arial"/>
              </a:rPr>
              <a:t>Chief Staff of the Army, G-3/5/7</a:t>
            </a:r>
            <a:endParaRPr lang="en-US" sz="2800" b="1" dirty="0">
              <a:solidFill>
                <a:schemeClr val="bg1"/>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schemeClr val="bg1"/>
                </a:solidFill>
              </a:rPr>
              <a:t>9</a:t>
            </a:fld>
            <a:endParaRPr lang="en-US" sz="1000" dirty="0">
              <a:solidFill>
                <a:schemeClr val="bg1"/>
              </a:solidFill>
            </a:endParaRPr>
          </a:p>
        </p:txBody>
      </p:sp>
      <p:sp>
        <p:nvSpPr>
          <p:cNvPr id="8" name="TextBox 8"/>
          <p:cNvSpPr txBox="1">
            <a:spLocks noChangeArrowheads="1"/>
          </p:cNvSpPr>
          <p:nvPr/>
        </p:nvSpPr>
        <p:spPr bwMode="auto">
          <a:xfrm>
            <a:off x="0" y="1066800"/>
            <a:ext cx="9144000" cy="5186035"/>
          </a:xfrm>
          <a:prstGeom prst="rect">
            <a:avLst/>
          </a:prstGeom>
          <a:noFill/>
          <a:ln w="9525">
            <a:noFill/>
            <a:miter lim="800000"/>
            <a:headEnd/>
            <a:tailEnd/>
          </a:ln>
        </p:spPr>
        <p:txBody>
          <a:bodyPr wrap="square">
            <a:spAutoFit/>
          </a:bodyPr>
          <a:lstStyle/>
          <a:p>
            <a:pPr>
              <a:defRPr/>
            </a:pPr>
            <a:r>
              <a:rPr lang="en-US" u="sng" dirty="0" smtClean="0">
                <a:latin typeface=" Arial"/>
              </a:rPr>
              <a:t>Project Title</a:t>
            </a:r>
            <a:r>
              <a:rPr lang="en-US" dirty="0" smtClean="0">
                <a:latin typeface=" Arial"/>
              </a:rPr>
              <a:t>:  </a:t>
            </a:r>
            <a:r>
              <a:rPr lang="fr-FR" dirty="0">
                <a:latin typeface=" Arial"/>
              </a:rPr>
              <a:t>Total </a:t>
            </a:r>
            <a:r>
              <a:rPr lang="fr-FR" dirty="0" err="1">
                <a:latin typeface=" Arial"/>
              </a:rPr>
              <a:t>Ammunition</a:t>
            </a:r>
            <a:r>
              <a:rPr lang="fr-FR" dirty="0">
                <a:latin typeface=" Arial"/>
              </a:rPr>
              <a:t> Management Information System </a:t>
            </a:r>
            <a:r>
              <a:rPr lang="en-US" dirty="0" smtClean="0">
                <a:latin typeface=" Arial"/>
              </a:rPr>
              <a:t>(TAMIS)</a:t>
            </a:r>
          </a:p>
          <a:p>
            <a:pPr>
              <a:defRPr/>
            </a:pPr>
            <a:endParaRPr lang="en-US" dirty="0" smtClean="0">
              <a:latin typeface=" Arial"/>
            </a:endParaRPr>
          </a:p>
          <a:p>
            <a:r>
              <a:rPr lang="en-US" u="sng" dirty="0" smtClean="0">
                <a:latin typeface=" Arial"/>
              </a:rPr>
              <a:t>Project Summary</a:t>
            </a:r>
            <a:r>
              <a:rPr lang="en-US" dirty="0" smtClean="0">
                <a:latin typeface=" Arial"/>
              </a:rPr>
              <a:t>:  </a:t>
            </a:r>
            <a:r>
              <a:rPr lang="en-US" dirty="0">
                <a:latin typeface=" Arial"/>
              </a:rPr>
              <a:t>Headquarters, Department of the Army (HQDA), G-3/5/7 Munitions Management </a:t>
            </a:r>
            <a:r>
              <a:rPr lang="en-US" dirty="0" smtClean="0">
                <a:latin typeface=" Arial"/>
              </a:rPr>
              <a:t>Office (</a:t>
            </a:r>
            <a:r>
              <a:rPr lang="en-US" dirty="0">
                <a:latin typeface=" Arial"/>
              </a:rPr>
              <a:t>DAMO-TRA) requires continued sustainment, software improvements, and </a:t>
            </a:r>
            <a:r>
              <a:rPr lang="en-US" dirty="0" smtClean="0">
                <a:latin typeface=" Arial"/>
              </a:rPr>
              <a:t>munitions management </a:t>
            </a:r>
            <a:r>
              <a:rPr lang="en-US" dirty="0">
                <a:latin typeface=" Arial"/>
              </a:rPr>
              <a:t>support for its Total Ammunition Management Information </a:t>
            </a:r>
            <a:r>
              <a:rPr lang="en-US" dirty="0" smtClean="0">
                <a:latin typeface=" Arial"/>
              </a:rPr>
              <a:t>System. </a:t>
            </a:r>
          </a:p>
          <a:p>
            <a:endParaRPr lang="en-US" u="sng" dirty="0" smtClean="0">
              <a:latin typeface=" Arial"/>
            </a:endParaRPr>
          </a:p>
          <a:p>
            <a:pPr>
              <a:defRPr/>
            </a:pPr>
            <a:r>
              <a:rPr lang="en-US" u="sng" dirty="0" smtClean="0">
                <a:latin typeface=" Arial"/>
              </a:rPr>
              <a:t>Prior/Current Contract Information</a:t>
            </a:r>
            <a:r>
              <a:rPr lang="en-US" dirty="0" smtClean="0">
                <a:latin typeface=" Arial"/>
              </a:rPr>
              <a:t>:</a:t>
            </a:r>
          </a:p>
          <a:p>
            <a:pPr>
              <a:defRPr/>
            </a:pPr>
            <a:r>
              <a:rPr lang="en-US" dirty="0">
                <a:latin typeface=" Arial"/>
              </a:rPr>
              <a:t>	</a:t>
            </a:r>
            <a:r>
              <a:rPr lang="en-US" dirty="0" smtClean="0">
                <a:latin typeface=" Arial"/>
              </a:rPr>
              <a:t>Contract Number:  W91CRB-14-F-0015</a:t>
            </a:r>
          </a:p>
          <a:p>
            <a:pPr>
              <a:defRPr/>
            </a:pPr>
            <a:r>
              <a:rPr lang="en-US" dirty="0" smtClean="0">
                <a:latin typeface=" Arial"/>
              </a:rPr>
              <a:t>	Incumbent Contractor:  HP Enterprise Services, LLC. </a:t>
            </a:r>
          </a:p>
          <a:p>
            <a:pPr>
              <a:defRPr/>
            </a:pPr>
            <a:r>
              <a:rPr lang="en-US" dirty="0" smtClean="0">
                <a:latin typeface=" Arial"/>
              </a:rPr>
              <a:t>	Solicitation </a:t>
            </a:r>
            <a:r>
              <a:rPr lang="en-US" dirty="0">
                <a:latin typeface=" Arial"/>
              </a:rPr>
              <a:t>Number:  </a:t>
            </a:r>
            <a:r>
              <a:rPr lang="en-US" dirty="0" smtClean="0">
                <a:latin typeface=" Arial"/>
              </a:rPr>
              <a:t>W91CRB-19-R-0007</a:t>
            </a:r>
          </a:p>
          <a:p>
            <a:pPr>
              <a:defRPr/>
            </a:pPr>
            <a:endParaRPr lang="en-US" dirty="0">
              <a:latin typeface=" Arial"/>
            </a:endParaRPr>
          </a:p>
          <a:p>
            <a:pPr>
              <a:defRPr/>
            </a:pPr>
            <a:r>
              <a:rPr lang="en-US" u="sng" dirty="0" smtClean="0">
                <a:latin typeface=" Arial"/>
              </a:rPr>
              <a:t>Contract Type</a:t>
            </a:r>
            <a:r>
              <a:rPr lang="en-US" dirty="0" smtClean="0">
                <a:latin typeface=" Arial"/>
              </a:rPr>
              <a:t>:  FFP</a:t>
            </a:r>
          </a:p>
          <a:p>
            <a:pPr>
              <a:defRPr/>
            </a:pPr>
            <a:r>
              <a:rPr lang="en-US" u="sng" dirty="0" smtClean="0">
                <a:latin typeface=" Arial"/>
              </a:rPr>
              <a:t>ROM</a:t>
            </a:r>
            <a:r>
              <a:rPr lang="en-US" dirty="0" smtClean="0">
                <a:latin typeface=" Arial"/>
              </a:rPr>
              <a:t>:  $21M</a:t>
            </a:r>
          </a:p>
          <a:p>
            <a:pPr>
              <a:defRPr/>
            </a:pPr>
            <a:r>
              <a:rPr lang="en-US" u="sng" dirty="0" smtClean="0">
                <a:latin typeface=" Arial"/>
              </a:rPr>
              <a:t>Period of Performance</a:t>
            </a:r>
            <a:r>
              <a:rPr lang="en-US" dirty="0" smtClean="0">
                <a:latin typeface=" Arial"/>
              </a:rPr>
              <a:t>:  5 year period of performance</a:t>
            </a:r>
          </a:p>
          <a:p>
            <a:pPr>
              <a:defRPr/>
            </a:pPr>
            <a:r>
              <a:rPr lang="en-US" u="sng" dirty="0" smtClean="0">
                <a:latin typeface=" Arial"/>
              </a:rPr>
              <a:t>Estimated Solicitation Release Date</a:t>
            </a:r>
            <a:r>
              <a:rPr lang="en-US" dirty="0" smtClean="0">
                <a:latin typeface=" Arial"/>
              </a:rPr>
              <a:t>:  2QFY19</a:t>
            </a:r>
          </a:p>
          <a:p>
            <a:pPr>
              <a:defRPr/>
            </a:pPr>
            <a:r>
              <a:rPr lang="en-US" u="sng" dirty="0" smtClean="0">
                <a:latin typeface=" Arial"/>
              </a:rPr>
              <a:t>Contracting Contact</a:t>
            </a:r>
            <a:r>
              <a:rPr lang="en-US" dirty="0" smtClean="0">
                <a:latin typeface=" Arial"/>
              </a:rPr>
              <a:t>:  ACC-APG, Sabrinna Cosom, KO, </a:t>
            </a:r>
            <a:r>
              <a:rPr lang="en-US" dirty="0" smtClean="0">
                <a:latin typeface=" Arial"/>
                <a:hlinkClick r:id="rId2"/>
              </a:rPr>
              <a:t>Sabrinna.r.cosom.civ@mail.mil</a:t>
            </a:r>
            <a:r>
              <a:rPr lang="en-US" dirty="0" smtClean="0">
                <a:latin typeface=" Arial"/>
              </a:rPr>
              <a:t> </a:t>
            </a:r>
          </a:p>
          <a:p>
            <a:pPr>
              <a:defRPr/>
            </a:pPr>
            <a:endParaRPr lang="en-US" sz="900" dirty="0">
              <a:latin typeface=" Arial"/>
            </a:endParaRPr>
          </a:p>
          <a:p>
            <a:pPr>
              <a:defRPr/>
            </a:pPr>
            <a:r>
              <a:rPr lang="en-US" sz="1600" b="1" dirty="0" smtClean="0">
                <a:latin typeface=" Arial"/>
              </a:rPr>
              <a:t>*Subject to Cancellation</a:t>
            </a:r>
            <a:endParaRPr lang="en-US" sz="1600" b="1" dirty="0">
              <a:latin typeface=" Arial"/>
            </a:endParaRPr>
          </a:p>
        </p:txBody>
      </p:sp>
    </p:spTree>
    <p:extLst>
      <p:ext uri="{BB962C8B-B14F-4D97-AF65-F5344CB8AC3E}">
        <p14:creationId xmlns:p14="http://schemas.microsoft.com/office/powerpoint/2010/main" val="1371499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schemeClr val="bg1"/>
                </a:solidFill>
                <a:latin typeface=" Arial"/>
              </a:rPr>
              <a:t>Chief Staff of the Army, G-3/5/7</a:t>
            </a:r>
            <a:endParaRPr lang="en-US" sz="2800" b="1" dirty="0">
              <a:solidFill>
                <a:schemeClr val="bg1"/>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schemeClr val="bg1"/>
                </a:solidFill>
              </a:rPr>
              <a:t>10</a:t>
            </a:fld>
            <a:endParaRPr lang="en-US" sz="1000" dirty="0">
              <a:solidFill>
                <a:schemeClr val="bg1"/>
              </a:solidFill>
            </a:endParaRPr>
          </a:p>
        </p:txBody>
      </p:sp>
      <p:sp>
        <p:nvSpPr>
          <p:cNvPr id="8" name="TextBox 8"/>
          <p:cNvSpPr txBox="1">
            <a:spLocks noChangeArrowheads="1"/>
          </p:cNvSpPr>
          <p:nvPr/>
        </p:nvSpPr>
        <p:spPr bwMode="auto">
          <a:xfrm>
            <a:off x="0" y="1066800"/>
            <a:ext cx="9144000" cy="5463034"/>
          </a:xfrm>
          <a:prstGeom prst="rect">
            <a:avLst/>
          </a:prstGeom>
          <a:noFill/>
          <a:ln w="9525">
            <a:noFill/>
            <a:miter lim="800000"/>
            <a:headEnd/>
            <a:tailEnd/>
          </a:ln>
        </p:spPr>
        <p:txBody>
          <a:bodyPr wrap="square">
            <a:spAutoFit/>
          </a:bodyPr>
          <a:lstStyle/>
          <a:p>
            <a:pPr>
              <a:defRPr/>
            </a:pPr>
            <a:r>
              <a:rPr lang="en-US" u="sng" dirty="0" smtClean="0">
                <a:latin typeface=" Arial"/>
              </a:rPr>
              <a:t>Project Title</a:t>
            </a:r>
            <a:r>
              <a:rPr lang="en-US" dirty="0" smtClean="0">
                <a:latin typeface=" Arial"/>
              </a:rPr>
              <a:t>:  Information Assurance and Information Technology Support</a:t>
            </a:r>
          </a:p>
          <a:p>
            <a:pPr>
              <a:defRPr/>
            </a:pPr>
            <a:endParaRPr lang="en-US" dirty="0" smtClean="0">
              <a:latin typeface=" Arial"/>
            </a:endParaRPr>
          </a:p>
          <a:p>
            <a:r>
              <a:rPr lang="en-US" u="sng" dirty="0" smtClean="0">
                <a:latin typeface=" Arial"/>
              </a:rPr>
              <a:t>Project Summary</a:t>
            </a:r>
            <a:r>
              <a:rPr lang="en-US" dirty="0" smtClean="0">
                <a:latin typeface=" Arial"/>
              </a:rPr>
              <a:t>:  </a:t>
            </a:r>
            <a:r>
              <a:rPr lang="en-US" dirty="0">
                <a:latin typeface=" Arial"/>
              </a:rPr>
              <a:t>The United States Army Command and Control Support Agency (USACCSA) provides support to the Headquarters, Department of the Army (HQDA) with development, installation, operation and maintenance of Command and Control (C2) systems</a:t>
            </a:r>
            <a:r>
              <a:rPr lang="en-US" dirty="0" smtClean="0">
                <a:latin typeface=" Arial"/>
              </a:rPr>
              <a:t>.</a:t>
            </a:r>
            <a:endParaRPr lang="en-US" dirty="0" smtClean="0">
              <a:latin typeface=" Arial"/>
            </a:endParaRPr>
          </a:p>
          <a:p>
            <a:endParaRPr lang="en-US" u="sng" dirty="0" smtClean="0">
              <a:latin typeface=" Arial"/>
            </a:endParaRPr>
          </a:p>
          <a:p>
            <a:pPr>
              <a:defRPr/>
            </a:pPr>
            <a:r>
              <a:rPr lang="en-US" u="sng" dirty="0" smtClean="0">
                <a:latin typeface=" Arial"/>
              </a:rPr>
              <a:t>Prior/Current Contract Information</a:t>
            </a:r>
            <a:r>
              <a:rPr lang="en-US" dirty="0" smtClean="0">
                <a:latin typeface=" Arial"/>
              </a:rPr>
              <a:t>:</a:t>
            </a:r>
          </a:p>
          <a:p>
            <a:pPr>
              <a:defRPr/>
            </a:pPr>
            <a:r>
              <a:rPr lang="en-US" dirty="0">
                <a:latin typeface=" Arial"/>
              </a:rPr>
              <a:t>	</a:t>
            </a:r>
            <a:r>
              <a:rPr lang="en-US" dirty="0" smtClean="0">
                <a:latin typeface=" Arial"/>
              </a:rPr>
              <a:t>Contract Number:  W91CRB-15-C-0028</a:t>
            </a:r>
          </a:p>
          <a:p>
            <a:pPr>
              <a:defRPr/>
            </a:pPr>
            <a:r>
              <a:rPr lang="en-US" dirty="0" smtClean="0">
                <a:latin typeface=" Arial"/>
              </a:rPr>
              <a:t>	Incumbent Contractor:  Dependable Global Solutions, Inc. </a:t>
            </a:r>
          </a:p>
          <a:p>
            <a:pPr>
              <a:defRPr/>
            </a:pPr>
            <a:r>
              <a:rPr lang="en-US" dirty="0" smtClean="0">
                <a:latin typeface=" Arial"/>
              </a:rPr>
              <a:t>	Solicitation </a:t>
            </a:r>
            <a:r>
              <a:rPr lang="en-US" dirty="0">
                <a:latin typeface=" Arial"/>
              </a:rPr>
              <a:t>Number:  </a:t>
            </a:r>
            <a:r>
              <a:rPr lang="en-US" dirty="0" smtClean="0">
                <a:latin typeface=" Arial"/>
              </a:rPr>
              <a:t>W91CRB-19-R-0025</a:t>
            </a:r>
          </a:p>
          <a:p>
            <a:pPr>
              <a:defRPr/>
            </a:pPr>
            <a:endParaRPr lang="en-US" dirty="0">
              <a:latin typeface=" Arial"/>
            </a:endParaRPr>
          </a:p>
          <a:p>
            <a:pPr>
              <a:defRPr/>
            </a:pPr>
            <a:r>
              <a:rPr lang="en-US" dirty="0" smtClean="0">
                <a:latin typeface=" Arial"/>
              </a:rPr>
              <a:t>**Note – This requirement will be </a:t>
            </a:r>
            <a:r>
              <a:rPr lang="en-US" dirty="0" smtClean="0">
                <a:latin typeface=" Arial"/>
              </a:rPr>
              <a:t>an </a:t>
            </a:r>
            <a:r>
              <a:rPr lang="en-US" dirty="0" smtClean="0">
                <a:latin typeface=" Arial"/>
              </a:rPr>
              <a:t>8(a) direct award</a:t>
            </a:r>
            <a:endParaRPr lang="en-US" dirty="0">
              <a:latin typeface=" Arial"/>
            </a:endParaRPr>
          </a:p>
          <a:p>
            <a:pPr>
              <a:defRPr/>
            </a:pPr>
            <a:r>
              <a:rPr lang="en-US" u="sng" dirty="0" smtClean="0">
                <a:latin typeface=" Arial"/>
              </a:rPr>
              <a:t>Contract Type</a:t>
            </a:r>
            <a:r>
              <a:rPr lang="en-US" dirty="0" smtClean="0">
                <a:latin typeface=" Arial"/>
              </a:rPr>
              <a:t>:  FFP</a:t>
            </a:r>
          </a:p>
          <a:p>
            <a:pPr>
              <a:defRPr/>
            </a:pPr>
            <a:r>
              <a:rPr lang="en-US" u="sng" dirty="0" smtClean="0">
                <a:latin typeface=" Arial"/>
              </a:rPr>
              <a:t>ROM</a:t>
            </a:r>
            <a:r>
              <a:rPr lang="en-US" dirty="0" smtClean="0">
                <a:latin typeface=" Arial"/>
              </a:rPr>
              <a:t>:  $15M</a:t>
            </a:r>
          </a:p>
          <a:p>
            <a:pPr>
              <a:defRPr/>
            </a:pPr>
            <a:r>
              <a:rPr lang="en-US" u="sng" dirty="0" smtClean="0">
                <a:latin typeface=" Arial"/>
              </a:rPr>
              <a:t>Period of Performance</a:t>
            </a:r>
            <a:r>
              <a:rPr lang="en-US" dirty="0" smtClean="0">
                <a:latin typeface=" Arial"/>
              </a:rPr>
              <a:t>:  5 year period of performance</a:t>
            </a:r>
          </a:p>
          <a:p>
            <a:pPr>
              <a:defRPr/>
            </a:pPr>
            <a:r>
              <a:rPr lang="en-US" u="sng" dirty="0" smtClean="0">
                <a:latin typeface=" Arial"/>
              </a:rPr>
              <a:t>Estimated Solicitation Release Date</a:t>
            </a:r>
            <a:r>
              <a:rPr lang="en-US" dirty="0" smtClean="0">
                <a:latin typeface=" Arial"/>
              </a:rPr>
              <a:t>:  Source sought was posted on 6 Dec 2018</a:t>
            </a:r>
          </a:p>
          <a:p>
            <a:pPr>
              <a:defRPr/>
            </a:pPr>
            <a:r>
              <a:rPr lang="en-US" u="sng" dirty="0" smtClean="0">
                <a:latin typeface=" Arial"/>
              </a:rPr>
              <a:t>Contracting Contact</a:t>
            </a:r>
            <a:r>
              <a:rPr lang="en-US" dirty="0" smtClean="0">
                <a:latin typeface=" Arial"/>
              </a:rPr>
              <a:t>:  ACC-APG, Sabrinna Cosom, KO, </a:t>
            </a:r>
            <a:r>
              <a:rPr lang="en-US" dirty="0" smtClean="0">
                <a:latin typeface=" Arial"/>
                <a:hlinkClick r:id="rId2"/>
              </a:rPr>
              <a:t>Sabrinna.r.cosom.civ@mail.mil</a:t>
            </a:r>
            <a:r>
              <a:rPr lang="en-US" dirty="0" smtClean="0">
                <a:latin typeface=" Arial"/>
              </a:rPr>
              <a:t> </a:t>
            </a:r>
          </a:p>
          <a:p>
            <a:pPr>
              <a:defRPr/>
            </a:pPr>
            <a:endParaRPr lang="en-US" sz="900" dirty="0">
              <a:latin typeface=" Arial"/>
            </a:endParaRPr>
          </a:p>
          <a:p>
            <a:pPr>
              <a:defRPr/>
            </a:pPr>
            <a:r>
              <a:rPr lang="en-US" sz="1600" b="1" dirty="0" smtClean="0">
                <a:latin typeface=" Arial"/>
              </a:rPr>
              <a:t>*Subject to Cancellation</a:t>
            </a:r>
            <a:endParaRPr lang="en-US" sz="1600" b="1" dirty="0">
              <a:latin typeface=" Arial"/>
            </a:endParaRPr>
          </a:p>
        </p:txBody>
      </p:sp>
    </p:spTree>
    <p:extLst>
      <p:ext uri="{BB962C8B-B14F-4D97-AF65-F5344CB8AC3E}">
        <p14:creationId xmlns:p14="http://schemas.microsoft.com/office/powerpoint/2010/main" val="7112289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dirty="0">
                <a:solidFill>
                  <a:schemeClr val="bg1"/>
                </a:solidFill>
              </a:rPr>
              <a:t>Deputy Assistant Secretary of the Army </a:t>
            </a:r>
            <a:r>
              <a:rPr lang="en-US" sz="1800" dirty="0" smtClean="0">
                <a:solidFill>
                  <a:schemeClr val="bg1"/>
                </a:solidFill>
              </a:rPr>
              <a:t>Cost and Economics</a:t>
            </a:r>
            <a:endParaRPr lang="en-US" sz="1800" dirty="0">
              <a:solidFill>
                <a:schemeClr val="bg1"/>
              </a:solidFil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schemeClr val="bg1"/>
                </a:solidFill>
              </a:rPr>
              <a:t>11</a:t>
            </a:fld>
            <a:endParaRPr lang="en-US" sz="1000" dirty="0">
              <a:solidFill>
                <a:schemeClr val="bg1"/>
              </a:solidFill>
            </a:endParaRPr>
          </a:p>
        </p:txBody>
      </p:sp>
      <p:sp>
        <p:nvSpPr>
          <p:cNvPr id="8" name="TextBox 8"/>
          <p:cNvSpPr txBox="1">
            <a:spLocks noChangeArrowheads="1"/>
          </p:cNvSpPr>
          <p:nvPr/>
        </p:nvSpPr>
        <p:spPr bwMode="auto">
          <a:xfrm>
            <a:off x="0" y="1066800"/>
            <a:ext cx="9144000" cy="5386090"/>
          </a:xfrm>
          <a:prstGeom prst="rect">
            <a:avLst/>
          </a:prstGeom>
          <a:noFill/>
          <a:ln w="9525">
            <a:noFill/>
            <a:miter lim="800000"/>
            <a:headEnd/>
            <a:tailEnd/>
          </a:ln>
        </p:spPr>
        <p:txBody>
          <a:bodyPr wrap="square">
            <a:spAutoFit/>
          </a:bodyPr>
          <a:lstStyle/>
          <a:p>
            <a:pPr>
              <a:defRPr/>
            </a:pPr>
            <a:r>
              <a:rPr lang="en-US" u="sng" dirty="0" smtClean="0">
                <a:latin typeface=" Arial"/>
              </a:rPr>
              <a:t>Project Title</a:t>
            </a:r>
            <a:r>
              <a:rPr lang="en-US" dirty="0" smtClean="0">
                <a:latin typeface=" Arial"/>
              </a:rPr>
              <a:t>:  Army Cost Management Services</a:t>
            </a:r>
          </a:p>
          <a:p>
            <a:pPr>
              <a:defRPr/>
            </a:pPr>
            <a:r>
              <a:rPr lang="en-US" u="sng" dirty="0" smtClean="0">
                <a:latin typeface=" Arial"/>
              </a:rPr>
              <a:t>Project Summary</a:t>
            </a:r>
            <a:r>
              <a:rPr lang="en-US" dirty="0" smtClean="0">
                <a:latin typeface=" Arial"/>
              </a:rPr>
              <a:t>:  </a:t>
            </a:r>
            <a:r>
              <a:rPr lang="en-US" dirty="0">
                <a:latin typeface=" Arial"/>
              </a:rPr>
              <a:t>The contractor shall </a:t>
            </a:r>
            <a:r>
              <a:rPr lang="en-US" dirty="0" smtClean="0">
                <a:latin typeface=" Arial"/>
              </a:rPr>
              <a:t>develop </a:t>
            </a:r>
            <a:r>
              <a:rPr lang="en-US" dirty="0">
                <a:latin typeface=" Arial"/>
              </a:rPr>
              <a:t>an Army Cost Framework (</a:t>
            </a:r>
            <a:r>
              <a:rPr lang="en-US" dirty="0" smtClean="0">
                <a:latin typeface=" Arial"/>
              </a:rPr>
              <a:t>ACF) which will </a:t>
            </a:r>
            <a:r>
              <a:rPr lang="en-US" dirty="0">
                <a:latin typeface=" Arial"/>
              </a:rPr>
              <a:t>define, coordinate</a:t>
            </a:r>
            <a:r>
              <a:rPr lang="en-US" dirty="0" smtClean="0">
                <a:latin typeface=" Arial"/>
              </a:rPr>
              <a:t>, integrate</a:t>
            </a:r>
            <a:r>
              <a:rPr lang="en-US" dirty="0">
                <a:latin typeface=" Arial"/>
              </a:rPr>
              <a:t>, and automate the cost and performance data needed for timely decision making and resource </a:t>
            </a:r>
            <a:r>
              <a:rPr lang="en-US" dirty="0" smtClean="0">
                <a:latin typeface=" Arial"/>
              </a:rPr>
              <a:t>management of </a:t>
            </a:r>
            <a:r>
              <a:rPr lang="en-US" dirty="0">
                <a:latin typeface=" Arial"/>
              </a:rPr>
              <a:t>end-to-end business processes, such </a:t>
            </a:r>
            <a:r>
              <a:rPr lang="en-US" dirty="0" smtClean="0">
                <a:latin typeface=" Arial"/>
              </a:rPr>
              <a:t>as </a:t>
            </a:r>
            <a:r>
              <a:rPr lang="en-US" dirty="0">
                <a:latin typeface=" Arial"/>
              </a:rPr>
              <a:t>Order to Cash, Procure to Pay, Budget to Report, Cost </a:t>
            </a:r>
            <a:r>
              <a:rPr lang="en-US" dirty="0" smtClean="0">
                <a:latin typeface=" Arial"/>
              </a:rPr>
              <a:t>Management and Planning </a:t>
            </a:r>
            <a:r>
              <a:rPr lang="en-US" dirty="0">
                <a:latin typeface=" Arial"/>
              </a:rPr>
              <a:t>Programming Budgeting Executing (PPBE</a:t>
            </a:r>
            <a:r>
              <a:rPr lang="en-US" dirty="0" smtClean="0">
                <a:latin typeface=" Arial"/>
              </a:rPr>
              <a:t>).</a:t>
            </a:r>
          </a:p>
          <a:p>
            <a:endParaRPr lang="en-US" sz="800" u="sng" dirty="0">
              <a:latin typeface=" Arial"/>
            </a:endParaRPr>
          </a:p>
          <a:p>
            <a:r>
              <a:rPr lang="en-US" u="sng" dirty="0" smtClean="0">
                <a:latin typeface=" Arial"/>
              </a:rPr>
              <a:t>Prior/Current Contract Information</a:t>
            </a:r>
            <a:r>
              <a:rPr lang="en-US" dirty="0" smtClean="0">
                <a:latin typeface=" Arial"/>
              </a:rPr>
              <a:t>:</a:t>
            </a:r>
          </a:p>
          <a:p>
            <a:pPr>
              <a:defRPr/>
            </a:pPr>
            <a:r>
              <a:rPr lang="en-US" dirty="0">
                <a:latin typeface=" Arial"/>
              </a:rPr>
              <a:t>	</a:t>
            </a:r>
            <a:r>
              <a:rPr lang="en-US" dirty="0" smtClean="0">
                <a:latin typeface=" Arial"/>
              </a:rPr>
              <a:t>Contract Number:  W91CRB-16-P-0094</a:t>
            </a:r>
          </a:p>
          <a:p>
            <a:pPr>
              <a:defRPr/>
            </a:pPr>
            <a:r>
              <a:rPr lang="en-US" dirty="0" smtClean="0">
                <a:latin typeface=" Arial"/>
              </a:rPr>
              <a:t>	Incumbent Contractor:  Alta Via Consulting, LLC. </a:t>
            </a:r>
          </a:p>
          <a:p>
            <a:pPr>
              <a:defRPr/>
            </a:pPr>
            <a:r>
              <a:rPr lang="en-US" dirty="0" smtClean="0">
                <a:latin typeface=" Arial"/>
              </a:rPr>
              <a:t>	Solicitation </a:t>
            </a:r>
            <a:r>
              <a:rPr lang="en-US" dirty="0">
                <a:latin typeface=" Arial"/>
              </a:rPr>
              <a:t>Number:  W91CRB-18-R-0044</a:t>
            </a:r>
            <a:endParaRPr lang="en-US" dirty="0" smtClean="0">
              <a:latin typeface=" Arial"/>
            </a:endParaRPr>
          </a:p>
          <a:p>
            <a:pPr>
              <a:defRPr/>
            </a:pPr>
            <a:endParaRPr lang="en-US" sz="800" dirty="0" smtClean="0">
              <a:latin typeface=" Arial"/>
            </a:endParaRPr>
          </a:p>
          <a:p>
            <a:pPr>
              <a:defRPr/>
            </a:pPr>
            <a:r>
              <a:rPr lang="en-US" dirty="0" smtClean="0">
                <a:latin typeface=" Arial"/>
              </a:rPr>
              <a:t>Note: </a:t>
            </a:r>
            <a:r>
              <a:rPr lang="en-US" dirty="0">
                <a:latin typeface=" Arial"/>
              </a:rPr>
              <a:t>This opportunity will be </a:t>
            </a:r>
            <a:r>
              <a:rPr lang="en-US" dirty="0" smtClean="0">
                <a:latin typeface=" Arial"/>
              </a:rPr>
              <a:t>posted on </a:t>
            </a:r>
            <a:r>
              <a:rPr lang="en-US" dirty="0" err="1" smtClean="0">
                <a:latin typeface=" Arial"/>
              </a:rPr>
              <a:t>FedBizOpps</a:t>
            </a:r>
            <a:r>
              <a:rPr lang="en-US" dirty="0" smtClean="0">
                <a:latin typeface=" Arial"/>
              </a:rPr>
              <a:t> as a Small Business set aside. </a:t>
            </a:r>
            <a:endParaRPr lang="en-US" dirty="0">
              <a:latin typeface=" Arial"/>
            </a:endParaRPr>
          </a:p>
          <a:p>
            <a:pPr>
              <a:defRPr/>
            </a:pPr>
            <a:endParaRPr lang="en-US" sz="800" dirty="0" smtClean="0">
              <a:latin typeface=" Arial"/>
            </a:endParaRPr>
          </a:p>
          <a:p>
            <a:pPr>
              <a:defRPr/>
            </a:pPr>
            <a:r>
              <a:rPr lang="en-US" u="sng" dirty="0" smtClean="0">
                <a:latin typeface=" Arial"/>
              </a:rPr>
              <a:t>Contract Type</a:t>
            </a:r>
            <a:r>
              <a:rPr lang="en-US" dirty="0" smtClean="0">
                <a:latin typeface=" Arial"/>
              </a:rPr>
              <a:t>:  FPP</a:t>
            </a:r>
          </a:p>
          <a:p>
            <a:pPr>
              <a:defRPr/>
            </a:pPr>
            <a:r>
              <a:rPr lang="en-US" u="sng" dirty="0" smtClean="0">
                <a:latin typeface=" Arial"/>
              </a:rPr>
              <a:t>ROM</a:t>
            </a:r>
            <a:r>
              <a:rPr lang="en-US" dirty="0" smtClean="0">
                <a:latin typeface=" Arial"/>
              </a:rPr>
              <a:t>:  $10M</a:t>
            </a:r>
          </a:p>
          <a:p>
            <a:pPr>
              <a:defRPr/>
            </a:pPr>
            <a:r>
              <a:rPr lang="en-US" u="sng" dirty="0" smtClean="0">
                <a:latin typeface=" Arial"/>
              </a:rPr>
              <a:t>Period of Performance</a:t>
            </a:r>
            <a:r>
              <a:rPr lang="en-US" dirty="0" smtClean="0">
                <a:latin typeface=" Arial"/>
              </a:rPr>
              <a:t>:  5 year period of performance</a:t>
            </a:r>
          </a:p>
          <a:p>
            <a:pPr>
              <a:defRPr/>
            </a:pPr>
            <a:r>
              <a:rPr lang="en-US" u="sng" dirty="0" smtClean="0">
                <a:latin typeface=" Arial"/>
              </a:rPr>
              <a:t>Estimated Solicitation Release Date</a:t>
            </a:r>
            <a:r>
              <a:rPr lang="en-US" dirty="0" smtClean="0">
                <a:latin typeface=" Arial"/>
              </a:rPr>
              <a:t>:  Solicitation Closed 27 Jan 2019</a:t>
            </a:r>
          </a:p>
          <a:p>
            <a:pPr>
              <a:defRPr/>
            </a:pPr>
            <a:r>
              <a:rPr lang="en-US" u="sng" dirty="0" smtClean="0">
                <a:latin typeface=" Arial"/>
              </a:rPr>
              <a:t>Contracting Contact</a:t>
            </a:r>
            <a:r>
              <a:rPr lang="en-US" dirty="0" smtClean="0">
                <a:latin typeface=" Arial"/>
              </a:rPr>
              <a:t>:  ACC-APG, Alex Obriwin, KO, </a:t>
            </a:r>
            <a:r>
              <a:rPr lang="en-US" dirty="0" smtClean="0">
                <a:latin typeface=" Arial"/>
                <a:hlinkClick r:id="rId2"/>
              </a:rPr>
              <a:t>alexander.s.obriwin.civ@mail.mil</a:t>
            </a:r>
            <a:r>
              <a:rPr lang="en-US" dirty="0" smtClean="0">
                <a:latin typeface=" Arial"/>
              </a:rPr>
              <a:t> </a:t>
            </a:r>
          </a:p>
          <a:p>
            <a:pPr>
              <a:defRPr/>
            </a:pPr>
            <a:endParaRPr lang="en-US" sz="1600" b="1" dirty="0" smtClean="0">
              <a:latin typeface=" Arial"/>
            </a:endParaRPr>
          </a:p>
          <a:p>
            <a:pPr>
              <a:defRPr/>
            </a:pPr>
            <a:r>
              <a:rPr lang="en-US" sz="1600" b="1" dirty="0" smtClean="0">
                <a:latin typeface=" Arial"/>
              </a:rPr>
              <a:t>*Subject to Cancellation</a:t>
            </a:r>
            <a:endParaRPr lang="en-US" sz="1600" b="1" dirty="0">
              <a:latin typeface=" Arial"/>
            </a:endParaRPr>
          </a:p>
        </p:txBody>
      </p:sp>
    </p:spTree>
    <p:extLst>
      <p:ext uri="{BB962C8B-B14F-4D97-AF65-F5344CB8AC3E}">
        <p14:creationId xmlns:p14="http://schemas.microsoft.com/office/powerpoint/2010/main" val="128771755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dirty="0">
                <a:solidFill>
                  <a:schemeClr val="bg1"/>
                </a:solidFill>
              </a:rPr>
              <a:t>Deputy Assistant Secretary of the Army </a:t>
            </a:r>
            <a:r>
              <a:rPr lang="en-US" sz="1800" dirty="0" smtClean="0">
                <a:solidFill>
                  <a:schemeClr val="bg1"/>
                </a:solidFill>
              </a:rPr>
              <a:t>Cost and Economics</a:t>
            </a:r>
            <a:endParaRPr lang="en-US" sz="1800" dirty="0">
              <a:solidFill>
                <a:schemeClr val="bg1"/>
              </a:solidFil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schemeClr val="bg1"/>
                </a:solidFill>
              </a:rPr>
              <a:t>12</a:t>
            </a:fld>
            <a:endParaRPr lang="en-US" sz="1000" dirty="0">
              <a:solidFill>
                <a:schemeClr val="bg1"/>
              </a:solidFill>
            </a:endParaRPr>
          </a:p>
        </p:txBody>
      </p:sp>
      <p:sp>
        <p:nvSpPr>
          <p:cNvPr id="8" name="TextBox 8"/>
          <p:cNvSpPr txBox="1">
            <a:spLocks noChangeArrowheads="1"/>
          </p:cNvSpPr>
          <p:nvPr/>
        </p:nvSpPr>
        <p:spPr bwMode="auto">
          <a:xfrm>
            <a:off x="0" y="1066800"/>
            <a:ext cx="9144000" cy="4708981"/>
          </a:xfrm>
          <a:prstGeom prst="rect">
            <a:avLst/>
          </a:prstGeom>
          <a:noFill/>
          <a:ln w="9525">
            <a:noFill/>
            <a:miter lim="800000"/>
            <a:headEnd/>
            <a:tailEnd/>
          </a:ln>
        </p:spPr>
        <p:txBody>
          <a:bodyPr wrap="square">
            <a:spAutoFit/>
          </a:bodyPr>
          <a:lstStyle/>
          <a:p>
            <a:pPr>
              <a:defRPr/>
            </a:pPr>
            <a:r>
              <a:rPr lang="en-US" u="sng" dirty="0" smtClean="0">
                <a:latin typeface=" Arial"/>
              </a:rPr>
              <a:t>Project Title</a:t>
            </a:r>
            <a:r>
              <a:rPr lang="en-US" dirty="0" smtClean="0">
                <a:latin typeface=" Arial"/>
              </a:rPr>
              <a:t>:  Financial Management Services</a:t>
            </a:r>
          </a:p>
          <a:p>
            <a:r>
              <a:rPr lang="en-US" u="sng" dirty="0" smtClean="0">
                <a:latin typeface=" Arial"/>
              </a:rPr>
              <a:t>Project Summary</a:t>
            </a:r>
            <a:r>
              <a:rPr lang="en-US" dirty="0" smtClean="0">
                <a:latin typeface=" Arial"/>
              </a:rPr>
              <a:t>:  </a:t>
            </a:r>
            <a:r>
              <a:rPr lang="en-US" dirty="0">
                <a:latin typeface=" Arial"/>
              </a:rPr>
              <a:t>The contractor shall </a:t>
            </a:r>
            <a:r>
              <a:rPr lang="en-US" dirty="0" smtClean="0">
                <a:latin typeface=" Arial"/>
              </a:rPr>
              <a:t>provide </a:t>
            </a:r>
            <a:r>
              <a:rPr lang="en-US" dirty="0">
                <a:latin typeface=" Arial"/>
              </a:rPr>
              <a:t>assistance in accomplishing a wide</a:t>
            </a:r>
          </a:p>
          <a:p>
            <a:r>
              <a:rPr lang="en-US" dirty="0">
                <a:latin typeface=" Arial"/>
              </a:rPr>
              <a:t>range of projects addressing all aspects of Army financial management</a:t>
            </a:r>
            <a:r>
              <a:rPr lang="en-US" dirty="0" smtClean="0">
                <a:latin typeface=" Arial"/>
              </a:rPr>
              <a:t>.</a:t>
            </a:r>
            <a:endParaRPr lang="en-US" sz="800" u="sng" dirty="0">
              <a:latin typeface=" Arial"/>
            </a:endParaRPr>
          </a:p>
          <a:p>
            <a:endParaRPr lang="en-US" u="sng" dirty="0" smtClean="0">
              <a:latin typeface=" Arial"/>
            </a:endParaRPr>
          </a:p>
          <a:p>
            <a:r>
              <a:rPr lang="en-US" u="sng" dirty="0" smtClean="0">
                <a:latin typeface=" Arial"/>
              </a:rPr>
              <a:t>Prior/Current Contract Information</a:t>
            </a:r>
            <a:r>
              <a:rPr lang="en-US" dirty="0" smtClean="0">
                <a:latin typeface=" Arial"/>
              </a:rPr>
              <a:t>:</a:t>
            </a:r>
          </a:p>
          <a:p>
            <a:pPr>
              <a:defRPr/>
            </a:pPr>
            <a:r>
              <a:rPr lang="en-US" dirty="0">
                <a:latin typeface=" Arial"/>
              </a:rPr>
              <a:t>	</a:t>
            </a:r>
            <a:r>
              <a:rPr lang="en-US" dirty="0" smtClean="0">
                <a:latin typeface=" Arial"/>
              </a:rPr>
              <a:t>Contract Number:  W91CRB-16-F-0023</a:t>
            </a:r>
          </a:p>
          <a:p>
            <a:pPr>
              <a:defRPr/>
            </a:pPr>
            <a:r>
              <a:rPr lang="en-US" dirty="0" smtClean="0">
                <a:latin typeface=" Arial"/>
              </a:rPr>
              <a:t>	Incumbent Contractor:  Sehlke Consulting</a:t>
            </a:r>
          </a:p>
          <a:p>
            <a:pPr>
              <a:defRPr/>
            </a:pPr>
            <a:r>
              <a:rPr lang="en-US" dirty="0" smtClean="0">
                <a:latin typeface=" Arial"/>
              </a:rPr>
              <a:t>	Solicitation </a:t>
            </a:r>
            <a:r>
              <a:rPr lang="en-US" dirty="0">
                <a:latin typeface=" Arial"/>
              </a:rPr>
              <a:t>Number:  </a:t>
            </a:r>
            <a:r>
              <a:rPr lang="en-US" dirty="0" smtClean="0">
                <a:latin typeface=" Arial"/>
              </a:rPr>
              <a:t>W91CRB-19-R-0006</a:t>
            </a:r>
          </a:p>
          <a:p>
            <a:pPr>
              <a:defRPr/>
            </a:pPr>
            <a:endParaRPr lang="en-US" sz="800" dirty="0" smtClean="0">
              <a:latin typeface=" Arial"/>
            </a:endParaRPr>
          </a:p>
          <a:p>
            <a:pPr>
              <a:defRPr/>
            </a:pPr>
            <a:r>
              <a:rPr lang="en-US" dirty="0" smtClean="0">
                <a:latin typeface=" Arial"/>
              </a:rPr>
              <a:t>Note: </a:t>
            </a:r>
            <a:r>
              <a:rPr lang="en-US" dirty="0">
                <a:latin typeface=" Arial"/>
              </a:rPr>
              <a:t>This opportunity will be </a:t>
            </a:r>
            <a:r>
              <a:rPr lang="en-US" dirty="0" smtClean="0">
                <a:latin typeface=" Arial"/>
              </a:rPr>
              <a:t>posted on </a:t>
            </a:r>
            <a:r>
              <a:rPr lang="en-US" dirty="0" err="1" smtClean="0">
                <a:latin typeface=" Arial"/>
              </a:rPr>
              <a:t>FedBizOpps</a:t>
            </a:r>
            <a:r>
              <a:rPr lang="en-US" dirty="0" smtClean="0">
                <a:latin typeface=" Arial"/>
              </a:rPr>
              <a:t> as a Small Business set aside. </a:t>
            </a:r>
            <a:endParaRPr lang="en-US" dirty="0">
              <a:latin typeface=" Arial"/>
            </a:endParaRPr>
          </a:p>
          <a:p>
            <a:pPr>
              <a:defRPr/>
            </a:pPr>
            <a:endParaRPr lang="en-US" sz="800" dirty="0" smtClean="0">
              <a:latin typeface=" Arial"/>
            </a:endParaRPr>
          </a:p>
          <a:p>
            <a:pPr>
              <a:defRPr/>
            </a:pPr>
            <a:r>
              <a:rPr lang="en-US" u="sng" dirty="0" smtClean="0">
                <a:latin typeface=" Arial"/>
              </a:rPr>
              <a:t>Contract Type</a:t>
            </a:r>
            <a:r>
              <a:rPr lang="en-US" dirty="0" smtClean="0">
                <a:latin typeface=" Arial"/>
              </a:rPr>
              <a:t>:  FPP</a:t>
            </a:r>
          </a:p>
          <a:p>
            <a:pPr>
              <a:defRPr/>
            </a:pPr>
            <a:r>
              <a:rPr lang="en-US" u="sng" dirty="0" smtClean="0">
                <a:latin typeface=" Arial"/>
              </a:rPr>
              <a:t>ROM</a:t>
            </a:r>
            <a:r>
              <a:rPr lang="en-US" dirty="0" smtClean="0">
                <a:latin typeface=" Arial"/>
              </a:rPr>
              <a:t>:  $8M</a:t>
            </a:r>
          </a:p>
          <a:p>
            <a:pPr>
              <a:defRPr/>
            </a:pPr>
            <a:r>
              <a:rPr lang="en-US" u="sng" dirty="0" smtClean="0">
                <a:latin typeface=" Arial"/>
              </a:rPr>
              <a:t>Period of Performance</a:t>
            </a:r>
            <a:r>
              <a:rPr lang="en-US" dirty="0" smtClean="0">
                <a:latin typeface=" Arial"/>
              </a:rPr>
              <a:t>:  5 year period of performance</a:t>
            </a:r>
          </a:p>
          <a:p>
            <a:pPr>
              <a:defRPr/>
            </a:pPr>
            <a:r>
              <a:rPr lang="en-US" u="sng" dirty="0" smtClean="0">
                <a:latin typeface=" Arial"/>
              </a:rPr>
              <a:t>Estimated Solicitation Release Date</a:t>
            </a:r>
            <a:r>
              <a:rPr lang="en-US" dirty="0" smtClean="0">
                <a:latin typeface=" Arial"/>
              </a:rPr>
              <a:t>:  2QFY19</a:t>
            </a:r>
          </a:p>
          <a:p>
            <a:pPr>
              <a:defRPr/>
            </a:pPr>
            <a:r>
              <a:rPr lang="en-US" u="sng" dirty="0" smtClean="0">
                <a:latin typeface=" Arial"/>
              </a:rPr>
              <a:t>Contracting Contact</a:t>
            </a:r>
            <a:r>
              <a:rPr lang="en-US" dirty="0" smtClean="0">
                <a:latin typeface=" Arial"/>
              </a:rPr>
              <a:t>:  ACC-APG, Alex Obriwin, KO, </a:t>
            </a:r>
            <a:r>
              <a:rPr lang="en-US" dirty="0" smtClean="0">
                <a:latin typeface=" Arial"/>
                <a:hlinkClick r:id="rId2"/>
              </a:rPr>
              <a:t>alexander.s.obriwin.civ@mail.mil</a:t>
            </a:r>
            <a:r>
              <a:rPr lang="en-US" dirty="0" smtClean="0">
                <a:latin typeface=" Arial"/>
              </a:rPr>
              <a:t> </a:t>
            </a:r>
          </a:p>
          <a:p>
            <a:pPr>
              <a:defRPr/>
            </a:pPr>
            <a:endParaRPr lang="en-US" sz="1600" b="1" dirty="0" smtClean="0">
              <a:latin typeface=" Arial"/>
            </a:endParaRPr>
          </a:p>
          <a:p>
            <a:pPr>
              <a:defRPr/>
            </a:pPr>
            <a:r>
              <a:rPr lang="en-US" sz="1600" b="1" dirty="0" smtClean="0">
                <a:latin typeface=" Arial"/>
              </a:rPr>
              <a:t>*Subject to Cancellation</a:t>
            </a:r>
            <a:endParaRPr lang="en-US" sz="1600" b="1" dirty="0">
              <a:latin typeface=" Arial"/>
            </a:endParaRPr>
          </a:p>
        </p:txBody>
      </p:sp>
    </p:spTree>
    <p:extLst>
      <p:ext uri="{BB962C8B-B14F-4D97-AF65-F5344CB8AC3E}">
        <p14:creationId xmlns:p14="http://schemas.microsoft.com/office/powerpoint/2010/main" val="12402599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dirty="0">
                <a:solidFill>
                  <a:schemeClr val="bg1"/>
                </a:solidFill>
              </a:rPr>
              <a:t>Deputy Assistant Secretary of the Army </a:t>
            </a:r>
            <a:r>
              <a:rPr lang="en-US" sz="1800" dirty="0" smtClean="0">
                <a:solidFill>
                  <a:schemeClr val="bg1"/>
                </a:solidFill>
              </a:rPr>
              <a:t>Cost and Economics</a:t>
            </a:r>
            <a:endParaRPr lang="en-US" sz="1800" dirty="0">
              <a:solidFill>
                <a:schemeClr val="bg1"/>
              </a:solidFil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schemeClr val="bg1"/>
                </a:solidFill>
              </a:rPr>
              <a:t>13</a:t>
            </a:fld>
            <a:endParaRPr lang="en-US" sz="1000" dirty="0">
              <a:solidFill>
                <a:schemeClr val="bg1"/>
              </a:solidFill>
            </a:endParaRPr>
          </a:p>
        </p:txBody>
      </p:sp>
      <p:sp>
        <p:nvSpPr>
          <p:cNvPr id="8" name="TextBox 8"/>
          <p:cNvSpPr txBox="1">
            <a:spLocks noChangeArrowheads="1"/>
          </p:cNvSpPr>
          <p:nvPr/>
        </p:nvSpPr>
        <p:spPr bwMode="auto">
          <a:xfrm>
            <a:off x="0" y="1066800"/>
            <a:ext cx="9144000" cy="5109091"/>
          </a:xfrm>
          <a:prstGeom prst="rect">
            <a:avLst/>
          </a:prstGeom>
          <a:noFill/>
          <a:ln w="9525">
            <a:noFill/>
            <a:miter lim="800000"/>
            <a:headEnd/>
            <a:tailEnd/>
          </a:ln>
        </p:spPr>
        <p:txBody>
          <a:bodyPr wrap="square">
            <a:spAutoFit/>
          </a:bodyPr>
          <a:lstStyle/>
          <a:p>
            <a:pPr>
              <a:defRPr/>
            </a:pPr>
            <a:r>
              <a:rPr lang="en-US" sz="1400" u="sng" dirty="0" smtClean="0">
                <a:latin typeface=" Arial"/>
              </a:rPr>
              <a:t>Project Title</a:t>
            </a:r>
            <a:r>
              <a:rPr lang="en-US" sz="1400" dirty="0" smtClean="0">
                <a:latin typeface=" Arial"/>
              </a:rPr>
              <a:t>:  Financial Management Operation Support</a:t>
            </a:r>
          </a:p>
          <a:p>
            <a:r>
              <a:rPr lang="en-US" sz="1400" u="sng" dirty="0" smtClean="0">
                <a:latin typeface=" Arial"/>
              </a:rPr>
              <a:t>Project Summary</a:t>
            </a:r>
            <a:r>
              <a:rPr lang="en-US" sz="1400" dirty="0" smtClean="0">
                <a:latin typeface=" Arial"/>
              </a:rPr>
              <a:t>:  </a:t>
            </a:r>
            <a:r>
              <a:rPr lang="en-US" sz="1400" dirty="0">
                <a:latin typeface=" Arial"/>
              </a:rPr>
              <a:t>The contractor shall provide support services to the DASA-CE in the areas of: 1</a:t>
            </a:r>
            <a:r>
              <a:rPr lang="en-US" sz="1400" dirty="0" smtClean="0">
                <a:latin typeface=" Arial"/>
              </a:rPr>
              <a:t>) the </a:t>
            </a:r>
            <a:r>
              <a:rPr lang="en-US" sz="1400" dirty="0">
                <a:latin typeface=" Arial"/>
              </a:rPr>
              <a:t>development of methodologies and databases to estimate the cost of services being </a:t>
            </a:r>
            <a:r>
              <a:rPr lang="en-US" sz="1400" dirty="0" smtClean="0">
                <a:latin typeface=" Arial"/>
              </a:rPr>
              <a:t>provided by </a:t>
            </a:r>
            <a:r>
              <a:rPr lang="en-US" sz="1400" dirty="0">
                <a:latin typeface=" Arial"/>
              </a:rPr>
              <a:t>Army installations for the purpose of supporting the Planning, Programming, Budgeting </a:t>
            </a:r>
            <a:r>
              <a:rPr lang="en-US" sz="1400" dirty="0" smtClean="0">
                <a:latin typeface=" Arial"/>
              </a:rPr>
              <a:t>and Execution </a:t>
            </a:r>
            <a:r>
              <a:rPr lang="en-US" sz="1400" dirty="0">
                <a:latin typeface=" Arial"/>
              </a:rPr>
              <a:t>System (PPBES) </a:t>
            </a:r>
            <a:r>
              <a:rPr lang="en-US" sz="1400" dirty="0" smtClean="0">
                <a:latin typeface=" Arial"/>
              </a:rPr>
              <a:t>process; </a:t>
            </a:r>
            <a:r>
              <a:rPr lang="en-US" sz="1400" dirty="0">
                <a:latin typeface=" Arial"/>
              </a:rPr>
              <a:t>2) updates, analysis and support of the databases </a:t>
            </a:r>
            <a:r>
              <a:rPr lang="en-US" sz="1400" dirty="0" smtClean="0">
                <a:latin typeface=" Arial"/>
              </a:rPr>
              <a:t>supporting the </a:t>
            </a:r>
            <a:r>
              <a:rPr lang="en-US" sz="1400" dirty="0">
                <a:latin typeface=" Arial"/>
              </a:rPr>
              <a:t>Civilian Rate Execution (CRE</a:t>
            </a:r>
            <a:r>
              <a:rPr lang="en-US" sz="1400" dirty="0" smtClean="0">
                <a:latin typeface=" Arial"/>
              </a:rPr>
              <a:t>); </a:t>
            </a:r>
            <a:r>
              <a:rPr lang="en-US" sz="1400" dirty="0">
                <a:latin typeface=" Arial"/>
              </a:rPr>
              <a:t>3) updates, analysis and support of the databases </a:t>
            </a:r>
            <a:r>
              <a:rPr lang="en-US" sz="1400" dirty="0" smtClean="0">
                <a:latin typeface=" Arial"/>
              </a:rPr>
              <a:t>supporting the </a:t>
            </a:r>
            <a:r>
              <a:rPr lang="en-US" sz="1400" dirty="0">
                <a:latin typeface=" Arial"/>
              </a:rPr>
              <a:t>Army Military-Civilian Cost System (AMCOS) and 4) the development and </a:t>
            </a:r>
            <a:r>
              <a:rPr lang="en-US" sz="1400" dirty="0" smtClean="0">
                <a:latin typeface=" Arial"/>
              </a:rPr>
              <a:t>implementation of </a:t>
            </a:r>
            <a:r>
              <a:rPr lang="en-US" sz="1400" dirty="0">
                <a:latin typeface=" Arial"/>
              </a:rPr>
              <a:t>cost management </a:t>
            </a:r>
            <a:r>
              <a:rPr lang="en-US" sz="1400" dirty="0" smtClean="0">
                <a:latin typeface=" Arial"/>
              </a:rPr>
              <a:t>processes including integration, </a:t>
            </a:r>
            <a:r>
              <a:rPr lang="en-US" sz="1400" dirty="0">
                <a:latin typeface=" Arial"/>
              </a:rPr>
              <a:t>metrics, </a:t>
            </a:r>
            <a:r>
              <a:rPr lang="en-US" sz="1400" dirty="0" smtClean="0">
                <a:latin typeface=" Arial"/>
              </a:rPr>
              <a:t>measures and models </a:t>
            </a:r>
            <a:r>
              <a:rPr lang="en-US" sz="1400" dirty="0">
                <a:latin typeface=" Arial"/>
              </a:rPr>
              <a:t>for the United States </a:t>
            </a:r>
            <a:r>
              <a:rPr lang="en-US" sz="1400" dirty="0" smtClean="0">
                <a:latin typeface=" Arial"/>
              </a:rPr>
              <a:t>Army.</a:t>
            </a:r>
          </a:p>
          <a:p>
            <a:endParaRPr lang="en-US" sz="1400" u="sng" dirty="0" smtClean="0">
              <a:latin typeface=" Arial"/>
            </a:endParaRPr>
          </a:p>
          <a:p>
            <a:r>
              <a:rPr lang="en-US" sz="1400" u="sng" dirty="0" smtClean="0">
                <a:latin typeface=" Arial"/>
              </a:rPr>
              <a:t>Prior/Current Contract Information</a:t>
            </a:r>
            <a:r>
              <a:rPr lang="en-US" sz="1400" dirty="0" smtClean="0">
                <a:latin typeface=" Arial"/>
              </a:rPr>
              <a:t>:</a:t>
            </a:r>
          </a:p>
          <a:p>
            <a:pPr>
              <a:defRPr/>
            </a:pPr>
            <a:r>
              <a:rPr lang="en-US" sz="1400" dirty="0">
                <a:latin typeface=" Arial"/>
              </a:rPr>
              <a:t>	</a:t>
            </a:r>
            <a:r>
              <a:rPr lang="en-US" sz="1400" dirty="0" smtClean="0">
                <a:latin typeface=" Arial"/>
              </a:rPr>
              <a:t>Contract Number:  W91CRB-16-F-0030</a:t>
            </a:r>
          </a:p>
          <a:p>
            <a:pPr>
              <a:defRPr/>
            </a:pPr>
            <a:r>
              <a:rPr lang="en-US" sz="1400" dirty="0" smtClean="0">
                <a:latin typeface=" Arial"/>
              </a:rPr>
              <a:t>	Incumbent Contractor:  </a:t>
            </a:r>
            <a:r>
              <a:rPr lang="en-US" sz="1400" dirty="0" err="1" smtClean="0">
                <a:latin typeface=" Arial"/>
              </a:rPr>
              <a:t>Calibre</a:t>
            </a:r>
            <a:endParaRPr lang="en-US" sz="1400" dirty="0" smtClean="0">
              <a:latin typeface=" Arial"/>
            </a:endParaRPr>
          </a:p>
          <a:p>
            <a:pPr>
              <a:defRPr/>
            </a:pPr>
            <a:r>
              <a:rPr lang="en-US" sz="1400" dirty="0" smtClean="0">
                <a:latin typeface=" Arial"/>
              </a:rPr>
              <a:t>	Solicitation </a:t>
            </a:r>
            <a:r>
              <a:rPr lang="en-US" sz="1400" dirty="0">
                <a:latin typeface=" Arial"/>
              </a:rPr>
              <a:t>Number:  </a:t>
            </a:r>
            <a:r>
              <a:rPr lang="en-US" sz="1400" dirty="0" smtClean="0">
                <a:latin typeface=" Arial"/>
              </a:rPr>
              <a:t>TBD</a:t>
            </a:r>
          </a:p>
          <a:p>
            <a:pPr>
              <a:defRPr/>
            </a:pPr>
            <a:endParaRPr lang="en-US" sz="1400" dirty="0" smtClean="0">
              <a:latin typeface=" Arial"/>
            </a:endParaRPr>
          </a:p>
          <a:p>
            <a:pPr>
              <a:defRPr/>
            </a:pPr>
            <a:r>
              <a:rPr lang="en-US" sz="1400" dirty="0" smtClean="0">
                <a:latin typeface=" Arial"/>
              </a:rPr>
              <a:t>Note: </a:t>
            </a:r>
            <a:r>
              <a:rPr lang="en-US" sz="1400" dirty="0">
                <a:latin typeface=" Arial"/>
              </a:rPr>
              <a:t>This opportunity will be </a:t>
            </a:r>
            <a:r>
              <a:rPr lang="en-US" sz="1400" dirty="0" smtClean="0">
                <a:latin typeface=" Arial"/>
              </a:rPr>
              <a:t>posted on </a:t>
            </a:r>
            <a:r>
              <a:rPr lang="en-US" sz="1400" dirty="0" err="1" smtClean="0">
                <a:latin typeface=" Arial"/>
              </a:rPr>
              <a:t>FedBizOpps</a:t>
            </a:r>
            <a:r>
              <a:rPr lang="en-US" sz="1400" dirty="0" smtClean="0">
                <a:latin typeface=" Arial"/>
              </a:rPr>
              <a:t> as a Small Business set aside. </a:t>
            </a:r>
            <a:endParaRPr lang="en-US" sz="1400" dirty="0">
              <a:latin typeface=" Arial"/>
            </a:endParaRPr>
          </a:p>
          <a:p>
            <a:pPr>
              <a:defRPr/>
            </a:pPr>
            <a:endParaRPr lang="en-US" sz="1400" dirty="0" smtClean="0">
              <a:latin typeface=" Arial"/>
            </a:endParaRPr>
          </a:p>
          <a:p>
            <a:pPr>
              <a:defRPr/>
            </a:pPr>
            <a:r>
              <a:rPr lang="en-US" sz="1400" u="sng" dirty="0" smtClean="0">
                <a:latin typeface=" Arial"/>
              </a:rPr>
              <a:t>Contract Type</a:t>
            </a:r>
            <a:r>
              <a:rPr lang="en-US" sz="1400" dirty="0" smtClean="0">
                <a:latin typeface=" Arial"/>
              </a:rPr>
              <a:t>:  T&amp;M</a:t>
            </a:r>
          </a:p>
          <a:p>
            <a:pPr>
              <a:defRPr/>
            </a:pPr>
            <a:r>
              <a:rPr lang="en-US" sz="1400" u="sng" dirty="0" smtClean="0">
                <a:latin typeface=" Arial"/>
              </a:rPr>
              <a:t>ROM</a:t>
            </a:r>
            <a:r>
              <a:rPr lang="en-US" sz="1400" dirty="0" smtClean="0">
                <a:latin typeface=" Arial"/>
              </a:rPr>
              <a:t>:  $7M</a:t>
            </a:r>
          </a:p>
          <a:p>
            <a:pPr>
              <a:defRPr/>
            </a:pPr>
            <a:r>
              <a:rPr lang="en-US" sz="1400" u="sng" dirty="0" smtClean="0">
                <a:latin typeface=" Arial"/>
              </a:rPr>
              <a:t>Period of Performance</a:t>
            </a:r>
            <a:r>
              <a:rPr lang="en-US" sz="1400" dirty="0" smtClean="0">
                <a:latin typeface=" Arial"/>
              </a:rPr>
              <a:t>:  3 year period of performance</a:t>
            </a:r>
          </a:p>
          <a:p>
            <a:pPr>
              <a:defRPr/>
            </a:pPr>
            <a:r>
              <a:rPr lang="en-US" sz="1400" u="sng" dirty="0" smtClean="0">
                <a:latin typeface=" Arial"/>
              </a:rPr>
              <a:t>Estimated Solicitation Release Date</a:t>
            </a:r>
            <a:r>
              <a:rPr lang="en-US" sz="1400" dirty="0" smtClean="0">
                <a:latin typeface=" Arial"/>
              </a:rPr>
              <a:t>:  2QFY19</a:t>
            </a:r>
          </a:p>
          <a:p>
            <a:pPr>
              <a:defRPr/>
            </a:pPr>
            <a:r>
              <a:rPr lang="en-US" sz="1400" u="sng" dirty="0" smtClean="0">
                <a:latin typeface=" Arial"/>
              </a:rPr>
              <a:t>Contracting Contact</a:t>
            </a:r>
            <a:r>
              <a:rPr lang="en-US" sz="1400" dirty="0" smtClean="0">
                <a:latin typeface=" Arial"/>
              </a:rPr>
              <a:t>:  ACC-APG, Alex Obriwin, KO, </a:t>
            </a:r>
            <a:r>
              <a:rPr lang="en-US" sz="1400" dirty="0" smtClean="0">
                <a:latin typeface=" Arial"/>
                <a:hlinkClick r:id="rId2"/>
              </a:rPr>
              <a:t>alexander.s.obriwin.civ@mail.mil</a:t>
            </a:r>
            <a:r>
              <a:rPr lang="en-US" dirty="0" smtClean="0">
                <a:latin typeface=" Arial"/>
              </a:rPr>
              <a:t> </a:t>
            </a:r>
          </a:p>
          <a:p>
            <a:pPr>
              <a:defRPr/>
            </a:pPr>
            <a:endParaRPr lang="en-US" sz="1400" b="1" dirty="0" smtClean="0">
              <a:latin typeface=" Arial"/>
            </a:endParaRPr>
          </a:p>
          <a:p>
            <a:pPr>
              <a:defRPr/>
            </a:pPr>
            <a:r>
              <a:rPr lang="en-US" sz="1400" b="1" dirty="0" smtClean="0">
                <a:latin typeface=" Arial"/>
              </a:rPr>
              <a:t>*Subject to Cancellation</a:t>
            </a:r>
            <a:endParaRPr lang="en-US" sz="1400" b="1" dirty="0">
              <a:latin typeface=" Arial"/>
            </a:endParaRPr>
          </a:p>
        </p:txBody>
      </p:sp>
    </p:spTree>
    <p:extLst>
      <p:ext uri="{BB962C8B-B14F-4D97-AF65-F5344CB8AC3E}">
        <p14:creationId xmlns:p14="http://schemas.microsoft.com/office/powerpoint/2010/main" val="213276607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dirty="0">
                <a:solidFill>
                  <a:schemeClr val="bg1"/>
                </a:solidFill>
              </a:rPr>
              <a:t>Deputy Assistant Secretary of the Army </a:t>
            </a:r>
            <a:r>
              <a:rPr lang="en-US" sz="1800" dirty="0" smtClean="0">
                <a:solidFill>
                  <a:schemeClr val="bg1"/>
                </a:solidFill>
              </a:rPr>
              <a:t>Cost and Economics</a:t>
            </a:r>
            <a:endParaRPr lang="en-US" sz="1800" dirty="0">
              <a:solidFill>
                <a:schemeClr val="bg1"/>
              </a:solidFil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schemeClr val="bg1"/>
                </a:solidFill>
              </a:rPr>
              <a:t>14</a:t>
            </a:fld>
            <a:endParaRPr lang="en-US" sz="1000" dirty="0">
              <a:solidFill>
                <a:schemeClr val="bg1"/>
              </a:solidFill>
            </a:endParaRPr>
          </a:p>
        </p:txBody>
      </p:sp>
      <p:sp>
        <p:nvSpPr>
          <p:cNvPr id="8" name="TextBox 8"/>
          <p:cNvSpPr txBox="1">
            <a:spLocks noChangeArrowheads="1"/>
          </p:cNvSpPr>
          <p:nvPr/>
        </p:nvSpPr>
        <p:spPr bwMode="auto">
          <a:xfrm>
            <a:off x="0" y="1066800"/>
            <a:ext cx="9144000" cy="5201424"/>
          </a:xfrm>
          <a:prstGeom prst="rect">
            <a:avLst/>
          </a:prstGeom>
          <a:noFill/>
          <a:ln w="9525">
            <a:noFill/>
            <a:miter lim="800000"/>
            <a:headEnd/>
            <a:tailEnd/>
          </a:ln>
        </p:spPr>
        <p:txBody>
          <a:bodyPr wrap="square">
            <a:spAutoFit/>
          </a:bodyPr>
          <a:lstStyle/>
          <a:p>
            <a:pPr>
              <a:defRPr/>
            </a:pPr>
            <a:r>
              <a:rPr lang="en-US" u="sng" dirty="0" smtClean="0">
                <a:latin typeface=" Arial"/>
              </a:rPr>
              <a:t>Project Title</a:t>
            </a:r>
            <a:r>
              <a:rPr lang="en-US" dirty="0" smtClean="0">
                <a:latin typeface=" Arial"/>
              </a:rPr>
              <a:t>:  Army Cost Management Portal</a:t>
            </a:r>
          </a:p>
          <a:p>
            <a:r>
              <a:rPr lang="en-US" u="sng" dirty="0" smtClean="0">
                <a:latin typeface=" Arial"/>
              </a:rPr>
              <a:t>Project Summary</a:t>
            </a:r>
            <a:r>
              <a:rPr lang="en-US" dirty="0" smtClean="0">
                <a:latin typeface=" Arial"/>
              </a:rPr>
              <a:t>:  </a:t>
            </a:r>
            <a:r>
              <a:rPr lang="en-US" dirty="0">
                <a:latin typeface=" Arial"/>
              </a:rPr>
              <a:t>The contractor shall </a:t>
            </a:r>
            <a:r>
              <a:rPr lang="en-US" dirty="0" smtClean="0">
                <a:latin typeface=" Arial"/>
              </a:rPr>
              <a:t>supply </a:t>
            </a:r>
            <a:r>
              <a:rPr lang="en-US" dirty="0">
                <a:latin typeface=" Arial"/>
              </a:rPr>
              <a:t>expertise and guidance to create cost reporting </a:t>
            </a:r>
            <a:r>
              <a:rPr lang="en-US" dirty="0" smtClean="0">
                <a:latin typeface=" Arial"/>
              </a:rPr>
              <a:t>and management </a:t>
            </a:r>
            <a:r>
              <a:rPr lang="en-US" dirty="0">
                <a:latin typeface=" Arial"/>
              </a:rPr>
              <a:t>tools and business processes</a:t>
            </a:r>
            <a:r>
              <a:rPr lang="en-US" dirty="0" smtClean="0">
                <a:latin typeface=" Arial"/>
              </a:rPr>
              <a:t>.</a:t>
            </a:r>
          </a:p>
          <a:p>
            <a:endParaRPr lang="en-US" u="sng" dirty="0">
              <a:latin typeface=" Arial"/>
            </a:endParaRPr>
          </a:p>
          <a:p>
            <a:r>
              <a:rPr lang="en-US" u="sng" dirty="0" smtClean="0">
                <a:latin typeface=" Arial"/>
              </a:rPr>
              <a:t>Prior/Current Contract Information</a:t>
            </a:r>
            <a:r>
              <a:rPr lang="en-US" dirty="0" smtClean="0">
                <a:latin typeface=" Arial"/>
              </a:rPr>
              <a:t>:</a:t>
            </a:r>
          </a:p>
          <a:p>
            <a:pPr>
              <a:defRPr/>
            </a:pPr>
            <a:r>
              <a:rPr lang="en-US" dirty="0">
                <a:latin typeface=" Arial"/>
              </a:rPr>
              <a:t>	</a:t>
            </a:r>
            <a:r>
              <a:rPr lang="en-US" dirty="0" smtClean="0">
                <a:latin typeface=" Arial"/>
              </a:rPr>
              <a:t>Contract Number:  W91CRB-16-F-0052</a:t>
            </a:r>
          </a:p>
          <a:p>
            <a:pPr>
              <a:defRPr/>
            </a:pPr>
            <a:r>
              <a:rPr lang="en-US" dirty="0" smtClean="0">
                <a:latin typeface=" Arial"/>
              </a:rPr>
              <a:t>	Incumbent Contractor:  </a:t>
            </a:r>
            <a:r>
              <a:rPr lang="en-US" dirty="0" err="1" smtClean="0">
                <a:latin typeface=" Arial"/>
              </a:rPr>
              <a:t>Calibre</a:t>
            </a:r>
            <a:endParaRPr lang="en-US" dirty="0" smtClean="0">
              <a:latin typeface=" Arial"/>
            </a:endParaRPr>
          </a:p>
          <a:p>
            <a:pPr>
              <a:defRPr/>
            </a:pPr>
            <a:r>
              <a:rPr lang="en-US" dirty="0" smtClean="0">
                <a:latin typeface=" Arial"/>
              </a:rPr>
              <a:t>	Solicitation </a:t>
            </a:r>
            <a:r>
              <a:rPr lang="en-US" dirty="0">
                <a:latin typeface=" Arial"/>
              </a:rPr>
              <a:t>Number:  </a:t>
            </a:r>
            <a:r>
              <a:rPr lang="en-US" dirty="0" smtClean="0">
                <a:latin typeface=" Arial"/>
              </a:rPr>
              <a:t>TBD</a:t>
            </a:r>
          </a:p>
          <a:p>
            <a:pPr>
              <a:defRPr/>
            </a:pPr>
            <a:endParaRPr lang="en-US" sz="800" dirty="0" smtClean="0">
              <a:latin typeface=" Arial"/>
            </a:endParaRPr>
          </a:p>
          <a:p>
            <a:pPr>
              <a:defRPr/>
            </a:pPr>
            <a:r>
              <a:rPr lang="en-US" dirty="0" smtClean="0">
                <a:latin typeface=" Arial"/>
              </a:rPr>
              <a:t>Note: </a:t>
            </a:r>
            <a:r>
              <a:rPr lang="en-US" dirty="0">
                <a:latin typeface=" Arial"/>
              </a:rPr>
              <a:t>This opportunity will be </a:t>
            </a:r>
            <a:r>
              <a:rPr lang="en-US" dirty="0" smtClean="0">
                <a:latin typeface=" Arial"/>
              </a:rPr>
              <a:t>posted on </a:t>
            </a:r>
            <a:r>
              <a:rPr lang="en-US" dirty="0" err="1" smtClean="0">
                <a:latin typeface=" Arial"/>
              </a:rPr>
              <a:t>FedBizOpps</a:t>
            </a:r>
            <a:r>
              <a:rPr lang="en-US" dirty="0" smtClean="0">
                <a:latin typeface=" Arial"/>
              </a:rPr>
              <a:t> as a Small Business set aside. </a:t>
            </a:r>
            <a:endParaRPr lang="en-US" dirty="0">
              <a:latin typeface=" Arial"/>
            </a:endParaRPr>
          </a:p>
          <a:p>
            <a:pPr>
              <a:defRPr/>
            </a:pPr>
            <a:endParaRPr lang="en-US" sz="800" dirty="0" smtClean="0">
              <a:latin typeface=" Arial"/>
            </a:endParaRPr>
          </a:p>
          <a:p>
            <a:pPr>
              <a:defRPr/>
            </a:pPr>
            <a:r>
              <a:rPr lang="en-US" u="sng" dirty="0" smtClean="0">
                <a:latin typeface=" Arial"/>
              </a:rPr>
              <a:t>Contract Type</a:t>
            </a:r>
            <a:r>
              <a:rPr lang="en-US" dirty="0" smtClean="0">
                <a:latin typeface=" Arial"/>
              </a:rPr>
              <a:t>:  FPP</a:t>
            </a:r>
          </a:p>
          <a:p>
            <a:pPr>
              <a:defRPr/>
            </a:pPr>
            <a:r>
              <a:rPr lang="en-US" u="sng" dirty="0" smtClean="0">
                <a:latin typeface=" Arial"/>
              </a:rPr>
              <a:t>ROM</a:t>
            </a:r>
            <a:r>
              <a:rPr lang="en-US" dirty="0" smtClean="0">
                <a:latin typeface=" Arial"/>
              </a:rPr>
              <a:t>:  $10M</a:t>
            </a:r>
          </a:p>
          <a:p>
            <a:pPr>
              <a:defRPr/>
            </a:pPr>
            <a:r>
              <a:rPr lang="en-US" u="sng" dirty="0" smtClean="0">
                <a:latin typeface=" Arial"/>
              </a:rPr>
              <a:t>Period of Performance</a:t>
            </a:r>
            <a:r>
              <a:rPr lang="en-US" dirty="0" smtClean="0">
                <a:latin typeface=" Arial"/>
              </a:rPr>
              <a:t>:  5 year period of performance</a:t>
            </a:r>
          </a:p>
          <a:p>
            <a:pPr>
              <a:defRPr/>
            </a:pPr>
            <a:r>
              <a:rPr lang="en-US" u="sng" dirty="0" smtClean="0">
                <a:latin typeface=" Arial"/>
              </a:rPr>
              <a:t>Estimated Solicitation Release Date</a:t>
            </a:r>
            <a:r>
              <a:rPr lang="en-US" dirty="0" smtClean="0">
                <a:latin typeface=" Arial"/>
              </a:rPr>
              <a:t>:  3QFY19</a:t>
            </a:r>
          </a:p>
          <a:p>
            <a:pPr>
              <a:defRPr/>
            </a:pPr>
            <a:r>
              <a:rPr lang="en-US" u="sng" dirty="0" smtClean="0">
                <a:latin typeface=" Arial"/>
              </a:rPr>
              <a:t>Contracting Contact</a:t>
            </a:r>
            <a:r>
              <a:rPr lang="en-US" dirty="0" smtClean="0">
                <a:latin typeface=" Arial"/>
              </a:rPr>
              <a:t>:  ACC-APG, Alex Obriwin, KO, </a:t>
            </a:r>
            <a:r>
              <a:rPr lang="en-US" dirty="0" smtClean="0">
                <a:latin typeface=" Arial"/>
                <a:hlinkClick r:id="rId2"/>
              </a:rPr>
              <a:t>alexander.s.obriwin.civ@mail.mil</a:t>
            </a:r>
            <a:r>
              <a:rPr lang="en-US" dirty="0" smtClean="0">
                <a:latin typeface=" Arial"/>
              </a:rPr>
              <a:t> </a:t>
            </a:r>
          </a:p>
          <a:p>
            <a:pPr>
              <a:defRPr/>
            </a:pPr>
            <a:endParaRPr lang="en-US" sz="1600" b="1" dirty="0" smtClean="0">
              <a:latin typeface=" Arial"/>
            </a:endParaRPr>
          </a:p>
          <a:p>
            <a:pPr>
              <a:defRPr/>
            </a:pPr>
            <a:endParaRPr lang="en-US" sz="1600" b="1" dirty="0" smtClean="0">
              <a:latin typeface=" Arial"/>
            </a:endParaRPr>
          </a:p>
          <a:p>
            <a:pPr>
              <a:defRPr/>
            </a:pPr>
            <a:endParaRPr lang="en-US" sz="1600" b="1" dirty="0">
              <a:latin typeface=" Arial"/>
            </a:endParaRPr>
          </a:p>
          <a:p>
            <a:pPr>
              <a:defRPr/>
            </a:pPr>
            <a:r>
              <a:rPr lang="en-US" sz="1600" b="1" dirty="0" smtClean="0">
                <a:latin typeface=" Arial"/>
              </a:rPr>
              <a:t>*Subject to Cancellation</a:t>
            </a:r>
            <a:endParaRPr lang="en-US" sz="1600" b="1" dirty="0">
              <a:latin typeface=" Arial"/>
            </a:endParaRPr>
          </a:p>
        </p:txBody>
      </p:sp>
    </p:spTree>
    <p:extLst>
      <p:ext uri="{BB962C8B-B14F-4D97-AF65-F5344CB8AC3E}">
        <p14:creationId xmlns:p14="http://schemas.microsoft.com/office/powerpoint/2010/main" val="284333630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dirty="0">
                <a:solidFill>
                  <a:schemeClr val="bg1"/>
                </a:solidFill>
              </a:rPr>
              <a:t>Headquarters Department of the Army (HQDA), G-8</a:t>
            </a: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schemeClr val="bg1"/>
                </a:solidFill>
              </a:rPr>
              <a:t>15</a:t>
            </a:fld>
            <a:endParaRPr lang="en-US" sz="1000" dirty="0">
              <a:solidFill>
                <a:schemeClr val="bg1"/>
              </a:solidFill>
            </a:endParaRPr>
          </a:p>
        </p:txBody>
      </p:sp>
      <p:sp>
        <p:nvSpPr>
          <p:cNvPr id="8" name="TextBox 8"/>
          <p:cNvSpPr txBox="1">
            <a:spLocks noChangeArrowheads="1"/>
          </p:cNvSpPr>
          <p:nvPr/>
        </p:nvSpPr>
        <p:spPr bwMode="auto">
          <a:xfrm>
            <a:off x="0" y="1066800"/>
            <a:ext cx="9144000" cy="5509200"/>
          </a:xfrm>
          <a:prstGeom prst="rect">
            <a:avLst/>
          </a:prstGeom>
          <a:noFill/>
          <a:ln w="9525">
            <a:noFill/>
            <a:miter lim="800000"/>
            <a:headEnd/>
            <a:tailEnd/>
          </a:ln>
        </p:spPr>
        <p:txBody>
          <a:bodyPr wrap="square">
            <a:spAutoFit/>
          </a:bodyPr>
          <a:lstStyle/>
          <a:p>
            <a:pPr>
              <a:defRPr/>
            </a:pPr>
            <a:r>
              <a:rPr lang="en-US" u="sng" dirty="0" smtClean="0">
                <a:latin typeface=" Arial"/>
              </a:rPr>
              <a:t>Project Title</a:t>
            </a:r>
            <a:r>
              <a:rPr lang="en-US" dirty="0" smtClean="0">
                <a:latin typeface=" Arial"/>
              </a:rPr>
              <a:t>:  Army Equipping Enterprise System</a:t>
            </a:r>
          </a:p>
          <a:p>
            <a:r>
              <a:rPr lang="en-US" u="sng" dirty="0" smtClean="0">
                <a:latin typeface=" Arial"/>
              </a:rPr>
              <a:t>Project Summary</a:t>
            </a:r>
            <a:r>
              <a:rPr lang="en-US" dirty="0" smtClean="0">
                <a:latin typeface=" Arial"/>
              </a:rPr>
              <a:t>:  </a:t>
            </a:r>
            <a:r>
              <a:rPr lang="en-US" dirty="0">
                <a:latin typeface=" Arial"/>
              </a:rPr>
              <a:t>The contractor </a:t>
            </a:r>
            <a:r>
              <a:rPr lang="en-US" dirty="0" smtClean="0">
                <a:latin typeface=" Arial"/>
              </a:rPr>
              <a:t>shall provide non-personal </a:t>
            </a:r>
            <a:r>
              <a:rPr lang="en-US" dirty="0">
                <a:latin typeface=" Arial"/>
              </a:rPr>
              <a:t>services necessary to perform database management</a:t>
            </a:r>
            <a:r>
              <a:rPr lang="en-US" dirty="0" smtClean="0">
                <a:latin typeface=" Arial"/>
              </a:rPr>
              <a:t>, software </a:t>
            </a:r>
            <a:r>
              <a:rPr lang="en-US" dirty="0">
                <a:latin typeface=" Arial"/>
              </a:rPr>
              <a:t>development and integration, and business process development except for those items specified </a:t>
            </a:r>
            <a:r>
              <a:rPr lang="en-US" dirty="0" smtClean="0">
                <a:latin typeface=" Arial"/>
              </a:rPr>
              <a:t>as Government </a:t>
            </a:r>
            <a:r>
              <a:rPr lang="en-US" dirty="0">
                <a:latin typeface=" Arial"/>
              </a:rPr>
              <a:t>furnished property (GFP) or services, in support of Headquarters Department of the </a:t>
            </a:r>
            <a:r>
              <a:rPr lang="en-US" dirty="0" smtClean="0">
                <a:latin typeface=" Arial"/>
              </a:rPr>
              <a:t>Army (</a:t>
            </a:r>
            <a:r>
              <a:rPr lang="en-US" dirty="0">
                <a:latin typeface=" Arial"/>
              </a:rPr>
              <a:t>HQDA), G-8 Force Development (FD) and other HQDA </a:t>
            </a:r>
            <a:r>
              <a:rPr lang="en-US" dirty="0" smtClean="0">
                <a:latin typeface=" Arial"/>
              </a:rPr>
              <a:t>agencies.</a:t>
            </a:r>
            <a:endParaRPr lang="en-US" dirty="0" smtClean="0">
              <a:latin typeface=" Arial"/>
            </a:endParaRPr>
          </a:p>
          <a:p>
            <a:endParaRPr lang="en-US" u="sng" dirty="0">
              <a:latin typeface=" Arial"/>
            </a:endParaRPr>
          </a:p>
          <a:p>
            <a:r>
              <a:rPr lang="en-US" u="sng" dirty="0" smtClean="0">
                <a:latin typeface=" Arial"/>
              </a:rPr>
              <a:t>Prior/Current Contract Information</a:t>
            </a:r>
            <a:r>
              <a:rPr lang="en-US" dirty="0" smtClean="0">
                <a:latin typeface=" Arial"/>
              </a:rPr>
              <a:t>:</a:t>
            </a:r>
          </a:p>
          <a:p>
            <a:pPr>
              <a:defRPr/>
            </a:pPr>
            <a:r>
              <a:rPr lang="en-US" dirty="0">
                <a:latin typeface=" Arial"/>
              </a:rPr>
              <a:t>	</a:t>
            </a:r>
            <a:r>
              <a:rPr lang="en-US" dirty="0" smtClean="0">
                <a:latin typeface=" Arial"/>
              </a:rPr>
              <a:t>Contract Number:  W91CRB-15-C-0023</a:t>
            </a:r>
          </a:p>
          <a:p>
            <a:pPr>
              <a:defRPr/>
            </a:pPr>
            <a:r>
              <a:rPr lang="en-US" dirty="0" smtClean="0">
                <a:latin typeface=" Arial"/>
              </a:rPr>
              <a:t>	Incumbent Contractor:  Deloitte Consulting</a:t>
            </a:r>
          </a:p>
          <a:p>
            <a:pPr>
              <a:defRPr/>
            </a:pPr>
            <a:r>
              <a:rPr lang="en-US" dirty="0" smtClean="0">
                <a:latin typeface=" Arial"/>
              </a:rPr>
              <a:t>	Solicitation </a:t>
            </a:r>
            <a:r>
              <a:rPr lang="en-US" dirty="0">
                <a:latin typeface=" Arial"/>
              </a:rPr>
              <a:t>Number:  </a:t>
            </a:r>
            <a:r>
              <a:rPr lang="en-US" dirty="0" smtClean="0">
                <a:latin typeface=" Arial"/>
              </a:rPr>
              <a:t>W91CRB-19-R-0013</a:t>
            </a:r>
          </a:p>
          <a:p>
            <a:pPr>
              <a:defRPr/>
            </a:pPr>
            <a:endParaRPr lang="en-US" sz="800" dirty="0" smtClean="0">
              <a:latin typeface=" Arial"/>
            </a:endParaRPr>
          </a:p>
          <a:p>
            <a:pPr>
              <a:defRPr/>
            </a:pPr>
            <a:endParaRPr lang="en-US" sz="800" dirty="0" smtClean="0">
              <a:latin typeface=" Arial"/>
            </a:endParaRPr>
          </a:p>
          <a:p>
            <a:pPr>
              <a:defRPr/>
            </a:pPr>
            <a:r>
              <a:rPr lang="en-US" u="sng" dirty="0" smtClean="0">
                <a:latin typeface=" Arial"/>
              </a:rPr>
              <a:t>Contract Type</a:t>
            </a:r>
            <a:r>
              <a:rPr lang="en-US" dirty="0" smtClean="0">
                <a:latin typeface=" Arial"/>
              </a:rPr>
              <a:t>:  CPFF and FFP</a:t>
            </a:r>
          </a:p>
          <a:p>
            <a:pPr>
              <a:defRPr/>
            </a:pPr>
            <a:r>
              <a:rPr lang="en-US" u="sng" dirty="0" smtClean="0">
                <a:latin typeface=" Arial"/>
              </a:rPr>
              <a:t>ROM</a:t>
            </a:r>
            <a:r>
              <a:rPr lang="en-US" dirty="0" smtClean="0">
                <a:latin typeface=" Arial"/>
              </a:rPr>
              <a:t>:  $</a:t>
            </a:r>
            <a:r>
              <a:rPr lang="en-US" dirty="0">
                <a:latin typeface=" Arial"/>
              </a:rPr>
              <a:t>4</a:t>
            </a:r>
            <a:r>
              <a:rPr lang="en-US" dirty="0" smtClean="0">
                <a:latin typeface=" Arial"/>
              </a:rPr>
              <a:t>5M</a:t>
            </a:r>
          </a:p>
          <a:p>
            <a:pPr>
              <a:defRPr/>
            </a:pPr>
            <a:r>
              <a:rPr lang="en-US" u="sng" dirty="0" smtClean="0">
                <a:latin typeface=" Arial"/>
              </a:rPr>
              <a:t>Period of Performance</a:t>
            </a:r>
            <a:r>
              <a:rPr lang="en-US" dirty="0" smtClean="0">
                <a:latin typeface=" Arial"/>
              </a:rPr>
              <a:t>:  5 year period of performance</a:t>
            </a:r>
          </a:p>
          <a:p>
            <a:pPr>
              <a:defRPr/>
            </a:pPr>
            <a:r>
              <a:rPr lang="en-US" u="sng" dirty="0" smtClean="0">
                <a:latin typeface=" Arial"/>
              </a:rPr>
              <a:t>Estimated Solicitation Release Date</a:t>
            </a:r>
            <a:r>
              <a:rPr lang="en-US" dirty="0" smtClean="0">
                <a:latin typeface=" Arial"/>
              </a:rPr>
              <a:t>:  3QFY19</a:t>
            </a:r>
          </a:p>
          <a:p>
            <a:pPr>
              <a:defRPr/>
            </a:pPr>
            <a:r>
              <a:rPr lang="en-US" u="sng" dirty="0" smtClean="0">
                <a:latin typeface=" Arial"/>
              </a:rPr>
              <a:t>Contracting Contact</a:t>
            </a:r>
            <a:r>
              <a:rPr lang="en-US" dirty="0" smtClean="0">
                <a:latin typeface=" Arial"/>
              </a:rPr>
              <a:t>:  ACC-APG, Alex Obriwin, KO, </a:t>
            </a:r>
            <a:r>
              <a:rPr lang="en-US" dirty="0" smtClean="0">
                <a:latin typeface=" Arial"/>
                <a:hlinkClick r:id="rId2"/>
              </a:rPr>
              <a:t>alexander.s.obriwin.civ@mail.mil</a:t>
            </a:r>
            <a:r>
              <a:rPr lang="en-US" dirty="0" smtClean="0">
                <a:latin typeface=" Arial"/>
              </a:rPr>
              <a:t> </a:t>
            </a:r>
          </a:p>
          <a:p>
            <a:pPr>
              <a:defRPr/>
            </a:pPr>
            <a:endParaRPr lang="en-US" sz="1600" b="1" dirty="0" smtClean="0">
              <a:latin typeface=" Arial"/>
            </a:endParaRPr>
          </a:p>
          <a:p>
            <a:pPr>
              <a:defRPr/>
            </a:pPr>
            <a:endParaRPr lang="en-US" sz="1600" b="1" dirty="0">
              <a:latin typeface=" Arial"/>
            </a:endParaRPr>
          </a:p>
          <a:p>
            <a:pPr>
              <a:defRPr/>
            </a:pPr>
            <a:r>
              <a:rPr lang="en-US" sz="1600" b="1" dirty="0" smtClean="0">
                <a:latin typeface=" Arial"/>
              </a:rPr>
              <a:t>*Subject to Cancellation</a:t>
            </a:r>
            <a:endParaRPr lang="en-US" sz="1600" b="1" dirty="0">
              <a:latin typeface=" Arial"/>
            </a:endParaRPr>
          </a:p>
        </p:txBody>
      </p:sp>
    </p:spTree>
    <p:extLst>
      <p:ext uri="{BB962C8B-B14F-4D97-AF65-F5344CB8AC3E}">
        <p14:creationId xmlns:p14="http://schemas.microsoft.com/office/powerpoint/2010/main" val="341717645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16</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u="sng" dirty="0">
                <a:solidFill>
                  <a:prstClr val="black"/>
                </a:solidFill>
                <a:latin typeface=" Arial"/>
              </a:rPr>
              <a:t>Project </a:t>
            </a:r>
            <a:r>
              <a:rPr lang="en-US" u="sng" dirty="0" smtClean="0">
                <a:solidFill>
                  <a:prstClr val="black"/>
                </a:solidFill>
                <a:latin typeface=" Arial"/>
              </a:rPr>
              <a:t>Title</a:t>
            </a:r>
            <a:r>
              <a:rPr lang="en-US" dirty="0" smtClean="0">
                <a:solidFill>
                  <a:prstClr val="black"/>
                </a:solidFill>
                <a:latin typeface=" Arial"/>
              </a:rPr>
              <a:t>:  Active RFID Assembly Devices (ARADs)</a:t>
            </a:r>
          </a:p>
          <a:p>
            <a:pPr>
              <a:defRPr/>
            </a:pPr>
            <a:r>
              <a:rPr lang="en-US" u="sng" dirty="0">
                <a:solidFill>
                  <a:prstClr val="black"/>
                </a:solidFill>
                <a:latin typeface=" Arial"/>
              </a:rPr>
              <a:t>Project </a:t>
            </a:r>
            <a:r>
              <a:rPr lang="en-US" u="sng" dirty="0" smtClean="0">
                <a:solidFill>
                  <a:prstClr val="black"/>
                </a:solidFill>
                <a:latin typeface=" Arial"/>
              </a:rPr>
              <a:t>Summary:</a:t>
            </a:r>
            <a:r>
              <a:rPr lang="en-US" dirty="0" smtClean="0">
                <a:solidFill>
                  <a:prstClr val="black"/>
                </a:solidFill>
                <a:latin typeface=" Arial"/>
              </a:rPr>
              <a:t>  The </a:t>
            </a:r>
            <a:r>
              <a:rPr lang="en-US" dirty="0">
                <a:solidFill>
                  <a:prstClr val="black"/>
                </a:solidFill>
                <a:latin typeface=" Arial"/>
              </a:rPr>
              <a:t>ARAD is a Radio Frequency Identification (RFID) device that consists of microelectronics on a specialized flex circuit </a:t>
            </a:r>
            <a:r>
              <a:rPr lang="en-US" dirty="0" smtClean="0">
                <a:solidFill>
                  <a:prstClr val="black"/>
                </a:solidFill>
                <a:latin typeface=" Arial"/>
              </a:rPr>
              <a:t>board. </a:t>
            </a:r>
            <a:r>
              <a:rPr lang="en-US" dirty="0">
                <a:latin typeface=" Arial"/>
              </a:rPr>
              <a:t>All of the parts that are to be populated on the flexible circuit board </a:t>
            </a:r>
            <a:r>
              <a:rPr lang="en-US" dirty="0" smtClean="0">
                <a:latin typeface=" Arial"/>
              </a:rPr>
              <a:t>are </a:t>
            </a:r>
            <a:r>
              <a:rPr lang="en-US" dirty="0">
                <a:latin typeface=" Arial"/>
              </a:rPr>
              <a:t>available as COTS electronic component parts. However, the circuit board itself is a unique layered design, with its own design specification to meet the intended Government </a:t>
            </a:r>
            <a:r>
              <a:rPr lang="en-US" dirty="0" smtClean="0">
                <a:latin typeface=" Arial"/>
              </a:rPr>
              <a:t>applications. </a:t>
            </a:r>
            <a:r>
              <a:rPr lang="en-US" dirty="0" smtClean="0">
                <a:solidFill>
                  <a:prstClr val="black"/>
                </a:solidFill>
                <a:latin typeface=" Arial"/>
              </a:rPr>
              <a:t> </a:t>
            </a:r>
            <a:endParaRPr lang="en-US" dirty="0">
              <a:solidFill>
                <a:prstClr val="black"/>
              </a:solidFill>
              <a:latin typeface=" Arial"/>
            </a:endParaRPr>
          </a:p>
          <a:p>
            <a:pPr>
              <a:defRPr/>
            </a:pPr>
            <a:endParaRPr lang="en-US" u="sng" dirty="0" smtClean="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sz="1600" dirty="0" smtClean="0">
                <a:solidFill>
                  <a:prstClr val="black"/>
                </a:solidFill>
                <a:latin typeface=" Arial"/>
              </a:rPr>
              <a:t>	</a:t>
            </a:r>
            <a:r>
              <a:rPr lang="en-US" dirty="0">
                <a:solidFill>
                  <a:prstClr val="black"/>
                </a:solidFill>
                <a:latin typeface=" Arial"/>
              </a:rPr>
              <a:t>Contract Number:  W91CRB-13-D-0002</a:t>
            </a:r>
          </a:p>
          <a:p>
            <a:pPr>
              <a:defRPr/>
            </a:pPr>
            <a:r>
              <a:rPr lang="en-US" dirty="0">
                <a:solidFill>
                  <a:prstClr val="black"/>
                </a:solidFill>
                <a:latin typeface=" Arial"/>
              </a:rPr>
              <a:t>	Incumbent Contractor:  Benchmark Electronics, Inc</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Solicitation Number: W91CRB-19-R-0005</a:t>
            </a:r>
            <a:endParaRPr lang="en-US" dirty="0">
              <a:solidFill>
                <a:prstClr val="black"/>
              </a:solidFill>
              <a:latin typeface=" Arial"/>
            </a:endParaRPr>
          </a:p>
          <a:p>
            <a:pPr>
              <a:defRPr/>
            </a:pPr>
            <a:endParaRPr lang="en-US" dirty="0">
              <a:solidFill>
                <a:prstClr val="black"/>
              </a:solidFill>
              <a:latin typeface=" Arial"/>
            </a:endParaRPr>
          </a:p>
          <a:p>
            <a:pPr>
              <a:defRPr/>
            </a:pPr>
            <a:r>
              <a:rPr lang="en-US" sz="1600" dirty="0" smtClean="0">
                <a:solidFill>
                  <a:prstClr val="black"/>
                </a:solidFill>
                <a:latin typeface=" Arial"/>
              </a:rPr>
              <a:t>Note:  </a:t>
            </a:r>
            <a:r>
              <a:rPr lang="en-US" dirty="0">
                <a:solidFill>
                  <a:prstClr val="black"/>
                </a:solidFill>
                <a:latin typeface=" Arial"/>
              </a:rPr>
              <a:t>Small Business Set Aside</a:t>
            </a:r>
          </a:p>
          <a:p>
            <a:pPr>
              <a:defRPr/>
            </a:pPr>
            <a:r>
              <a:rPr lang="en-US" u="sng" dirty="0" smtClean="0">
                <a:solidFill>
                  <a:prstClr val="black"/>
                </a:solidFill>
                <a:latin typeface=" Arial"/>
              </a:rPr>
              <a:t>Contract </a:t>
            </a:r>
            <a:r>
              <a:rPr lang="en-US" u="sng" dirty="0" smtClean="0">
                <a:solidFill>
                  <a:prstClr val="black"/>
                </a:solidFill>
                <a:latin typeface=" Arial"/>
              </a:rPr>
              <a:t>Type</a:t>
            </a:r>
            <a:r>
              <a:rPr lang="en-US" dirty="0" smtClean="0">
                <a:solidFill>
                  <a:prstClr val="black"/>
                </a:solidFill>
                <a:latin typeface=" Arial"/>
              </a:rPr>
              <a:t>:  Delivery orders will be FFP </a:t>
            </a:r>
          </a:p>
          <a:p>
            <a:pPr>
              <a:defRPr/>
            </a:pPr>
            <a:r>
              <a:rPr lang="en-US" u="sng" dirty="0" smtClean="0">
                <a:solidFill>
                  <a:prstClr val="black"/>
                </a:solidFill>
                <a:latin typeface=" Arial"/>
              </a:rPr>
              <a:t>ROM</a:t>
            </a:r>
            <a:r>
              <a:rPr lang="en-US" dirty="0" smtClean="0">
                <a:solidFill>
                  <a:prstClr val="black"/>
                </a:solidFill>
                <a:latin typeface=" Arial"/>
              </a:rPr>
              <a:t>:  $10M</a:t>
            </a:r>
          </a:p>
          <a:p>
            <a:pPr>
              <a:defRPr/>
            </a:pPr>
            <a:r>
              <a:rPr lang="en-US" u="sng" dirty="0" smtClean="0">
                <a:solidFill>
                  <a:prstClr val="black"/>
                </a:solidFill>
                <a:latin typeface=" Arial"/>
              </a:rPr>
              <a:t>Period of Performance</a:t>
            </a:r>
            <a:r>
              <a:rPr lang="en-US" dirty="0" smtClean="0">
                <a:solidFill>
                  <a:prstClr val="black"/>
                </a:solidFill>
                <a:latin typeface=" Arial"/>
              </a:rPr>
              <a:t>:  5 year ordering period</a:t>
            </a:r>
          </a:p>
          <a:p>
            <a:pPr>
              <a:defRPr/>
            </a:pPr>
            <a:r>
              <a:rPr lang="en-US" u="sng" dirty="0" smtClean="0">
                <a:solidFill>
                  <a:prstClr val="black"/>
                </a:solidFill>
                <a:latin typeface=" Arial"/>
              </a:rPr>
              <a:t>Estimated Solicitation Release Date</a:t>
            </a:r>
            <a:r>
              <a:rPr lang="en-US" dirty="0" smtClean="0">
                <a:solidFill>
                  <a:prstClr val="black"/>
                </a:solidFill>
                <a:latin typeface=" Arial"/>
              </a:rPr>
              <a:t>:  </a:t>
            </a:r>
            <a:r>
              <a:rPr lang="en-US" dirty="0">
                <a:solidFill>
                  <a:prstClr val="black"/>
                </a:solidFill>
                <a:latin typeface=" Arial"/>
              </a:rPr>
              <a:t>2</a:t>
            </a:r>
            <a:r>
              <a:rPr lang="en-US" dirty="0" smtClean="0">
                <a:solidFill>
                  <a:prstClr val="black"/>
                </a:solidFill>
                <a:latin typeface=" Arial"/>
              </a:rPr>
              <a:t>QFY19</a:t>
            </a:r>
          </a:p>
          <a:p>
            <a:pPr>
              <a:defRPr/>
            </a:pPr>
            <a:r>
              <a:rPr lang="en-US" u="sng" dirty="0" smtClean="0">
                <a:solidFill>
                  <a:prstClr val="black"/>
                </a:solidFill>
                <a:latin typeface=" Arial"/>
              </a:rPr>
              <a:t>Contracting Contact</a:t>
            </a:r>
            <a:r>
              <a:rPr lang="en-US" dirty="0" smtClean="0">
                <a:solidFill>
                  <a:prstClr val="black"/>
                </a:solidFill>
                <a:latin typeface=" Arial"/>
              </a:rPr>
              <a:t>:  ACC-APG, Samantha Shultz, KO, </a:t>
            </a:r>
            <a:r>
              <a:rPr lang="en-US" dirty="0" smtClean="0">
                <a:solidFill>
                  <a:prstClr val="black"/>
                </a:solidFill>
                <a:latin typeface=" Arial"/>
                <a:hlinkClick r:id="rId2"/>
              </a:rPr>
              <a:t>samantha.l.shultz2.civ@mail.mil</a:t>
            </a:r>
            <a:r>
              <a:rPr lang="en-US" dirty="0" smtClean="0">
                <a:solidFill>
                  <a:prstClr val="black"/>
                </a:solidFill>
                <a:latin typeface=" Arial"/>
              </a:rPr>
              <a:t> </a:t>
            </a:r>
          </a:p>
          <a:p>
            <a:pPr>
              <a:defRPr/>
            </a:pPr>
            <a:r>
              <a:rPr lang="en-US" sz="1600" b="1" dirty="0" smtClean="0">
                <a:solidFill>
                  <a:prstClr val="black"/>
                </a:solidFill>
                <a:latin typeface=" Arial"/>
              </a:rPr>
              <a:t>*</a:t>
            </a: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23684230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17</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Soldier Borne Sensors (SBS)</a:t>
            </a:r>
          </a:p>
          <a:p>
            <a:pPr>
              <a:defRPr/>
            </a:pPr>
            <a:r>
              <a:rPr lang="en-US" u="sng" dirty="0">
                <a:solidFill>
                  <a:prstClr val="black"/>
                </a:solidFill>
                <a:latin typeface=" Arial"/>
              </a:rPr>
              <a:t>Project Summary: </a:t>
            </a:r>
            <a:r>
              <a:rPr lang="en-US" dirty="0">
                <a:solidFill>
                  <a:prstClr val="black"/>
                </a:solidFill>
                <a:latin typeface=" Arial"/>
              </a:rPr>
              <a:t>The </a:t>
            </a:r>
            <a:r>
              <a:rPr lang="en-US" dirty="0" smtClean="0">
                <a:solidFill>
                  <a:prstClr val="black"/>
                </a:solidFill>
                <a:latin typeface=" Arial"/>
              </a:rPr>
              <a:t>SBS provides </a:t>
            </a:r>
            <a:r>
              <a:rPr lang="en-US" dirty="0">
                <a:solidFill>
                  <a:prstClr val="black"/>
                </a:solidFill>
                <a:latin typeface=" Arial"/>
              </a:rPr>
              <a:t>a near term solution to three Army Warfighting Challenges (AWFCs) primarily to enhance the lethality and force protection. The initial increment of the SBS provides a near term solution to address the AWFCs with mobile sensors that provide the Squad with an organic, “quick look” capability to scan larger operational areas without the delay of coordinating for non-organic assets.  </a:t>
            </a:r>
            <a:endParaRPr lang="en-US" dirty="0" smtClean="0">
              <a:solidFill>
                <a:prstClr val="black"/>
              </a:solidFill>
              <a:latin typeface=" Arial"/>
            </a:endParaRPr>
          </a:p>
          <a:p>
            <a:pPr>
              <a:defRPr/>
            </a:pPr>
            <a:endParaRPr lang="en-US" u="sng" dirty="0" smtClean="0">
              <a:solidFill>
                <a:prstClr val="black"/>
              </a:solidFill>
              <a:latin typeface=" Arial"/>
            </a:endParaRPr>
          </a:p>
          <a:p>
            <a:pPr>
              <a:defRPr/>
            </a:pPr>
            <a:r>
              <a:rPr lang="en-US" u="sng" dirty="0">
                <a:solidFill>
                  <a:prstClr val="black"/>
                </a:solidFill>
                <a:latin typeface=" Arial"/>
              </a:rPr>
              <a:t>Prior/Current Contract Information:</a:t>
            </a:r>
          </a:p>
          <a:p>
            <a:pPr>
              <a:defRPr/>
            </a:pPr>
            <a:r>
              <a:rPr lang="en-US" dirty="0" smtClean="0">
                <a:solidFill>
                  <a:prstClr val="black"/>
                </a:solidFill>
                <a:latin typeface=" Arial"/>
              </a:rPr>
              <a:t>	Contract Number:  N/A</a:t>
            </a:r>
          </a:p>
          <a:p>
            <a:pPr>
              <a:defRPr/>
            </a:pPr>
            <a:r>
              <a:rPr lang="en-US" dirty="0" smtClean="0">
                <a:solidFill>
                  <a:prstClr val="black"/>
                </a:solidFill>
                <a:latin typeface=" Arial"/>
              </a:rPr>
              <a:t>	Incumbent Contractor: N/A</a:t>
            </a:r>
          </a:p>
          <a:p>
            <a:pPr>
              <a:defRPr/>
            </a:pPr>
            <a:endParaRPr lang="en-US" dirty="0" smtClean="0">
              <a:solidFill>
                <a:prstClr val="black"/>
              </a:solidFill>
              <a:latin typeface=" Arial"/>
            </a:endParaRPr>
          </a:p>
          <a:p>
            <a:pPr>
              <a:defRPr/>
            </a:pPr>
            <a:r>
              <a:rPr lang="en-US" u="sng" dirty="0">
                <a:solidFill>
                  <a:prstClr val="black"/>
                </a:solidFill>
                <a:latin typeface=" Arial"/>
              </a:rPr>
              <a:t>Contract </a:t>
            </a:r>
            <a:r>
              <a:rPr lang="en-US" u="sng" dirty="0" smtClean="0">
                <a:solidFill>
                  <a:prstClr val="black"/>
                </a:solidFill>
                <a:latin typeface=" Arial"/>
              </a:rPr>
              <a:t>Type</a:t>
            </a:r>
            <a:r>
              <a:rPr lang="en-US" dirty="0" smtClean="0">
                <a:solidFill>
                  <a:prstClr val="black"/>
                </a:solidFill>
                <a:latin typeface=" Arial"/>
              </a:rPr>
              <a:t>:  Delivery orders will be FFP </a:t>
            </a:r>
          </a:p>
          <a:p>
            <a:pPr>
              <a:defRPr/>
            </a:pPr>
            <a:r>
              <a:rPr lang="en-US" u="sng" dirty="0" smtClean="0">
                <a:solidFill>
                  <a:prstClr val="black"/>
                </a:solidFill>
                <a:latin typeface=" Arial"/>
              </a:rPr>
              <a:t>ROM</a:t>
            </a:r>
            <a:r>
              <a:rPr lang="en-US" dirty="0" smtClean="0">
                <a:solidFill>
                  <a:prstClr val="black"/>
                </a:solidFill>
                <a:latin typeface=" Arial"/>
              </a:rPr>
              <a:t>:  $150M</a:t>
            </a:r>
          </a:p>
          <a:p>
            <a:pPr>
              <a:defRPr/>
            </a:pPr>
            <a:r>
              <a:rPr lang="en-US" u="sng" dirty="0">
                <a:solidFill>
                  <a:prstClr val="black"/>
                </a:solidFill>
                <a:latin typeface=" Arial"/>
              </a:rPr>
              <a:t>Period of </a:t>
            </a:r>
            <a:r>
              <a:rPr lang="en-US" u="sng" dirty="0" smtClean="0">
                <a:solidFill>
                  <a:prstClr val="black"/>
                </a:solidFill>
                <a:latin typeface=" Arial"/>
              </a:rPr>
              <a:t>Performance</a:t>
            </a:r>
            <a:r>
              <a:rPr lang="en-US" dirty="0" smtClean="0">
                <a:solidFill>
                  <a:prstClr val="black"/>
                </a:solidFill>
                <a:latin typeface=" Arial"/>
              </a:rPr>
              <a:t>:  5 year ordering period</a:t>
            </a:r>
          </a:p>
          <a:p>
            <a:pPr>
              <a:defRPr/>
            </a:pPr>
            <a:r>
              <a:rPr lang="en-US" u="sng" dirty="0">
                <a:solidFill>
                  <a:prstClr val="black"/>
                </a:solidFill>
                <a:latin typeface=" Arial"/>
              </a:rPr>
              <a:t>Estimated Solicitation Release </a:t>
            </a:r>
            <a:r>
              <a:rPr lang="en-US" u="sng" dirty="0" smtClean="0">
                <a:solidFill>
                  <a:prstClr val="black"/>
                </a:solidFill>
                <a:latin typeface=" Arial"/>
              </a:rPr>
              <a:t>Date</a:t>
            </a:r>
            <a:r>
              <a:rPr lang="en-US" dirty="0" smtClean="0">
                <a:solidFill>
                  <a:prstClr val="black"/>
                </a:solidFill>
                <a:latin typeface=" Arial"/>
              </a:rPr>
              <a:t>:  TBD</a:t>
            </a:r>
          </a:p>
          <a:p>
            <a:pPr>
              <a:defRPr/>
            </a:pPr>
            <a:r>
              <a:rPr lang="en-US" u="sng" dirty="0" smtClean="0">
                <a:solidFill>
                  <a:prstClr val="black"/>
                </a:solidFill>
                <a:latin typeface=" Arial"/>
              </a:rPr>
              <a:t>Contracting Contact</a:t>
            </a:r>
            <a:r>
              <a:rPr lang="en-US" dirty="0" smtClean="0">
                <a:solidFill>
                  <a:prstClr val="black"/>
                </a:solidFill>
                <a:latin typeface=" Arial"/>
              </a:rPr>
              <a:t>:  ACC-APG, Samantha Shultz, KO, </a:t>
            </a:r>
            <a:r>
              <a:rPr lang="en-US" dirty="0" smtClean="0">
                <a:solidFill>
                  <a:prstClr val="black"/>
                </a:solidFill>
                <a:latin typeface=" Arial"/>
                <a:hlinkClick r:id="rId2"/>
              </a:rPr>
              <a:t>samantha.l.shultz2.civ@mail.mil</a:t>
            </a:r>
            <a:r>
              <a:rPr lang="en-US" dirty="0" smtClean="0">
                <a:solidFill>
                  <a:prstClr val="black"/>
                </a:solidFill>
                <a:latin typeface=" Arial"/>
              </a:rPr>
              <a:t> </a:t>
            </a:r>
          </a:p>
          <a:p>
            <a:pPr>
              <a:defRPr/>
            </a:pPr>
            <a:endParaRPr lang="en-US" dirty="0" smtClean="0">
              <a:solidFill>
                <a:prstClr val="black"/>
              </a:solidFill>
              <a:latin typeface=" Arial"/>
            </a:endParaRPr>
          </a:p>
          <a:p>
            <a:pPr>
              <a:defRPr/>
            </a:pPr>
            <a:endParaRPr lang="en-US"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98721655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18</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Next Generation Hub (NGH)</a:t>
            </a:r>
          </a:p>
          <a:p>
            <a:pPr>
              <a:defRPr/>
            </a:pPr>
            <a:r>
              <a:rPr lang="en-US" u="sng" dirty="0" smtClean="0">
                <a:solidFill>
                  <a:prstClr val="black"/>
                </a:solidFill>
                <a:latin typeface=" Arial"/>
              </a:rPr>
              <a:t>Project </a:t>
            </a:r>
            <a:r>
              <a:rPr lang="en-US" u="sng" dirty="0">
                <a:solidFill>
                  <a:prstClr val="black"/>
                </a:solidFill>
                <a:latin typeface=" Arial"/>
              </a:rPr>
              <a:t>Summary: </a:t>
            </a:r>
            <a:r>
              <a:rPr lang="en-US" dirty="0">
                <a:latin typeface=" Arial"/>
              </a:rPr>
              <a:t>The NGH functions as a Universal Serial Bus (USB) 2.0 hub for data communication among devices.  It also distributes power to provide Person Area Network (PAN) power to connected devices.  The NGH systems will support current and future </a:t>
            </a:r>
            <a:r>
              <a:rPr lang="en-US" dirty="0" err="1">
                <a:latin typeface=" Arial"/>
              </a:rPr>
              <a:t>Nett</a:t>
            </a:r>
            <a:r>
              <a:rPr lang="en-US" dirty="0">
                <a:latin typeface=" Arial"/>
              </a:rPr>
              <a:t> Warrior Soldier platforms and may support future Air Soldier (AS) System, and future Explosive Ordinance Device (EOD) capable Soldiers.</a:t>
            </a:r>
            <a:endParaRPr lang="en-US" u="sng" dirty="0" smtClean="0">
              <a:solidFill>
                <a:prstClr val="black"/>
              </a:solidFill>
              <a:latin typeface=" Arial"/>
            </a:endParaRPr>
          </a:p>
          <a:p>
            <a:pPr>
              <a:defRPr/>
            </a:pPr>
            <a:endParaRPr lang="en-US" u="sng" dirty="0" smtClean="0">
              <a:solidFill>
                <a:prstClr val="black"/>
              </a:solidFill>
              <a:latin typeface=" Arial"/>
            </a:endParaRPr>
          </a:p>
          <a:p>
            <a:pPr>
              <a:defRPr/>
            </a:pPr>
            <a:r>
              <a:rPr lang="en-US" u="sng" dirty="0" smtClean="0">
                <a:solidFill>
                  <a:prstClr val="black"/>
                </a:solidFill>
                <a:latin typeface=" Arial"/>
              </a:rPr>
              <a:t>Prior/Current </a:t>
            </a:r>
            <a:r>
              <a:rPr lang="en-US" u="sng" dirty="0">
                <a:solidFill>
                  <a:prstClr val="black"/>
                </a:solidFill>
                <a:latin typeface=" Arial"/>
              </a:rPr>
              <a:t>Contract Information:</a:t>
            </a:r>
          </a:p>
          <a:p>
            <a:pPr>
              <a:defRPr/>
            </a:pPr>
            <a:r>
              <a:rPr lang="en-US" dirty="0" smtClean="0">
                <a:solidFill>
                  <a:prstClr val="black"/>
                </a:solidFill>
                <a:latin typeface=" Arial"/>
              </a:rPr>
              <a:t>	Contract Number:  N/A</a:t>
            </a:r>
          </a:p>
          <a:p>
            <a:pPr>
              <a:defRPr/>
            </a:pPr>
            <a:r>
              <a:rPr lang="en-US" dirty="0" smtClean="0">
                <a:solidFill>
                  <a:prstClr val="black"/>
                </a:solidFill>
                <a:latin typeface=" Arial"/>
              </a:rPr>
              <a:t>	Incumbent Contractor: N/A</a:t>
            </a:r>
          </a:p>
          <a:p>
            <a:pPr>
              <a:defRPr/>
            </a:pPr>
            <a:r>
              <a:rPr lang="en-US" dirty="0">
                <a:solidFill>
                  <a:prstClr val="black"/>
                </a:solidFill>
                <a:latin typeface=" Arial"/>
              </a:rPr>
              <a:t>	</a:t>
            </a:r>
            <a:r>
              <a:rPr lang="en-US" dirty="0" smtClean="0">
                <a:solidFill>
                  <a:prstClr val="black"/>
                </a:solidFill>
                <a:latin typeface=" Arial"/>
              </a:rPr>
              <a:t>Solicitation Number: W91CRB-19-R-0011</a:t>
            </a:r>
          </a:p>
          <a:p>
            <a:pPr>
              <a:defRPr/>
            </a:pPr>
            <a:endParaRPr lang="en-US" dirty="0" smtClean="0">
              <a:solidFill>
                <a:prstClr val="black"/>
              </a:solidFill>
              <a:latin typeface=" Arial"/>
            </a:endParaRPr>
          </a:p>
          <a:p>
            <a:pPr>
              <a:defRPr/>
            </a:pPr>
            <a:r>
              <a:rPr lang="en-US" u="sng" dirty="0">
                <a:solidFill>
                  <a:prstClr val="black"/>
                </a:solidFill>
                <a:latin typeface=" Arial"/>
              </a:rPr>
              <a:t>Contract </a:t>
            </a:r>
            <a:r>
              <a:rPr lang="en-US" u="sng" dirty="0" smtClean="0">
                <a:solidFill>
                  <a:prstClr val="black"/>
                </a:solidFill>
                <a:latin typeface=" Arial"/>
              </a:rPr>
              <a:t>Type</a:t>
            </a:r>
            <a:r>
              <a:rPr lang="en-US" dirty="0" smtClean="0">
                <a:solidFill>
                  <a:prstClr val="black"/>
                </a:solidFill>
                <a:latin typeface=" Arial"/>
              </a:rPr>
              <a:t>:  Delivery orders will be FFP </a:t>
            </a:r>
          </a:p>
          <a:p>
            <a:pPr>
              <a:defRPr/>
            </a:pPr>
            <a:r>
              <a:rPr lang="en-US" u="sng" dirty="0" smtClean="0">
                <a:solidFill>
                  <a:prstClr val="black"/>
                </a:solidFill>
                <a:latin typeface=" Arial"/>
              </a:rPr>
              <a:t>ROM</a:t>
            </a:r>
            <a:r>
              <a:rPr lang="en-US" dirty="0" smtClean="0">
                <a:solidFill>
                  <a:prstClr val="black"/>
                </a:solidFill>
                <a:latin typeface=" Arial"/>
              </a:rPr>
              <a:t>:  $96M</a:t>
            </a:r>
          </a:p>
          <a:p>
            <a:pPr>
              <a:defRPr/>
            </a:pPr>
            <a:r>
              <a:rPr lang="en-US" u="sng" dirty="0">
                <a:solidFill>
                  <a:prstClr val="black"/>
                </a:solidFill>
                <a:latin typeface=" Arial"/>
              </a:rPr>
              <a:t>Period of </a:t>
            </a:r>
            <a:r>
              <a:rPr lang="en-US" u="sng" dirty="0" smtClean="0">
                <a:solidFill>
                  <a:prstClr val="black"/>
                </a:solidFill>
                <a:latin typeface=" Arial"/>
              </a:rPr>
              <a:t>Performance</a:t>
            </a:r>
            <a:r>
              <a:rPr lang="en-US" dirty="0" smtClean="0">
                <a:solidFill>
                  <a:prstClr val="black"/>
                </a:solidFill>
                <a:latin typeface=" Arial"/>
              </a:rPr>
              <a:t>:  5 year ordering period</a:t>
            </a:r>
          </a:p>
          <a:p>
            <a:pPr>
              <a:defRPr/>
            </a:pPr>
            <a:r>
              <a:rPr lang="en-US" u="sng" dirty="0">
                <a:solidFill>
                  <a:prstClr val="black"/>
                </a:solidFill>
                <a:latin typeface=" Arial"/>
              </a:rPr>
              <a:t>Estimated Solicitation Release </a:t>
            </a:r>
            <a:r>
              <a:rPr lang="en-US" u="sng" dirty="0" smtClean="0">
                <a:solidFill>
                  <a:prstClr val="black"/>
                </a:solidFill>
                <a:latin typeface=" Arial"/>
              </a:rPr>
              <a:t>Date</a:t>
            </a:r>
            <a:r>
              <a:rPr lang="en-US" dirty="0" smtClean="0">
                <a:solidFill>
                  <a:prstClr val="black"/>
                </a:solidFill>
                <a:latin typeface=" Arial"/>
              </a:rPr>
              <a:t>:  2QFY19</a:t>
            </a:r>
          </a:p>
          <a:p>
            <a:pPr>
              <a:defRPr/>
            </a:pPr>
            <a:r>
              <a:rPr lang="en-US" u="sng" dirty="0" smtClean="0">
                <a:solidFill>
                  <a:prstClr val="black"/>
                </a:solidFill>
                <a:latin typeface=" Arial"/>
              </a:rPr>
              <a:t>Contracting Contact</a:t>
            </a:r>
            <a:r>
              <a:rPr lang="en-US" dirty="0" smtClean="0">
                <a:solidFill>
                  <a:prstClr val="black"/>
                </a:solidFill>
                <a:latin typeface=" Arial"/>
              </a:rPr>
              <a:t>:  ACC-APG, Samantha Shultz, KO, </a:t>
            </a:r>
            <a:r>
              <a:rPr lang="en-US" dirty="0" smtClean="0">
                <a:solidFill>
                  <a:prstClr val="black"/>
                </a:solidFill>
                <a:latin typeface=" Arial"/>
                <a:hlinkClick r:id="rId2"/>
              </a:rPr>
              <a:t>samantha.l.shultz2.civ@mail.mil</a:t>
            </a:r>
            <a:r>
              <a:rPr lang="en-US" dirty="0" smtClean="0">
                <a:solidFill>
                  <a:prstClr val="black"/>
                </a:solidFill>
                <a:latin typeface=" Arial"/>
              </a:rPr>
              <a:t> </a:t>
            </a:r>
          </a:p>
          <a:p>
            <a:pPr>
              <a:defRPr/>
            </a:pPr>
            <a:endParaRPr lang="en-US" dirty="0" smtClean="0">
              <a:solidFill>
                <a:prstClr val="black"/>
              </a:solidFill>
              <a:latin typeface=" Arial"/>
            </a:endParaRPr>
          </a:p>
          <a:p>
            <a:pPr>
              <a:defRPr/>
            </a:pPr>
            <a:r>
              <a:rPr lang="en-US" sz="1600" b="1" dirty="0" smtClean="0">
                <a:solidFill>
                  <a:prstClr val="black"/>
                </a:solidFill>
                <a:latin typeface=" Arial"/>
              </a:rPr>
              <a:t>*</a:t>
            </a: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365928890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19</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Systems Engineering and Technical Assistance (SETA) PM SWAR</a:t>
            </a:r>
          </a:p>
          <a:p>
            <a:pPr>
              <a:defRPr/>
            </a:pPr>
            <a:endParaRPr lang="en-US" dirty="0" smtClean="0">
              <a:solidFill>
                <a:prstClr val="black"/>
              </a:solidFill>
              <a:latin typeface=" Arial"/>
            </a:endParaRPr>
          </a:p>
          <a:p>
            <a:pPr>
              <a:defRPr/>
            </a:pPr>
            <a:r>
              <a:rPr lang="en-US" u="sng" dirty="0" smtClean="0">
                <a:solidFill>
                  <a:prstClr val="black"/>
                </a:solidFill>
                <a:latin typeface=" Arial"/>
              </a:rPr>
              <a:t>Project Summary</a:t>
            </a:r>
            <a:r>
              <a:rPr lang="en-US" dirty="0" smtClean="0">
                <a:solidFill>
                  <a:prstClr val="black"/>
                </a:solidFill>
                <a:latin typeface=" Arial"/>
              </a:rPr>
              <a:t>: The contractor shall provide comprehensive and wide ranging support to programs that increase Soldier capabilities. Support is required at all phases of the system lifecycle to include: engineering support services, logistics, technical analysis, acquisition planning and programmatic support, system design, development and acquisition support.</a:t>
            </a:r>
          </a:p>
          <a:p>
            <a:pPr>
              <a:defRPr/>
            </a:pPr>
            <a:endParaRPr lang="en-US"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W91CRB-15-C-0035</a:t>
            </a:r>
          </a:p>
          <a:p>
            <a:pPr>
              <a:defRPr/>
            </a:pPr>
            <a:r>
              <a:rPr lang="en-US" dirty="0">
                <a:solidFill>
                  <a:prstClr val="black"/>
                </a:solidFill>
                <a:latin typeface=" Arial"/>
              </a:rPr>
              <a:t>	</a:t>
            </a:r>
            <a:r>
              <a:rPr lang="en-US" dirty="0" smtClean="0">
                <a:solidFill>
                  <a:prstClr val="black"/>
                </a:solidFill>
                <a:latin typeface=" Arial"/>
              </a:rPr>
              <a:t>Incumbent Contractor:  NCI</a:t>
            </a:r>
          </a:p>
          <a:p>
            <a:pPr>
              <a:defRPr/>
            </a:pPr>
            <a:endParaRPr lang="en-US"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CPFF task order on Responsive Strategic Sourcing for Services (RS3)</a:t>
            </a:r>
          </a:p>
          <a:p>
            <a:pPr>
              <a:defRPr/>
            </a:pPr>
            <a:r>
              <a:rPr lang="en-US" u="sng" dirty="0" smtClean="0">
                <a:solidFill>
                  <a:prstClr val="black"/>
                </a:solidFill>
                <a:latin typeface=" Arial"/>
              </a:rPr>
              <a:t>ROM</a:t>
            </a:r>
            <a:r>
              <a:rPr lang="en-US" dirty="0" smtClean="0">
                <a:solidFill>
                  <a:prstClr val="black"/>
                </a:solidFill>
                <a:latin typeface=" Arial"/>
              </a:rPr>
              <a:t>:  $70M</a:t>
            </a:r>
          </a:p>
          <a:p>
            <a:pPr>
              <a:defRPr/>
            </a:pPr>
            <a:r>
              <a:rPr lang="en-US" u="sng" dirty="0" smtClean="0">
                <a:solidFill>
                  <a:prstClr val="black"/>
                </a:solidFill>
                <a:latin typeface=" Arial"/>
              </a:rPr>
              <a:t>Period of Performance</a:t>
            </a:r>
            <a:r>
              <a:rPr lang="en-US" dirty="0" smtClean="0">
                <a:solidFill>
                  <a:prstClr val="black"/>
                </a:solidFill>
                <a:latin typeface=" Arial"/>
              </a:rPr>
              <a:t>:  One year contract with four option years</a:t>
            </a:r>
          </a:p>
          <a:p>
            <a:pPr>
              <a:defRPr/>
            </a:pPr>
            <a:r>
              <a:rPr lang="en-US" u="sng" dirty="0" smtClean="0">
                <a:solidFill>
                  <a:prstClr val="black"/>
                </a:solidFill>
                <a:latin typeface=" Arial"/>
              </a:rPr>
              <a:t>Estimated Solicitation Release Date</a:t>
            </a:r>
            <a:r>
              <a:rPr lang="en-US" dirty="0" smtClean="0">
                <a:solidFill>
                  <a:prstClr val="black"/>
                </a:solidFill>
                <a:latin typeface=" Arial"/>
              </a:rPr>
              <a:t>:  1QFY19</a:t>
            </a:r>
          </a:p>
          <a:p>
            <a:pPr>
              <a:defRPr/>
            </a:pPr>
            <a:r>
              <a:rPr lang="en-US" u="sng" dirty="0" smtClean="0">
                <a:solidFill>
                  <a:prstClr val="black"/>
                </a:solidFill>
                <a:latin typeface=" Arial"/>
              </a:rPr>
              <a:t>Contracting Contact</a:t>
            </a:r>
            <a:r>
              <a:rPr lang="en-US" dirty="0" smtClean="0">
                <a:solidFill>
                  <a:prstClr val="black"/>
                </a:solidFill>
                <a:latin typeface=" Arial"/>
              </a:rPr>
              <a:t>:  ACC-</a:t>
            </a:r>
            <a:r>
              <a:rPr lang="en-US" dirty="0" err="1" smtClean="0">
                <a:solidFill>
                  <a:prstClr val="black"/>
                </a:solidFill>
                <a:latin typeface=" Arial"/>
              </a:rPr>
              <a:t>APG,Pete</a:t>
            </a:r>
            <a:r>
              <a:rPr lang="en-US" dirty="0" smtClean="0">
                <a:solidFill>
                  <a:prstClr val="black"/>
                </a:solidFill>
                <a:latin typeface=" Arial"/>
              </a:rPr>
              <a:t> Buckless, KO, </a:t>
            </a:r>
            <a:r>
              <a:rPr lang="en-US" u="sng" dirty="0" smtClean="0">
                <a:solidFill>
                  <a:srgbClr val="0000FF"/>
                </a:solidFill>
                <a:latin typeface=" Arial"/>
              </a:rPr>
              <a:t>peter.p.buckless</a:t>
            </a:r>
            <a:r>
              <a:rPr lang="en-US" dirty="0" smtClean="0">
                <a:solidFill>
                  <a:prstClr val="black"/>
                </a:solidFill>
                <a:latin typeface=" Arial"/>
                <a:hlinkClick r:id="rId2"/>
              </a:rPr>
              <a:t>.civ@mail.mil</a:t>
            </a:r>
            <a:r>
              <a:rPr lang="en-US" dirty="0" smtClean="0">
                <a:solidFill>
                  <a:prstClr val="black"/>
                </a:solidFill>
                <a:latin typeface=" Arial"/>
              </a:rPr>
              <a:t>  </a:t>
            </a:r>
          </a:p>
          <a:p>
            <a:pPr>
              <a:defRPr/>
            </a:pPr>
            <a:endParaRPr lang="en-US"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196687137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20</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Systems Engineering and Technical Assistance (SETA) PM SPIE</a:t>
            </a:r>
          </a:p>
          <a:p>
            <a:pPr>
              <a:defRPr/>
            </a:pPr>
            <a:endParaRPr lang="en-US" dirty="0" smtClean="0">
              <a:solidFill>
                <a:prstClr val="black"/>
              </a:solidFill>
              <a:latin typeface=" Arial"/>
            </a:endParaRPr>
          </a:p>
          <a:p>
            <a:pPr>
              <a:defRPr/>
            </a:pPr>
            <a:r>
              <a:rPr lang="en-US" u="sng" dirty="0" smtClean="0">
                <a:solidFill>
                  <a:prstClr val="black"/>
                </a:solidFill>
                <a:latin typeface=" Arial"/>
              </a:rPr>
              <a:t>Project Summary</a:t>
            </a:r>
            <a:r>
              <a:rPr lang="en-US" dirty="0" smtClean="0">
                <a:solidFill>
                  <a:prstClr val="black"/>
                </a:solidFill>
                <a:latin typeface=" Arial"/>
              </a:rPr>
              <a:t>: The contractor shall provide comprehensive and wide ranging support to programs that increase Soldier capabilities. Support is required at all phases of the system lifecycle to include: engineering support services, logistics, technical analysis, acquisition planning and programmatic support, system design, development and acquisition support.</a:t>
            </a:r>
          </a:p>
          <a:p>
            <a:pPr>
              <a:defRPr/>
            </a:pPr>
            <a:endParaRPr lang="en-US"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W91CRB-15-C-0035</a:t>
            </a:r>
          </a:p>
          <a:p>
            <a:pPr>
              <a:defRPr/>
            </a:pPr>
            <a:r>
              <a:rPr lang="en-US" dirty="0">
                <a:solidFill>
                  <a:prstClr val="black"/>
                </a:solidFill>
                <a:latin typeface=" Arial"/>
              </a:rPr>
              <a:t>	</a:t>
            </a:r>
            <a:r>
              <a:rPr lang="en-US" dirty="0" smtClean="0">
                <a:solidFill>
                  <a:prstClr val="black"/>
                </a:solidFill>
                <a:latin typeface=" Arial"/>
              </a:rPr>
              <a:t>Incumbent Contractor:  NCI</a:t>
            </a:r>
          </a:p>
          <a:p>
            <a:pPr>
              <a:defRPr/>
            </a:pPr>
            <a:endParaRPr lang="en-US"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CPFF task order on Responsive Strategic Sourcing for Services (RS3)</a:t>
            </a:r>
          </a:p>
          <a:p>
            <a:pPr>
              <a:defRPr/>
            </a:pPr>
            <a:r>
              <a:rPr lang="en-US" u="sng" dirty="0" smtClean="0">
                <a:solidFill>
                  <a:prstClr val="black"/>
                </a:solidFill>
                <a:latin typeface=" Arial"/>
              </a:rPr>
              <a:t>ROM</a:t>
            </a:r>
            <a:r>
              <a:rPr lang="en-US" dirty="0" smtClean="0">
                <a:solidFill>
                  <a:prstClr val="black"/>
                </a:solidFill>
                <a:latin typeface=" Arial"/>
              </a:rPr>
              <a:t>:  $120M</a:t>
            </a:r>
          </a:p>
          <a:p>
            <a:pPr>
              <a:defRPr/>
            </a:pPr>
            <a:r>
              <a:rPr lang="en-US" u="sng" dirty="0" smtClean="0">
                <a:solidFill>
                  <a:prstClr val="black"/>
                </a:solidFill>
                <a:latin typeface=" Arial"/>
              </a:rPr>
              <a:t>Period of Performance</a:t>
            </a:r>
            <a:r>
              <a:rPr lang="en-US" dirty="0" smtClean="0">
                <a:solidFill>
                  <a:prstClr val="black"/>
                </a:solidFill>
                <a:latin typeface=" Arial"/>
              </a:rPr>
              <a:t>:  One year contract with four option years</a:t>
            </a:r>
          </a:p>
          <a:p>
            <a:pPr>
              <a:defRPr/>
            </a:pPr>
            <a:r>
              <a:rPr lang="en-US" u="sng" dirty="0" smtClean="0">
                <a:solidFill>
                  <a:prstClr val="black"/>
                </a:solidFill>
                <a:latin typeface=" Arial"/>
              </a:rPr>
              <a:t>Estimated Solicitation Release Date</a:t>
            </a:r>
            <a:r>
              <a:rPr lang="en-US" dirty="0" smtClean="0">
                <a:solidFill>
                  <a:prstClr val="black"/>
                </a:solidFill>
                <a:latin typeface=" Arial"/>
              </a:rPr>
              <a:t>:  </a:t>
            </a:r>
            <a:r>
              <a:rPr lang="en-US" dirty="0">
                <a:solidFill>
                  <a:prstClr val="black"/>
                </a:solidFill>
                <a:latin typeface=" Arial"/>
              </a:rPr>
              <a:t>2</a:t>
            </a:r>
            <a:r>
              <a:rPr lang="en-US" dirty="0" smtClean="0">
                <a:solidFill>
                  <a:prstClr val="black"/>
                </a:solidFill>
                <a:latin typeface=" Arial"/>
              </a:rPr>
              <a:t>QFY19</a:t>
            </a:r>
          </a:p>
          <a:p>
            <a:pPr>
              <a:defRPr/>
            </a:pPr>
            <a:r>
              <a:rPr lang="en-US" u="sng" dirty="0" smtClean="0">
                <a:solidFill>
                  <a:prstClr val="black"/>
                </a:solidFill>
                <a:latin typeface=" Arial"/>
              </a:rPr>
              <a:t>Contracting Contact</a:t>
            </a:r>
            <a:r>
              <a:rPr lang="en-US" dirty="0" smtClean="0">
                <a:solidFill>
                  <a:prstClr val="black"/>
                </a:solidFill>
                <a:latin typeface=" Arial"/>
              </a:rPr>
              <a:t>:  ACC-APG, George Hubbard, KO, </a:t>
            </a:r>
            <a:r>
              <a:rPr lang="en-US" u="sng" dirty="0" smtClean="0">
                <a:solidFill>
                  <a:srgbClr val="0000FF"/>
                </a:solidFill>
                <a:latin typeface=" Arial"/>
              </a:rPr>
              <a:t>George.B.Hubbard5.civ@mail.mil</a:t>
            </a:r>
            <a:r>
              <a:rPr lang="en-US" dirty="0" smtClean="0">
                <a:solidFill>
                  <a:prstClr val="black"/>
                </a:solidFill>
                <a:latin typeface=" Arial"/>
              </a:rPr>
              <a:t>  </a:t>
            </a:r>
          </a:p>
          <a:p>
            <a:pPr>
              <a:defRPr/>
            </a:pPr>
            <a:r>
              <a:rPr lang="en-US" sz="1600" b="1" dirty="0" smtClean="0">
                <a:solidFill>
                  <a:prstClr val="black"/>
                </a:solidFill>
                <a:latin typeface=" Arial"/>
              </a:rPr>
              <a:t>*</a:t>
            </a: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272902552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21</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Systems Engineering and Technical Assistance (SETA) PM HQ</a:t>
            </a:r>
          </a:p>
          <a:p>
            <a:pPr>
              <a:defRPr/>
            </a:pPr>
            <a:endParaRPr lang="en-US" dirty="0" smtClean="0">
              <a:solidFill>
                <a:prstClr val="black"/>
              </a:solidFill>
              <a:latin typeface=" Arial"/>
            </a:endParaRPr>
          </a:p>
          <a:p>
            <a:pPr>
              <a:defRPr/>
            </a:pPr>
            <a:r>
              <a:rPr lang="en-US" u="sng" dirty="0" smtClean="0">
                <a:solidFill>
                  <a:prstClr val="black"/>
                </a:solidFill>
                <a:latin typeface=" Arial"/>
              </a:rPr>
              <a:t>Project Summary</a:t>
            </a:r>
            <a:r>
              <a:rPr lang="en-US" dirty="0" smtClean="0">
                <a:solidFill>
                  <a:prstClr val="black"/>
                </a:solidFill>
                <a:latin typeface=" Arial"/>
              </a:rPr>
              <a:t>: The contractor shall provide comprehensive and wide ranging support to programs that increase Soldier capabilities. Support is required at all phases of the system lifecycle to include: engineering support services, logistics, technical analysis, acquisition planning and programmatic support, system design, development and acquisition support.</a:t>
            </a:r>
          </a:p>
          <a:p>
            <a:pPr>
              <a:defRPr/>
            </a:pPr>
            <a:endParaRPr lang="en-US"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W91CRB-15-C-0035</a:t>
            </a:r>
          </a:p>
          <a:p>
            <a:pPr>
              <a:defRPr/>
            </a:pPr>
            <a:r>
              <a:rPr lang="en-US" dirty="0">
                <a:solidFill>
                  <a:prstClr val="black"/>
                </a:solidFill>
                <a:latin typeface=" Arial"/>
              </a:rPr>
              <a:t>	</a:t>
            </a:r>
            <a:r>
              <a:rPr lang="en-US" dirty="0" smtClean="0">
                <a:solidFill>
                  <a:prstClr val="black"/>
                </a:solidFill>
                <a:latin typeface=" Arial"/>
              </a:rPr>
              <a:t>Incumbent Contractor:  NCI</a:t>
            </a:r>
          </a:p>
          <a:p>
            <a:pPr>
              <a:defRPr/>
            </a:pPr>
            <a:endParaRPr lang="en-US"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CPFF task order on Responsive Strategic Sourcing for Services (RS3)</a:t>
            </a:r>
          </a:p>
          <a:p>
            <a:pPr>
              <a:defRPr/>
            </a:pPr>
            <a:r>
              <a:rPr lang="en-US" u="sng" dirty="0" smtClean="0">
                <a:solidFill>
                  <a:prstClr val="black"/>
                </a:solidFill>
                <a:latin typeface=" Arial"/>
              </a:rPr>
              <a:t>ROM</a:t>
            </a:r>
            <a:r>
              <a:rPr lang="en-US" dirty="0" smtClean="0">
                <a:solidFill>
                  <a:prstClr val="black"/>
                </a:solidFill>
                <a:latin typeface=" Arial"/>
              </a:rPr>
              <a:t>:  $20M</a:t>
            </a:r>
          </a:p>
          <a:p>
            <a:pPr>
              <a:defRPr/>
            </a:pPr>
            <a:r>
              <a:rPr lang="en-US" u="sng" dirty="0" smtClean="0">
                <a:solidFill>
                  <a:prstClr val="black"/>
                </a:solidFill>
                <a:latin typeface=" Arial"/>
              </a:rPr>
              <a:t>Period of Performance</a:t>
            </a:r>
            <a:r>
              <a:rPr lang="en-US" dirty="0" smtClean="0">
                <a:solidFill>
                  <a:prstClr val="black"/>
                </a:solidFill>
                <a:latin typeface=" Arial"/>
              </a:rPr>
              <a:t>:  One year contract with four option years</a:t>
            </a:r>
          </a:p>
          <a:p>
            <a:pPr>
              <a:defRPr/>
            </a:pPr>
            <a:r>
              <a:rPr lang="en-US" u="sng" dirty="0" smtClean="0">
                <a:solidFill>
                  <a:prstClr val="black"/>
                </a:solidFill>
                <a:latin typeface=" Arial"/>
              </a:rPr>
              <a:t>Estimated Solicitation Release Date</a:t>
            </a:r>
            <a:r>
              <a:rPr lang="en-US" dirty="0" smtClean="0">
                <a:solidFill>
                  <a:prstClr val="black"/>
                </a:solidFill>
                <a:latin typeface=" Arial"/>
              </a:rPr>
              <a:t>:  3QFY19</a:t>
            </a:r>
          </a:p>
          <a:p>
            <a:pPr>
              <a:defRPr/>
            </a:pPr>
            <a:r>
              <a:rPr lang="en-US" u="sng" dirty="0" smtClean="0">
                <a:solidFill>
                  <a:prstClr val="black"/>
                </a:solidFill>
                <a:latin typeface=" Arial"/>
              </a:rPr>
              <a:t>Contracting Contact</a:t>
            </a:r>
            <a:r>
              <a:rPr lang="en-US" dirty="0" smtClean="0">
                <a:solidFill>
                  <a:prstClr val="black"/>
                </a:solidFill>
                <a:latin typeface=" Arial"/>
              </a:rPr>
              <a:t>:  ACC-APG, Kelly Doolittle, KO, </a:t>
            </a:r>
            <a:r>
              <a:rPr lang="en-US" dirty="0" smtClean="0">
                <a:solidFill>
                  <a:prstClr val="black"/>
                </a:solidFill>
                <a:latin typeface=" Arial"/>
                <a:hlinkClick r:id="rId2"/>
              </a:rPr>
              <a:t>Kelly.L.Doolittle.civ@mail.mil</a:t>
            </a:r>
            <a:r>
              <a:rPr lang="en-US" dirty="0" smtClean="0">
                <a:solidFill>
                  <a:prstClr val="black"/>
                </a:solidFill>
                <a:latin typeface=" Arial"/>
              </a:rPr>
              <a:t>  </a:t>
            </a:r>
          </a:p>
          <a:p>
            <a:pPr>
              <a:defRPr/>
            </a:pPr>
            <a:endParaRPr lang="en-US"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10807612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22</a:t>
            </a:fld>
            <a:endParaRPr lang="en-US" sz="1000" dirty="0">
              <a:solidFill>
                <a:prstClr val="white"/>
              </a:solidFill>
            </a:endParaRPr>
          </a:p>
        </p:txBody>
      </p:sp>
      <p:sp>
        <p:nvSpPr>
          <p:cNvPr id="8" name="TextBox 8"/>
          <p:cNvSpPr txBox="1">
            <a:spLocks noChangeArrowheads="1"/>
          </p:cNvSpPr>
          <p:nvPr/>
        </p:nvSpPr>
        <p:spPr bwMode="auto">
          <a:xfrm>
            <a:off x="0" y="1066800"/>
            <a:ext cx="9144000" cy="5355312"/>
          </a:xfrm>
          <a:prstGeom prst="rect">
            <a:avLst/>
          </a:prstGeom>
          <a:noFill/>
          <a:ln w="9525">
            <a:noFill/>
            <a:miter lim="800000"/>
            <a:headEnd/>
            <a:tailEnd/>
          </a:ln>
        </p:spPr>
        <p:txBody>
          <a:bodyPr wrap="square">
            <a:spAutoFit/>
          </a:bodyPr>
          <a:lstStyle/>
          <a:p>
            <a:pPr>
              <a:defRPr/>
            </a:pPr>
            <a:r>
              <a:rPr lang="en-US" u="sng" dirty="0">
                <a:solidFill>
                  <a:prstClr val="black"/>
                </a:solidFill>
                <a:latin typeface=" Arial"/>
                <a:cs typeface="Arial" panose="020B0604020202020204" pitchFamily="34" charset="0"/>
              </a:rPr>
              <a:t>Project Title</a:t>
            </a:r>
            <a:r>
              <a:rPr lang="en-US" dirty="0">
                <a:solidFill>
                  <a:prstClr val="black"/>
                </a:solidFill>
                <a:latin typeface=" Arial"/>
                <a:cs typeface="Arial" panose="020B0604020202020204" pitchFamily="34" charset="0"/>
              </a:rPr>
              <a:t>:  </a:t>
            </a:r>
            <a:r>
              <a:rPr lang="en-US" dirty="0" smtClean="0">
                <a:solidFill>
                  <a:prstClr val="black"/>
                </a:solidFill>
                <a:latin typeface=" Arial"/>
                <a:cs typeface="Arial" panose="020B0604020202020204" pitchFamily="34" charset="0"/>
              </a:rPr>
              <a:t>Modular Scalable Vest (MSV)</a:t>
            </a:r>
            <a:endParaRPr lang="en-US"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Project </a:t>
            </a:r>
            <a:r>
              <a:rPr lang="en-US" u="sng" dirty="0" smtClean="0">
                <a:solidFill>
                  <a:prstClr val="black"/>
                </a:solidFill>
                <a:latin typeface=" Arial"/>
                <a:cs typeface="Arial" panose="020B0604020202020204" pitchFamily="34" charset="0"/>
              </a:rPr>
              <a:t>Summary</a:t>
            </a:r>
            <a:r>
              <a:rPr lang="en-US" dirty="0" smtClean="0">
                <a:solidFill>
                  <a:prstClr val="black"/>
                </a:solidFill>
                <a:latin typeface=" Arial"/>
                <a:cs typeface="Arial" panose="020B0604020202020204" pitchFamily="34" charset="0"/>
              </a:rPr>
              <a:t>:  </a:t>
            </a:r>
            <a:r>
              <a:rPr lang="en-US" dirty="0" smtClean="0">
                <a:solidFill>
                  <a:prstClr val="black"/>
                </a:solidFill>
                <a:latin typeface=" Arial"/>
              </a:rPr>
              <a:t>The MSV </a:t>
            </a:r>
            <a:r>
              <a:rPr lang="en-US" dirty="0">
                <a:solidFill>
                  <a:prstClr val="black"/>
                </a:solidFill>
                <a:latin typeface=" Arial"/>
              </a:rPr>
              <a:t>is part of the Soldier Protection System Torso and Extremity Protection (SPS TEP</a:t>
            </a:r>
            <a:r>
              <a:rPr lang="en-US" dirty="0" smtClean="0">
                <a:solidFill>
                  <a:prstClr val="black"/>
                </a:solidFill>
                <a:latin typeface=" Arial"/>
              </a:rPr>
              <a:t>), </a:t>
            </a:r>
            <a:r>
              <a:rPr lang="en-US" dirty="0">
                <a:latin typeface=" Arial"/>
              </a:rPr>
              <a:t>that consists of a low profile vest with four (4) soft armor panels covered in a camouflage cloth and hook and loop. The system allows for the insertion of soft armor panels into a tactical outer carrier that also accommodates hard armor protective inserts. </a:t>
            </a:r>
            <a:r>
              <a:rPr lang="en-US" dirty="0" smtClean="0">
                <a:latin typeface=" Arial"/>
              </a:rPr>
              <a:t>Potentially, the MSV will result in two solicitations – one for Carriers (SBSA), and one for Ballistics (Unrestricted).  </a:t>
            </a:r>
            <a:endParaRPr lang="en-US" dirty="0">
              <a:solidFill>
                <a:prstClr val="black"/>
              </a:solidFill>
              <a:latin typeface=" Arial"/>
              <a:cs typeface="Arial" panose="020B0604020202020204" pitchFamily="34" charset="0"/>
            </a:endParaRPr>
          </a:p>
          <a:p>
            <a:pPr>
              <a:defRPr/>
            </a:pPr>
            <a:endParaRPr lang="en-US" u="sng"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Prior/Current Contract Information:</a:t>
            </a:r>
          </a:p>
          <a:p>
            <a:pPr>
              <a:defRPr/>
            </a:pPr>
            <a:r>
              <a:rPr lang="en-US" dirty="0">
                <a:solidFill>
                  <a:prstClr val="black"/>
                </a:solidFill>
                <a:latin typeface=" Arial"/>
                <a:cs typeface="Arial" panose="020B0604020202020204" pitchFamily="34" charset="0"/>
              </a:rPr>
              <a:t>	Contract Number:  </a:t>
            </a:r>
            <a:r>
              <a:rPr lang="en-US" dirty="0" smtClean="0">
                <a:solidFill>
                  <a:prstClr val="black"/>
                </a:solidFill>
                <a:latin typeface=" Arial"/>
                <a:cs typeface="Arial" panose="020B0604020202020204" pitchFamily="34" charset="0"/>
              </a:rPr>
              <a:t>W91CRB-15-D-0019/W91CRB-15-D-0021 </a:t>
            </a:r>
            <a:endParaRPr lang="en-US" dirty="0">
              <a:solidFill>
                <a:prstClr val="black"/>
              </a:solidFill>
              <a:latin typeface=" Arial"/>
              <a:cs typeface="Arial" panose="020B0604020202020204" pitchFamily="34" charset="0"/>
            </a:endParaRPr>
          </a:p>
          <a:p>
            <a:pPr>
              <a:defRPr/>
            </a:pPr>
            <a:r>
              <a:rPr lang="en-US" dirty="0">
                <a:solidFill>
                  <a:prstClr val="black"/>
                </a:solidFill>
                <a:latin typeface=" Arial"/>
                <a:cs typeface="Arial" panose="020B0604020202020204" pitchFamily="34" charset="0"/>
              </a:rPr>
              <a:t>	Incumbent Contractor: </a:t>
            </a:r>
            <a:r>
              <a:rPr lang="en-US" dirty="0" smtClean="0">
                <a:solidFill>
                  <a:prstClr val="black"/>
                </a:solidFill>
                <a:latin typeface=" Arial"/>
                <a:cs typeface="Arial" panose="020B0604020202020204" pitchFamily="34" charset="0"/>
              </a:rPr>
              <a:t>Bethel Defense &amp; KDH Defense Systems </a:t>
            </a:r>
            <a:endParaRPr lang="en-US" dirty="0">
              <a:solidFill>
                <a:prstClr val="black"/>
              </a:solidFill>
              <a:latin typeface=" Arial"/>
              <a:cs typeface="Arial" panose="020B0604020202020204" pitchFamily="34" charset="0"/>
            </a:endParaRPr>
          </a:p>
          <a:p>
            <a:pPr>
              <a:defRPr/>
            </a:pPr>
            <a:endParaRPr lang="en-US"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Contract Type:</a:t>
            </a:r>
            <a:r>
              <a:rPr lang="en-US" dirty="0">
                <a:solidFill>
                  <a:prstClr val="black"/>
                </a:solidFill>
                <a:latin typeface=" Arial"/>
                <a:cs typeface="Arial" panose="020B0604020202020204" pitchFamily="34" charset="0"/>
              </a:rPr>
              <a:t> Delivery orders will be FFP </a:t>
            </a:r>
          </a:p>
          <a:p>
            <a:pPr>
              <a:defRPr/>
            </a:pPr>
            <a:r>
              <a:rPr lang="en-US" u="sng" dirty="0" smtClean="0">
                <a:solidFill>
                  <a:prstClr val="black"/>
                </a:solidFill>
                <a:latin typeface=" Arial"/>
                <a:cs typeface="Arial" panose="020B0604020202020204" pitchFamily="34" charset="0"/>
              </a:rPr>
              <a:t>ROM</a:t>
            </a:r>
            <a:r>
              <a:rPr lang="en-US" dirty="0" smtClean="0">
                <a:solidFill>
                  <a:prstClr val="black"/>
                </a:solidFill>
                <a:latin typeface=" Arial"/>
                <a:cs typeface="Arial" panose="020B0604020202020204" pitchFamily="34" charset="0"/>
              </a:rPr>
              <a:t>: $450M</a:t>
            </a:r>
            <a:endParaRPr lang="en-US"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Period of Performance:</a:t>
            </a:r>
            <a:r>
              <a:rPr lang="en-US" dirty="0">
                <a:solidFill>
                  <a:prstClr val="black"/>
                </a:solidFill>
                <a:latin typeface=" Arial"/>
                <a:cs typeface="Arial" panose="020B0604020202020204" pitchFamily="34" charset="0"/>
              </a:rPr>
              <a:t> 5 year ordering period</a:t>
            </a:r>
          </a:p>
          <a:p>
            <a:pPr>
              <a:defRPr/>
            </a:pPr>
            <a:r>
              <a:rPr lang="en-US" u="sng" dirty="0" smtClean="0">
                <a:solidFill>
                  <a:prstClr val="black"/>
                </a:solidFill>
                <a:latin typeface=" Arial"/>
                <a:cs typeface="Arial" panose="020B0604020202020204" pitchFamily="34" charset="0"/>
              </a:rPr>
              <a:t>Estimated Solicitation Release Date:</a:t>
            </a:r>
            <a:r>
              <a:rPr lang="en-US" dirty="0" smtClean="0">
                <a:solidFill>
                  <a:prstClr val="black"/>
                </a:solidFill>
                <a:latin typeface=" Arial"/>
                <a:cs typeface="Arial" panose="020B0604020202020204" pitchFamily="34" charset="0"/>
              </a:rPr>
              <a:t> 2QFY19</a:t>
            </a:r>
            <a:endParaRPr lang="en-US"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Contracting Contact:</a:t>
            </a:r>
            <a:r>
              <a:rPr lang="en-US" dirty="0">
                <a:solidFill>
                  <a:prstClr val="black"/>
                </a:solidFill>
                <a:latin typeface=" Arial"/>
                <a:cs typeface="Arial" panose="020B0604020202020204" pitchFamily="34" charset="0"/>
              </a:rPr>
              <a:t> ACC-APG, </a:t>
            </a:r>
            <a:r>
              <a:rPr lang="en-US" dirty="0" smtClean="0">
                <a:solidFill>
                  <a:prstClr val="black"/>
                </a:solidFill>
                <a:latin typeface=" Arial"/>
                <a:cs typeface="Arial" panose="020B0604020202020204" pitchFamily="34" charset="0"/>
              </a:rPr>
              <a:t>Kelly Doolittle, </a:t>
            </a:r>
            <a:r>
              <a:rPr lang="en-US" dirty="0" smtClean="0">
                <a:solidFill>
                  <a:prstClr val="black"/>
                </a:solidFill>
                <a:latin typeface=" Arial"/>
                <a:cs typeface="Arial" panose="020B0604020202020204" pitchFamily="34" charset="0"/>
                <a:hlinkClick r:id="rId2"/>
              </a:rPr>
              <a:t>Kelly.l.Doolittle.civ@mail.mil</a:t>
            </a:r>
            <a:r>
              <a:rPr lang="en-US" dirty="0" smtClean="0">
                <a:solidFill>
                  <a:prstClr val="black"/>
                </a:solidFill>
                <a:latin typeface=" Arial"/>
                <a:cs typeface="Arial" panose="020B0604020202020204" pitchFamily="34" charset="0"/>
              </a:rPr>
              <a:t> </a:t>
            </a:r>
          </a:p>
          <a:p>
            <a:pPr>
              <a:defRPr/>
            </a:pPr>
            <a:endParaRPr lang="en-US" b="1" dirty="0" smtClean="0">
              <a:solidFill>
                <a:prstClr val="black"/>
              </a:solidFill>
              <a:latin typeface=" Arial"/>
            </a:endParaRPr>
          </a:p>
          <a:p>
            <a:pPr>
              <a:defRPr/>
            </a:pPr>
            <a:r>
              <a:rPr lang="en-US" b="1" dirty="0" smtClean="0">
                <a:solidFill>
                  <a:prstClr val="black"/>
                </a:solidFill>
                <a:latin typeface=" Arial"/>
              </a:rPr>
              <a:t>*Subject to Cancellation</a:t>
            </a:r>
            <a:endParaRPr lang="en-US" b="1" dirty="0">
              <a:solidFill>
                <a:prstClr val="black"/>
              </a:solidFill>
              <a:latin typeface=" Arial"/>
            </a:endParaRPr>
          </a:p>
        </p:txBody>
      </p:sp>
    </p:spTree>
    <p:extLst>
      <p:ext uri="{BB962C8B-B14F-4D97-AF65-F5344CB8AC3E}">
        <p14:creationId xmlns:p14="http://schemas.microsoft.com/office/powerpoint/2010/main" val="383343169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23</a:t>
            </a:fld>
            <a:endParaRPr lang="en-US" sz="1000" dirty="0">
              <a:solidFill>
                <a:prstClr val="white"/>
              </a:solidFill>
            </a:endParaRPr>
          </a:p>
        </p:txBody>
      </p:sp>
      <p:sp>
        <p:nvSpPr>
          <p:cNvPr id="8" name="TextBox 8"/>
          <p:cNvSpPr txBox="1">
            <a:spLocks noChangeArrowheads="1"/>
          </p:cNvSpPr>
          <p:nvPr/>
        </p:nvSpPr>
        <p:spPr bwMode="auto">
          <a:xfrm>
            <a:off x="0" y="1066800"/>
            <a:ext cx="9144000" cy="5355312"/>
          </a:xfrm>
          <a:prstGeom prst="rect">
            <a:avLst/>
          </a:prstGeom>
          <a:noFill/>
          <a:ln w="9525">
            <a:noFill/>
            <a:miter lim="800000"/>
            <a:headEnd/>
            <a:tailEnd/>
          </a:ln>
        </p:spPr>
        <p:txBody>
          <a:bodyPr wrap="square">
            <a:spAutoFit/>
          </a:bodyPr>
          <a:lstStyle/>
          <a:p>
            <a:pPr>
              <a:defRPr/>
            </a:pPr>
            <a:r>
              <a:rPr lang="en-US" u="sng" dirty="0">
                <a:solidFill>
                  <a:prstClr val="black"/>
                </a:solidFill>
                <a:latin typeface=" Arial"/>
                <a:cs typeface="Arial" panose="020B0604020202020204" pitchFamily="34" charset="0"/>
              </a:rPr>
              <a:t>Project Title</a:t>
            </a:r>
            <a:r>
              <a:rPr lang="en-US" dirty="0">
                <a:solidFill>
                  <a:prstClr val="black"/>
                </a:solidFill>
                <a:latin typeface=" Arial"/>
                <a:cs typeface="Arial" panose="020B0604020202020204" pitchFamily="34" charset="0"/>
              </a:rPr>
              <a:t>:  </a:t>
            </a:r>
            <a:r>
              <a:rPr lang="en-US" dirty="0" smtClean="0">
                <a:solidFill>
                  <a:prstClr val="black"/>
                </a:solidFill>
                <a:latin typeface=" Arial"/>
                <a:cs typeface="Arial" panose="020B0604020202020204" pitchFamily="34" charset="0"/>
              </a:rPr>
              <a:t>Blast Pelvic Protector (BPP)</a:t>
            </a:r>
            <a:endParaRPr lang="en-US"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Project </a:t>
            </a:r>
            <a:r>
              <a:rPr lang="en-US" u="sng" dirty="0" smtClean="0">
                <a:solidFill>
                  <a:prstClr val="black"/>
                </a:solidFill>
                <a:latin typeface=" Arial"/>
                <a:cs typeface="Arial" panose="020B0604020202020204" pitchFamily="34" charset="0"/>
              </a:rPr>
              <a:t>Summary</a:t>
            </a:r>
            <a:r>
              <a:rPr lang="en-US" dirty="0" smtClean="0">
                <a:solidFill>
                  <a:prstClr val="black"/>
                </a:solidFill>
                <a:latin typeface=" Arial"/>
                <a:cs typeface="Arial" panose="020B0604020202020204" pitchFamily="34" charset="0"/>
              </a:rPr>
              <a:t>:  </a:t>
            </a:r>
            <a:r>
              <a:rPr lang="en-US" dirty="0" smtClean="0">
                <a:solidFill>
                  <a:prstClr val="black"/>
                </a:solidFill>
                <a:latin typeface=" Arial"/>
              </a:rPr>
              <a:t>The BPP </a:t>
            </a:r>
            <a:r>
              <a:rPr lang="en-US" dirty="0">
                <a:solidFill>
                  <a:prstClr val="black"/>
                </a:solidFill>
                <a:latin typeface=" Arial"/>
              </a:rPr>
              <a:t>is part of the Soldier Protection System Torso and Extremity Protection (SPS TEP</a:t>
            </a:r>
            <a:r>
              <a:rPr lang="en-US" dirty="0" smtClean="0">
                <a:solidFill>
                  <a:prstClr val="black"/>
                </a:solidFill>
                <a:latin typeface=" Arial"/>
              </a:rPr>
              <a:t>), designed as a blast harness worn over the Flame Resistance Army Combat Uniform and affords protection to the Soldier’s pelvic region, femoral arteries, inner thigh, and lower abdominal organs in a blast or fragmentation event by reducing penetration </a:t>
            </a:r>
            <a:r>
              <a:rPr lang="en-US" dirty="0" smtClean="0">
                <a:solidFill>
                  <a:prstClr val="black"/>
                </a:solidFill>
                <a:latin typeface=" Arial"/>
              </a:rPr>
              <a:t>of </a:t>
            </a:r>
            <a:r>
              <a:rPr lang="en-US" dirty="0" smtClean="0">
                <a:solidFill>
                  <a:prstClr val="black"/>
                </a:solidFill>
                <a:latin typeface=" Arial"/>
              </a:rPr>
              <a:t>large </a:t>
            </a:r>
            <a:r>
              <a:rPr lang="en-US" dirty="0" smtClean="0">
                <a:solidFill>
                  <a:prstClr val="black"/>
                </a:solidFill>
                <a:latin typeface=" Arial"/>
              </a:rPr>
              <a:t>threats </a:t>
            </a:r>
            <a:r>
              <a:rPr lang="en-US" dirty="0" smtClean="0">
                <a:solidFill>
                  <a:prstClr val="black"/>
                </a:solidFill>
                <a:latin typeface=" Arial"/>
              </a:rPr>
              <a:t>and debris.</a:t>
            </a:r>
            <a:r>
              <a:rPr lang="en-US" dirty="0" smtClean="0">
                <a:latin typeface=" Arial"/>
              </a:rPr>
              <a:t> </a:t>
            </a:r>
            <a:endParaRPr lang="en-US" dirty="0">
              <a:solidFill>
                <a:prstClr val="black"/>
              </a:solidFill>
              <a:latin typeface=" Arial"/>
              <a:cs typeface="Arial" panose="020B0604020202020204" pitchFamily="34" charset="0"/>
            </a:endParaRPr>
          </a:p>
          <a:p>
            <a:pPr>
              <a:defRPr/>
            </a:pPr>
            <a:endParaRPr lang="en-US" u="sng"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Prior/Current Contract Information:</a:t>
            </a:r>
          </a:p>
          <a:p>
            <a:pPr>
              <a:defRPr/>
            </a:pPr>
            <a:r>
              <a:rPr lang="en-US" dirty="0">
                <a:solidFill>
                  <a:prstClr val="black"/>
                </a:solidFill>
                <a:latin typeface=" Arial"/>
                <a:cs typeface="Arial" panose="020B0604020202020204" pitchFamily="34" charset="0"/>
              </a:rPr>
              <a:t>	Contract Number:  </a:t>
            </a:r>
            <a:r>
              <a:rPr lang="en-US" dirty="0" smtClean="0">
                <a:solidFill>
                  <a:prstClr val="black"/>
                </a:solidFill>
                <a:latin typeface=" Arial"/>
                <a:cs typeface="Arial" panose="020B0604020202020204" pitchFamily="34" charset="0"/>
              </a:rPr>
              <a:t>W91CRB-15-D-0032/W91CRB-15-D-0033/</a:t>
            </a:r>
          </a:p>
          <a:p>
            <a:pPr>
              <a:defRPr/>
            </a:pPr>
            <a:r>
              <a:rPr lang="en-US" dirty="0">
                <a:solidFill>
                  <a:prstClr val="black"/>
                </a:solidFill>
                <a:latin typeface=" Arial"/>
                <a:cs typeface="Arial" panose="020B0604020202020204" pitchFamily="34" charset="0"/>
              </a:rPr>
              <a:t>	</a:t>
            </a:r>
            <a:r>
              <a:rPr lang="en-US" dirty="0" smtClean="0">
                <a:solidFill>
                  <a:prstClr val="black"/>
                </a:solidFill>
                <a:latin typeface=" Arial"/>
                <a:cs typeface="Arial" panose="020B0604020202020204" pitchFamily="34" charset="0"/>
              </a:rPr>
              <a:t>W91CRB-15-D-0034 </a:t>
            </a:r>
            <a:endParaRPr lang="en-US" dirty="0">
              <a:solidFill>
                <a:prstClr val="black"/>
              </a:solidFill>
              <a:latin typeface=" Arial"/>
              <a:cs typeface="Arial" panose="020B0604020202020204" pitchFamily="34" charset="0"/>
            </a:endParaRPr>
          </a:p>
          <a:p>
            <a:pPr>
              <a:defRPr/>
            </a:pPr>
            <a:r>
              <a:rPr lang="en-US" dirty="0">
                <a:solidFill>
                  <a:prstClr val="black"/>
                </a:solidFill>
                <a:latin typeface=" Arial"/>
                <a:cs typeface="Arial" panose="020B0604020202020204" pitchFamily="34" charset="0"/>
              </a:rPr>
              <a:t>	Incumbent </a:t>
            </a:r>
            <a:r>
              <a:rPr lang="en-US" dirty="0" smtClean="0">
                <a:solidFill>
                  <a:prstClr val="black"/>
                </a:solidFill>
                <a:latin typeface=" Arial"/>
                <a:cs typeface="Arial" panose="020B0604020202020204" pitchFamily="34" charset="0"/>
              </a:rPr>
              <a:t>Contractors: KDH Defense </a:t>
            </a:r>
            <a:r>
              <a:rPr lang="en-US" dirty="0" smtClean="0">
                <a:solidFill>
                  <a:prstClr val="black"/>
                </a:solidFill>
                <a:latin typeface=" Arial"/>
                <a:cs typeface="Arial" panose="020B0604020202020204" pitchFamily="34" charset="0"/>
              </a:rPr>
              <a:t>Systems; </a:t>
            </a:r>
            <a:r>
              <a:rPr lang="en-US" dirty="0" smtClean="0">
                <a:solidFill>
                  <a:prstClr val="black"/>
                </a:solidFill>
                <a:latin typeface=" Arial"/>
                <a:cs typeface="Arial" panose="020B0604020202020204" pitchFamily="34" charset="0"/>
              </a:rPr>
              <a:t>Hawk </a:t>
            </a:r>
            <a:r>
              <a:rPr lang="en-US" dirty="0" smtClean="0">
                <a:solidFill>
                  <a:prstClr val="black"/>
                </a:solidFill>
                <a:latin typeface=" Arial"/>
                <a:cs typeface="Arial" panose="020B0604020202020204" pitchFamily="34" charset="0"/>
              </a:rPr>
              <a:t>Protection; Bethel </a:t>
            </a:r>
            <a:r>
              <a:rPr lang="en-US" dirty="0" smtClean="0">
                <a:solidFill>
                  <a:prstClr val="black"/>
                </a:solidFill>
                <a:latin typeface=" Arial"/>
                <a:cs typeface="Arial" panose="020B0604020202020204" pitchFamily="34" charset="0"/>
              </a:rPr>
              <a:t>	Industries </a:t>
            </a:r>
            <a:endParaRPr lang="en-US" dirty="0">
              <a:solidFill>
                <a:prstClr val="black"/>
              </a:solidFill>
              <a:latin typeface=" Arial"/>
              <a:cs typeface="Arial" panose="020B0604020202020204" pitchFamily="34" charset="0"/>
            </a:endParaRPr>
          </a:p>
          <a:p>
            <a:pPr>
              <a:defRPr/>
            </a:pPr>
            <a:endParaRPr lang="en-US"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Contract Type:</a:t>
            </a:r>
            <a:r>
              <a:rPr lang="en-US" dirty="0">
                <a:solidFill>
                  <a:prstClr val="black"/>
                </a:solidFill>
                <a:latin typeface=" Arial"/>
                <a:cs typeface="Arial" panose="020B0604020202020204" pitchFamily="34" charset="0"/>
              </a:rPr>
              <a:t> Delivery orders will be FFP </a:t>
            </a:r>
          </a:p>
          <a:p>
            <a:pPr>
              <a:defRPr/>
            </a:pPr>
            <a:r>
              <a:rPr lang="en-US" u="sng" dirty="0" smtClean="0">
                <a:solidFill>
                  <a:prstClr val="black"/>
                </a:solidFill>
                <a:latin typeface=" Arial"/>
                <a:cs typeface="Arial" panose="020B0604020202020204" pitchFamily="34" charset="0"/>
              </a:rPr>
              <a:t>ROM</a:t>
            </a:r>
            <a:r>
              <a:rPr lang="en-US" dirty="0" smtClean="0">
                <a:solidFill>
                  <a:prstClr val="black"/>
                </a:solidFill>
                <a:latin typeface=" Arial"/>
                <a:cs typeface="Arial" panose="020B0604020202020204" pitchFamily="34" charset="0"/>
              </a:rPr>
              <a:t>: $50M</a:t>
            </a:r>
            <a:endParaRPr lang="en-US" dirty="0">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Period of Performance:</a:t>
            </a:r>
            <a:r>
              <a:rPr lang="en-US" dirty="0">
                <a:solidFill>
                  <a:prstClr val="black"/>
                </a:solidFill>
                <a:latin typeface=" Arial"/>
                <a:cs typeface="Arial" panose="020B0604020202020204" pitchFamily="34" charset="0"/>
              </a:rPr>
              <a:t> 5 year ordering period</a:t>
            </a:r>
          </a:p>
          <a:p>
            <a:pPr>
              <a:defRPr/>
            </a:pPr>
            <a:r>
              <a:rPr lang="en-US" u="sng" dirty="0" smtClean="0">
                <a:solidFill>
                  <a:prstClr val="black"/>
                </a:solidFill>
                <a:latin typeface=" Arial"/>
                <a:cs typeface="Arial" panose="020B0604020202020204" pitchFamily="34" charset="0"/>
              </a:rPr>
              <a:t>Estimated Solicitation Release Date:</a:t>
            </a:r>
            <a:r>
              <a:rPr lang="en-US" dirty="0" smtClean="0">
                <a:solidFill>
                  <a:prstClr val="black"/>
                </a:solidFill>
                <a:latin typeface=" Arial"/>
                <a:cs typeface="Arial" panose="020B0604020202020204" pitchFamily="34" charset="0"/>
              </a:rPr>
              <a:t> 4QFY19</a:t>
            </a:r>
            <a:endParaRPr lang="en-US" dirty="0">
              <a:solidFill>
                <a:srgbClr val="FF0000"/>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Contracting Contact:</a:t>
            </a:r>
            <a:r>
              <a:rPr lang="en-US" dirty="0">
                <a:solidFill>
                  <a:prstClr val="black"/>
                </a:solidFill>
                <a:latin typeface=" Arial"/>
                <a:cs typeface="Arial" panose="020B0604020202020204" pitchFamily="34" charset="0"/>
              </a:rPr>
              <a:t> ACC-APG, </a:t>
            </a:r>
            <a:r>
              <a:rPr lang="en-US" dirty="0" smtClean="0">
                <a:solidFill>
                  <a:prstClr val="black"/>
                </a:solidFill>
                <a:latin typeface=" Arial"/>
                <a:cs typeface="Arial" panose="020B0604020202020204" pitchFamily="34" charset="0"/>
              </a:rPr>
              <a:t>Lisa Yamakawa, </a:t>
            </a:r>
            <a:r>
              <a:rPr lang="en-US" u="sng" dirty="0" smtClean="0">
                <a:solidFill>
                  <a:srgbClr val="0000FF"/>
                </a:solidFill>
                <a:latin typeface=" Arial"/>
                <a:cs typeface="Arial" panose="020B0604020202020204" pitchFamily="34" charset="0"/>
              </a:rPr>
              <a:t>Lisa.J.Yamakawa.civ@mail.mil</a:t>
            </a:r>
            <a:r>
              <a:rPr lang="en-US" dirty="0" smtClean="0">
                <a:solidFill>
                  <a:prstClr val="black"/>
                </a:solidFill>
                <a:latin typeface=" Arial"/>
                <a:cs typeface="Arial" panose="020B0604020202020204" pitchFamily="34" charset="0"/>
              </a:rPr>
              <a:t> </a:t>
            </a:r>
          </a:p>
          <a:p>
            <a:pPr>
              <a:defRPr/>
            </a:pPr>
            <a:r>
              <a:rPr lang="en-US" b="1" dirty="0" smtClean="0">
                <a:solidFill>
                  <a:prstClr val="black"/>
                </a:solidFill>
                <a:latin typeface=" Arial"/>
              </a:rPr>
              <a:t>*Subject to Cancellation</a:t>
            </a:r>
            <a:endParaRPr lang="en-US" b="1" dirty="0">
              <a:solidFill>
                <a:prstClr val="black"/>
              </a:solidFill>
              <a:latin typeface=" Arial"/>
            </a:endParaRPr>
          </a:p>
        </p:txBody>
      </p:sp>
    </p:spTree>
    <p:extLst>
      <p:ext uri="{BB962C8B-B14F-4D97-AF65-F5344CB8AC3E}">
        <p14:creationId xmlns:p14="http://schemas.microsoft.com/office/powerpoint/2010/main" val="392699938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24</a:t>
            </a:fld>
            <a:endParaRPr lang="en-US" sz="1000" dirty="0">
              <a:solidFill>
                <a:prstClr val="white"/>
              </a:solidFill>
            </a:endParaRPr>
          </a:p>
        </p:txBody>
      </p:sp>
      <p:sp>
        <p:nvSpPr>
          <p:cNvPr id="8" name="TextBox 8"/>
          <p:cNvSpPr txBox="1">
            <a:spLocks noChangeArrowheads="1"/>
          </p:cNvSpPr>
          <p:nvPr/>
        </p:nvSpPr>
        <p:spPr bwMode="auto">
          <a:xfrm>
            <a:off x="0" y="1066800"/>
            <a:ext cx="9144000" cy="5355312"/>
          </a:xfrm>
          <a:prstGeom prst="rect">
            <a:avLst/>
          </a:prstGeom>
          <a:noFill/>
          <a:ln w="9525">
            <a:noFill/>
            <a:miter lim="800000"/>
            <a:headEnd/>
            <a:tailEnd/>
          </a:ln>
        </p:spPr>
        <p:txBody>
          <a:bodyPr wrap="square">
            <a:spAutoFit/>
          </a:bodyPr>
          <a:lstStyle/>
          <a:p>
            <a:pPr>
              <a:defRPr/>
            </a:pPr>
            <a:r>
              <a:rPr lang="en-US" u="sng" dirty="0">
                <a:solidFill>
                  <a:prstClr val="black"/>
                </a:solidFill>
                <a:latin typeface=" Arial"/>
                <a:cs typeface="Arial" panose="020B0604020202020204" pitchFamily="34" charset="0"/>
              </a:rPr>
              <a:t>Project Title</a:t>
            </a:r>
            <a:r>
              <a:rPr lang="en-US" dirty="0">
                <a:solidFill>
                  <a:prstClr val="black"/>
                </a:solidFill>
                <a:latin typeface=" Arial"/>
                <a:cs typeface="Arial" panose="020B0604020202020204" pitchFamily="34" charset="0"/>
              </a:rPr>
              <a:t>:  </a:t>
            </a:r>
            <a:r>
              <a:rPr lang="en-US" dirty="0" smtClean="0">
                <a:solidFill>
                  <a:prstClr val="black"/>
                </a:solidFill>
                <a:latin typeface=" Arial"/>
                <a:cs typeface="Arial" panose="020B0604020202020204" pitchFamily="34" charset="0"/>
              </a:rPr>
              <a:t>Ballistic Combat Shirt (BCS)</a:t>
            </a:r>
            <a:endParaRPr lang="en-US"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Project </a:t>
            </a:r>
            <a:r>
              <a:rPr lang="en-US" u="sng" dirty="0" smtClean="0">
                <a:solidFill>
                  <a:prstClr val="black"/>
                </a:solidFill>
                <a:latin typeface=" Arial"/>
                <a:cs typeface="Arial" panose="020B0604020202020204" pitchFamily="34" charset="0"/>
              </a:rPr>
              <a:t>Summary</a:t>
            </a:r>
            <a:r>
              <a:rPr lang="en-US" dirty="0" smtClean="0">
                <a:solidFill>
                  <a:prstClr val="black"/>
                </a:solidFill>
                <a:latin typeface=" Arial"/>
                <a:cs typeface="Arial" panose="020B0604020202020204" pitchFamily="34" charset="0"/>
              </a:rPr>
              <a:t>:  </a:t>
            </a:r>
            <a:r>
              <a:rPr lang="en-US" dirty="0" smtClean="0">
                <a:solidFill>
                  <a:prstClr val="black"/>
                </a:solidFill>
                <a:latin typeface=" Arial"/>
              </a:rPr>
              <a:t>The BPP </a:t>
            </a:r>
            <a:r>
              <a:rPr lang="en-US" dirty="0">
                <a:solidFill>
                  <a:prstClr val="black"/>
                </a:solidFill>
                <a:latin typeface=" Arial"/>
              </a:rPr>
              <a:t>is part of the Soldier Protection System Torso and Extremity Protection (SPS TEP</a:t>
            </a:r>
            <a:r>
              <a:rPr lang="en-US" dirty="0" smtClean="0">
                <a:solidFill>
                  <a:prstClr val="black"/>
                </a:solidFill>
                <a:latin typeface=" Arial"/>
              </a:rPr>
              <a:t>), designed to function as an armored Army Combat Shirt (ACS).  The non-ballistic materials used in the torso and sleeves are equal to the ACS in weight and functional characteristics, to include flame resistance and moisture wicking.  The deltoid and upper thoracic portions of the BCS contain soft armor that provides protection from fragmenting munitions as well as handgun threats</a:t>
            </a:r>
            <a:r>
              <a:rPr lang="en-US" dirty="0" smtClean="0">
                <a:solidFill>
                  <a:prstClr val="black"/>
                </a:solidFill>
                <a:latin typeface=" Arial"/>
              </a:rPr>
              <a:t>.</a:t>
            </a:r>
            <a:endParaRPr lang="en-US" u="sng"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Prior/Current Contract Information:</a:t>
            </a:r>
          </a:p>
          <a:p>
            <a:pPr>
              <a:defRPr/>
            </a:pPr>
            <a:r>
              <a:rPr lang="en-US" dirty="0">
                <a:solidFill>
                  <a:prstClr val="black"/>
                </a:solidFill>
                <a:latin typeface=" Arial"/>
                <a:cs typeface="Arial" panose="020B0604020202020204" pitchFamily="34" charset="0"/>
              </a:rPr>
              <a:t>	Contract Number:  </a:t>
            </a:r>
            <a:r>
              <a:rPr lang="en-US" dirty="0" smtClean="0">
                <a:solidFill>
                  <a:prstClr val="black"/>
                </a:solidFill>
                <a:latin typeface=" Arial"/>
                <a:cs typeface="Arial" panose="020B0604020202020204" pitchFamily="34" charset="0"/>
              </a:rPr>
              <a:t>W91CRB-15-D-0025/W91CRB-15-D-0026/</a:t>
            </a:r>
          </a:p>
          <a:p>
            <a:pPr>
              <a:defRPr/>
            </a:pPr>
            <a:r>
              <a:rPr lang="en-US" dirty="0">
                <a:solidFill>
                  <a:prstClr val="black"/>
                </a:solidFill>
                <a:latin typeface=" Arial"/>
                <a:cs typeface="Arial" panose="020B0604020202020204" pitchFamily="34" charset="0"/>
              </a:rPr>
              <a:t>	</a:t>
            </a:r>
            <a:r>
              <a:rPr lang="en-US" dirty="0" smtClean="0">
                <a:solidFill>
                  <a:prstClr val="black"/>
                </a:solidFill>
                <a:latin typeface=" Arial"/>
                <a:cs typeface="Arial" panose="020B0604020202020204" pitchFamily="34" charset="0"/>
              </a:rPr>
              <a:t>W91CRB-16-D-0019 </a:t>
            </a:r>
            <a:endParaRPr lang="en-US" dirty="0">
              <a:solidFill>
                <a:prstClr val="black"/>
              </a:solidFill>
              <a:latin typeface=" Arial"/>
              <a:cs typeface="Arial" panose="020B0604020202020204" pitchFamily="34" charset="0"/>
            </a:endParaRPr>
          </a:p>
          <a:p>
            <a:pPr>
              <a:defRPr/>
            </a:pPr>
            <a:r>
              <a:rPr lang="en-US" dirty="0">
                <a:solidFill>
                  <a:prstClr val="black"/>
                </a:solidFill>
                <a:latin typeface=" Arial"/>
                <a:cs typeface="Arial" panose="020B0604020202020204" pitchFamily="34" charset="0"/>
              </a:rPr>
              <a:t>	Incumbent </a:t>
            </a:r>
            <a:r>
              <a:rPr lang="en-US" dirty="0" smtClean="0">
                <a:solidFill>
                  <a:prstClr val="black"/>
                </a:solidFill>
                <a:latin typeface=" Arial"/>
                <a:cs typeface="Arial" panose="020B0604020202020204" pitchFamily="34" charset="0"/>
              </a:rPr>
              <a:t>Contractors: Point Blank Protective Apparel &amp; </a:t>
            </a:r>
            <a:r>
              <a:rPr lang="en-US" dirty="0" smtClean="0">
                <a:solidFill>
                  <a:prstClr val="black"/>
                </a:solidFill>
                <a:latin typeface=" Arial"/>
                <a:cs typeface="Arial" panose="020B0604020202020204" pitchFamily="34" charset="0"/>
              </a:rPr>
              <a:t>Uniform; </a:t>
            </a:r>
            <a:r>
              <a:rPr lang="en-US" dirty="0" smtClean="0">
                <a:solidFill>
                  <a:prstClr val="black"/>
                </a:solidFill>
                <a:latin typeface=" Arial"/>
                <a:cs typeface="Arial" panose="020B0604020202020204" pitchFamily="34" charset="0"/>
              </a:rPr>
              <a:t>Carter 	</a:t>
            </a:r>
            <a:r>
              <a:rPr lang="en-US" dirty="0" smtClean="0">
                <a:solidFill>
                  <a:prstClr val="black"/>
                </a:solidFill>
                <a:latin typeface=" Arial"/>
                <a:cs typeface="Arial" panose="020B0604020202020204" pitchFamily="34" charset="0"/>
              </a:rPr>
              <a:t>Enterprises; </a:t>
            </a:r>
            <a:r>
              <a:rPr lang="en-US" dirty="0" smtClean="0">
                <a:solidFill>
                  <a:prstClr val="black"/>
                </a:solidFill>
                <a:latin typeface=" Arial"/>
                <a:cs typeface="Arial" panose="020B0604020202020204" pitchFamily="34" charset="0"/>
              </a:rPr>
              <a:t>Eagle </a:t>
            </a:r>
            <a:r>
              <a:rPr lang="en-US" dirty="0" smtClean="0">
                <a:solidFill>
                  <a:prstClr val="black"/>
                </a:solidFill>
                <a:latin typeface=" Arial"/>
                <a:cs typeface="Arial" panose="020B0604020202020204" pitchFamily="34" charset="0"/>
              </a:rPr>
              <a:t>Industries</a:t>
            </a:r>
            <a:endParaRPr lang="en-US" dirty="0">
              <a:solidFill>
                <a:prstClr val="black"/>
              </a:solidFill>
              <a:latin typeface=" Arial"/>
              <a:cs typeface="Arial" panose="020B0604020202020204" pitchFamily="34" charset="0"/>
            </a:endParaRPr>
          </a:p>
          <a:p>
            <a:pPr>
              <a:defRPr/>
            </a:pPr>
            <a:endParaRPr lang="en-US" u="sng" dirty="0" smtClean="0">
              <a:solidFill>
                <a:prstClr val="black"/>
              </a:solidFill>
              <a:latin typeface=" Arial"/>
              <a:cs typeface="Arial" panose="020B0604020202020204" pitchFamily="34" charset="0"/>
            </a:endParaRPr>
          </a:p>
          <a:p>
            <a:pPr>
              <a:defRPr/>
            </a:pPr>
            <a:r>
              <a:rPr lang="en-US" u="sng" dirty="0" smtClean="0">
                <a:solidFill>
                  <a:prstClr val="black"/>
                </a:solidFill>
                <a:latin typeface=" Arial"/>
                <a:cs typeface="Arial" panose="020B0604020202020204" pitchFamily="34" charset="0"/>
              </a:rPr>
              <a:t>Contract </a:t>
            </a:r>
            <a:r>
              <a:rPr lang="en-US" u="sng" dirty="0">
                <a:solidFill>
                  <a:prstClr val="black"/>
                </a:solidFill>
                <a:latin typeface=" Arial"/>
                <a:cs typeface="Arial" panose="020B0604020202020204" pitchFamily="34" charset="0"/>
              </a:rPr>
              <a:t>Type:</a:t>
            </a:r>
            <a:r>
              <a:rPr lang="en-US" dirty="0">
                <a:solidFill>
                  <a:prstClr val="black"/>
                </a:solidFill>
                <a:latin typeface=" Arial"/>
                <a:cs typeface="Arial" panose="020B0604020202020204" pitchFamily="34" charset="0"/>
              </a:rPr>
              <a:t> Delivery orders will be FFP </a:t>
            </a:r>
          </a:p>
          <a:p>
            <a:pPr>
              <a:defRPr/>
            </a:pPr>
            <a:r>
              <a:rPr lang="en-US" u="sng" dirty="0" smtClean="0">
                <a:solidFill>
                  <a:prstClr val="black"/>
                </a:solidFill>
                <a:latin typeface=" Arial"/>
                <a:cs typeface="Arial" panose="020B0604020202020204" pitchFamily="34" charset="0"/>
              </a:rPr>
              <a:t>ROM</a:t>
            </a:r>
            <a:r>
              <a:rPr lang="en-US" dirty="0" smtClean="0">
                <a:solidFill>
                  <a:prstClr val="black"/>
                </a:solidFill>
                <a:latin typeface=" Arial"/>
                <a:cs typeface="Arial" panose="020B0604020202020204" pitchFamily="34" charset="0"/>
              </a:rPr>
              <a:t>: $50M</a:t>
            </a:r>
            <a:endParaRPr lang="en-US" dirty="0">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Period of Performance:</a:t>
            </a:r>
            <a:r>
              <a:rPr lang="en-US" dirty="0">
                <a:solidFill>
                  <a:prstClr val="black"/>
                </a:solidFill>
                <a:latin typeface=" Arial"/>
                <a:cs typeface="Arial" panose="020B0604020202020204" pitchFamily="34" charset="0"/>
              </a:rPr>
              <a:t> 5 year ordering period</a:t>
            </a:r>
          </a:p>
          <a:p>
            <a:pPr>
              <a:defRPr/>
            </a:pPr>
            <a:r>
              <a:rPr lang="en-US" u="sng" dirty="0" smtClean="0">
                <a:solidFill>
                  <a:prstClr val="black"/>
                </a:solidFill>
                <a:latin typeface=" Arial"/>
                <a:cs typeface="Arial" panose="020B0604020202020204" pitchFamily="34" charset="0"/>
              </a:rPr>
              <a:t>Estimated Solicitation Release Date:</a:t>
            </a:r>
            <a:r>
              <a:rPr lang="en-US" dirty="0" smtClean="0">
                <a:solidFill>
                  <a:prstClr val="black"/>
                </a:solidFill>
                <a:latin typeface=" Arial"/>
                <a:cs typeface="Arial" panose="020B0604020202020204" pitchFamily="34" charset="0"/>
              </a:rPr>
              <a:t> 4QFY19</a:t>
            </a:r>
            <a:endParaRPr lang="en-US" dirty="0">
              <a:solidFill>
                <a:srgbClr val="FF0000"/>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Contracting Contact:</a:t>
            </a:r>
            <a:r>
              <a:rPr lang="en-US" dirty="0">
                <a:solidFill>
                  <a:prstClr val="black"/>
                </a:solidFill>
                <a:latin typeface=" Arial"/>
                <a:cs typeface="Arial" panose="020B0604020202020204" pitchFamily="34" charset="0"/>
              </a:rPr>
              <a:t> ACC-APG, </a:t>
            </a:r>
            <a:r>
              <a:rPr lang="en-US" dirty="0" smtClean="0">
                <a:solidFill>
                  <a:prstClr val="black"/>
                </a:solidFill>
                <a:latin typeface=" Arial"/>
                <a:cs typeface="Arial" panose="020B0604020202020204" pitchFamily="34" charset="0"/>
              </a:rPr>
              <a:t>Kelly Doolittle, </a:t>
            </a:r>
            <a:r>
              <a:rPr lang="en-US" u="sng" dirty="0" smtClean="0">
                <a:solidFill>
                  <a:srgbClr val="0000FF"/>
                </a:solidFill>
                <a:latin typeface=" Arial"/>
                <a:cs typeface="Arial" panose="020B0604020202020204" pitchFamily="34" charset="0"/>
              </a:rPr>
              <a:t>Kelly.L.Doolittle.civ@mail.mil</a:t>
            </a:r>
            <a:r>
              <a:rPr lang="en-US" dirty="0" smtClean="0">
                <a:solidFill>
                  <a:prstClr val="black"/>
                </a:solidFill>
                <a:latin typeface=" Arial"/>
                <a:cs typeface="Arial" panose="020B0604020202020204" pitchFamily="34" charset="0"/>
              </a:rPr>
              <a:t> </a:t>
            </a:r>
          </a:p>
          <a:p>
            <a:pPr>
              <a:defRPr/>
            </a:pPr>
            <a:r>
              <a:rPr lang="en-US" b="1" dirty="0" smtClean="0">
                <a:solidFill>
                  <a:prstClr val="black"/>
                </a:solidFill>
                <a:latin typeface=" Arial"/>
              </a:rPr>
              <a:t>*Subject to Cancellation</a:t>
            </a:r>
            <a:endParaRPr lang="en-US" b="1" dirty="0">
              <a:solidFill>
                <a:prstClr val="black"/>
              </a:solidFill>
              <a:latin typeface=" Arial"/>
            </a:endParaRPr>
          </a:p>
        </p:txBody>
      </p:sp>
    </p:spTree>
    <p:extLst>
      <p:ext uri="{BB962C8B-B14F-4D97-AF65-F5344CB8AC3E}">
        <p14:creationId xmlns:p14="http://schemas.microsoft.com/office/powerpoint/2010/main" val="300674907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25</a:t>
            </a:fld>
            <a:endParaRPr lang="en-US" sz="1000" dirty="0">
              <a:solidFill>
                <a:prstClr val="white"/>
              </a:solidFill>
            </a:endParaRPr>
          </a:p>
        </p:txBody>
      </p:sp>
      <p:sp>
        <p:nvSpPr>
          <p:cNvPr id="8" name="TextBox 8"/>
          <p:cNvSpPr txBox="1">
            <a:spLocks noChangeArrowheads="1"/>
          </p:cNvSpPr>
          <p:nvPr/>
        </p:nvSpPr>
        <p:spPr bwMode="auto">
          <a:xfrm>
            <a:off x="0" y="1066800"/>
            <a:ext cx="9144000" cy="5232202"/>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Next Generation Integrated Head Protection System (NG IHPS)</a:t>
            </a:r>
          </a:p>
          <a:p>
            <a:pPr>
              <a:defRPr/>
            </a:pPr>
            <a:r>
              <a:rPr lang="en-US" u="sng" dirty="0" smtClean="0">
                <a:solidFill>
                  <a:prstClr val="black"/>
                </a:solidFill>
                <a:latin typeface=" Arial"/>
              </a:rPr>
              <a:t>Project </a:t>
            </a:r>
            <a:r>
              <a:rPr lang="en-US" u="sng" dirty="0">
                <a:solidFill>
                  <a:prstClr val="black"/>
                </a:solidFill>
                <a:latin typeface=" Arial"/>
              </a:rPr>
              <a:t>Summary</a:t>
            </a:r>
            <a:r>
              <a:rPr lang="en-US" u="sng" dirty="0" smtClean="0">
                <a:solidFill>
                  <a:prstClr val="black"/>
                </a:solidFill>
                <a:latin typeface=" Arial"/>
              </a:rPr>
              <a:t>: </a:t>
            </a:r>
            <a:r>
              <a:rPr lang="en-US" dirty="0">
                <a:solidFill>
                  <a:prstClr val="black"/>
                </a:solidFill>
                <a:latin typeface=" Arial"/>
              </a:rPr>
              <a:t>The NG IHPS will transition from IHPS LRIP by incorporating Polyethylene (PE) Film technology meeting the Threat P protection level without the use of the current attached Ballistic Applique. </a:t>
            </a:r>
            <a:endParaRPr lang="en-US" dirty="0" smtClean="0">
              <a:solidFill>
                <a:prstClr val="black"/>
              </a:solidFill>
              <a:latin typeface=" Arial"/>
            </a:endParaRPr>
          </a:p>
          <a:p>
            <a:pPr>
              <a:defRPr/>
            </a:pPr>
            <a:endParaRPr lang="en-US" u="sng" dirty="0" smtClean="0">
              <a:solidFill>
                <a:prstClr val="black"/>
              </a:solidFill>
              <a:latin typeface=" Arial"/>
            </a:endParaRPr>
          </a:p>
          <a:p>
            <a:pPr>
              <a:defRPr/>
            </a:pPr>
            <a:r>
              <a:rPr lang="en-US" u="sng" dirty="0">
                <a:solidFill>
                  <a:prstClr val="black"/>
                </a:solidFill>
                <a:latin typeface=" Arial"/>
              </a:rPr>
              <a:t>Prior/Current Contract Information</a:t>
            </a:r>
            <a:r>
              <a:rPr lang="en-US" u="sng" dirty="0" smtClean="0">
                <a:solidFill>
                  <a:prstClr val="black"/>
                </a:solidFill>
                <a:latin typeface=" Arial"/>
              </a:rPr>
              <a:t>:  IHPS LRIP</a:t>
            </a:r>
            <a:endParaRPr lang="en-US" u="sng" dirty="0">
              <a:solidFill>
                <a:prstClr val="black"/>
              </a:solidFill>
              <a:latin typeface=" Arial"/>
            </a:endParaRPr>
          </a:p>
          <a:p>
            <a:pPr>
              <a:defRPr/>
            </a:pPr>
            <a:r>
              <a:rPr lang="en-US" dirty="0" smtClean="0">
                <a:solidFill>
                  <a:prstClr val="black"/>
                </a:solidFill>
                <a:latin typeface=" Arial"/>
              </a:rPr>
              <a:t>	Contract Number:  W91CRB-14-C-0005</a:t>
            </a:r>
          </a:p>
          <a:p>
            <a:pPr>
              <a:defRPr/>
            </a:pPr>
            <a:r>
              <a:rPr lang="en-US" dirty="0" smtClean="0">
                <a:solidFill>
                  <a:prstClr val="black"/>
                </a:solidFill>
                <a:latin typeface=" Arial"/>
              </a:rPr>
              <a:t>	Incumbent Contractor: </a:t>
            </a:r>
            <a:r>
              <a:rPr lang="en-US" dirty="0" err="1" smtClean="0">
                <a:solidFill>
                  <a:prstClr val="black"/>
                </a:solidFill>
                <a:latin typeface=" Arial"/>
              </a:rPr>
              <a:t>Ceradyne</a:t>
            </a:r>
            <a:endParaRPr lang="en-US" dirty="0" smtClean="0">
              <a:solidFill>
                <a:prstClr val="black"/>
              </a:solidFill>
              <a:latin typeface=" Arial"/>
            </a:endParaRPr>
          </a:p>
          <a:p>
            <a:pPr>
              <a:defRPr/>
            </a:pPr>
            <a:endParaRPr lang="en-US" dirty="0" smtClean="0">
              <a:solidFill>
                <a:prstClr val="black"/>
              </a:solidFill>
              <a:latin typeface=" Arial"/>
            </a:endParaRPr>
          </a:p>
          <a:p>
            <a:pPr>
              <a:defRPr/>
            </a:pPr>
            <a:r>
              <a:rPr lang="en-US" u="sng" dirty="0">
                <a:solidFill>
                  <a:prstClr val="black"/>
                </a:solidFill>
                <a:latin typeface=" Arial"/>
              </a:rPr>
              <a:t>Contract </a:t>
            </a:r>
            <a:r>
              <a:rPr lang="en-US" u="sng" dirty="0" smtClean="0">
                <a:solidFill>
                  <a:prstClr val="black"/>
                </a:solidFill>
                <a:latin typeface=" Arial"/>
              </a:rPr>
              <a:t>Type</a:t>
            </a:r>
            <a:r>
              <a:rPr lang="en-US" dirty="0" smtClean="0">
                <a:solidFill>
                  <a:prstClr val="black"/>
                </a:solidFill>
                <a:latin typeface=" Arial"/>
              </a:rPr>
              <a:t>:  Delivery orders will be FFP </a:t>
            </a:r>
          </a:p>
          <a:p>
            <a:pPr>
              <a:defRPr/>
            </a:pPr>
            <a:r>
              <a:rPr lang="en-US" u="sng" dirty="0" smtClean="0">
                <a:solidFill>
                  <a:prstClr val="black"/>
                </a:solidFill>
                <a:latin typeface=" Arial"/>
              </a:rPr>
              <a:t>ROM</a:t>
            </a:r>
            <a:r>
              <a:rPr lang="en-US" dirty="0" smtClean="0">
                <a:solidFill>
                  <a:prstClr val="black"/>
                </a:solidFill>
                <a:latin typeface=" Arial"/>
              </a:rPr>
              <a:t>:  TBD</a:t>
            </a:r>
          </a:p>
          <a:p>
            <a:pPr>
              <a:defRPr/>
            </a:pPr>
            <a:r>
              <a:rPr lang="en-US" u="sng" dirty="0" smtClean="0">
                <a:solidFill>
                  <a:prstClr val="black"/>
                </a:solidFill>
                <a:latin typeface=" Arial"/>
              </a:rPr>
              <a:t>Period </a:t>
            </a:r>
            <a:r>
              <a:rPr lang="en-US" u="sng" dirty="0">
                <a:solidFill>
                  <a:prstClr val="black"/>
                </a:solidFill>
                <a:latin typeface=" Arial"/>
              </a:rPr>
              <a:t>of </a:t>
            </a:r>
            <a:r>
              <a:rPr lang="en-US" u="sng" dirty="0" smtClean="0">
                <a:solidFill>
                  <a:prstClr val="black"/>
                </a:solidFill>
                <a:latin typeface=" Arial"/>
              </a:rPr>
              <a:t>Performance</a:t>
            </a:r>
            <a:r>
              <a:rPr lang="en-US" dirty="0" smtClean="0">
                <a:solidFill>
                  <a:prstClr val="black"/>
                </a:solidFill>
                <a:latin typeface=" Arial"/>
              </a:rPr>
              <a:t>:  5 year ordering period</a:t>
            </a:r>
          </a:p>
          <a:p>
            <a:pPr>
              <a:defRPr/>
            </a:pPr>
            <a:r>
              <a:rPr lang="en-US" u="sng" dirty="0">
                <a:solidFill>
                  <a:prstClr val="black"/>
                </a:solidFill>
                <a:latin typeface=" Arial"/>
              </a:rPr>
              <a:t>Estimated Solicitation Release </a:t>
            </a:r>
            <a:r>
              <a:rPr lang="en-US" u="sng" dirty="0" smtClean="0">
                <a:solidFill>
                  <a:prstClr val="black"/>
                </a:solidFill>
                <a:latin typeface=" Arial"/>
              </a:rPr>
              <a:t>Date</a:t>
            </a:r>
            <a:r>
              <a:rPr lang="en-US" dirty="0" smtClean="0">
                <a:solidFill>
                  <a:prstClr val="black"/>
                </a:solidFill>
                <a:latin typeface=" Arial"/>
              </a:rPr>
              <a:t>:  4QFY19</a:t>
            </a:r>
          </a:p>
          <a:p>
            <a:pPr>
              <a:defRPr/>
            </a:pPr>
            <a:r>
              <a:rPr lang="en-US" u="sng" dirty="0">
                <a:solidFill>
                  <a:prstClr val="black"/>
                </a:solidFill>
                <a:latin typeface=" Arial"/>
              </a:rPr>
              <a:t>Contracting </a:t>
            </a:r>
            <a:r>
              <a:rPr lang="en-US" u="sng" dirty="0" smtClean="0">
                <a:solidFill>
                  <a:prstClr val="black"/>
                </a:solidFill>
                <a:latin typeface=" Arial"/>
              </a:rPr>
              <a:t>Contact</a:t>
            </a:r>
            <a:r>
              <a:rPr lang="en-US" dirty="0" smtClean="0">
                <a:solidFill>
                  <a:prstClr val="black"/>
                </a:solidFill>
                <a:latin typeface=" Arial"/>
              </a:rPr>
              <a:t>:  ACC-APG, Terri Quick, KO, </a:t>
            </a:r>
            <a:r>
              <a:rPr lang="en-US" dirty="0" smtClean="0">
                <a:solidFill>
                  <a:prstClr val="black"/>
                </a:solidFill>
                <a:latin typeface=" Arial"/>
                <a:hlinkClick r:id="rId2"/>
              </a:rPr>
              <a:t>Theresa.S.Quick.civ@mail.mil</a:t>
            </a:r>
            <a:r>
              <a:rPr lang="en-US" dirty="0" smtClean="0">
                <a:solidFill>
                  <a:prstClr val="black"/>
                </a:solidFill>
                <a:latin typeface=" Arial"/>
              </a:rPr>
              <a:t> </a:t>
            </a:r>
          </a:p>
          <a:p>
            <a:pPr>
              <a:defRPr/>
            </a:pPr>
            <a:endParaRPr lang="en-US" dirty="0" smtClean="0">
              <a:solidFill>
                <a:prstClr val="black"/>
              </a:solidFill>
              <a:latin typeface=" Arial"/>
            </a:endParaRPr>
          </a:p>
          <a:p>
            <a:pPr>
              <a:defRPr/>
            </a:pPr>
            <a:endParaRPr lang="en-US" sz="1600" b="1" dirty="0" smtClean="0">
              <a:solidFill>
                <a:prstClr val="black"/>
              </a:solidFill>
              <a:latin typeface=" Arial"/>
            </a:endParaRPr>
          </a:p>
          <a:p>
            <a:pPr>
              <a:defRPr/>
            </a:pPr>
            <a:endParaRPr lang="en-US" sz="1600" b="1" dirty="0">
              <a:solidFill>
                <a:prstClr val="black"/>
              </a:solidFill>
              <a:latin typeface=" Arial"/>
            </a:endParaRPr>
          </a:p>
          <a:p>
            <a:pPr>
              <a:defRPr/>
            </a:pPr>
            <a:endParaRPr lang="en-US" sz="1600" b="1"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1704304766"/>
      </p:ext>
    </p:extLst>
  </p:cSld>
  <p:clrMapOvr>
    <a:masterClrMapping/>
  </p:clrMapOvr>
  <p:timing>
    <p:tnLst>
      <p:par>
        <p:cTn id="1" dur="indefinite" restart="never" nodeType="tmRoot"/>
      </p:par>
    </p:tnLst>
  </p:timing>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6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5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7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2C78E9BD999AC46B3EB03425BB53FA5" ma:contentTypeVersion="0" ma:contentTypeDescription="Create a new document." ma:contentTypeScope="" ma:versionID="f6fc9fef488fa45be0a390bd39793c33">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FD0F2A9-63A1-4578-8ED3-5C6C752F0C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1A3DBC3F-1BD6-457B-823D-FD749E2AD09E}">
  <ds:schemaRefs>
    <ds:schemaRef ds:uri="http://schemas.microsoft.com/sharepoint/v3/contenttype/forms"/>
  </ds:schemaRefs>
</ds:datastoreItem>
</file>

<file path=customXml/itemProps3.xml><?xml version="1.0" encoding="utf-8"?>
<ds:datastoreItem xmlns:ds="http://schemas.openxmlformats.org/officeDocument/2006/customXml" ds:itemID="{D1C3164B-E357-4C61-9748-6D3606BFACD6}">
  <ds:schemaRefs>
    <ds:schemaRef ds:uri="http://purl.org/dc/elements/1.1/"/>
    <ds:schemaRef ds:uri="http://schemas.microsoft.com/office/2006/metadata/properties"/>
    <ds:schemaRef ds:uri="http://purl.org/dc/terms/"/>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6895</TotalTime>
  <Words>1897</Words>
  <Application>Microsoft Office PowerPoint</Application>
  <PresentationFormat>On-screen Show (4:3)</PresentationFormat>
  <Paragraphs>426</Paragraphs>
  <Slides>25</Slides>
  <Notes>1</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25</vt:i4>
      </vt:variant>
    </vt:vector>
  </HeadingPairs>
  <TitlesOfParts>
    <vt:vector size="36" baseType="lpstr">
      <vt:lpstr>MS PGothic</vt:lpstr>
      <vt:lpstr> Arial</vt:lpstr>
      <vt:lpstr>Arial</vt:lpstr>
      <vt:lpstr>Calibri</vt:lpstr>
      <vt:lpstr>Comic Sans MS</vt:lpstr>
      <vt:lpstr>Franklin Gothic Book</vt:lpstr>
      <vt:lpstr>Franklin Gothic Medium Cond</vt:lpstr>
      <vt:lpstr>4_Custom Design</vt:lpstr>
      <vt:lpstr>6_Custom Design</vt:lpstr>
      <vt:lpstr>5_Custom Design</vt:lpstr>
      <vt:lpstr>7_Custom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SRB Slides</dc:title>
  <dc:creator>Hessler, Kenneth CIV USA</dc:creator>
  <cp:lastModifiedBy>Wagenknecht, Gregory M Mr CIV USA AMC</cp:lastModifiedBy>
  <cp:revision>538</cp:revision>
  <cp:lastPrinted>2019-02-13T18:00:51Z</cp:lastPrinted>
  <dcterms:created xsi:type="dcterms:W3CDTF">2006-08-16T00:00:00Z</dcterms:created>
  <dcterms:modified xsi:type="dcterms:W3CDTF">2019-02-13T18:55:52Z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0x01010062C78E9BD999AC46B3EB03425BB53FA5</vt:lpwstr>
  </property>
  <property fmtid="{D5CDD505-2E9C-101B-9397-08002B2CF9AE}" pid="3" name="NXPowerLiteLastOptimized">
    <vt:lpwstr>206266</vt:lpwstr>
  </property>
  <property fmtid="{D5CDD505-2E9C-101B-9397-08002B2CF9AE}" pid="4" name="NXPowerLiteSettings">
    <vt:lpwstr>E6000400038000</vt:lpwstr>
  </property>
  <property fmtid="{D5CDD505-2E9C-101B-9397-08002B2CF9AE}" pid="5" name="NXPowerLiteVersion">
    <vt:lpwstr>D4.3.1</vt:lpwstr>
  </property>
  <property fmtid="{D5CDD505-2E9C-101B-9397-08002B2CF9AE}" pid="6" name="Order">
    <vt:r8>900</vt:r8>
  </property>
  <property fmtid="{D5CDD505-2E9C-101B-9397-08002B2CF9AE}" pid="7" name="TaxCatchAll">
    <vt:lpwstr/>
  </property>
  <property fmtid="{D5CDD505-2E9C-101B-9397-08002B2CF9AE}" pid="8" name="TemplateUrl">
    <vt:lpwstr/>
  </property>
  <property fmtid="{D5CDD505-2E9C-101B-9397-08002B2CF9AE}" pid="9" name="_CopySource">
    <vt:lpwstr>https://collab.aep.army.mil/sites/CGInitiatives/1205SETH/Read Ahead Book/TAB 03B - 2012 07 20 AMC World Wide Town Hall Presentation (slides Only).pptx</vt:lpwstr>
  </property>
  <property fmtid="{D5CDD505-2E9C-101B-9397-08002B2CF9AE}" pid="10" name="d2454c551d7348168dd1433cb168329a">
    <vt:lpwstr/>
  </property>
  <property fmtid="{D5CDD505-2E9C-101B-9397-08002B2CF9AE}" pid="11" name="xd_ProgID">
    <vt:lpwstr/>
  </property>
  <property fmtid="{D5CDD505-2E9C-101B-9397-08002B2CF9AE}" pid="12" name="xd_Signature">
    <vt:bool>false</vt:bool>
  </property>
</Properties>
</file>