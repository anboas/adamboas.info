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Lst>
  <p:notesMasterIdLst>
    <p:notesMasterId r:id="rId31"/>
  </p:notesMasterIdLst>
  <p:sldIdLst>
    <p:sldId id="256" r:id="rId6"/>
    <p:sldId id="278" r:id="rId7"/>
    <p:sldId id="279" r:id="rId8"/>
    <p:sldId id="257" r:id="rId9"/>
    <p:sldId id="313" r:id="rId10"/>
    <p:sldId id="280" r:id="rId11"/>
    <p:sldId id="273" r:id="rId12"/>
    <p:sldId id="258" r:id="rId13"/>
    <p:sldId id="272" r:id="rId14"/>
    <p:sldId id="274" r:id="rId15"/>
    <p:sldId id="259" r:id="rId16"/>
    <p:sldId id="260" r:id="rId17"/>
    <p:sldId id="314" r:id="rId18"/>
    <p:sldId id="261" r:id="rId19"/>
    <p:sldId id="263" r:id="rId20"/>
    <p:sldId id="264" r:id="rId21"/>
    <p:sldId id="266" r:id="rId22"/>
    <p:sldId id="315" r:id="rId23"/>
    <p:sldId id="316" r:id="rId24"/>
    <p:sldId id="267" r:id="rId25"/>
    <p:sldId id="268" r:id="rId26"/>
    <p:sldId id="269" r:id="rId27"/>
    <p:sldId id="270" r:id="rId28"/>
    <p:sldId id="271" r:id="rId29"/>
    <p:sldId id="317" r:id="rId30"/>
  </p:sldIdLst>
  <p:sldSz cx="9144000" cy="5143500" type="screen16x9"/>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230C42-6036-4C28-86F9-CFF515534A95}" v="2" dt="2026-02-26T12:19:30.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60" d="100"/>
          <a:sy n="160" d="100"/>
        </p:scale>
        <p:origin x="91" y="-1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ez Guzman, Angel J CIV USARMY CESAA (USA)" userId="16e71f74-3d80-41cf-b0ae-b47b14f1af47" providerId="ADAL" clId="{166D1ACE-CD72-4F3B-8565-89D3442C9AA1}"/>
    <pc:docChg chg="undo custSel modSld">
      <pc:chgData name="Martinez Guzman, Angel J CIV USARMY CESAA (USA)" userId="16e71f74-3d80-41cf-b0ae-b47b14f1af47" providerId="ADAL" clId="{166D1ACE-CD72-4F3B-8565-89D3442C9AA1}" dt="2026-02-26T12:51:02.536" v="186" actId="20577"/>
      <pc:docMkLst>
        <pc:docMk/>
      </pc:docMkLst>
      <pc:sldChg chg="modSp mod">
        <pc:chgData name="Martinez Guzman, Angel J CIV USARMY CESAA (USA)" userId="16e71f74-3d80-41cf-b0ae-b47b14f1af47" providerId="ADAL" clId="{166D1ACE-CD72-4F3B-8565-89D3442C9AA1}" dt="2026-02-26T12:18:34.545" v="61" actId="20577"/>
        <pc:sldMkLst>
          <pc:docMk/>
          <pc:sldMk cId="0" sldId="257"/>
        </pc:sldMkLst>
        <pc:spChg chg="mod">
          <ac:chgData name="Martinez Guzman, Angel J CIV USARMY CESAA (USA)" userId="16e71f74-3d80-41cf-b0ae-b47b14f1af47" providerId="ADAL" clId="{166D1ACE-CD72-4F3B-8565-89D3442C9AA1}" dt="2026-02-26T12:18:34.545" v="61" actId="20577"/>
          <ac:spMkLst>
            <pc:docMk/>
            <pc:sldMk cId="0" sldId="257"/>
            <ac:spMk id="3" creationId="{00000000-0000-0000-0000-000000000000}"/>
          </ac:spMkLst>
        </pc:spChg>
      </pc:sldChg>
      <pc:sldChg chg="delSp mod">
        <pc:chgData name="Martinez Guzman, Angel J CIV USARMY CESAA (USA)" userId="16e71f74-3d80-41cf-b0ae-b47b14f1af47" providerId="ADAL" clId="{166D1ACE-CD72-4F3B-8565-89D3442C9AA1}" dt="2026-02-26T12:23:03.510" v="70" actId="21"/>
        <pc:sldMkLst>
          <pc:docMk/>
          <pc:sldMk cId="0" sldId="271"/>
        </pc:sldMkLst>
        <pc:spChg chg="del">
          <ac:chgData name="Martinez Guzman, Angel J CIV USARMY CESAA (USA)" userId="16e71f74-3d80-41cf-b0ae-b47b14f1af47" providerId="ADAL" clId="{166D1ACE-CD72-4F3B-8565-89D3442C9AA1}" dt="2026-02-26T12:23:03.510" v="70" actId="21"/>
          <ac:spMkLst>
            <pc:docMk/>
            <pc:sldMk cId="0" sldId="271"/>
            <ac:spMk id="5" creationId="{00000000-0000-0000-0000-000000000000}"/>
          </ac:spMkLst>
        </pc:spChg>
      </pc:sldChg>
      <pc:sldChg chg="modSp mod">
        <pc:chgData name="Martinez Guzman, Angel J CIV USARMY CESAA (USA)" userId="16e71f74-3d80-41cf-b0ae-b47b14f1af47" providerId="ADAL" clId="{166D1ACE-CD72-4F3B-8565-89D3442C9AA1}" dt="2026-02-26T12:13:06.395" v="42" actId="20577"/>
        <pc:sldMkLst>
          <pc:docMk/>
          <pc:sldMk cId="0" sldId="278"/>
        </pc:sldMkLst>
        <pc:spChg chg="mod">
          <ac:chgData name="Martinez Guzman, Angel J CIV USARMY CESAA (USA)" userId="16e71f74-3d80-41cf-b0ae-b47b14f1af47" providerId="ADAL" clId="{166D1ACE-CD72-4F3B-8565-89D3442C9AA1}" dt="2026-02-26T12:13:06.395" v="42" actId="20577"/>
          <ac:spMkLst>
            <pc:docMk/>
            <pc:sldMk cId="0" sldId="278"/>
            <ac:spMk id="11" creationId="{00000000-0000-0000-0000-000000000000}"/>
          </ac:spMkLst>
        </pc:spChg>
      </pc:sldChg>
      <pc:sldChg chg="modSp mod">
        <pc:chgData name="Martinez Guzman, Angel J CIV USARMY CESAA (USA)" userId="16e71f74-3d80-41cf-b0ae-b47b14f1af47" providerId="ADAL" clId="{166D1ACE-CD72-4F3B-8565-89D3442C9AA1}" dt="2026-02-26T12:16:22.714" v="52" actId="20577"/>
        <pc:sldMkLst>
          <pc:docMk/>
          <pc:sldMk cId="0" sldId="279"/>
        </pc:sldMkLst>
        <pc:spChg chg="mod">
          <ac:chgData name="Martinez Guzman, Angel J CIV USARMY CESAA (USA)" userId="16e71f74-3d80-41cf-b0ae-b47b14f1af47" providerId="ADAL" clId="{166D1ACE-CD72-4F3B-8565-89D3442C9AA1}" dt="2026-02-26T12:16:22.714" v="52" actId="20577"/>
          <ac:spMkLst>
            <pc:docMk/>
            <pc:sldMk cId="0" sldId="279"/>
            <ac:spMk id="10" creationId="{00000000-0000-0000-0000-000000000000}"/>
          </ac:spMkLst>
        </pc:spChg>
      </pc:sldChg>
      <pc:sldChg chg="modSp mod">
        <pc:chgData name="Martinez Guzman, Angel J CIV USARMY CESAA (USA)" userId="16e71f74-3d80-41cf-b0ae-b47b14f1af47" providerId="ADAL" clId="{166D1ACE-CD72-4F3B-8565-89D3442C9AA1}" dt="2026-02-26T12:19:30.179" v="69"/>
        <pc:sldMkLst>
          <pc:docMk/>
          <pc:sldMk cId="0" sldId="280"/>
        </pc:sldMkLst>
        <pc:spChg chg="mod">
          <ac:chgData name="Martinez Guzman, Angel J CIV USARMY CESAA (USA)" userId="16e71f74-3d80-41cf-b0ae-b47b14f1af47" providerId="ADAL" clId="{166D1ACE-CD72-4F3B-8565-89D3442C9AA1}" dt="2026-02-26T12:19:30.179" v="69"/>
          <ac:spMkLst>
            <pc:docMk/>
            <pc:sldMk cId="0" sldId="280"/>
            <ac:spMk id="6" creationId="{00000000-0000-0000-0000-000000000000}"/>
          </ac:spMkLst>
        </pc:spChg>
      </pc:sldChg>
      <pc:sldChg chg="modSp mod">
        <pc:chgData name="Martinez Guzman, Angel J CIV USARMY CESAA (USA)" userId="16e71f74-3d80-41cf-b0ae-b47b14f1af47" providerId="ADAL" clId="{166D1ACE-CD72-4F3B-8565-89D3442C9AA1}" dt="2026-02-26T12:51:02.536" v="186" actId="20577"/>
        <pc:sldMkLst>
          <pc:docMk/>
          <pc:sldMk cId="1705901489" sldId="317"/>
        </pc:sldMkLst>
        <pc:graphicFrameChg chg="mod modGraphic">
          <ac:chgData name="Martinez Guzman, Angel J CIV USARMY CESAA (USA)" userId="16e71f74-3d80-41cf-b0ae-b47b14f1af47" providerId="ADAL" clId="{166D1ACE-CD72-4F3B-8565-89D3442C9AA1}" dt="2026-02-26T12:51:02.536" v="186" actId="20577"/>
          <ac:graphicFrameMkLst>
            <pc:docMk/>
            <pc:sldMk cId="1705901489" sldId="317"/>
            <ac:graphicFrameMk id="2" creationId="{67021319-705E-9B2E-49E9-9C6D328D63F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9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E9250-4144-7F8A-C28F-1F1A90B26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4D5B9-F2BB-E96D-B95E-C6046D5F6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1976E-C97E-9883-1805-6CB59594787F}"/>
              </a:ext>
            </a:extLst>
          </p:cNvPr>
          <p:cNvSpPr>
            <a:spLocks noGrp="1"/>
          </p:cNvSpPr>
          <p:nvPr>
            <p:ph type="body" idx="1"/>
          </p:nvPr>
        </p:nvSpPr>
        <p:spPr/>
        <p:txBody>
          <a:bodyPr lIns="104360" tIns="52180" rIns="104360" bIns="52180"/>
          <a:lstStyle/>
          <a:p>
            <a:endParaRPr lang="en-US"/>
          </a:p>
        </p:txBody>
      </p:sp>
      <p:sp>
        <p:nvSpPr>
          <p:cNvPr id="4" name="Slide Number Placeholder 3">
            <a:extLst>
              <a:ext uri="{FF2B5EF4-FFF2-40B4-BE49-F238E27FC236}">
                <a16:creationId xmlns:a16="http://schemas.microsoft.com/office/drawing/2014/main" id="{880B1F36-AABC-B638-6901-10342BC26B57}"/>
              </a:ext>
            </a:extLst>
          </p:cNvPr>
          <p:cNvSpPr>
            <a:spLocks noGrp="1"/>
          </p:cNvSpPr>
          <p:nvPr>
            <p:ph type="sldNum" sz="quarter" idx="10"/>
          </p:nvPr>
        </p:nvSpPr>
        <p:spPr/>
        <p:txBody>
          <a:bodyPr lIns="104360" tIns="52180" rIns="104360" bIns="52180"/>
          <a:lstStyle/>
          <a:p>
            <a:fld id="{F7021451-1387-4CA6-816F-3879F97B5CBC}" type="slidenum">
              <a:rPr lang="en-US"/>
              <a:t>7</a:t>
            </a:fld>
            <a:endParaRPr lang="en-US"/>
          </a:p>
        </p:txBody>
      </p:sp>
    </p:spTree>
    <p:extLst>
      <p:ext uri="{BB962C8B-B14F-4D97-AF65-F5344CB8AC3E}">
        <p14:creationId xmlns:p14="http://schemas.microsoft.com/office/powerpoint/2010/main" val="2459055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E9D6-67AA-93B8-E08F-78DAFF698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7C93D-4774-4845-E967-5C08212E6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12620-CF2E-DC8C-C26E-08BB2C24EAB5}"/>
              </a:ext>
            </a:extLst>
          </p:cNvPr>
          <p:cNvSpPr>
            <a:spLocks noGrp="1"/>
          </p:cNvSpPr>
          <p:nvPr>
            <p:ph type="body" idx="1"/>
          </p:nvPr>
        </p:nvSpPr>
        <p:spPr/>
        <p:txBody>
          <a:bodyPr lIns="104360" tIns="52180" rIns="104360" bIns="52180"/>
          <a:lstStyle/>
          <a:p>
            <a:endParaRPr lang="en-US"/>
          </a:p>
        </p:txBody>
      </p:sp>
      <p:sp>
        <p:nvSpPr>
          <p:cNvPr id="4" name="Slide Number Placeholder 3">
            <a:extLst>
              <a:ext uri="{FF2B5EF4-FFF2-40B4-BE49-F238E27FC236}">
                <a16:creationId xmlns:a16="http://schemas.microsoft.com/office/drawing/2014/main" id="{794465FB-F0A8-9452-5A6B-05901C2B61F0}"/>
              </a:ext>
            </a:extLst>
          </p:cNvPr>
          <p:cNvSpPr>
            <a:spLocks noGrp="1"/>
          </p:cNvSpPr>
          <p:nvPr>
            <p:ph type="sldNum" sz="quarter" idx="10"/>
          </p:nvPr>
        </p:nvSpPr>
        <p:spPr/>
        <p:txBody>
          <a:bodyPr lIns="104360" tIns="52180" rIns="104360" bIns="52180"/>
          <a:lstStyle/>
          <a:p>
            <a:fld id="{F7021451-1387-4CA6-816F-3879F97B5CBC}" type="slidenum">
              <a:rPr lang="en-US"/>
              <a:t>13</a:t>
            </a:fld>
            <a:endParaRPr lang="en-US"/>
          </a:p>
        </p:txBody>
      </p:sp>
    </p:spTree>
    <p:extLst>
      <p:ext uri="{BB962C8B-B14F-4D97-AF65-F5344CB8AC3E}">
        <p14:creationId xmlns:p14="http://schemas.microsoft.com/office/powerpoint/2010/main" val="130012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5AA88-8EB8-EB3F-3D18-EC3CB8D58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DA324-74DC-1730-C85C-F80761549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D1C41-79C0-A267-E762-5C1C15252400}"/>
              </a:ext>
            </a:extLst>
          </p:cNvPr>
          <p:cNvSpPr>
            <a:spLocks noGrp="1"/>
          </p:cNvSpPr>
          <p:nvPr>
            <p:ph type="body" idx="1"/>
          </p:nvPr>
        </p:nvSpPr>
        <p:spPr/>
        <p:txBody>
          <a:bodyPr lIns="104360" tIns="52180" rIns="104360" bIns="52180"/>
          <a:lstStyle/>
          <a:p>
            <a:endParaRPr lang="en-US"/>
          </a:p>
        </p:txBody>
      </p:sp>
      <p:sp>
        <p:nvSpPr>
          <p:cNvPr id="4" name="Slide Number Placeholder 3">
            <a:extLst>
              <a:ext uri="{FF2B5EF4-FFF2-40B4-BE49-F238E27FC236}">
                <a16:creationId xmlns:a16="http://schemas.microsoft.com/office/drawing/2014/main" id="{7D395F16-CEEE-AF42-A013-2686F1EE62FC}"/>
              </a:ext>
            </a:extLst>
          </p:cNvPr>
          <p:cNvSpPr>
            <a:spLocks noGrp="1"/>
          </p:cNvSpPr>
          <p:nvPr>
            <p:ph type="sldNum" sz="quarter" idx="10"/>
          </p:nvPr>
        </p:nvSpPr>
        <p:spPr/>
        <p:txBody>
          <a:bodyPr lIns="104360" tIns="52180" rIns="104360" bIns="52180"/>
          <a:lstStyle/>
          <a:p>
            <a:fld id="{F7021451-1387-4CA6-816F-3879F97B5CBC}" type="slidenum">
              <a:rPr lang="en-US"/>
              <a:t>18</a:t>
            </a:fld>
            <a:endParaRPr lang="en-US"/>
          </a:p>
        </p:txBody>
      </p:sp>
    </p:spTree>
    <p:extLst>
      <p:ext uri="{BB962C8B-B14F-4D97-AF65-F5344CB8AC3E}">
        <p14:creationId xmlns:p14="http://schemas.microsoft.com/office/powerpoint/2010/main" val="2425755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A9483-BFC9-8D07-EE1B-89529E8A3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3F96D-C74A-6691-ACC7-1ACDE3CCB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BB6C3-5112-686E-FECF-39B331E8E209}"/>
              </a:ext>
            </a:extLst>
          </p:cNvPr>
          <p:cNvSpPr>
            <a:spLocks noGrp="1"/>
          </p:cNvSpPr>
          <p:nvPr>
            <p:ph type="body" idx="1"/>
          </p:nvPr>
        </p:nvSpPr>
        <p:spPr/>
        <p:txBody>
          <a:bodyPr lIns="104360" tIns="52180" rIns="104360" bIns="52180"/>
          <a:lstStyle/>
          <a:p>
            <a:endParaRPr lang="en-US"/>
          </a:p>
        </p:txBody>
      </p:sp>
      <p:sp>
        <p:nvSpPr>
          <p:cNvPr id="4" name="Slide Number Placeholder 3">
            <a:extLst>
              <a:ext uri="{FF2B5EF4-FFF2-40B4-BE49-F238E27FC236}">
                <a16:creationId xmlns:a16="http://schemas.microsoft.com/office/drawing/2014/main" id="{DDD3A134-FBE2-CD1D-3716-28E445A591CA}"/>
              </a:ext>
            </a:extLst>
          </p:cNvPr>
          <p:cNvSpPr>
            <a:spLocks noGrp="1"/>
          </p:cNvSpPr>
          <p:nvPr>
            <p:ph type="sldNum" sz="quarter" idx="10"/>
          </p:nvPr>
        </p:nvSpPr>
        <p:spPr/>
        <p:txBody>
          <a:bodyPr lIns="104360" tIns="52180" rIns="104360" bIns="52180"/>
          <a:lstStyle/>
          <a:p>
            <a:fld id="{F7021451-1387-4CA6-816F-3879F97B5CBC}" type="slidenum">
              <a:rPr lang="en-US"/>
              <a:t>19</a:t>
            </a:fld>
            <a:endParaRPr lang="en-US"/>
          </a:p>
        </p:txBody>
      </p:sp>
    </p:spTree>
    <p:extLst>
      <p:ext uri="{BB962C8B-B14F-4D97-AF65-F5344CB8AC3E}">
        <p14:creationId xmlns:p14="http://schemas.microsoft.com/office/powerpoint/2010/main" val="638305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4360" tIns="52180" rIns="104360" bIns="52180"/>
          <a:lstStyle/>
          <a:p>
            <a:endParaRPr lang="en-US"/>
          </a:p>
        </p:txBody>
      </p:sp>
      <p:sp>
        <p:nvSpPr>
          <p:cNvPr id="4" name="Slide Number Placeholder 3"/>
          <p:cNvSpPr>
            <a:spLocks noGrp="1"/>
          </p:cNvSpPr>
          <p:nvPr>
            <p:ph type="sldNum" sz="quarter" idx="10"/>
          </p:nvPr>
        </p:nvSpPr>
        <p:spPr/>
        <p:txBody>
          <a:bodyPr lIns="104360" tIns="52180" rIns="104360" bIns="52180"/>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URVEYING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4E79"/>
          </a:solidFill>
          <a:ln/>
        </p:spPr>
      </p:sp>
      <p:sp>
        <p:nvSpPr>
          <p:cNvPr id="3" name="Text 1"/>
          <p:cNvSpPr/>
          <p:nvPr/>
        </p:nvSpPr>
        <p:spPr>
          <a:xfrm>
            <a:off x="457200" y="91440"/>
            <a:ext cx="8229600" cy="457200"/>
          </a:xfrm>
          <a:prstGeom prst="rect">
            <a:avLst/>
          </a:prstGeom>
          <a:noFill/>
          <a:ln/>
        </p:spPr>
        <p:txBody>
          <a:bodyPr wrap="square" rtlCol="0" anchor="t"/>
          <a:lstStyle/>
          <a:p>
            <a:pPr marL="0" indent="0" algn="ctr">
              <a:buNone/>
            </a:pPr>
            <a:r>
              <a:rPr lang="en-US" sz="1800" b="1">
                <a:solidFill>
                  <a:srgbClr val="FFFFFF"/>
                </a:solidFill>
              </a:rPr>
              <a:t>USACE Caribbean District (SAA) - Surveying &amp; Mapping Services MATOC</a:t>
            </a:r>
          </a:p>
          <a:p>
            <a:pPr marL="0" indent="0" algn="l">
              <a:buNone/>
            </a:pPr>
            <a:endParaRPr lang="en-US" sz="1800"/>
          </a:p>
        </p:txBody>
      </p:sp>
      <p:pic>
        <p:nvPicPr>
          <p:cNvPr id="4" name="Picture 3">
            <a:extLst>
              <a:ext uri="{FF2B5EF4-FFF2-40B4-BE49-F238E27FC236}">
                <a16:creationId xmlns:a16="http://schemas.microsoft.com/office/drawing/2014/main" id="{7325E515-49BF-F0B6-3486-0BB5B8CF7EF4}"/>
              </a:ext>
            </a:extLst>
          </p:cNvPr>
          <p:cNvPicPr>
            <a:picLocks noChangeAspect="1"/>
          </p:cNvPicPr>
          <p:nvPr userDrawn="1"/>
        </p:nvPicPr>
        <p:blipFill>
          <a:blip r:embed="rId2"/>
          <a:stretch>
            <a:fillRect/>
          </a:stretch>
        </p:blipFill>
        <p:spPr>
          <a:xfrm>
            <a:off x="118842" y="120376"/>
            <a:ext cx="676715" cy="445047"/>
          </a:xfrm>
          <a:prstGeom prst="rect">
            <a:avLst/>
          </a:prstGeom>
        </p:spPr>
      </p:pic>
      <p:pic>
        <p:nvPicPr>
          <p:cNvPr id="5" name="Picture 4">
            <a:extLst>
              <a:ext uri="{FF2B5EF4-FFF2-40B4-BE49-F238E27FC236}">
                <a16:creationId xmlns:a16="http://schemas.microsoft.com/office/drawing/2014/main" id="{095C10EC-1929-FEA8-6145-4D32DDB99C45}"/>
              </a:ext>
            </a:extLst>
          </p:cNvPr>
          <p:cNvPicPr>
            <a:picLocks noChangeAspect="1"/>
          </p:cNvPicPr>
          <p:nvPr userDrawn="1"/>
        </p:nvPicPr>
        <p:blipFill>
          <a:blip r:embed="rId3"/>
          <a:stretch>
            <a:fillRect/>
          </a:stretch>
        </p:blipFill>
        <p:spPr>
          <a:xfrm>
            <a:off x="8353524" y="-52339"/>
            <a:ext cx="790476" cy="79047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875" b="0" i="0">
                <a:solidFill>
                  <a:srgbClr val="211F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p:txBody>
          <a:bodyPr lIns="0" tIns="0" rIns="0" bIns="0"/>
          <a:lstStyle>
            <a:lvl1pPr>
              <a:defRPr sz="675" b="0" i="0">
                <a:solidFill>
                  <a:srgbClr val="5C5356"/>
                </a:solidFill>
                <a:latin typeface="Arial"/>
                <a:cs typeface="Arial"/>
              </a:defRPr>
            </a:lvl1pPr>
          </a:lstStyle>
          <a:p>
            <a:pPr marL="28575">
              <a:spcBef>
                <a:spcPts val="11"/>
              </a:spcBef>
            </a:pPr>
            <a:fld id="{81D60167-4931-47E6-BA6A-407CBD079E47}" type="slidenum">
              <a:rPr lang="en-US" spc="-19" smtClean="0"/>
              <a:pPr marL="28575">
                <a:spcBef>
                  <a:spcPts val="11"/>
                </a:spcBef>
              </a:pPr>
              <a:t>‹#›</a:t>
            </a:fld>
            <a:endParaRPr lang="en-US" spc="-19"/>
          </a:p>
        </p:txBody>
      </p:sp>
    </p:spTree>
    <p:extLst>
      <p:ext uri="{BB962C8B-B14F-4D97-AF65-F5344CB8AC3E}">
        <p14:creationId xmlns:p14="http://schemas.microsoft.com/office/powerpoint/2010/main" val="2771841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3A521-BC3A-1D61-8AB3-4637356B1961}"/>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429BA9-1FD4-26B2-DE95-3B6203AB7BC7}"/>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FDD350-5E45-B9DB-6CED-3AFB0927670E}"/>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5" name="Footer Placeholder 4">
            <a:extLst>
              <a:ext uri="{FF2B5EF4-FFF2-40B4-BE49-F238E27FC236}">
                <a16:creationId xmlns:a16="http://schemas.microsoft.com/office/drawing/2014/main" id="{2624E8A9-4305-DE82-DF7A-9C569B064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D3DCE-BFD8-0486-F1B4-7DBBDA72E4FB}"/>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3517271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E25CE-A0ED-3D88-AEA7-E20811AA6A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5D7E3D-DEF7-B2DF-DA3C-F9874C412C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9E1A6-F8B4-2BD6-96AD-CB9540A31B96}"/>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5" name="Footer Placeholder 4">
            <a:extLst>
              <a:ext uri="{FF2B5EF4-FFF2-40B4-BE49-F238E27FC236}">
                <a16:creationId xmlns:a16="http://schemas.microsoft.com/office/drawing/2014/main" id="{C63B730C-62B6-7E87-7437-15B08ACE00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3DD27C-5E29-37F7-4243-DD546FAE90F8}"/>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1695718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E445F-61D0-40FA-0816-BFF85D745770}"/>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E955AF-F18B-E46F-C65C-B8C3AFE61A1E}"/>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A5F28D-90D8-A0C0-5C9A-4A476304CE72}"/>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5" name="Footer Placeholder 4">
            <a:extLst>
              <a:ext uri="{FF2B5EF4-FFF2-40B4-BE49-F238E27FC236}">
                <a16:creationId xmlns:a16="http://schemas.microsoft.com/office/drawing/2014/main" id="{C432FE03-0D3F-0DC4-07E8-4010958FAC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FECB7D-EAE6-A7C9-7025-27738E58BB34}"/>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3945581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336D2-4B66-0CE5-9CAE-AD07C36588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FD96E-106C-577D-6BF5-0C8FC92BAB26}"/>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6CCC5F-A43C-D25F-77D0-1846F723F78B}"/>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C802E0-56BD-B69F-7C3E-E858E6066DF5}"/>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6" name="Footer Placeholder 5">
            <a:extLst>
              <a:ext uri="{FF2B5EF4-FFF2-40B4-BE49-F238E27FC236}">
                <a16:creationId xmlns:a16="http://schemas.microsoft.com/office/drawing/2014/main" id="{2B2D0F03-E0C9-48B4-C9A1-E316D389D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6E3CC3-8F19-E76E-5899-3AB92E0E6B47}"/>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153429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E78DC-A6AE-2999-961E-CB88705D5C47}"/>
              </a:ext>
            </a:extLst>
          </p:cNvPr>
          <p:cNvSpPr>
            <a:spLocks noGrp="1"/>
          </p:cNvSpPr>
          <p:nvPr>
            <p:ph type="title"/>
          </p:nvPr>
        </p:nvSpPr>
        <p:spPr>
          <a:xfrm>
            <a:off x="630238" y="274638"/>
            <a:ext cx="7886700" cy="9937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33D799-9252-2BA3-C6E0-C5540C00805B}"/>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38F04A-A3E4-08F4-F0DB-D9306DE49BF5}"/>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813AB7-5170-6AA6-B583-FE9FAFE962DB}"/>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5E95-41EE-CA97-82E2-AEC0B7E6A0B0}"/>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D6D72D-ECF7-0E5A-C35F-E43EF0F17F29}"/>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8" name="Footer Placeholder 7">
            <a:extLst>
              <a:ext uri="{FF2B5EF4-FFF2-40B4-BE49-F238E27FC236}">
                <a16:creationId xmlns:a16="http://schemas.microsoft.com/office/drawing/2014/main" id="{1A5AB61E-9B10-E6BC-B549-DB444B9DDE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F0A0C-5A98-8356-0682-B799AEF6297D}"/>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353398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B71C0-1094-FB73-23E1-6FA42C4ED8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E2A0F3-FBBC-134A-9B16-0BBC4439D59B}"/>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4" name="Footer Placeholder 3">
            <a:extLst>
              <a:ext uri="{FF2B5EF4-FFF2-40B4-BE49-F238E27FC236}">
                <a16:creationId xmlns:a16="http://schemas.microsoft.com/office/drawing/2014/main" id="{4E481D5C-01FB-1910-E8BB-BB9A5DB397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DBF784-77A0-D4FB-5EE8-650FB66C2456}"/>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4274607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55E3C-8DB5-3C29-29E4-FC465165A5EE}"/>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3" name="Footer Placeholder 2">
            <a:extLst>
              <a:ext uri="{FF2B5EF4-FFF2-40B4-BE49-F238E27FC236}">
                <a16:creationId xmlns:a16="http://schemas.microsoft.com/office/drawing/2014/main" id="{F350B070-28AD-86C2-B998-9F9CE669A0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C96CAE-294C-DB64-C724-6B6A5062FD4C}"/>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1854279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6E3E-73E8-3106-DE3E-B04041904DEC}"/>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CB6721-F0FE-A898-B1FB-D1C6DF7E9751}"/>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BB6585-1A2C-C501-726D-A6CB117C791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CE6596-DAF5-3158-5BF1-C9E33991253E}"/>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6" name="Footer Placeholder 5">
            <a:extLst>
              <a:ext uri="{FF2B5EF4-FFF2-40B4-BE49-F238E27FC236}">
                <a16:creationId xmlns:a16="http://schemas.microsoft.com/office/drawing/2014/main" id="{3B181DBB-157F-9D77-6CC0-E9ADF2A961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2D41C6-1C18-370D-90DE-B04FF4E022C1}"/>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328227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74C9-1ED6-58D9-F8AC-7DD224738F6D}"/>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C7A1F7-6651-1940-897B-CE795042D26D}"/>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075B38-0516-AA2F-B06F-9F6C13666E8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F87EDA-FAB5-83A8-A6B3-C25C2971197F}"/>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6" name="Footer Placeholder 5">
            <a:extLst>
              <a:ext uri="{FF2B5EF4-FFF2-40B4-BE49-F238E27FC236}">
                <a16:creationId xmlns:a16="http://schemas.microsoft.com/office/drawing/2014/main" id="{59216AF0-BA38-8D3B-F2B3-0DAD044853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9BCAA-A117-1E32-7E29-82D5ABC20085}"/>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4169058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5E9B9-10DB-DDA7-2AF8-32A9AE21E2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F3BF30-EA1F-3158-1781-78D4C92018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98FFD1-EF3E-BEAC-1C18-37CB4A46FF84}"/>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5" name="Footer Placeholder 4">
            <a:extLst>
              <a:ext uri="{FF2B5EF4-FFF2-40B4-BE49-F238E27FC236}">
                <a16:creationId xmlns:a16="http://schemas.microsoft.com/office/drawing/2014/main" id="{E6D4A374-2175-12EE-0643-719B4E10C4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EC48B6-BF92-60CA-5D5D-18CA42963F8C}"/>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2497891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CAA431-C9FB-78E7-5AE7-068564487AE8}"/>
              </a:ext>
            </a:extLst>
          </p:cNvPr>
          <p:cNvSpPr>
            <a:spLocks noGrp="1"/>
          </p:cNvSpPr>
          <p:nvPr>
            <p:ph type="title" orient="vert"/>
          </p:nvPr>
        </p:nvSpPr>
        <p:spPr>
          <a:xfrm>
            <a:off x="6543675" y="274638"/>
            <a:ext cx="1971675" cy="43576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398662-FF8F-97C0-26AD-16B2A1771FBF}"/>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D556BC-7C2D-24CF-BD30-EE4FD931F8D3}"/>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5" name="Footer Placeholder 4">
            <a:extLst>
              <a:ext uri="{FF2B5EF4-FFF2-40B4-BE49-F238E27FC236}">
                <a16:creationId xmlns:a16="http://schemas.microsoft.com/office/drawing/2014/main" id="{45162582-FEB8-9CFF-6B0A-0B0E6DE45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892D4-4012-7573-1F5D-92C3707D5593}"/>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3499055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69440-21E7-0E6C-3ADC-B927339A79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DD9712-4D6E-B21C-BDA6-827A9F53FE14}"/>
              </a:ext>
            </a:extLst>
          </p:cNvPr>
          <p:cNvSpPr>
            <a:spLocks noGrp="1"/>
          </p:cNvSpPr>
          <p:nvPr>
            <p:ph type="dt" sz="half" idx="10"/>
          </p:nvPr>
        </p:nvSpPr>
        <p:spPr/>
        <p:txBody>
          <a:bodyPr/>
          <a:lstStyle/>
          <a:p>
            <a:fld id="{3BDD3113-E419-4C59-A2DA-BFBDC5BA2C9F}" type="datetimeFigureOut">
              <a:rPr lang="en-US" smtClean="0"/>
              <a:t>2/27/2026</a:t>
            </a:fld>
            <a:endParaRPr lang="en-US"/>
          </a:p>
        </p:txBody>
      </p:sp>
      <p:sp>
        <p:nvSpPr>
          <p:cNvPr id="4" name="Footer Placeholder 3">
            <a:extLst>
              <a:ext uri="{FF2B5EF4-FFF2-40B4-BE49-F238E27FC236}">
                <a16:creationId xmlns:a16="http://schemas.microsoft.com/office/drawing/2014/main" id="{5F81852F-FCB5-BDBE-6373-E642DE915B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FA176A-6E89-E7D0-55F7-D67222DF7965}"/>
              </a:ext>
            </a:extLst>
          </p:cNvPr>
          <p:cNvSpPr>
            <a:spLocks noGrp="1"/>
          </p:cNvSpPr>
          <p:nvPr>
            <p:ph type="sldNum" sz="quarter" idx="12"/>
          </p:nvPr>
        </p:nvSpPr>
        <p:spPr/>
        <p:txBody>
          <a:bodyPr/>
          <a:lstStyle/>
          <a:p>
            <a:fld id="{CB0504BD-187C-4481-82B5-48875585C3E5}" type="slidenum">
              <a:rPr lang="en-US" smtClean="0"/>
              <a:t>‹#›</a:t>
            </a:fld>
            <a:endParaRPr lang="en-US"/>
          </a:p>
        </p:txBody>
      </p:sp>
    </p:spTree>
    <p:extLst>
      <p:ext uri="{BB962C8B-B14F-4D97-AF65-F5344CB8AC3E}">
        <p14:creationId xmlns:p14="http://schemas.microsoft.com/office/powerpoint/2010/main" val="41934886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88957C-33CD-FC8A-9B49-7F1F7F74393F}"/>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0AEB70-BC9B-DA8D-01A3-B816987CE8D9}"/>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CEF55-C9A7-356C-7C35-288EB5A915EA}"/>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3BDD3113-E419-4C59-A2DA-BFBDC5BA2C9F}" type="datetimeFigureOut">
              <a:rPr lang="en-US" smtClean="0"/>
              <a:t>2/27/2026</a:t>
            </a:fld>
            <a:endParaRPr lang="en-US"/>
          </a:p>
        </p:txBody>
      </p:sp>
      <p:sp>
        <p:nvSpPr>
          <p:cNvPr id="5" name="Footer Placeholder 4">
            <a:extLst>
              <a:ext uri="{FF2B5EF4-FFF2-40B4-BE49-F238E27FC236}">
                <a16:creationId xmlns:a16="http://schemas.microsoft.com/office/drawing/2014/main" id="{B7F99798-5789-1BFF-EDD6-475842BE6FD4}"/>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0CC6704-B9A5-8304-C457-309FCEFDE0F6}"/>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CB0504BD-187C-4481-82B5-48875585C3E5}" type="slidenum">
              <a:rPr lang="en-US" smtClean="0"/>
              <a:t>‹#›</a:t>
            </a:fld>
            <a:endParaRPr lang="en-US"/>
          </a:p>
        </p:txBody>
      </p:sp>
    </p:spTree>
    <p:extLst>
      <p:ext uri="{BB962C8B-B14F-4D97-AF65-F5344CB8AC3E}">
        <p14:creationId xmlns:p14="http://schemas.microsoft.com/office/powerpoint/2010/main" val="3407303112"/>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projnet.org/projnet/binKornHome/index.cf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178419"/>
            <a:ext cx="7315200" cy="1828800"/>
          </a:xfrm>
          <a:prstGeom prst="rect">
            <a:avLst/>
          </a:prstGeom>
          <a:noFill/>
          <a:ln/>
        </p:spPr>
        <p:txBody>
          <a:bodyPr wrap="square" rtlCol="0" anchor="t"/>
          <a:lstStyle/>
          <a:p>
            <a:pPr marL="0" indent="0" algn="ctr">
              <a:buNone/>
            </a:pPr>
            <a:r>
              <a:rPr lang="en-US" sz="2800" b="1" dirty="0">
                <a:solidFill>
                  <a:srgbClr val="1F4E79"/>
                </a:solidFill>
              </a:rPr>
              <a:t>OUTREACH EVENT</a:t>
            </a:r>
          </a:p>
          <a:p>
            <a:pPr marL="0" indent="0" algn="ctr">
              <a:buNone/>
            </a:pPr>
            <a:r>
              <a:rPr lang="en-US" sz="2800" b="1" dirty="0">
                <a:solidFill>
                  <a:srgbClr val="1F4E79"/>
                </a:solidFill>
              </a:rPr>
              <a:t>INDEFINITE DELIVERY CONTRACT</a:t>
            </a:r>
            <a:endParaRPr lang="en-US" sz="2800" dirty="0"/>
          </a:p>
          <a:p>
            <a:pPr marL="0" indent="0" algn="ctr">
              <a:buNone/>
            </a:pPr>
            <a:r>
              <a:rPr lang="en-US" sz="2800" b="1" dirty="0">
                <a:solidFill>
                  <a:srgbClr val="1F4E79"/>
                </a:solidFill>
              </a:rPr>
              <a:t>SURVEYING AND MAPPING SERVICES</a:t>
            </a:r>
            <a:endParaRPr lang="en-US" sz="2800" dirty="0"/>
          </a:p>
        </p:txBody>
      </p:sp>
      <p:sp>
        <p:nvSpPr>
          <p:cNvPr id="3" name="Text 1"/>
          <p:cNvSpPr/>
          <p:nvPr/>
        </p:nvSpPr>
        <p:spPr>
          <a:xfrm>
            <a:off x="856446" y="2768970"/>
            <a:ext cx="7315200" cy="792050"/>
          </a:xfrm>
          <a:prstGeom prst="rect">
            <a:avLst/>
          </a:prstGeom>
          <a:noFill/>
          <a:ln/>
        </p:spPr>
        <p:txBody>
          <a:bodyPr wrap="square" rtlCol="0" anchor="t"/>
          <a:lstStyle/>
          <a:p>
            <a:pPr marL="0" indent="0" algn="ctr">
              <a:buNone/>
            </a:pPr>
            <a:r>
              <a:rPr lang="en-US" sz="1800">
                <a:solidFill>
                  <a:srgbClr val="333333"/>
                </a:solidFill>
              </a:rPr>
              <a:t>Professional Surveying and Mapping Services</a:t>
            </a:r>
            <a:endParaRPr lang="en-US" sz="1800"/>
          </a:p>
          <a:p>
            <a:pPr marL="0" indent="0" algn="ctr">
              <a:buNone/>
            </a:pPr>
            <a:r>
              <a:rPr lang="en-US" sz="1800">
                <a:solidFill>
                  <a:srgbClr val="333333"/>
                </a:solidFill>
              </a:rPr>
              <a:t>USACE Caribbean District</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904548" y="1347212"/>
            <a:ext cx="7334903" cy="3521406"/>
          </a:xfrm>
          <a:prstGeom prst="rect">
            <a:avLst/>
          </a:prstGeom>
        </p:spPr>
        <p:txBody>
          <a:bodyPr vert="horz" wrap="square" lIns="0" tIns="10001" rIns="0" bIns="0" rtlCol="0">
            <a:spAutoFit/>
          </a:bodyPr>
          <a:lstStyle/>
          <a:p>
            <a:pPr algn="ctr">
              <a:spcBef>
                <a:spcPts val="79"/>
              </a:spcBef>
            </a:pPr>
            <a:r>
              <a:rPr lang="en-US" sz="1500" b="1" spc="-19" dirty="0">
                <a:solidFill>
                  <a:srgbClr val="006FC0"/>
                </a:solidFill>
                <a:latin typeface="Tahoma"/>
                <a:cs typeface="Tahoma"/>
              </a:rPr>
              <a:t>27</a:t>
            </a:r>
            <a:r>
              <a:rPr sz="1500" b="1" spc="-19" dirty="0">
                <a:solidFill>
                  <a:srgbClr val="006FC0"/>
                </a:solidFill>
                <a:latin typeface="Tahoma"/>
                <a:cs typeface="Tahoma"/>
              </a:rPr>
              <a:t> </a:t>
            </a:r>
            <a:r>
              <a:rPr lang="en-US" sz="1500" b="1" spc="-19" dirty="0">
                <a:solidFill>
                  <a:srgbClr val="006FC0"/>
                </a:solidFill>
                <a:latin typeface="Tahoma"/>
                <a:cs typeface="Tahoma"/>
              </a:rPr>
              <a:t>February </a:t>
            </a:r>
            <a:r>
              <a:rPr sz="1500" b="1" spc="-23" dirty="0">
                <a:solidFill>
                  <a:srgbClr val="006FC0"/>
                </a:solidFill>
                <a:latin typeface="Tahoma"/>
                <a:cs typeface="Tahoma"/>
              </a:rPr>
              <a:t> </a:t>
            </a:r>
            <a:r>
              <a:rPr sz="1500" b="1" spc="-15" dirty="0">
                <a:solidFill>
                  <a:srgbClr val="006FC0"/>
                </a:solidFill>
                <a:latin typeface="Tahoma"/>
                <a:cs typeface="Tahoma"/>
              </a:rPr>
              <a:t>202</a:t>
            </a:r>
            <a:r>
              <a:rPr lang="en-US" sz="1500" b="1" spc="-15" dirty="0">
                <a:solidFill>
                  <a:srgbClr val="006FC0"/>
                </a:solidFill>
                <a:latin typeface="Tahoma"/>
                <a:cs typeface="Tahoma"/>
              </a:rPr>
              <a:t>6</a:t>
            </a:r>
            <a:endParaRPr sz="1500" dirty="0">
              <a:latin typeface="Tahoma"/>
              <a:cs typeface="Tahoma"/>
            </a:endParaRPr>
          </a:p>
          <a:p>
            <a:pPr algn="ctr">
              <a:lnSpc>
                <a:spcPts val="1785"/>
              </a:lnSpc>
            </a:pPr>
            <a:r>
              <a:rPr sz="1500" b="1" dirty="0">
                <a:solidFill>
                  <a:srgbClr val="006FC0"/>
                </a:solidFill>
                <a:latin typeface="Tahoma"/>
                <a:cs typeface="Tahoma"/>
              </a:rPr>
              <a:t>Morning</a:t>
            </a:r>
            <a:r>
              <a:rPr sz="1500" b="1" spc="-30" dirty="0">
                <a:solidFill>
                  <a:srgbClr val="006FC0"/>
                </a:solidFill>
                <a:latin typeface="Tahoma"/>
                <a:cs typeface="Tahoma"/>
              </a:rPr>
              <a:t> </a:t>
            </a:r>
            <a:r>
              <a:rPr sz="1500" b="1" dirty="0">
                <a:solidFill>
                  <a:srgbClr val="006FC0"/>
                </a:solidFill>
                <a:latin typeface="Tahoma"/>
                <a:cs typeface="Tahoma"/>
              </a:rPr>
              <a:t>Session:</a:t>
            </a:r>
            <a:r>
              <a:rPr sz="1500" b="1" spc="-49" dirty="0">
                <a:solidFill>
                  <a:srgbClr val="006FC0"/>
                </a:solidFill>
                <a:latin typeface="Tahoma"/>
                <a:cs typeface="Tahoma"/>
              </a:rPr>
              <a:t> </a:t>
            </a:r>
            <a:r>
              <a:rPr lang="en-US" sz="1500" b="1" spc="-49" dirty="0">
                <a:solidFill>
                  <a:srgbClr val="006FC0"/>
                </a:solidFill>
                <a:latin typeface="Tahoma"/>
                <a:cs typeface="Tahoma"/>
              </a:rPr>
              <a:t>0900</a:t>
            </a:r>
            <a:r>
              <a:rPr sz="1500" b="1" spc="-11" dirty="0">
                <a:solidFill>
                  <a:srgbClr val="006FC0"/>
                </a:solidFill>
                <a:latin typeface="Tahoma"/>
                <a:cs typeface="Tahoma"/>
              </a:rPr>
              <a:t> </a:t>
            </a:r>
            <a:r>
              <a:rPr sz="1500" b="1" dirty="0">
                <a:solidFill>
                  <a:srgbClr val="006FC0"/>
                </a:solidFill>
                <a:latin typeface="Tahoma"/>
                <a:cs typeface="Tahoma"/>
              </a:rPr>
              <a:t>–</a:t>
            </a:r>
            <a:r>
              <a:rPr sz="1500" b="1" spc="-11" dirty="0">
                <a:solidFill>
                  <a:srgbClr val="006FC0"/>
                </a:solidFill>
                <a:latin typeface="Tahoma"/>
                <a:cs typeface="Tahoma"/>
              </a:rPr>
              <a:t> </a:t>
            </a:r>
            <a:r>
              <a:rPr sz="1500" b="1" spc="-15" dirty="0">
                <a:solidFill>
                  <a:srgbClr val="006FC0"/>
                </a:solidFill>
                <a:latin typeface="Tahoma"/>
                <a:cs typeface="Tahoma"/>
              </a:rPr>
              <a:t>1200</a:t>
            </a:r>
            <a:endParaRPr sz="1500" dirty="0">
              <a:latin typeface="Tahoma"/>
              <a:cs typeface="Tahoma"/>
            </a:endParaRPr>
          </a:p>
          <a:p>
            <a:pPr algn="ctr">
              <a:lnSpc>
                <a:spcPts val="1785"/>
              </a:lnSpc>
            </a:pPr>
            <a:r>
              <a:rPr sz="1500" b="1" dirty="0">
                <a:solidFill>
                  <a:srgbClr val="00AF50"/>
                </a:solidFill>
                <a:latin typeface="Tahoma"/>
                <a:cs typeface="Tahoma"/>
              </a:rPr>
              <a:t>Focus:</a:t>
            </a:r>
            <a:r>
              <a:rPr sz="1500" b="1" spc="-30" dirty="0">
                <a:solidFill>
                  <a:srgbClr val="00AF50"/>
                </a:solidFill>
                <a:latin typeface="Tahoma"/>
                <a:cs typeface="Tahoma"/>
              </a:rPr>
              <a:t> </a:t>
            </a:r>
            <a:r>
              <a:rPr sz="1050" b="1" dirty="0">
                <a:solidFill>
                  <a:srgbClr val="FF0000"/>
                </a:solidFill>
                <a:latin typeface="Arial"/>
                <a:cs typeface="Arial"/>
              </a:rPr>
              <a:t>Registration:</a:t>
            </a:r>
            <a:r>
              <a:rPr sz="1050" b="1" spc="-60" dirty="0">
                <a:solidFill>
                  <a:srgbClr val="FF0000"/>
                </a:solidFill>
                <a:latin typeface="Arial"/>
                <a:cs typeface="Arial"/>
              </a:rPr>
              <a:t> </a:t>
            </a:r>
            <a:r>
              <a:rPr sz="1050" b="1" dirty="0">
                <a:solidFill>
                  <a:srgbClr val="FF0000"/>
                </a:solidFill>
                <a:latin typeface="Arial"/>
                <a:cs typeface="Arial"/>
              </a:rPr>
              <a:t>8:00</a:t>
            </a:r>
            <a:r>
              <a:rPr lang="en-US" sz="1050" b="1" dirty="0">
                <a:solidFill>
                  <a:srgbClr val="FF0000"/>
                </a:solidFill>
                <a:latin typeface="Arial"/>
                <a:cs typeface="Arial"/>
              </a:rPr>
              <a:t>/30-9:00</a:t>
            </a:r>
            <a:r>
              <a:rPr sz="1050" b="1" spc="-34" dirty="0">
                <a:solidFill>
                  <a:srgbClr val="FF0000"/>
                </a:solidFill>
                <a:latin typeface="Arial"/>
                <a:cs typeface="Arial"/>
              </a:rPr>
              <a:t> </a:t>
            </a:r>
            <a:r>
              <a:rPr sz="1050" b="1" spc="-26" dirty="0">
                <a:solidFill>
                  <a:srgbClr val="FF0000"/>
                </a:solidFill>
                <a:latin typeface="Arial"/>
                <a:cs typeface="Arial"/>
              </a:rPr>
              <a:t>am</a:t>
            </a:r>
            <a:endParaRPr sz="1050" dirty="0">
              <a:latin typeface="Arial"/>
              <a:cs typeface="Arial"/>
            </a:endParaRPr>
          </a:p>
          <a:p>
            <a:pPr marL="111919">
              <a:spcBef>
                <a:spcPts val="450"/>
              </a:spcBef>
            </a:pPr>
            <a:r>
              <a:rPr lang="en-US" sz="1050" b="1" spc="-23" dirty="0">
                <a:latin typeface="Arial"/>
                <a:cs typeface="Arial"/>
              </a:rPr>
              <a:t>9:00</a:t>
            </a:r>
            <a:r>
              <a:rPr sz="1050" b="1" spc="-23" dirty="0">
                <a:latin typeface="Arial"/>
                <a:cs typeface="Arial"/>
              </a:rPr>
              <a:t> </a:t>
            </a:r>
            <a:r>
              <a:rPr sz="1050" b="1" dirty="0">
                <a:latin typeface="Arial"/>
                <a:cs typeface="Arial"/>
              </a:rPr>
              <a:t>am</a:t>
            </a:r>
            <a:r>
              <a:rPr sz="1050" b="1" spc="-15" dirty="0">
                <a:latin typeface="Arial"/>
                <a:cs typeface="Arial"/>
              </a:rPr>
              <a:t> </a:t>
            </a:r>
            <a:r>
              <a:rPr sz="1050" b="1" dirty="0">
                <a:latin typeface="Arial"/>
                <a:cs typeface="Arial"/>
              </a:rPr>
              <a:t>–</a:t>
            </a:r>
            <a:r>
              <a:rPr sz="1050" b="1" spc="-30" dirty="0">
                <a:latin typeface="Arial"/>
                <a:cs typeface="Arial"/>
              </a:rPr>
              <a:t> </a:t>
            </a:r>
            <a:r>
              <a:rPr sz="1050" b="1" dirty="0">
                <a:latin typeface="Arial"/>
                <a:cs typeface="Arial"/>
              </a:rPr>
              <a:t>1</a:t>
            </a:r>
            <a:r>
              <a:rPr lang="en-US" sz="1050" b="1" dirty="0">
                <a:latin typeface="Arial"/>
                <a:cs typeface="Arial"/>
              </a:rPr>
              <a:t>0:00</a:t>
            </a:r>
            <a:r>
              <a:rPr sz="1050" b="1" spc="-19" dirty="0">
                <a:latin typeface="Arial"/>
                <a:cs typeface="Arial"/>
              </a:rPr>
              <a:t> am</a:t>
            </a:r>
            <a:endParaRPr sz="1050" dirty="0">
              <a:latin typeface="Arial"/>
              <a:cs typeface="Arial"/>
            </a:endParaRPr>
          </a:p>
          <a:p>
            <a:pPr marL="369094" indent="-257175">
              <a:spcBef>
                <a:spcPts val="450"/>
              </a:spcBef>
              <a:buChar char="•"/>
              <a:tabLst>
                <a:tab pos="369094" algn="l"/>
              </a:tabLst>
            </a:pPr>
            <a:r>
              <a:rPr lang="en-US" sz="1050" b="1" spc="-8" dirty="0">
                <a:latin typeface="Arial"/>
                <a:cs typeface="Arial"/>
              </a:rPr>
              <a:t>Contract Overview: </a:t>
            </a:r>
            <a:r>
              <a:rPr lang="en-US" sz="1050" spc="-8" dirty="0">
                <a:latin typeface="Arial"/>
                <a:cs typeface="Arial"/>
              </a:rPr>
              <a:t>Indefinite delivery contract for architect and engineering (A-E) survey services</a:t>
            </a:r>
          </a:p>
          <a:p>
            <a:pPr marL="369094" indent="-257175">
              <a:spcBef>
                <a:spcPts val="450"/>
              </a:spcBef>
              <a:buFontTx/>
              <a:buChar char="•"/>
              <a:tabLst>
                <a:tab pos="369094" algn="l"/>
              </a:tabLst>
            </a:pPr>
            <a:r>
              <a:rPr lang="en-US" sz="1050" dirty="0">
                <a:latin typeface="Arial"/>
                <a:cs typeface="Arial"/>
              </a:rPr>
              <a:t>Contracting</a:t>
            </a:r>
            <a:r>
              <a:rPr lang="en-US" sz="1050" spc="-60" dirty="0">
                <a:latin typeface="Arial"/>
                <a:cs typeface="Arial"/>
              </a:rPr>
              <a:t> </a:t>
            </a:r>
            <a:r>
              <a:rPr lang="en-US" sz="1050" dirty="0">
                <a:latin typeface="Arial"/>
                <a:cs typeface="Arial"/>
              </a:rPr>
              <a:t>Requirements</a:t>
            </a:r>
            <a:r>
              <a:rPr lang="en-US" sz="1050" spc="-56" dirty="0">
                <a:latin typeface="Arial"/>
                <a:cs typeface="Arial"/>
              </a:rPr>
              <a:t> </a:t>
            </a:r>
            <a:r>
              <a:rPr lang="en-US" sz="1050" dirty="0">
                <a:latin typeface="Arial"/>
                <a:cs typeface="Arial"/>
              </a:rPr>
              <a:t>&amp;</a:t>
            </a:r>
            <a:r>
              <a:rPr lang="en-US" sz="1050" spc="-75" dirty="0">
                <a:latin typeface="Arial"/>
                <a:cs typeface="Arial"/>
              </a:rPr>
              <a:t> </a:t>
            </a:r>
            <a:r>
              <a:rPr lang="en-US" sz="1050" dirty="0">
                <a:latin typeface="Arial"/>
                <a:cs typeface="Arial"/>
              </a:rPr>
              <a:t>Acquisition</a:t>
            </a:r>
            <a:r>
              <a:rPr lang="en-US" sz="1050" spc="-71" dirty="0">
                <a:latin typeface="Arial"/>
                <a:cs typeface="Arial"/>
              </a:rPr>
              <a:t> </a:t>
            </a:r>
            <a:r>
              <a:rPr lang="en-US" sz="1050" spc="-8" dirty="0">
                <a:latin typeface="Arial"/>
                <a:cs typeface="Arial"/>
              </a:rPr>
              <a:t>Timelines </a:t>
            </a:r>
            <a:endParaRPr sz="1050" spc="-8" dirty="0">
              <a:latin typeface="Arial"/>
              <a:cs typeface="Arial"/>
            </a:endParaRPr>
          </a:p>
          <a:p>
            <a:pPr marL="369094" indent="-257175">
              <a:spcBef>
                <a:spcPts val="450"/>
              </a:spcBef>
              <a:buChar char="•"/>
              <a:tabLst>
                <a:tab pos="369094" algn="l"/>
              </a:tabLst>
            </a:pPr>
            <a:r>
              <a:rPr lang="en-US" sz="1050" spc="-60" dirty="0">
                <a:latin typeface="Arial"/>
                <a:cs typeface="Arial"/>
              </a:rPr>
              <a:t>Requirements </a:t>
            </a:r>
            <a:r>
              <a:rPr sz="1050" spc="-8" dirty="0">
                <a:latin typeface="Arial"/>
                <a:cs typeface="Arial"/>
              </a:rPr>
              <a:t>Considerations</a:t>
            </a:r>
            <a:r>
              <a:rPr lang="en-US" sz="1050" spc="-8" dirty="0">
                <a:latin typeface="Arial"/>
                <a:cs typeface="Arial"/>
              </a:rPr>
              <a:t> </a:t>
            </a:r>
            <a:endParaRPr sz="1050" dirty="0">
              <a:latin typeface="Arial"/>
              <a:cs typeface="Arial"/>
            </a:endParaRPr>
          </a:p>
          <a:p>
            <a:pPr marL="369094" indent="-257175">
              <a:spcBef>
                <a:spcPts val="450"/>
              </a:spcBef>
              <a:buChar char="•"/>
              <a:tabLst>
                <a:tab pos="369094" algn="l"/>
              </a:tabLst>
            </a:pPr>
            <a:r>
              <a:rPr lang="en-US" sz="1050" spc="-15" dirty="0">
                <a:latin typeface="Arial"/>
                <a:cs typeface="Arial"/>
              </a:rPr>
              <a:t>Requirement Technical Criteria and Standards </a:t>
            </a:r>
            <a:endParaRPr sz="1050" dirty="0">
              <a:latin typeface="Arial"/>
              <a:cs typeface="Arial"/>
            </a:endParaRPr>
          </a:p>
          <a:p>
            <a:pPr marL="111919">
              <a:spcBef>
                <a:spcPts val="450"/>
              </a:spcBef>
            </a:pPr>
            <a:r>
              <a:rPr sz="1050" b="1" dirty="0">
                <a:latin typeface="Arial"/>
                <a:cs typeface="Arial"/>
              </a:rPr>
              <a:t>1</a:t>
            </a:r>
            <a:r>
              <a:rPr lang="en-US" sz="1050" b="1" dirty="0">
                <a:latin typeface="Arial"/>
                <a:cs typeface="Arial"/>
              </a:rPr>
              <a:t>0</a:t>
            </a:r>
            <a:r>
              <a:rPr sz="1050" b="1" dirty="0">
                <a:latin typeface="Arial"/>
                <a:cs typeface="Arial"/>
              </a:rPr>
              <a:t>:</a:t>
            </a:r>
            <a:r>
              <a:rPr lang="en-US" sz="1050" b="1" dirty="0">
                <a:latin typeface="Arial"/>
                <a:cs typeface="Arial"/>
              </a:rPr>
              <a:t>00</a:t>
            </a:r>
            <a:r>
              <a:rPr sz="1050" b="1" spc="-30" dirty="0">
                <a:latin typeface="Arial"/>
                <a:cs typeface="Arial"/>
              </a:rPr>
              <a:t> </a:t>
            </a:r>
            <a:r>
              <a:rPr sz="1050" b="1" dirty="0">
                <a:latin typeface="Arial"/>
                <a:cs typeface="Arial"/>
              </a:rPr>
              <a:t>am</a:t>
            </a:r>
            <a:r>
              <a:rPr sz="1050" b="1" spc="-19" dirty="0">
                <a:latin typeface="Arial"/>
                <a:cs typeface="Arial"/>
              </a:rPr>
              <a:t> </a:t>
            </a:r>
            <a:r>
              <a:rPr sz="1050" b="1" dirty="0">
                <a:latin typeface="Arial"/>
                <a:cs typeface="Arial"/>
              </a:rPr>
              <a:t>–</a:t>
            </a:r>
            <a:r>
              <a:rPr sz="1050" b="1" spc="-19" dirty="0">
                <a:latin typeface="Arial"/>
                <a:cs typeface="Arial"/>
              </a:rPr>
              <a:t> </a:t>
            </a:r>
            <a:r>
              <a:rPr lang="en-US" sz="1050" b="1" spc="-19" dirty="0">
                <a:latin typeface="Arial"/>
                <a:cs typeface="Arial"/>
              </a:rPr>
              <a:t>10</a:t>
            </a:r>
            <a:r>
              <a:rPr sz="1050" b="1" dirty="0">
                <a:latin typeface="Arial"/>
                <a:cs typeface="Arial"/>
              </a:rPr>
              <a:t>:</a:t>
            </a:r>
            <a:r>
              <a:rPr lang="en-US" sz="1050" b="1" dirty="0">
                <a:latin typeface="Arial"/>
                <a:cs typeface="Arial"/>
              </a:rPr>
              <a:t>30</a:t>
            </a:r>
            <a:r>
              <a:rPr sz="1050" b="1" spc="-30" dirty="0">
                <a:latin typeface="Arial"/>
                <a:cs typeface="Arial"/>
              </a:rPr>
              <a:t> </a:t>
            </a:r>
            <a:r>
              <a:rPr sz="1050" b="1" spc="-26" dirty="0">
                <a:latin typeface="Arial"/>
                <a:cs typeface="Arial"/>
              </a:rPr>
              <a:t>am</a:t>
            </a:r>
            <a:endParaRPr sz="1050" dirty="0">
              <a:latin typeface="Arial"/>
              <a:cs typeface="Arial"/>
            </a:endParaRPr>
          </a:p>
          <a:p>
            <a:pPr marL="369094" indent="-257175">
              <a:spcBef>
                <a:spcPts val="450"/>
              </a:spcBef>
              <a:buChar char="•"/>
              <a:tabLst>
                <a:tab pos="369094" algn="l"/>
              </a:tabLst>
            </a:pPr>
            <a:r>
              <a:rPr sz="1050" dirty="0">
                <a:latin typeface="Arial"/>
                <a:cs typeface="Arial"/>
              </a:rPr>
              <a:t>Question</a:t>
            </a:r>
            <a:r>
              <a:rPr sz="1050" spc="-49" dirty="0">
                <a:latin typeface="Arial"/>
                <a:cs typeface="Arial"/>
              </a:rPr>
              <a:t> </a:t>
            </a:r>
            <a:r>
              <a:rPr sz="1050" spc="-8" dirty="0">
                <a:latin typeface="Arial"/>
                <a:cs typeface="Arial"/>
              </a:rPr>
              <a:t>and</a:t>
            </a:r>
            <a:r>
              <a:rPr sz="1050" spc="-68" dirty="0">
                <a:latin typeface="Arial"/>
                <a:cs typeface="Arial"/>
              </a:rPr>
              <a:t> </a:t>
            </a:r>
            <a:r>
              <a:rPr sz="1050" dirty="0">
                <a:latin typeface="Arial"/>
                <a:cs typeface="Arial"/>
              </a:rPr>
              <a:t>Answer</a:t>
            </a:r>
            <a:r>
              <a:rPr sz="1050" spc="-23" dirty="0">
                <a:latin typeface="Arial"/>
                <a:cs typeface="Arial"/>
              </a:rPr>
              <a:t> </a:t>
            </a:r>
            <a:r>
              <a:rPr sz="1050" spc="-8" dirty="0">
                <a:latin typeface="Arial"/>
                <a:cs typeface="Arial"/>
              </a:rPr>
              <a:t>Session</a:t>
            </a:r>
            <a:r>
              <a:rPr lang="en-US" sz="1050" spc="-8" dirty="0">
                <a:latin typeface="Arial"/>
                <a:cs typeface="Arial"/>
              </a:rPr>
              <a:t> – Note cards are at the registration table </a:t>
            </a:r>
          </a:p>
          <a:p>
            <a:pPr marL="111919">
              <a:spcBef>
                <a:spcPts val="450"/>
              </a:spcBef>
              <a:tabLst>
                <a:tab pos="369094" algn="l"/>
              </a:tabLst>
            </a:pPr>
            <a:r>
              <a:rPr lang="en-US" sz="1050" b="1" dirty="0">
                <a:latin typeface="Arial"/>
                <a:cs typeface="Arial"/>
              </a:rPr>
              <a:t>10:30</a:t>
            </a:r>
            <a:r>
              <a:rPr lang="en-US" sz="1050" b="1" spc="-30" dirty="0">
                <a:latin typeface="Arial"/>
                <a:cs typeface="Arial"/>
              </a:rPr>
              <a:t> </a:t>
            </a:r>
            <a:r>
              <a:rPr lang="en-US" sz="1050" b="1" dirty="0">
                <a:latin typeface="Arial"/>
                <a:cs typeface="Arial"/>
              </a:rPr>
              <a:t>am</a:t>
            </a:r>
            <a:r>
              <a:rPr lang="en-US" sz="1050" b="1" spc="-19" dirty="0">
                <a:latin typeface="Arial"/>
                <a:cs typeface="Arial"/>
              </a:rPr>
              <a:t> </a:t>
            </a:r>
            <a:r>
              <a:rPr lang="en-US" sz="1050" b="1" dirty="0">
                <a:latin typeface="Arial"/>
                <a:cs typeface="Arial"/>
              </a:rPr>
              <a:t>–</a:t>
            </a:r>
            <a:r>
              <a:rPr lang="en-US" sz="1050" b="1" spc="-19" dirty="0">
                <a:latin typeface="Arial"/>
                <a:cs typeface="Arial"/>
              </a:rPr>
              <a:t> </a:t>
            </a:r>
            <a:r>
              <a:rPr lang="en-US" sz="1050" b="1" dirty="0">
                <a:latin typeface="Arial"/>
                <a:cs typeface="Arial"/>
              </a:rPr>
              <a:t>10:45</a:t>
            </a:r>
            <a:r>
              <a:rPr lang="en-US" sz="1050" b="1" spc="-30" dirty="0">
                <a:latin typeface="Arial"/>
                <a:cs typeface="Arial"/>
              </a:rPr>
              <a:t> am</a:t>
            </a:r>
            <a:endParaRPr lang="en-US" sz="1050" b="1" spc="-26" dirty="0">
              <a:latin typeface="Arial"/>
              <a:cs typeface="Arial"/>
            </a:endParaRPr>
          </a:p>
          <a:p>
            <a:pPr marL="111919">
              <a:spcBef>
                <a:spcPts val="450"/>
              </a:spcBef>
              <a:tabLst>
                <a:tab pos="369094" algn="l"/>
              </a:tabLst>
            </a:pPr>
            <a:r>
              <a:rPr lang="en-US" sz="1050" spc="-26" dirty="0">
                <a:latin typeface="Arial"/>
                <a:cs typeface="Arial"/>
              </a:rPr>
              <a:t>Break </a:t>
            </a:r>
            <a:endParaRPr lang="en-US" sz="1050" dirty="0">
              <a:latin typeface="Arial"/>
              <a:cs typeface="Arial"/>
            </a:endParaRPr>
          </a:p>
          <a:p>
            <a:pPr marL="111919">
              <a:spcBef>
                <a:spcPts val="450"/>
              </a:spcBef>
              <a:tabLst>
                <a:tab pos="369094" algn="l"/>
              </a:tabLst>
            </a:pPr>
            <a:r>
              <a:rPr lang="en-US" sz="1050" b="1" spc="-8" dirty="0">
                <a:latin typeface="Arial"/>
                <a:cs typeface="Arial"/>
              </a:rPr>
              <a:t>11:00 am – </a:t>
            </a:r>
            <a:r>
              <a:rPr lang="en-US" sz="1050" b="1" spc="-8">
                <a:latin typeface="Arial"/>
                <a:cs typeface="Arial"/>
              </a:rPr>
              <a:t>1:00 PM </a:t>
            </a:r>
            <a:endParaRPr lang="en-US" sz="1050" b="1" spc="-8" dirty="0">
              <a:latin typeface="Arial"/>
              <a:cs typeface="Arial"/>
            </a:endParaRPr>
          </a:p>
          <a:p>
            <a:pPr marL="111919">
              <a:spcBef>
                <a:spcPts val="450"/>
              </a:spcBef>
              <a:tabLst>
                <a:tab pos="369094" algn="l"/>
              </a:tabLst>
            </a:pPr>
            <a:r>
              <a:rPr lang="en-US" sz="1050" spc="-8" dirty="0">
                <a:latin typeface="Arial"/>
                <a:cs typeface="Arial"/>
              </a:rPr>
              <a:t>“One on One”</a:t>
            </a:r>
          </a:p>
          <a:p>
            <a:pPr marL="111919">
              <a:spcBef>
                <a:spcPts val="450"/>
              </a:spcBef>
              <a:tabLst>
                <a:tab pos="369094" algn="l"/>
              </a:tabLst>
            </a:pPr>
            <a:endParaRPr sz="1050" dirty="0">
              <a:latin typeface="Arial"/>
              <a:cs typeface="Arial"/>
            </a:endParaRPr>
          </a:p>
        </p:txBody>
      </p:sp>
      <p:sp>
        <p:nvSpPr>
          <p:cNvPr id="12" name="object 12" descr="$PPTXTitle"/>
          <p:cNvSpPr txBox="1">
            <a:spLocks noGrp="1"/>
          </p:cNvSpPr>
          <p:nvPr>
            <p:ph type="title" idx="4294967295"/>
          </p:nvPr>
        </p:nvSpPr>
        <p:spPr>
          <a:xfrm>
            <a:off x="3022356" y="906707"/>
            <a:ext cx="2700337" cy="440505"/>
          </a:xfrm>
          <a:prstGeom prst="rect">
            <a:avLst/>
          </a:prstGeom>
        </p:spPr>
        <p:txBody>
          <a:bodyPr vert="horz" wrap="square" lIns="0" tIns="9525" rIns="0" bIns="0" rtlCol="0" anchor="t">
            <a:spAutoFit/>
          </a:bodyPr>
          <a:lstStyle/>
          <a:p>
            <a:pPr marL="9525">
              <a:spcBef>
                <a:spcPts val="75"/>
              </a:spcBef>
            </a:pPr>
            <a:r>
              <a:rPr sz="2800" spc="-8">
                <a:solidFill>
                  <a:srgbClr val="393436"/>
                </a:solidFill>
                <a:latin typeface="Arial"/>
                <a:cs typeface="Arial"/>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847957" y="2118460"/>
            <a:ext cx="7445642" cy="2087590"/>
          </a:xfrm>
          <a:prstGeom prst="rect">
            <a:avLst/>
          </a:prstGeom>
        </p:spPr>
        <p:txBody>
          <a:bodyPr vert="horz" wrap="square" lIns="0" tIns="10001" rIns="0" bIns="0" rtlCol="0">
            <a:spAutoFit/>
          </a:bodyPr>
          <a:lstStyle/>
          <a:p>
            <a:pPr marL="71438" algn="ctr" defTabSz="685800">
              <a:spcBef>
                <a:spcPts val="79"/>
              </a:spcBef>
            </a:pPr>
            <a:r>
              <a:rPr lang="en-US" sz="1500" b="1" kern="0" spc="-19" dirty="0">
                <a:solidFill>
                  <a:srgbClr val="006FC0"/>
                </a:solidFill>
                <a:latin typeface="Tahoma"/>
                <a:cs typeface="Tahoma"/>
              </a:rPr>
              <a:t>27</a:t>
            </a:r>
            <a:r>
              <a:rPr sz="1500" b="1" kern="0" spc="-19" dirty="0">
                <a:solidFill>
                  <a:srgbClr val="006FC0"/>
                </a:solidFill>
                <a:latin typeface="Tahoma"/>
                <a:cs typeface="Tahoma"/>
              </a:rPr>
              <a:t> </a:t>
            </a:r>
            <a:r>
              <a:rPr lang="en-US" sz="1500" b="1" kern="0" spc="-19" dirty="0">
                <a:solidFill>
                  <a:srgbClr val="006FC0"/>
                </a:solidFill>
                <a:latin typeface="Tahoma"/>
                <a:cs typeface="Tahoma"/>
              </a:rPr>
              <a:t>February </a:t>
            </a:r>
            <a:r>
              <a:rPr sz="1500" b="1" kern="0" spc="-15" dirty="0">
                <a:solidFill>
                  <a:srgbClr val="006FC0"/>
                </a:solidFill>
                <a:latin typeface="Tahoma"/>
                <a:cs typeface="Tahoma"/>
              </a:rPr>
              <a:t>202</a:t>
            </a:r>
            <a:r>
              <a:rPr lang="en-US" sz="1500" b="1" kern="0" spc="-15" dirty="0">
                <a:solidFill>
                  <a:srgbClr val="006FC0"/>
                </a:solidFill>
                <a:latin typeface="Tahoma"/>
                <a:cs typeface="Tahoma"/>
              </a:rPr>
              <a:t>6</a:t>
            </a:r>
            <a:endParaRPr sz="1500" kern="0" dirty="0">
              <a:solidFill>
                <a:sysClr val="windowText" lastClr="000000"/>
              </a:solidFill>
              <a:latin typeface="Tahoma"/>
              <a:cs typeface="Tahoma"/>
            </a:endParaRPr>
          </a:p>
          <a:p>
            <a:pPr marL="71438" algn="ctr" defTabSz="685800"/>
            <a:r>
              <a:rPr sz="1500" b="1" kern="0" dirty="0">
                <a:solidFill>
                  <a:srgbClr val="006FC0"/>
                </a:solidFill>
                <a:latin typeface="Tahoma"/>
                <a:cs typeface="Tahoma"/>
              </a:rPr>
              <a:t>10</a:t>
            </a:r>
            <a:r>
              <a:rPr lang="en-US" sz="1500" b="1" kern="0" dirty="0">
                <a:solidFill>
                  <a:srgbClr val="006FC0"/>
                </a:solidFill>
                <a:latin typeface="Tahoma"/>
                <a:cs typeface="Tahoma"/>
              </a:rPr>
              <a:t>00</a:t>
            </a:r>
            <a:r>
              <a:rPr sz="1500" b="1" kern="0" spc="-11" dirty="0">
                <a:solidFill>
                  <a:srgbClr val="006FC0"/>
                </a:solidFill>
                <a:latin typeface="Tahoma"/>
                <a:cs typeface="Tahoma"/>
              </a:rPr>
              <a:t> </a:t>
            </a:r>
            <a:r>
              <a:rPr sz="1500" b="1" kern="0" dirty="0">
                <a:solidFill>
                  <a:srgbClr val="006FC0"/>
                </a:solidFill>
                <a:latin typeface="Tahoma"/>
                <a:cs typeface="Tahoma"/>
              </a:rPr>
              <a:t>-</a:t>
            </a:r>
            <a:r>
              <a:rPr sz="1500" b="1" kern="0" spc="-4" dirty="0">
                <a:solidFill>
                  <a:srgbClr val="006FC0"/>
                </a:solidFill>
                <a:latin typeface="Tahoma"/>
                <a:cs typeface="Tahoma"/>
              </a:rPr>
              <a:t> </a:t>
            </a:r>
            <a:r>
              <a:rPr sz="1500" b="1" kern="0" spc="-15" dirty="0">
                <a:solidFill>
                  <a:srgbClr val="006FC0"/>
                </a:solidFill>
                <a:latin typeface="Tahoma"/>
                <a:cs typeface="Tahoma"/>
              </a:rPr>
              <a:t>1</a:t>
            </a:r>
            <a:r>
              <a:rPr lang="en-US" sz="1500" b="1" kern="0" spc="-15" dirty="0">
                <a:solidFill>
                  <a:srgbClr val="006FC0"/>
                </a:solidFill>
                <a:latin typeface="Tahoma"/>
                <a:cs typeface="Tahoma"/>
              </a:rPr>
              <a:t>0</a:t>
            </a:r>
            <a:r>
              <a:rPr sz="1500" b="1" kern="0" spc="-15" dirty="0">
                <a:solidFill>
                  <a:srgbClr val="006FC0"/>
                </a:solidFill>
                <a:latin typeface="Tahoma"/>
                <a:cs typeface="Tahoma"/>
              </a:rPr>
              <a:t>30</a:t>
            </a:r>
            <a:endParaRPr sz="1500" kern="0" dirty="0">
              <a:solidFill>
                <a:sysClr val="windowText" lastClr="000000"/>
              </a:solidFill>
              <a:latin typeface="Tahoma"/>
              <a:cs typeface="Tahoma"/>
            </a:endParaRPr>
          </a:p>
          <a:p>
            <a:pPr marL="266224" indent="-256699" defTabSz="685800">
              <a:spcBef>
                <a:spcPts val="1751"/>
              </a:spcBef>
              <a:buFontTx/>
              <a:buChar char="•"/>
              <a:tabLst>
                <a:tab pos="266224" algn="l"/>
              </a:tabLst>
            </a:pPr>
            <a:r>
              <a:rPr sz="1350" kern="0" dirty="0">
                <a:solidFill>
                  <a:srgbClr val="211F1F"/>
                </a:solidFill>
                <a:latin typeface="Arial"/>
                <a:cs typeface="Arial"/>
              </a:rPr>
              <a:t>Notecards</a:t>
            </a:r>
            <a:r>
              <a:rPr sz="1350" kern="0" spc="-23" dirty="0">
                <a:solidFill>
                  <a:srgbClr val="211F1F"/>
                </a:solidFill>
                <a:latin typeface="Arial"/>
                <a:cs typeface="Arial"/>
              </a:rPr>
              <a:t> </a:t>
            </a:r>
            <a:r>
              <a:rPr sz="1350" kern="0" dirty="0">
                <a:solidFill>
                  <a:srgbClr val="211F1F"/>
                </a:solidFill>
                <a:latin typeface="Arial"/>
                <a:cs typeface="Arial"/>
              </a:rPr>
              <a:t>are</a:t>
            </a:r>
            <a:r>
              <a:rPr sz="1350" kern="0" spc="-30" dirty="0">
                <a:solidFill>
                  <a:srgbClr val="211F1F"/>
                </a:solidFill>
                <a:latin typeface="Arial"/>
                <a:cs typeface="Arial"/>
              </a:rPr>
              <a:t> </a:t>
            </a:r>
            <a:r>
              <a:rPr sz="1350" kern="0" dirty="0">
                <a:solidFill>
                  <a:srgbClr val="211F1F"/>
                </a:solidFill>
                <a:latin typeface="Arial"/>
                <a:cs typeface="Arial"/>
              </a:rPr>
              <a:t>available</a:t>
            </a:r>
            <a:r>
              <a:rPr sz="1350" kern="0" spc="-4" dirty="0">
                <a:solidFill>
                  <a:srgbClr val="211F1F"/>
                </a:solidFill>
                <a:latin typeface="Arial"/>
                <a:cs typeface="Arial"/>
              </a:rPr>
              <a:t> </a:t>
            </a:r>
            <a:r>
              <a:rPr sz="1350" kern="0" dirty="0">
                <a:solidFill>
                  <a:srgbClr val="211F1F"/>
                </a:solidFill>
                <a:latin typeface="Arial"/>
                <a:cs typeface="Arial"/>
              </a:rPr>
              <a:t>at</a:t>
            </a:r>
            <a:r>
              <a:rPr sz="1350" kern="0" spc="-26" dirty="0">
                <a:solidFill>
                  <a:srgbClr val="211F1F"/>
                </a:solidFill>
                <a:latin typeface="Arial"/>
                <a:cs typeface="Arial"/>
              </a:rPr>
              <a:t> </a:t>
            </a:r>
            <a:r>
              <a:rPr sz="1350" kern="0" dirty="0">
                <a:solidFill>
                  <a:srgbClr val="211F1F"/>
                </a:solidFill>
                <a:latin typeface="Arial"/>
                <a:cs typeface="Arial"/>
              </a:rPr>
              <a:t>the</a:t>
            </a:r>
            <a:r>
              <a:rPr sz="1350" kern="0" spc="-30" dirty="0">
                <a:solidFill>
                  <a:srgbClr val="211F1F"/>
                </a:solidFill>
                <a:latin typeface="Arial"/>
                <a:cs typeface="Arial"/>
              </a:rPr>
              <a:t> </a:t>
            </a:r>
            <a:r>
              <a:rPr sz="1350" kern="0" dirty="0">
                <a:solidFill>
                  <a:srgbClr val="211F1F"/>
                </a:solidFill>
                <a:latin typeface="Arial"/>
                <a:cs typeface="Arial"/>
              </a:rPr>
              <a:t>registration</a:t>
            </a:r>
            <a:r>
              <a:rPr sz="1350" kern="0" spc="-8" dirty="0">
                <a:solidFill>
                  <a:srgbClr val="211F1F"/>
                </a:solidFill>
                <a:latin typeface="Arial"/>
                <a:cs typeface="Arial"/>
              </a:rPr>
              <a:t> table</a:t>
            </a:r>
            <a:endParaRPr sz="1350" kern="0" dirty="0">
              <a:solidFill>
                <a:sysClr val="windowText" lastClr="000000"/>
              </a:solidFill>
              <a:latin typeface="Arial"/>
              <a:cs typeface="Arial"/>
            </a:endParaRPr>
          </a:p>
          <a:p>
            <a:pPr marL="266700" marR="3810" indent="-257175" defTabSz="685800">
              <a:spcBef>
                <a:spcPts val="900"/>
              </a:spcBef>
              <a:buFontTx/>
              <a:buChar char="•"/>
              <a:tabLst>
                <a:tab pos="266700" algn="l"/>
              </a:tabLst>
            </a:pPr>
            <a:r>
              <a:rPr sz="1350" kern="0" dirty="0">
                <a:solidFill>
                  <a:srgbClr val="211F1F"/>
                </a:solidFill>
                <a:latin typeface="Arial"/>
                <a:cs typeface="Arial"/>
              </a:rPr>
              <a:t>Write</a:t>
            </a:r>
            <a:r>
              <a:rPr sz="1350" kern="0" spc="-30" dirty="0">
                <a:solidFill>
                  <a:srgbClr val="211F1F"/>
                </a:solidFill>
                <a:latin typeface="Arial"/>
                <a:cs typeface="Arial"/>
              </a:rPr>
              <a:t> </a:t>
            </a:r>
            <a:r>
              <a:rPr sz="1350" kern="0" dirty="0">
                <a:solidFill>
                  <a:srgbClr val="211F1F"/>
                </a:solidFill>
                <a:latin typeface="Arial"/>
                <a:cs typeface="Arial"/>
              </a:rPr>
              <a:t>down</a:t>
            </a:r>
            <a:r>
              <a:rPr sz="1350" kern="0" spc="8" dirty="0">
                <a:solidFill>
                  <a:srgbClr val="211F1F"/>
                </a:solidFill>
                <a:latin typeface="Arial"/>
                <a:cs typeface="Arial"/>
              </a:rPr>
              <a:t> </a:t>
            </a:r>
            <a:r>
              <a:rPr sz="1350" kern="0" dirty="0">
                <a:solidFill>
                  <a:srgbClr val="211F1F"/>
                </a:solidFill>
                <a:latin typeface="Arial"/>
                <a:cs typeface="Arial"/>
              </a:rPr>
              <a:t>your</a:t>
            </a:r>
            <a:r>
              <a:rPr sz="1350" kern="0" spc="-4" dirty="0">
                <a:solidFill>
                  <a:srgbClr val="211F1F"/>
                </a:solidFill>
                <a:latin typeface="Arial"/>
                <a:cs typeface="Arial"/>
              </a:rPr>
              <a:t> </a:t>
            </a:r>
            <a:r>
              <a:rPr sz="1350" kern="0" dirty="0">
                <a:solidFill>
                  <a:srgbClr val="211F1F"/>
                </a:solidFill>
                <a:latin typeface="Arial"/>
                <a:cs typeface="Arial"/>
              </a:rPr>
              <a:t>questions</a:t>
            </a:r>
            <a:r>
              <a:rPr sz="1350" kern="0" spc="-8" dirty="0">
                <a:solidFill>
                  <a:srgbClr val="211F1F"/>
                </a:solidFill>
                <a:latin typeface="Arial"/>
                <a:cs typeface="Arial"/>
              </a:rPr>
              <a:t> </a:t>
            </a:r>
            <a:r>
              <a:rPr sz="1350" kern="0" dirty="0">
                <a:solidFill>
                  <a:srgbClr val="211F1F"/>
                </a:solidFill>
                <a:latin typeface="Arial"/>
                <a:cs typeface="Arial"/>
              </a:rPr>
              <a:t>on</a:t>
            </a:r>
            <a:r>
              <a:rPr sz="1350" kern="0" spc="-26" dirty="0">
                <a:solidFill>
                  <a:srgbClr val="211F1F"/>
                </a:solidFill>
                <a:latin typeface="Arial"/>
                <a:cs typeface="Arial"/>
              </a:rPr>
              <a:t> </a:t>
            </a:r>
            <a:r>
              <a:rPr sz="1350" kern="0" dirty="0">
                <a:solidFill>
                  <a:srgbClr val="211F1F"/>
                </a:solidFill>
                <a:latin typeface="Arial"/>
                <a:cs typeface="Arial"/>
              </a:rPr>
              <a:t>the</a:t>
            </a:r>
            <a:r>
              <a:rPr sz="1350" kern="0" spc="-26" dirty="0">
                <a:solidFill>
                  <a:srgbClr val="211F1F"/>
                </a:solidFill>
                <a:latin typeface="Arial"/>
                <a:cs typeface="Arial"/>
              </a:rPr>
              <a:t> </a:t>
            </a:r>
            <a:r>
              <a:rPr sz="1350" kern="0" dirty="0">
                <a:solidFill>
                  <a:srgbClr val="211F1F"/>
                </a:solidFill>
                <a:latin typeface="Arial"/>
                <a:cs typeface="Arial"/>
              </a:rPr>
              <a:t>notecards</a:t>
            </a:r>
            <a:r>
              <a:rPr sz="1350" kern="0" spc="-15" dirty="0">
                <a:solidFill>
                  <a:srgbClr val="211F1F"/>
                </a:solidFill>
                <a:latin typeface="Arial"/>
                <a:cs typeface="Arial"/>
              </a:rPr>
              <a:t> </a:t>
            </a:r>
            <a:r>
              <a:rPr sz="1350" kern="0" dirty="0">
                <a:solidFill>
                  <a:srgbClr val="211F1F"/>
                </a:solidFill>
                <a:latin typeface="Arial"/>
                <a:cs typeface="Arial"/>
              </a:rPr>
              <a:t>and</a:t>
            </a:r>
            <a:r>
              <a:rPr sz="1350" kern="0" spc="-15" dirty="0">
                <a:solidFill>
                  <a:srgbClr val="211F1F"/>
                </a:solidFill>
                <a:latin typeface="Arial"/>
                <a:cs typeface="Arial"/>
              </a:rPr>
              <a:t> </a:t>
            </a:r>
            <a:r>
              <a:rPr sz="1350" kern="0" dirty="0">
                <a:solidFill>
                  <a:srgbClr val="211F1F"/>
                </a:solidFill>
                <a:latin typeface="Arial"/>
                <a:cs typeface="Arial"/>
              </a:rPr>
              <a:t>place</a:t>
            </a:r>
            <a:r>
              <a:rPr sz="1350" kern="0" spc="-15" dirty="0">
                <a:solidFill>
                  <a:srgbClr val="211F1F"/>
                </a:solidFill>
                <a:latin typeface="Arial"/>
                <a:cs typeface="Arial"/>
              </a:rPr>
              <a:t> </a:t>
            </a:r>
            <a:r>
              <a:rPr sz="1350" kern="0" dirty="0">
                <a:solidFill>
                  <a:srgbClr val="211F1F"/>
                </a:solidFill>
                <a:latin typeface="Arial"/>
                <a:cs typeface="Arial"/>
              </a:rPr>
              <a:t>them</a:t>
            </a:r>
            <a:r>
              <a:rPr sz="1350" kern="0" spc="-26" dirty="0">
                <a:solidFill>
                  <a:srgbClr val="211F1F"/>
                </a:solidFill>
                <a:latin typeface="Arial"/>
                <a:cs typeface="Arial"/>
              </a:rPr>
              <a:t> </a:t>
            </a:r>
            <a:r>
              <a:rPr sz="1350" kern="0" dirty="0">
                <a:solidFill>
                  <a:srgbClr val="211F1F"/>
                </a:solidFill>
                <a:latin typeface="Arial"/>
                <a:cs typeface="Arial"/>
              </a:rPr>
              <a:t>in</a:t>
            </a:r>
            <a:r>
              <a:rPr sz="1350" kern="0" spc="-26" dirty="0">
                <a:solidFill>
                  <a:srgbClr val="211F1F"/>
                </a:solidFill>
                <a:latin typeface="Arial"/>
                <a:cs typeface="Arial"/>
              </a:rPr>
              <a:t> </a:t>
            </a:r>
            <a:r>
              <a:rPr sz="1350" kern="0" dirty="0">
                <a:solidFill>
                  <a:srgbClr val="211F1F"/>
                </a:solidFill>
                <a:latin typeface="Arial"/>
                <a:cs typeface="Arial"/>
              </a:rPr>
              <a:t>the</a:t>
            </a:r>
            <a:r>
              <a:rPr sz="1350" kern="0" spc="-26" dirty="0">
                <a:solidFill>
                  <a:srgbClr val="211F1F"/>
                </a:solidFill>
                <a:latin typeface="Arial"/>
                <a:cs typeface="Arial"/>
              </a:rPr>
              <a:t> </a:t>
            </a:r>
            <a:r>
              <a:rPr sz="1350" kern="0" dirty="0">
                <a:solidFill>
                  <a:srgbClr val="211F1F"/>
                </a:solidFill>
                <a:latin typeface="Arial"/>
                <a:cs typeface="Arial"/>
              </a:rPr>
              <a:t>basket</a:t>
            </a:r>
            <a:r>
              <a:rPr sz="1350" kern="0" spc="-19" dirty="0">
                <a:solidFill>
                  <a:srgbClr val="211F1F"/>
                </a:solidFill>
                <a:latin typeface="Arial"/>
                <a:cs typeface="Arial"/>
              </a:rPr>
              <a:t> on </a:t>
            </a:r>
            <a:r>
              <a:rPr sz="1350" kern="0" dirty="0">
                <a:solidFill>
                  <a:srgbClr val="211F1F"/>
                </a:solidFill>
                <a:latin typeface="Arial"/>
                <a:cs typeface="Arial"/>
              </a:rPr>
              <a:t>the</a:t>
            </a:r>
            <a:r>
              <a:rPr sz="1350" kern="0" spc="-34" dirty="0">
                <a:solidFill>
                  <a:srgbClr val="211F1F"/>
                </a:solidFill>
                <a:latin typeface="Arial"/>
                <a:cs typeface="Arial"/>
              </a:rPr>
              <a:t> </a:t>
            </a:r>
            <a:r>
              <a:rPr sz="1350" kern="0" dirty="0">
                <a:solidFill>
                  <a:srgbClr val="211F1F"/>
                </a:solidFill>
                <a:latin typeface="Arial"/>
                <a:cs typeface="Arial"/>
              </a:rPr>
              <a:t>registration</a:t>
            </a:r>
            <a:r>
              <a:rPr sz="1350" kern="0" spc="-23" dirty="0">
                <a:solidFill>
                  <a:srgbClr val="211F1F"/>
                </a:solidFill>
                <a:latin typeface="Arial"/>
                <a:cs typeface="Arial"/>
              </a:rPr>
              <a:t> </a:t>
            </a:r>
            <a:r>
              <a:rPr sz="1350" kern="0" spc="-8" dirty="0">
                <a:solidFill>
                  <a:srgbClr val="211F1F"/>
                </a:solidFill>
                <a:latin typeface="Arial"/>
                <a:cs typeface="Arial"/>
              </a:rPr>
              <a:t>table</a:t>
            </a:r>
            <a:endParaRPr sz="1350" kern="0" dirty="0">
              <a:solidFill>
                <a:sysClr val="windowText" lastClr="000000"/>
              </a:solidFill>
              <a:latin typeface="Arial"/>
              <a:cs typeface="Arial"/>
            </a:endParaRPr>
          </a:p>
          <a:p>
            <a:pPr marL="266224" marR="162401" indent="-257175" defTabSz="685800">
              <a:spcBef>
                <a:spcPts val="900"/>
              </a:spcBef>
              <a:buFontTx/>
              <a:buChar char="•"/>
              <a:tabLst>
                <a:tab pos="266224" algn="l"/>
              </a:tabLst>
            </a:pPr>
            <a:r>
              <a:rPr sz="1350" kern="0" dirty="0">
                <a:solidFill>
                  <a:srgbClr val="211F1F"/>
                </a:solidFill>
                <a:latin typeface="Arial"/>
                <a:cs typeface="Arial"/>
              </a:rPr>
              <a:t>Questions</a:t>
            </a:r>
            <a:r>
              <a:rPr sz="1350" kern="0" spc="-19" dirty="0">
                <a:solidFill>
                  <a:srgbClr val="211F1F"/>
                </a:solidFill>
                <a:latin typeface="Arial"/>
                <a:cs typeface="Arial"/>
              </a:rPr>
              <a:t> </a:t>
            </a:r>
            <a:r>
              <a:rPr sz="1350" kern="0" dirty="0">
                <a:solidFill>
                  <a:srgbClr val="211F1F"/>
                </a:solidFill>
                <a:latin typeface="Arial"/>
                <a:cs typeface="Arial"/>
              </a:rPr>
              <a:t>that</a:t>
            </a:r>
            <a:r>
              <a:rPr sz="1350" kern="0" spc="-30" dirty="0">
                <a:solidFill>
                  <a:srgbClr val="211F1F"/>
                </a:solidFill>
                <a:latin typeface="Arial"/>
                <a:cs typeface="Arial"/>
              </a:rPr>
              <a:t> </a:t>
            </a:r>
            <a:r>
              <a:rPr sz="1350" kern="0" dirty="0">
                <a:solidFill>
                  <a:srgbClr val="211F1F"/>
                </a:solidFill>
                <a:latin typeface="Arial"/>
                <a:cs typeface="Arial"/>
              </a:rPr>
              <a:t>can</a:t>
            </a:r>
            <a:r>
              <a:rPr sz="1350" kern="0" spc="-19" dirty="0">
                <a:solidFill>
                  <a:srgbClr val="211F1F"/>
                </a:solidFill>
                <a:latin typeface="Arial"/>
                <a:cs typeface="Arial"/>
              </a:rPr>
              <a:t> </a:t>
            </a:r>
            <a:r>
              <a:rPr sz="1350" kern="0" dirty="0">
                <a:solidFill>
                  <a:srgbClr val="211F1F"/>
                </a:solidFill>
                <a:latin typeface="Arial"/>
                <a:cs typeface="Arial"/>
              </a:rPr>
              <a:t>be</a:t>
            </a:r>
            <a:r>
              <a:rPr sz="1350" kern="0" spc="-26" dirty="0">
                <a:solidFill>
                  <a:srgbClr val="211F1F"/>
                </a:solidFill>
                <a:latin typeface="Arial"/>
                <a:cs typeface="Arial"/>
              </a:rPr>
              <a:t> </a:t>
            </a:r>
            <a:r>
              <a:rPr sz="1350" kern="0" dirty="0">
                <a:solidFill>
                  <a:srgbClr val="211F1F"/>
                </a:solidFill>
                <a:latin typeface="Arial"/>
                <a:cs typeface="Arial"/>
              </a:rPr>
              <a:t>answered</a:t>
            </a:r>
            <a:r>
              <a:rPr sz="1350" kern="0" spc="11" dirty="0">
                <a:solidFill>
                  <a:srgbClr val="211F1F"/>
                </a:solidFill>
                <a:latin typeface="Arial"/>
                <a:cs typeface="Arial"/>
              </a:rPr>
              <a:t> </a:t>
            </a:r>
            <a:r>
              <a:rPr sz="1350" kern="0" dirty="0">
                <a:solidFill>
                  <a:srgbClr val="211F1F"/>
                </a:solidFill>
                <a:latin typeface="Arial"/>
                <a:cs typeface="Arial"/>
              </a:rPr>
              <a:t>during</a:t>
            </a:r>
            <a:r>
              <a:rPr sz="1350" kern="0" spc="-19" dirty="0">
                <a:solidFill>
                  <a:srgbClr val="211F1F"/>
                </a:solidFill>
                <a:latin typeface="Arial"/>
                <a:cs typeface="Arial"/>
              </a:rPr>
              <a:t> </a:t>
            </a:r>
            <a:r>
              <a:rPr sz="1350" kern="0" dirty="0">
                <a:solidFill>
                  <a:srgbClr val="211F1F"/>
                </a:solidFill>
                <a:latin typeface="Arial"/>
                <a:cs typeface="Arial"/>
              </a:rPr>
              <a:t>this</a:t>
            </a:r>
            <a:r>
              <a:rPr sz="1350" kern="0" spc="-26" dirty="0">
                <a:solidFill>
                  <a:srgbClr val="211F1F"/>
                </a:solidFill>
                <a:latin typeface="Arial"/>
                <a:cs typeface="Arial"/>
              </a:rPr>
              <a:t> </a:t>
            </a:r>
            <a:r>
              <a:rPr sz="1350" kern="0" dirty="0">
                <a:solidFill>
                  <a:srgbClr val="211F1F"/>
                </a:solidFill>
                <a:latin typeface="Arial"/>
                <a:cs typeface="Arial"/>
              </a:rPr>
              <a:t>event</a:t>
            </a:r>
            <a:r>
              <a:rPr sz="1350" kern="0" spc="-23" dirty="0">
                <a:solidFill>
                  <a:srgbClr val="211F1F"/>
                </a:solidFill>
                <a:latin typeface="Arial"/>
                <a:cs typeface="Arial"/>
              </a:rPr>
              <a:t> </a:t>
            </a:r>
            <a:r>
              <a:rPr sz="1350" kern="0" dirty="0">
                <a:solidFill>
                  <a:srgbClr val="211F1F"/>
                </a:solidFill>
                <a:latin typeface="Arial"/>
                <a:cs typeface="Arial"/>
              </a:rPr>
              <a:t>will</a:t>
            </a:r>
            <a:r>
              <a:rPr sz="1350" kern="0" spc="4" dirty="0">
                <a:solidFill>
                  <a:srgbClr val="211F1F"/>
                </a:solidFill>
                <a:latin typeface="Arial"/>
                <a:cs typeface="Arial"/>
              </a:rPr>
              <a:t> </a:t>
            </a:r>
            <a:r>
              <a:rPr sz="1350" kern="0" dirty="0">
                <a:solidFill>
                  <a:srgbClr val="211F1F"/>
                </a:solidFill>
                <a:latin typeface="Arial"/>
                <a:cs typeface="Arial"/>
              </a:rPr>
              <a:t>be</a:t>
            </a:r>
            <a:r>
              <a:rPr sz="1350" kern="0" spc="-19" dirty="0">
                <a:solidFill>
                  <a:srgbClr val="211F1F"/>
                </a:solidFill>
                <a:latin typeface="Arial"/>
                <a:cs typeface="Arial"/>
              </a:rPr>
              <a:t> </a:t>
            </a:r>
            <a:r>
              <a:rPr sz="1350" kern="0" dirty="0">
                <a:solidFill>
                  <a:srgbClr val="211F1F"/>
                </a:solidFill>
                <a:latin typeface="Arial"/>
                <a:cs typeface="Arial"/>
              </a:rPr>
              <a:t>addressed</a:t>
            </a:r>
            <a:r>
              <a:rPr sz="1350" kern="0" spc="-11" dirty="0">
                <a:solidFill>
                  <a:srgbClr val="211F1F"/>
                </a:solidFill>
                <a:latin typeface="Arial"/>
                <a:cs typeface="Arial"/>
              </a:rPr>
              <a:t> </a:t>
            </a:r>
            <a:r>
              <a:rPr sz="1350" kern="0" spc="-8" dirty="0">
                <a:solidFill>
                  <a:srgbClr val="211F1F"/>
                </a:solidFill>
                <a:latin typeface="Arial"/>
                <a:cs typeface="Arial"/>
              </a:rPr>
              <a:t>during </a:t>
            </a:r>
            <a:r>
              <a:rPr sz="1350" kern="0" dirty="0">
                <a:solidFill>
                  <a:srgbClr val="211F1F"/>
                </a:solidFill>
                <a:latin typeface="Arial"/>
                <a:cs typeface="Arial"/>
              </a:rPr>
              <a:t>the</a:t>
            </a:r>
            <a:r>
              <a:rPr sz="1350" kern="0" spc="-11" dirty="0">
                <a:solidFill>
                  <a:srgbClr val="211F1F"/>
                </a:solidFill>
                <a:latin typeface="Arial"/>
                <a:cs typeface="Arial"/>
              </a:rPr>
              <a:t> </a:t>
            </a:r>
            <a:r>
              <a:rPr sz="1350" kern="0" dirty="0">
                <a:solidFill>
                  <a:srgbClr val="211F1F"/>
                </a:solidFill>
                <a:latin typeface="Arial"/>
                <a:cs typeface="Arial"/>
              </a:rPr>
              <a:t>Q&amp;A</a:t>
            </a:r>
            <a:r>
              <a:rPr sz="1350" kern="0" spc="-83" dirty="0">
                <a:solidFill>
                  <a:srgbClr val="211F1F"/>
                </a:solidFill>
                <a:latin typeface="Arial"/>
                <a:cs typeface="Arial"/>
              </a:rPr>
              <a:t> </a:t>
            </a:r>
            <a:r>
              <a:rPr sz="1350" kern="0" spc="-8" dirty="0">
                <a:solidFill>
                  <a:srgbClr val="211F1F"/>
                </a:solidFill>
                <a:latin typeface="Arial"/>
                <a:cs typeface="Arial"/>
              </a:rPr>
              <a:t>session</a:t>
            </a:r>
            <a:endParaRPr sz="1350" kern="0" dirty="0">
              <a:solidFill>
                <a:sysClr val="windowText" lastClr="000000"/>
              </a:solidFill>
              <a:latin typeface="Arial"/>
              <a:cs typeface="Arial"/>
            </a:endParaRPr>
          </a:p>
          <a:p>
            <a:pPr marL="266224" indent="-256699" defTabSz="685800">
              <a:spcBef>
                <a:spcPts val="900"/>
              </a:spcBef>
              <a:buFontTx/>
              <a:buChar char="•"/>
              <a:tabLst>
                <a:tab pos="266224" algn="l"/>
              </a:tabLst>
            </a:pPr>
            <a:r>
              <a:rPr sz="1350" kern="0" dirty="0">
                <a:solidFill>
                  <a:srgbClr val="211F1F"/>
                </a:solidFill>
                <a:latin typeface="Arial"/>
                <a:cs typeface="Arial"/>
              </a:rPr>
              <a:t>All</a:t>
            </a:r>
            <a:r>
              <a:rPr sz="1350" kern="0" spc="-30" dirty="0">
                <a:solidFill>
                  <a:srgbClr val="211F1F"/>
                </a:solidFill>
                <a:latin typeface="Arial"/>
                <a:cs typeface="Arial"/>
              </a:rPr>
              <a:t> </a:t>
            </a:r>
            <a:r>
              <a:rPr sz="1350" kern="0" dirty="0">
                <a:solidFill>
                  <a:srgbClr val="211F1F"/>
                </a:solidFill>
                <a:latin typeface="Arial"/>
                <a:cs typeface="Arial"/>
              </a:rPr>
              <a:t>questions</a:t>
            </a:r>
            <a:r>
              <a:rPr sz="1350" kern="0" spc="-11" dirty="0">
                <a:solidFill>
                  <a:srgbClr val="211F1F"/>
                </a:solidFill>
                <a:latin typeface="Arial"/>
                <a:cs typeface="Arial"/>
              </a:rPr>
              <a:t> </a:t>
            </a:r>
            <a:r>
              <a:rPr sz="1350" kern="0" dirty="0">
                <a:solidFill>
                  <a:srgbClr val="211F1F"/>
                </a:solidFill>
                <a:latin typeface="Arial"/>
                <a:cs typeface="Arial"/>
              </a:rPr>
              <a:t>and</a:t>
            </a:r>
            <a:r>
              <a:rPr sz="1350" kern="0" spc="-30" dirty="0">
                <a:solidFill>
                  <a:srgbClr val="211F1F"/>
                </a:solidFill>
                <a:latin typeface="Arial"/>
                <a:cs typeface="Arial"/>
              </a:rPr>
              <a:t> </a:t>
            </a:r>
            <a:r>
              <a:rPr sz="1350" kern="0" dirty="0">
                <a:solidFill>
                  <a:srgbClr val="211F1F"/>
                </a:solidFill>
                <a:latin typeface="Arial"/>
                <a:cs typeface="Arial"/>
              </a:rPr>
              <a:t>answers</a:t>
            </a:r>
            <a:r>
              <a:rPr sz="1350" kern="0" spc="4" dirty="0">
                <a:solidFill>
                  <a:srgbClr val="211F1F"/>
                </a:solidFill>
                <a:latin typeface="Arial"/>
                <a:cs typeface="Arial"/>
              </a:rPr>
              <a:t> </a:t>
            </a:r>
            <a:r>
              <a:rPr sz="1350" kern="0" dirty="0">
                <a:solidFill>
                  <a:srgbClr val="211F1F"/>
                </a:solidFill>
                <a:latin typeface="Arial"/>
                <a:cs typeface="Arial"/>
              </a:rPr>
              <a:t>will</a:t>
            </a:r>
            <a:r>
              <a:rPr sz="1350" kern="0" spc="4" dirty="0">
                <a:solidFill>
                  <a:srgbClr val="211F1F"/>
                </a:solidFill>
                <a:latin typeface="Arial"/>
                <a:cs typeface="Arial"/>
              </a:rPr>
              <a:t> </a:t>
            </a:r>
            <a:r>
              <a:rPr sz="1350" kern="0" dirty="0">
                <a:solidFill>
                  <a:srgbClr val="211F1F"/>
                </a:solidFill>
                <a:latin typeface="Arial"/>
                <a:cs typeface="Arial"/>
              </a:rPr>
              <a:t>be</a:t>
            </a:r>
            <a:r>
              <a:rPr sz="1350" kern="0" spc="-19" dirty="0">
                <a:solidFill>
                  <a:srgbClr val="211F1F"/>
                </a:solidFill>
                <a:latin typeface="Arial"/>
                <a:cs typeface="Arial"/>
              </a:rPr>
              <a:t> </a:t>
            </a:r>
            <a:r>
              <a:rPr sz="1350" kern="0" dirty="0">
                <a:solidFill>
                  <a:srgbClr val="211F1F"/>
                </a:solidFill>
                <a:latin typeface="Arial"/>
                <a:cs typeface="Arial"/>
              </a:rPr>
              <a:t>provided</a:t>
            </a:r>
            <a:r>
              <a:rPr sz="1350" kern="0" spc="-23" dirty="0">
                <a:solidFill>
                  <a:srgbClr val="211F1F"/>
                </a:solidFill>
                <a:latin typeface="Arial"/>
                <a:cs typeface="Arial"/>
              </a:rPr>
              <a:t> </a:t>
            </a:r>
            <a:r>
              <a:rPr sz="1350" kern="0" dirty="0">
                <a:solidFill>
                  <a:srgbClr val="211F1F"/>
                </a:solidFill>
                <a:latin typeface="Arial"/>
                <a:cs typeface="Arial"/>
              </a:rPr>
              <a:t>on</a:t>
            </a:r>
            <a:r>
              <a:rPr sz="1350" kern="0" spc="-23" dirty="0">
                <a:solidFill>
                  <a:srgbClr val="211F1F"/>
                </a:solidFill>
                <a:latin typeface="Arial"/>
                <a:cs typeface="Arial"/>
              </a:rPr>
              <a:t> </a:t>
            </a:r>
            <a:r>
              <a:rPr sz="1350" kern="0" spc="-8" dirty="0">
                <a:solidFill>
                  <a:srgbClr val="211F1F"/>
                </a:solidFill>
                <a:latin typeface="Arial"/>
                <a:cs typeface="Arial"/>
              </a:rPr>
              <a:t>SAM.gov</a:t>
            </a:r>
            <a:endParaRPr sz="1350" kern="0" dirty="0">
              <a:solidFill>
                <a:sysClr val="windowText" lastClr="000000"/>
              </a:solidFill>
              <a:latin typeface="Arial"/>
              <a:cs typeface="Arial"/>
            </a:endParaRPr>
          </a:p>
        </p:txBody>
      </p:sp>
      <p:sp>
        <p:nvSpPr>
          <p:cNvPr id="11" name="object 11" descr="$PPTXTitle"/>
          <p:cNvSpPr txBox="1">
            <a:spLocks noGrp="1"/>
          </p:cNvSpPr>
          <p:nvPr>
            <p:ph type="title" idx="4294967295"/>
          </p:nvPr>
        </p:nvSpPr>
        <p:spPr>
          <a:xfrm>
            <a:off x="1115524" y="1024304"/>
            <a:ext cx="6270625" cy="953015"/>
          </a:xfrm>
          <a:prstGeom prst="rect">
            <a:avLst/>
          </a:prstGeom>
        </p:spPr>
        <p:txBody>
          <a:bodyPr vert="horz" wrap="square" lIns="0" tIns="90358" rIns="0" bIns="0" rtlCol="0" anchor="t">
            <a:spAutoFit/>
          </a:bodyPr>
          <a:lstStyle/>
          <a:p>
            <a:pPr marL="772160" algn="ctr">
              <a:spcBef>
                <a:spcPts val="75"/>
              </a:spcBef>
            </a:pPr>
            <a:r>
              <a:rPr sz="2800">
                <a:solidFill>
                  <a:srgbClr val="393436"/>
                </a:solidFill>
                <a:latin typeface="Arial"/>
                <a:cs typeface="Arial"/>
              </a:rPr>
              <a:t>QUESTION</a:t>
            </a:r>
            <a:r>
              <a:rPr sz="2800" spc="-135">
                <a:solidFill>
                  <a:srgbClr val="393436"/>
                </a:solidFill>
                <a:latin typeface="Arial"/>
                <a:cs typeface="Arial"/>
              </a:rPr>
              <a:t> </a:t>
            </a:r>
            <a:r>
              <a:rPr sz="2800">
                <a:solidFill>
                  <a:srgbClr val="393436"/>
                </a:solidFill>
                <a:latin typeface="Arial"/>
                <a:cs typeface="Arial"/>
              </a:rPr>
              <a:t>AND</a:t>
            </a:r>
            <a:r>
              <a:rPr sz="2800" spc="-127">
                <a:solidFill>
                  <a:srgbClr val="393436"/>
                </a:solidFill>
                <a:latin typeface="Arial"/>
                <a:cs typeface="Arial"/>
              </a:rPr>
              <a:t> </a:t>
            </a:r>
            <a:r>
              <a:rPr sz="2800">
                <a:solidFill>
                  <a:srgbClr val="393436"/>
                </a:solidFill>
                <a:latin typeface="Arial"/>
                <a:cs typeface="Arial"/>
              </a:rPr>
              <a:t>ANSWER</a:t>
            </a:r>
            <a:r>
              <a:rPr sz="2800" spc="-41">
                <a:solidFill>
                  <a:srgbClr val="393436"/>
                </a:solidFill>
                <a:latin typeface="Arial"/>
                <a:cs typeface="Arial"/>
              </a:rPr>
              <a:t> </a:t>
            </a:r>
            <a:r>
              <a:rPr sz="2800" spc="-8">
                <a:solidFill>
                  <a:srgbClr val="393436"/>
                </a:solidFill>
                <a:latin typeface="Arial"/>
                <a:cs typeface="Arial"/>
              </a:rPr>
              <a:t>SESSION</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837398"/>
            <a:ext cx="8229600" cy="548640"/>
          </a:xfrm>
          <a:prstGeom prst="rect">
            <a:avLst/>
          </a:prstGeom>
          <a:noFill/>
          <a:ln/>
        </p:spPr>
        <p:txBody>
          <a:bodyPr wrap="square" rtlCol="0" anchor="t"/>
          <a:lstStyle/>
          <a:p>
            <a:pPr marL="0" indent="0">
              <a:buNone/>
            </a:pPr>
            <a:r>
              <a:rPr lang="en-US" sz="2400" b="1">
                <a:solidFill>
                  <a:srgbClr val="1F4E79"/>
                </a:solidFill>
              </a:rPr>
              <a:t>CONTRACT OVERVIEW</a:t>
            </a:r>
            <a:endParaRPr lang="en-US" sz="2400"/>
          </a:p>
        </p:txBody>
      </p:sp>
      <p:sp>
        <p:nvSpPr>
          <p:cNvPr id="3" name="Text 1"/>
          <p:cNvSpPr/>
          <p:nvPr/>
        </p:nvSpPr>
        <p:spPr>
          <a:xfrm>
            <a:off x="457200" y="1284973"/>
            <a:ext cx="8306602" cy="3696579"/>
          </a:xfrm>
          <a:prstGeom prst="rect">
            <a:avLst/>
          </a:prstGeom>
          <a:noFill/>
          <a:ln/>
        </p:spPr>
        <p:txBody>
          <a:bodyPr wrap="square" rtlCol="0" anchor="t"/>
          <a:lstStyle/>
          <a:p>
            <a:pPr marL="342900" indent="-342900">
              <a:buSzPct val="100000"/>
              <a:buFontTx/>
              <a:buChar char="•"/>
            </a:pPr>
            <a:r>
              <a:rPr lang="en-US" sz="1600" b="1" dirty="0">
                <a:solidFill>
                  <a:srgbClr val="333333"/>
                </a:solidFill>
                <a:latin typeface="Arial" panose="020B0604020202020204" pitchFamily="34" charset="0"/>
                <a:cs typeface="Arial" panose="020B0604020202020204" pitchFamily="34" charset="0"/>
              </a:rPr>
              <a:t>MATOC</a:t>
            </a:r>
            <a:r>
              <a:rPr lang="en-US" sz="1600" dirty="0">
                <a:solidFill>
                  <a:srgbClr val="333333"/>
                </a:solidFill>
                <a:latin typeface="Arial" panose="020B0604020202020204" pitchFamily="34" charset="0"/>
                <a:cs typeface="Arial" panose="020B0604020202020204" pitchFamily="34" charset="0"/>
              </a:rPr>
              <a:t>: Multiple Award Task Order Contract </a:t>
            </a:r>
            <a:endParaRPr lang="en-US" sz="1600" b="1" dirty="0">
              <a:solidFill>
                <a:srgbClr val="333333"/>
              </a:solidFill>
              <a:latin typeface="Arial" panose="020B0604020202020204" pitchFamily="34" charset="0"/>
              <a:cs typeface="Arial" panose="020B0604020202020204" pitchFamily="34" charset="0"/>
            </a:endParaRP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Contract Type: SF 252 - </a:t>
            </a:r>
            <a:r>
              <a:rPr lang="en-US" sz="1600" dirty="0">
                <a:solidFill>
                  <a:srgbClr val="333333"/>
                </a:solidFill>
                <a:latin typeface="Arial" panose="020B0604020202020204" pitchFamily="34" charset="0"/>
                <a:cs typeface="Arial" panose="020B0604020202020204" pitchFamily="34" charset="0"/>
              </a:rPr>
              <a:t>Indefinite Delivery Contract</a:t>
            </a: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Geographic Coverage</a:t>
            </a:r>
            <a:r>
              <a:rPr lang="en-US" sz="1600" dirty="0">
                <a:solidFill>
                  <a:srgbClr val="333333"/>
                </a:solidFill>
                <a:latin typeface="Arial" panose="020B0604020202020204" pitchFamily="34" charset="0"/>
                <a:cs typeface="Arial" panose="020B0604020202020204" pitchFamily="34" charset="0"/>
              </a:rPr>
              <a:t>:</a:t>
            </a:r>
          </a:p>
          <a:p>
            <a:pPr marL="800100" lvl="1" indent="-342900">
              <a:buSzPct val="100000"/>
              <a:buFontTx/>
              <a:buChar char="•"/>
            </a:pPr>
            <a:r>
              <a:rPr lang="en-US" sz="1600" dirty="0">
                <a:solidFill>
                  <a:srgbClr val="333333"/>
                </a:solidFill>
                <a:latin typeface="Arial" panose="020B0604020202020204" pitchFamily="34" charset="0"/>
                <a:cs typeface="Arial" panose="020B0604020202020204" pitchFamily="34" charset="0"/>
              </a:rPr>
              <a:t>Area of Responsibility of the Caribbean District</a:t>
            </a: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NAICS: </a:t>
            </a:r>
            <a:r>
              <a:rPr lang="en-US" sz="1600" dirty="0">
                <a:solidFill>
                  <a:srgbClr val="333333"/>
                </a:solidFill>
                <a:latin typeface="Arial" panose="020B0604020202020204" pitchFamily="34" charset="0"/>
                <a:cs typeface="Arial" panose="020B0604020202020204" pitchFamily="34" charset="0"/>
              </a:rPr>
              <a:t>541370 - Surveying and Mapping Services</a:t>
            </a: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Contractor Role: </a:t>
            </a:r>
            <a:r>
              <a:rPr lang="en-US" sz="1600" dirty="0">
                <a:solidFill>
                  <a:srgbClr val="333333"/>
                </a:solidFill>
                <a:latin typeface="Arial" panose="020B0604020202020204" pitchFamily="34" charset="0"/>
                <a:cs typeface="Arial" panose="020B0604020202020204" pitchFamily="34" charset="0"/>
              </a:rPr>
              <a:t>Independent contractor providing all labor, materials, and equipment.</a:t>
            </a: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PSC Code</a:t>
            </a:r>
            <a:r>
              <a:rPr lang="en-US" sz="1600" dirty="0">
                <a:solidFill>
                  <a:srgbClr val="333333"/>
                </a:solidFill>
                <a:latin typeface="Arial" panose="020B0604020202020204" pitchFamily="34" charset="0"/>
                <a:cs typeface="Arial" panose="020B0604020202020204" pitchFamily="34" charset="0"/>
              </a:rPr>
              <a:t>: C219 Architect and Engineering—General: Other</a:t>
            </a: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Contracting Officer: </a:t>
            </a:r>
            <a:r>
              <a:rPr lang="en-US" sz="1600" dirty="0">
                <a:solidFill>
                  <a:srgbClr val="333333"/>
                </a:solidFill>
                <a:latin typeface="Arial" panose="020B0604020202020204" pitchFamily="34" charset="0"/>
                <a:cs typeface="Arial" panose="020B0604020202020204" pitchFamily="34" charset="0"/>
              </a:rPr>
              <a:t>Katrina L. Chapman</a:t>
            </a:r>
          </a:p>
          <a:p>
            <a:pPr marL="342900" indent="-342900">
              <a:buSzPct val="100000"/>
              <a:buChar char="•"/>
            </a:pPr>
            <a:r>
              <a:rPr lang="en-US" sz="1600" b="1" dirty="0">
                <a:solidFill>
                  <a:srgbClr val="333333"/>
                </a:solidFill>
                <a:latin typeface="Arial" panose="020B0604020202020204" pitchFamily="34" charset="0"/>
                <a:cs typeface="Arial" panose="020B0604020202020204" pitchFamily="34" charset="0"/>
              </a:rPr>
              <a:t>Contracting Specialist: </a:t>
            </a:r>
            <a:r>
              <a:rPr lang="en-US" sz="1600" dirty="0">
                <a:solidFill>
                  <a:srgbClr val="333333"/>
                </a:solidFill>
                <a:latin typeface="Arial" panose="020B0604020202020204" pitchFamily="34" charset="0"/>
                <a:cs typeface="Arial" panose="020B0604020202020204" pitchFamily="34" charset="0"/>
              </a:rPr>
              <a:t>Jose O. Vazquez-Torres </a:t>
            </a: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46777" y="87622"/>
            <a:ext cx="106204" cy="104355"/>
          </a:xfrm>
          <a:prstGeom prst="rect">
            <a:avLst/>
          </a:prstGeom>
        </p:spPr>
        <p:txBody>
          <a:bodyPr vert="horz" wrap="square" lIns="0" tIns="11906" rIns="0" bIns="0" rtlCol="0">
            <a:spAutoFit/>
          </a:bodyPr>
          <a:lstStyle/>
          <a:p>
            <a:pPr marL="9525" defTabSz="685800">
              <a:spcBef>
                <a:spcPts val="94"/>
              </a:spcBef>
            </a:pPr>
            <a:r>
              <a:rPr sz="600" kern="0" spc="-19">
                <a:solidFill>
                  <a:srgbClr val="211F1F"/>
                </a:solidFill>
                <a:latin typeface="Arial"/>
                <a:cs typeface="Arial"/>
              </a:rPr>
              <a:t>58</a:t>
            </a:r>
            <a:endParaRPr sz="600" kern="0">
              <a:solidFill>
                <a:sysClr val="windowText" lastClr="000000"/>
              </a:solidFill>
              <a:latin typeface="Arial"/>
              <a:cs typeface="Arial"/>
            </a:endParaRPr>
          </a:p>
        </p:txBody>
      </p:sp>
      <p:grpSp>
        <p:nvGrpSpPr>
          <p:cNvPr id="3" name="object 3"/>
          <p:cNvGrpSpPr/>
          <p:nvPr/>
        </p:nvGrpSpPr>
        <p:grpSpPr>
          <a:xfrm>
            <a:off x="-28575" y="-28575"/>
            <a:ext cx="9144000" cy="5143500"/>
            <a:chOff x="0" y="0"/>
            <a:chExt cx="12192000" cy="6858000"/>
          </a:xfrm>
        </p:grpSpPr>
        <p:sp>
          <p:nvSpPr>
            <p:cNvPr id="4" name="object 4"/>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ln w="76200">
              <a:solidFill>
                <a:srgbClr val="BEBEC2"/>
              </a:solidFill>
            </a:ln>
          </p:spPr>
          <p:txBody>
            <a:bodyPr wrap="square" lIns="0" tIns="0" rIns="0" bIns="0" rtlCol="0"/>
            <a:lstStyle/>
            <a:p>
              <a:pPr defTabSz="685800"/>
              <a:endParaRPr sz="1350" kern="0">
                <a:solidFill>
                  <a:sysClr val="windowText" lastClr="000000"/>
                </a:solidFill>
              </a:endParaRPr>
            </a:p>
          </p:txBody>
        </p:sp>
        <p:sp>
          <p:nvSpPr>
            <p:cNvPr id="5" name="object 5"/>
            <p:cNvSpPr/>
            <p:nvPr/>
          </p:nvSpPr>
          <p:spPr>
            <a:xfrm>
              <a:off x="75437" y="869441"/>
              <a:ext cx="12036425" cy="0"/>
            </a:xfrm>
            <a:custGeom>
              <a:avLst/>
              <a:gdLst/>
              <a:ahLst/>
              <a:cxnLst/>
              <a:rect l="l" t="t" r="r" b="b"/>
              <a:pathLst>
                <a:path w="12036425">
                  <a:moveTo>
                    <a:pt x="0" y="0"/>
                  </a:moveTo>
                  <a:lnTo>
                    <a:pt x="12035955" y="0"/>
                  </a:lnTo>
                </a:path>
              </a:pathLst>
            </a:custGeom>
            <a:ln w="44450">
              <a:solidFill>
                <a:srgbClr val="211F1F"/>
              </a:solidFill>
            </a:ln>
          </p:spPr>
          <p:txBody>
            <a:bodyPr wrap="square" lIns="0" tIns="0" rIns="0" bIns="0" rtlCol="0"/>
            <a:lstStyle/>
            <a:p>
              <a:pPr defTabSz="685800"/>
              <a:endParaRPr sz="1350" kern="0">
                <a:solidFill>
                  <a:sysClr val="windowText" lastClr="000000"/>
                </a:solidFill>
              </a:endParaRPr>
            </a:p>
          </p:txBody>
        </p:sp>
        <p:pic>
          <p:nvPicPr>
            <p:cNvPr id="6" name="object 6"/>
            <p:cNvPicPr/>
            <p:nvPr/>
          </p:nvPicPr>
          <p:blipFill>
            <a:blip r:embed="rId2" cstate="print"/>
            <a:stretch>
              <a:fillRect/>
            </a:stretch>
          </p:blipFill>
          <p:spPr>
            <a:xfrm>
              <a:off x="175259" y="227076"/>
              <a:ext cx="681227" cy="451090"/>
            </a:xfrm>
            <a:prstGeom prst="rect">
              <a:avLst/>
            </a:prstGeom>
          </p:spPr>
        </p:pic>
        <p:pic>
          <p:nvPicPr>
            <p:cNvPr id="7" name="object 7"/>
            <p:cNvPicPr/>
            <p:nvPr/>
          </p:nvPicPr>
          <p:blipFill>
            <a:blip r:embed="rId3" cstate="print"/>
            <a:stretch>
              <a:fillRect/>
            </a:stretch>
          </p:blipFill>
          <p:spPr>
            <a:xfrm>
              <a:off x="10908791" y="59435"/>
              <a:ext cx="786383" cy="786383"/>
            </a:xfrm>
            <a:prstGeom prst="rect">
              <a:avLst/>
            </a:prstGeom>
          </p:spPr>
        </p:pic>
      </p:grpSp>
      <p:sp>
        <p:nvSpPr>
          <p:cNvPr id="12" name="object 12"/>
          <p:cNvSpPr txBox="1"/>
          <p:nvPr/>
        </p:nvSpPr>
        <p:spPr>
          <a:xfrm>
            <a:off x="422863" y="1031175"/>
            <a:ext cx="8426918" cy="2656016"/>
          </a:xfrm>
          <a:prstGeom prst="rect">
            <a:avLst/>
          </a:prstGeom>
        </p:spPr>
        <p:txBody>
          <a:bodyPr vert="horz" wrap="square" lIns="0" tIns="9049" rIns="0" bIns="0" rtlCol="0" anchor="t">
            <a:spAutoFit/>
          </a:bodyPr>
          <a:lstStyle/>
          <a:p>
            <a:pPr marL="9525" defTabSz="685800">
              <a:spcBef>
                <a:spcPts val="1091"/>
              </a:spcBef>
              <a:tabLst>
                <a:tab pos="224314" algn="l"/>
              </a:tabLst>
            </a:pPr>
            <a:r>
              <a:rPr lang="en-US" sz="2000" b="1">
                <a:solidFill>
                  <a:srgbClr val="1F4E79"/>
                </a:solidFill>
              </a:rPr>
              <a:t>CONTRACT OVERVIEW – Acquisition Timeline </a:t>
            </a:r>
            <a:endParaRPr lang="en-US" sz="2000">
              <a:ea typeface="Calibri"/>
              <a:cs typeface="Calibri"/>
            </a:endParaRPr>
          </a:p>
          <a:p>
            <a:pPr marL="9525" defTabSz="685800">
              <a:spcBef>
                <a:spcPts val="1091"/>
              </a:spcBef>
              <a:tabLst>
                <a:tab pos="224314" algn="l"/>
              </a:tabLst>
            </a:pPr>
            <a:r>
              <a:rPr lang="en-US" sz="1500" kern="0">
                <a:solidFill>
                  <a:srgbClr val="393436"/>
                </a:solidFill>
                <a:latin typeface="Arial"/>
                <a:cs typeface="Arial"/>
              </a:rPr>
              <a:t>- </a:t>
            </a:r>
            <a:r>
              <a:rPr sz="1500" kern="0">
                <a:solidFill>
                  <a:srgbClr val="393436"/>
                </a:solidFill>
                <a:latin typeface="Arial"/>
                <a:cs typeface="Arial"/>
              </a:rPr>
              <a:t>Anticipated Milestones</a:t>
            </a:r>
            <a:r>
              <a:rPr lang="en-US" sz="1500" kern="0">
                <a:solidFill>
                  <a:srgbClr val="393436"/>
                </a:solidFill>
                <a:latin typeface="Arial"/>
                <a:cs typeface="Arial"/>
              </a:rPr>
              <a:t> </a:t>
            </a:r>
            <a:endParaRPr sz="1500" kern="0">
              <a:solidFill>
                <a:srgbClr val="393436"/>
              </a:solidFill>
              <a:latin typeface="Arial"/>
              <a:cs typeface="Arial"/>
            </a:endParaRPr>
          </a:p>
          <a:p>
            <a:pPr defTabSz="685800">
              <a:spcBef>
                <a:spcPts val="71"/>
              </a:spcBef>
              <a:buClr>
                <a:srgbClr val="393436"/>
              </a:buClr>
              <a:buFont typeface="Arial"/>
              <a:buChar char="•"/>
            </a:pPr>
            <a:endParaRPr sz="1500" kern="0">
              <a:solidFill>
                <a:srgbClr val="393436"/>
              </a:solidFill>
              <a:latin typeface="Arial"/>
              <a:cs typeface="Arial"/>
            </a:endParaRPr>
          </a:p>
          <a:p>
            <a:pPr marL="349885" lvl="1" indent="-125730" defTabSz="685800">
              <a:spcBef>
                <a:spcPts val="4"/>
              </a:spcBef>
              <a:buFontTx/>
              <a:buChar char="•"/>
              <a:tabLst>
                <a:tab pos="350044" algn="l"/>
              </a:tabLst>
            </a:pPr>
            <a:r>
              <a:rPr lang="en-US" sz="1600" b="1">
                <a:solidFill>
                  <a:srgbClr val="333333"/>
                </a:solidFill>
                <a:latin typeface="Arial" panose="020B0604020202020204" pitchFamily="34" charset="0"/>
                <a:cs typeface="Arial" panose="020B0604020202020204" pitchFamily="34" charset="0"/>
              </a:rPr>
              <a:t>Estimated </a:t>
            </a:r>
            <a:r>
              <a:rPr sz="1600" b="1">
                <a:solidFill>
                  <a:srgbClr val="333333"/>
                </a:solidFill>
                <a:latin typeface="Arial" panose="020B0604020202020204" pitchFamily="34" charset="0"/>
                <a:cs typeface="Arial" panose="020B0604020202020204" pitchFamily="34" charset="0"/>
              </a:rPr>
              <a:t>Advertisement </a:t>
            </a:r>
            <a:r>
              <a:rPr sz="1500" kern="0">
                <a:solidFill>
                  <a:srgbClr val="393436"/>
                </a:solidFill>
                <a:latin typeface="Arial" panose="020B0604020202020204" pitchFamily="34" charset="0"/>
                <a:cs typeface="Arial" panose="020B0604020202020204" pitchFamily="34" charset="0"/>
              </a:rPr>
              <a:t>– </a:t>
            </a:r>
            <a:r>
              <a:rPr lang="en-US" sz="1500" kern="0">
                <a:solidFill>
                  <a:srgbClr val="393436"/>
                </a:solidFill>
                <a:latin typeface="Arial" panose="020B0604020202020204" pitchFamily="34" charset="0"/>
                <a:cs typeface="Arial" panose="020B0604020202020204" pitchFamily="34" charset="0"/>
              </a:rPr>
              <a:t>Mon 6/29/26 </a:t>
            </a:r>
            <a:endParaRPr sz="1500" kern="0">
              <a:solidFill>
                <a:srgbClr val="393436"/>
              </a:solidFill>
              <a:latin typeface="Arial" panose="020B0604020202020204" pitchFamily="34" charset="0"/>
              <a:cs typeface="Arial" panose="020B0604020202020204" pitchFamily="34" charset="0"/>
            </a:endParaRPr>
          </a:p>
          <a:p>
            <a:pPr marL="349885" lvl="1" indent="-125730" defTabSz="685800">
              <a:spcBef>
                <a:spcPts val="4"/>
              </a:spcBef>
              <a:buFontTx/>
              <a:buChar char="•"/>
              <a:tabLst>
                <a:tab pos="350044" algn="l"/>
              </a:tabLst>
            </a:pPr>
            <a:r>
              <a:rPr lang="en-US" sz="1600" b="1">
                <a:solidFill>
                  <a:srgbClr val="333333"/>
                </a:solidFill>
                <a:latin typeface="Arial" panose="020B0604020202020204" pitchFamily="34" charset="0"/>
                <a:cs typeface="Arial" panose="020B0604020202020204" pitchFamily="34" charset="0"/>
              </a:rPr>
              <a:t>Estimated </a:t>
            </a:r>
            <a:r>
              <a:rPr sz="1600" b="1">
                <a:solidFill>
                  <a:srgbClr val="333333"/>
                </a:solidFill>
                <a:latin typeface="Arial" panose="020B0604020202020204" pitchFamily="34" charset="0"/>
                <a:cs typeface="Arial" panose="020B0604020202020204" pitchFamily="34" charset="0"/>
              </a:rPr>
              <a:t>Award </a:t>
            </a:r>
            <a:r>
              <a:rPr sz="1500" kern="0">
                <a:solidFill>
                  <a:srgbClr val="393436"/>
                </a:solidFill>
                <a:latin typeface="Arial" panose="020B0604020202020204" pitchFamily="34" charset="0"/>
                <a:cs typeface="Arial" panose="020B0604020202020204" pitchFamily="34" charset="0"/>
              </a:rPr>
              <a:t>– </a:t>
            </a:r>
            <a:r>
              <a:rPr lang="en-US" sz="1500" kern="0">
                <a:solidFill>
                  <a:srgbClr val="393436"/>
                </a:solidFill>
                <a:latin typeface="Arial" panose="020B0604020202020204" pitchFamily="34" charset="0"/>
                <a:cs typeface="Arial" panose="020B0604020202020204" pitchFamily="34" charset="0"/>
              </a:rPr>
              <a:t>Sun 2/20/28</a:t>
            </a:r>
            <a:endParaRPr sz="1500" kern="0">
              <a:solidFill>
                <a:srgbClr val="393436"/>
              </a:solidFill>
              <a:latin typeface="Arial" panose="020B0604020202020204" pitchFamily="34" charset="0"/>
              <a:cs typeface="Arial" panose="020B0604020202020204" pitchFamily="34" charset="0"/>
            </a:endParaRPr>
          </a:p>
          <a:p>
            <a:pPr marL="349885" lvl="1" indent="-125730" defTabSz="685800">
              <a:buFontTx/>
              <a:buChar char="•"/>
              <a:tabLst>
                <a:tab pos="350044" algn="l"/>
              </a:tabLst>
            </a:pPr>
            <a:r>
              <a:rPr lang="en-US" sz="1600" b="1">
                <a:solidFill>
                  <a:srgbClr val="333333"/>
                </a:solidFill>
                <a:latin typeface="Arial" panose="020B0604020202020204" pitchFamily="34" charset="0"/>
                <a:cs typeface="Arial" panose="020B0604020202020204" pitchFamily="34" charset="0"/>
              </a:rPr>
              <a:t>IDIQ Amount, NTE </a:t>
            </a:r>
            <a:r>
              <a:rPr lang="en-US" sz="1500" b="1" kern="0">
                <a:solidFill>
                  <a:srgbClr val="393436"/>
                </a:solidFill>
                <a:latin typeface="Arial" panose="020B0604020202020204" pitchFamily="34" charset="0"/>
                <a:cs typeface="Arial" panose="020B0604020202020204" pitchFamily="34" charset="0"/>
              </a:rPr>
              <a:t>-</a:t>
            </a:r>
            <a:r>
              <a:rPr lang="en-US" sz="1500" kern="0">
                <a:solidFill>
                  <a:srgbClr val="393436"/>
                </a:solidFill>
                <a:latin typeface="Arial" panose="020B0604020202020204" pitchFamily="34" charset="0"/>
                <a:cs typeface="Arial" panose="020B0604020202020204" pitchFamily="34" charset="0"/>
              </a:rPr>
              <a:t> $30M</a:t>
            </a:r>
          </a:p>
          <a:p>
            <a:pPr marL="349885" lvl="1" indent="-125730" defTabSz="685800">
              <a:buFontTx/>
              <a:buChar char="•"/>
              <a:tabLst>
                <a:tab pos="350044" algn="l"/>
              </a:tabLst>
            </a:pPr>
            <a:r>
              <a:rPr lang="en-US" sz="1600" b="1">
                <a:solidFill>
                  <a:srgbClr val="333333"/>
                </a:solidFill>
                <a:latin typeface="Arial" panose="020B0604020202020204" pitchFamily="34" charset="0"/>
                <a:cs typeface="Arial" panose="020B0604020202020204" pitchFamily="34" charset="0"/>
              </a:rPr>
              <a:t>Task Order Amount: </a:t>
            </a:r>
            <a:r>
              <a:rPr lang="en-US" sz="1500" kern="0">
                <a:solidFill>
                  <a:srgbClr val="393436"/>
                </a:solidFill>
                <a:latin typeface="Arial" panose="020B0604020202020204" pitchFamily="34" charset="0"/>
                <a:cs typeface="Arial" panose="020B0604020202020204" pitchFamily="34" charset="0"/>
              </a:rPr>
              <a:t>$2.5K - $5M Max per order</a:t>
            </a:r>
          </a:p>
          <a:p>
            <a:pPr marL="349885" lvl="1" indent="-125730" defTabSz="685800">
              <a:buFontTx/>
              <a:buChar char="•"/>
              <a:tabLst>
                <a:tab pos="350044" algn="l"/>
              </a:tabLst>
            </a:pPr>
            <a:r>
              <a:rPr lang="en-US" sz="1600" b="1">
                <a:solidFill>
                  <a:srgbClr val="333333"/>
                </a:solidFill>
                <a:latin typeface="Arial" panose="020B0604020202020204" pitchFamily="34" charset="0"/>
                <a:cs typeface="Arial" panose="020B0604020202020204" pitchFamily="34" charset="0"/>
              </a:rPr>
              <a:t>Guarantee Amounts: </a:t>
            </a:r>
            <a:r>
              <a:rPr lang="en-US" sz="1500" kern="0">
                <a:solidFill>
                  <a:srgbClr val="393436"/>
                </a:solidFill>
                <a:latin typeface="Arial" panose="020B0604020202020204" pitchFamily="34" charset="0"/>
                <a:cs typeface="Arial" panose="020B0604020202020204" pitchFamily="34" charset="0"/>
              </a:rPr>
              <a:t>$5K</a:t>
            </a:r>
          </a:p>
          <a:p>
            <a:pPr marL="349885" lvl="1" indent="-125730" defTabSz="685800">
              <a:buFontTx/>
              <a:buChar char="•"/>
              <a:tabLst>
                <a:tab pos="350044" algn="l"/>
              </a:tabLst>
            </a:pPr>
            <a:r>
              <a:rPr lang="en-US" sz="1600" b="1">
                <a:solidFill>
                  <a:srgbClr val="333333"/>
                </a:solidFill>
                <a:latin typeface="Arial" panose="020B0604020202020204" pitchFamily="34" charset="0"/>
                <a:cs typeface="Arial" panose="020B0604020202020204" pitchFamily="34" charset="0"/>
              </a:rPr>
              <a:t>Number of awards: </a:t>
            </a:r>
            <a:r>
              <a:rPr lang="en-US" sz="1500" kern="0">
                <a:solidFill>
                  <a:srgbClr val="393436"/>
                </a:solidFill>
                <a:latin typeface="Arial" panose="020B0604020202020204" pitchFamily="34" charset="0"/>
                <a:cs typeface="Arial" panose="020B0604020202020204" pitchFamily="34" charset="0"/>
              </a:rPr>
              <a:t>Target of 5 awards  </a:t>
            </a:r>
          </a:p>
          <a:p>
            <a:pPr marL="349885" lvl="1" indent="-125730" defTabSz="685800">
              <a:buFontTx/>
              <a:buChar char="•"/>
              <a:tabLst>
                <a:tab pos="350044" algn="l"/>
              </a:tabLst>
            </a:pPr>
            <a:r>
              <a:rPr sz="1600" b="1">
                <a:solidFill>
                  <a:srgbClr val="333333"/>
                </a:solidFill>
                <a:latin typeface="Arial" panose="020B0604020202020204" pitchFamily="34" charset="0"/>
                <a:cs typeface="Arial" panose="020B0604020202020204" pitchFamily="34" charset="0"/>
              </a:rPr>
              <a:t>Estimated Period of Performance: </a:t>
            </a:r>
            <a:r>
              <a:rPr lang="en-US" sz="1500" kern="0">
                <a:solidFill>
                  <a:srgbClr val="393436"/>
                </a:solidFill>
                <a:latin typeface="Arial" panose="020B0604020202020204" pitchFamily="34" charset="0"/>
                <a:cs typeface="Arial" panose="020B0604020202020204" pitchFamily="34" charset="0"/>
              </a:rPr>
              <a:t>60</a:t>
            </a:r>
            <a:r>
              <a:rPr sz="1500" kern="0">
                <a:solidFill>
                  <a:srgbClr val="393436"/>
                </a:solidFill>
                <a:latin typeface="Arial" panose="020B0604020202020204" pitchFamily="34" charset="0"/>
                <a:cs typeface="Arial" panose="020B0604020202020204" pitchFamily="34" charset="0"/>
              </a:rPr>
              <a:t> months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idx="4294967295"/>
          </p:nvPr>
        </p:nvSpPr>
        <p:spPr>
          <a:xfrm>
            <a:off x="620957" y="1110884"/>
            <a:ext cx="6492875" cy="460572"/>
          </a:xfrm>
          <a:prstGeom prst="rect">
            <a:avLst/>
          </a:prstGeom>
        </p:spPr>
        <p:txBody>
          <a:bodyPr vert="horz" wrap="square" lIns="0" tIns="90358" rIns="0" bIns="0" rtlCol="0" anchor="t">
            <a:spAutoFit/>
          </a:bodyPr>
          <a:lstStyle/>
          <a:p>
            <a:pPr marL="1179195">
              <a:spcBef>
                <a:spcPts val="75"/>
              </a:spcBef>
            </a:pPr>
            <a:r>
              <a:rPr sz="2400">
                <a:solidFill>
                  <a:srgbClr val="393436"/>
                </a:solidFill>
                <a:latin typeface="Arial"/>
                <a:cs typeface="Arial"/>
              </a:rPr>
              <a:t>HOW</a:t>
            </a:r>
            <a:r>
              <a:rPr sz="2400" spc="-38">
                <a:solidFill>
                  <a:srgbClr val="393436"/>
                </a:solidFill>
                <a:latin typeface="Arial"/>
                <a:cs typeface="Arial"/>
              </a:rPr>
              <a:t> </a:t>
            </a:r>
            <a:r>
              <a:rPr sz="2400">
                <a:solidFill>
                  <a:srgbClr val="393436"/>
                </a:solidFill>
                <a:latin typeface="Arial"/>
                <a:cs typeface="Arial"/>
              </a:rPr>
              <a:t>TO</a:t>
            </a:r>
            <a:r>
              <a:rPr sz="2400" spc="-34">
                <a:solidFill>
                  <a:srgbClr val="393436"/>
                </a:solidFill>
                <a:latin typeface="Arial"/>
                <a:cs typeface="Arial"/>
              </a:rPr>
              <a:t> </a:t>
            </a:r>
            <a:r>
              <a:rPr sz="2400">
                <a:solidFill>
                  <a:srgbClr val="393436"/>
                </a:solidFill>
                <a:latin typeface="Arial"/>
                <a:cs typeface="Arial"/>
              </a:rPr>
              <a:t>SUBMIT</a:t>
            </a:r>
            <a:r>
              <a:rPr sz="2400" spc="-38">
                <a:solidFill>
                  <a:srgbClr val="393436"/>
                </a:solidFill>
                <a:latin typeface="Arial"/>
                <a:cs typeface="Arial"/>
              </a:rPr>
              <a:t> </a:t>
            </a:r>
            <a:r>
              <a:rPr sz="2400" spc="-8">
                <a:solidFill>
                  <a:srgbClr val="393436"/>
                </a:solidFill>
                <a:latin typeface="Arial"/>
                <a:cs typeface="Arial"/>
              </a:rPr>
              <a:t>QUESTIONS</a:t>
            </a:r>
          </a:p>
        </p:txBody>
      </p:sp>
      <p:sp>
        <p:nvSpPr>
          <p:cNvPr id="6" name="object 6"/>
          <p:cNvSpPr txBox="1"/>
          <p:nvPr/>
        </p:nvSpPr>
        <p:spPr>
          <a:xfrm>
            <a:off x="1087655" y="2021080"/>
            <a:ext cx="7093939" cy="1633139"/>
          </a:xfrm>
          <a:prstGeom prst="rect">
            <a:avLst/>
          </a:prstGeom>
        </p:spPr>
        <p:txBody>
          <a:bodyPr vert="horz" wrap="square" lIns="0" tIns="123825" rIns="0" bIns="0" rtlCol="0">
            <a:spAutoFit/>
          </a:bodyPr>
          <a:lstStyle/>
          <a:p>
            <a:pPr marL="266224" indent="-256699" defTabSz="685800">
              <a:spcBef>
                <a:spcPts val="975"/>
              </a:spcBef>
              <a:buFontTx/>
              <a:buChar char="•"/>
              <a:tabLst>
                <a:tab pos="266224" algn="l"/>
              </a:tabLst>
            </a:pPr>
            <a:r>
              <a:rPr sz="1350" kern="0" dirty="0">
                <a:solidFill>
                  <a:srgbClr val="211F1F"/>
                </a:solidFill>
                <a:latin typeface="Arial"/>
                <a:cs typeface="Arial"/>
              </a:rPr>
              <a:t>All</a:t>
            </a:r>
            <a:r>
              <a:rPr sz="1350" kern="0" spc="-23" dirty="0">
                <a:solidFill>
                  <a:srgbClr val="211F1F"/>
                </a:solidFill>
                <a:latin typeface="Arial"/>
                <a:cs typeface="Arial"/>
              </a:rPr>
              <a:t> </a:t>
            </a:r>
            <a:r>
              <a:rPr sz="1350" kern="0" dirty="0">
                <a:solidFill>
                  <a:srgbClr val="211F1F"/>
                </a:solidFill>
                <a:latin typeface="Arial"/>
                <a:cs typeface="Arial"/>
              </a:rPr>
              <a:t>questions</a:t>
            </a:r>
            <a:r>
              <a:rPr sz="1350" kern="0" spc="-4" dirty="0">
                <a:solidFill>
                  <a:srgbClr val="211F1F"/>
                </a:solidFill>
                <a:latin typeface="Arial"/>
                <a:cs typeface="Arial"/>
              </a:rPr>
              <a:t> </a:t>
            </a:r>
            <a:r>
              <a:rPr sz="1350" kern="0" dirty="0">
                <a:solidFill>
                  <a:srgbClr val="211F1F"/>
                </a:solidFill>
                <a:latin typeface="Arial"/>
                <a:cs typeface="Arial"/>
              </a:rPr>
              <a:t>to</a:t>
            </a:r>
            <a:r>
              <a:rPr sz="1350" kern="0" spc="-30" dirty="0">
                <a:solidFill>
                  <a:srgbClr val="211F1F"/>
                </a:solidFill>
                <a:latin typeface="Arial"/>
                <a:cs typeface="Arial"/>
              </a:rPr>
              <a:t> </a:t>
            </a:r>
            <a:r>
              <a:rPr sz="1350" kern="0" dirty="0">
                <a:solidFill>
                  <a:srgbClr val="211F1F"/>
                </a:solidFill>
                <a:latin typeface="Arial"/>
                <a:cs typeface="Arial"/>
              </a:rPr>
              <a:t>be</a:t>
            </a:r>
            <a:r>
              <a:rPr sz="1350" kern="0" spc="-15" dirty="0">
                <a:solidFill>
                  <a:srgbClr val="211F1F"/>
                </a:solidFill>
                <a:latin typeface="Arial"/>
                <a:cs typeface="Arial"/>
              </a:rPr>
              <a:t> </a:t>
            </a:r>
            <a:r>
              <a:rPr sz="1350" kern="0" dirty="0">
                <a:solidFill>
                  <a:srgbClr val="211F1F"/>
                </a:solidFill>
                <a:latin typeface="Arial"/>
                <a:cs typeface="Arial"/>
              </a:rPr>
              <a:t>submitted</a:t>
            </a:r>
            <a:r>
              <a:rPr sz="1350" kern="0" spc="-23" dirty="0">
                <a:solidFill>
                  <a:srgbClr val="211F1F"/>
                </a:solidFill>
                <a:latin typeface="Arial"/>
                <a:cs typeface="Arial"/>
              </a:rPr>
              <a:t> </a:t>
            </a:r>
            <a:r>
              <a:rPr sz="1350" kern="0" dirty="0">
                <a:solidFill>
                  <a:srgbClr val="211F1F"/>
                </a:solidFill>
                <a:latin typeface="Arial"/>
                <a:cs typeface="Arial"/>
              </a:rPr>
              <a:t>through</a:t>
            </a:r>
            <a:r>
              <a:rPr sz="1350" kern="0" spc="-11" dirty="0">
                <a:solidFill>
                  <a:srgbClr val="211F1F"/>
                </a:solidFill>
                <a:latin typeface="Arial"/>
                <a:cs typeface="Arial"/>
              </a:rPr>
              <a:t> </a:t>
            </a:r>
            <a:r>
              <a:rPr sz="1350" kern="0" spc="-8" dirty="0" err="1">
                <a:solidFill>
                  <a:srgbClr val="211F1F"/>
                </a:solidFill>
                <a:latin typeface="Arial"/>
                <a:cs typeface="Arial"/>
              </a:rPr>
              <a:t>ProjNet</a:t>
            </a:r>
            <a:endParaRPr sz="1350" kern="0" dirty="0">
              <a:solidFill>
                <a:sysClr val="windowText" lastClr="000000"/>
              </a:solidFill>
              <a:latin typeface="Arial"/>
              <a:cs typeface="Arial"/>
            </a:endParaRPr>
          </a:p>
          <a:p>
            <a:pPr marL="266224" indent="-256699" defTabSz="685800">
              <a:spcBef>
                <a:spcPts val="900"/>
              </a:spcBef>
              <a:buFontTx/>
              <a:buChar char="•"/>
              <a:tabLst>
                <a:tab pos="266224" algn="l"/>
              </a:tabLst>
            </a:pPr>
            <a:r>
              <a:rPr sz="1350" kern="0" dirty="0">
                <a:solidFill>
                  <a:srgbClr val="211F1F"/>
                </a:solidFill>
                <a:latin typeface="Arial"/>
                <a:cs typeface="Arial"/>
              </a:rPr>
              <a:t>Deadline: </a:t>
            </a:r>
            <a:r>
              <a:rPr lang="en-US" sz="1350" kern="0" dirty="0">
                <a:solidFill>
                  <a:srgbClr val="211F1F"/>
                </a:solidFill>
                <a:latin typeface="Arial"/>
                <a:cs typeface="Arial"/>
              </a:rPr>
              <a:t>TBD </a:t>
            </a:r>
            <a:r>
              <a:rPr sz="1350" kern="0" spc="-26" dirty="0">
                <a:solidFill>
                  <a:srgbClr val="211F1F"/>
                </a:solidFill>
                <a:latin typeface="Arial"/>
                <a:cs typeface="Arial"/>
              </a:rPr>
              <a:t> </a:t>
            </a:r>
            <a:endParaRPr lang="en-US" sz="1350" kern="0" spc="-26" dirty="0">
              <a:solidFill>
                <a:srgbClr val="211F1F"/>
              </a:solidFill>
              <a:latin typeface="Arial"/>
              <a:cs typeface="Arial"/>
            </a:endParaRPr>
          </a:p>
          <a:p>
            <a:pPr marL="266224" indent="-256699" defTabSz="685800">
              <a:spcBef>
                <a:spcPts val="900"/>
              </a:spcBef>
              <a:buFontTx/>
              <a:buChar char="•"/>
              <a:tabLst>
                <a:tab pos="266224" algn="l"/>
              </a:tabLst>
            </a:pPr>
            <a:r>
              <a:rPr lang="en-US" sz="1350" kern="0" spc="-26" dirty="0">
                <a:solidFill>
                  <a:srgbClr val="211F1F"/>
                </a:solidFill>
                <a:latin typeface="Arial"/>
                <a:cs typeface="Arial"/>
              </a:rPr>
              <a:t>Name:</a:t>
            </a:r>
            <a:r>
              <a:rPr lang="en-US" sz="1400" b="1" kern="0" spc="-26" dirty="0">
                <a:solidFill>
                  <a:srgbClr val="211F1F"/>
                </a:solidFill>
                <a:latin typeface="Arial"/>
                <a:cs typeface="Arial"/>
              </a:rPr>
              <a:t> </a:t>
            </a:r>
            <a:r>
              <a:rPr lang="en-US" sz="1350" kern="0" dirty="0">
                <a:solidFill>
                  <a:srgbClr val="211F1F"/>
                </a:solidFill>
                <a:latin typeface="Arial"/>
                <a:cs typeface="Arial"/>
              </a:rPr>
              <a:t>Indefinite delivery contract for architect and engineering (A-E) services</a:t>
            </a:r>
          </a:p>
          <a:p>
            <a:pPr marL="609124" lvl="1" indent="-256699" defTabSz="685800">
              <a:spcBef>
                <a:spcPts val="900"/>
              </a:spcBef>
              <a:buFontTx/>
              <a:buChar char="•"/>
              <a:tabLst>
                <a:tab pos="609124" algn="l"/>
              </a:tabLst>
            </a:pPr>
            <a:r>
              <a:rPr sz="1350" kern="0" dirty="0">
                <a:solidFill>
                  <a:srgbClr val="211F1F"/>
                </a:solidFill>
                <a:latin typeface="Arial"/>
                <a:cs typeface="Arial"/>
              </a:rPr>
              <a:t>Solicitation</a:t>
            </a:r>
            <a:r>
              <a:rPr sz="1350" kern="0" spc="-26" dirty="0">
                <a:solidFill>
                  <a:srgbClr val="211F1F"/>
                </a:solidFill>
                <a:latin typeface="Arial"/>
                <a:cs typeface="Arial"/>
              </a:rPr>
              <a:t> </a:t>
            </a:r>
            <a:r>
              <a:rPr sz="1350" kern="0" dirty="0">
                <a:solidFill>
                  <a:srgbClr val="211F1F"/>
                </a:solidFill>
                <a:latin typeface="Arial"/>
                <a:cs typeface="Arial"/>
              </a:rPr>
              <a:t>Number:</a:t>
            </a:r>
            <a:r>
              <a:rPr sz="1350" kern="0" spc="-34" dirty="0">
                <a:solidFill>
                  <a:srgbClr val="211F1F"/>
                </a:solidFill>
                <a:latin typeface="Arial"/>
                <a:cs typeface="Arial"/>
              </a:rPr>
              <a:t> </a:t>
            </a:r>
            <a:r>
              <a:rPr lang="en-US" sz="1350" kern="0" spc="-34" dirty="0">
                <a:solidFill>
                  <a:srgbClr val="211F1F"/>
                </a:solidFill>
                <a:latin typeface="Arial"/>
                <a:cs typeface="Arial"/>
              </a:rPr>
              <a:t>W51DQV26RA0## </a:t>
            </a:r>
            <a:r>
              <a:rPr lang="en-US" sz="1350" kern="0" spc="-8" dirty="0">
                <a:solidFill>
                  <a:srgbClr val="211F1F"/>
                </a:solidFill>
                <a:latin typeface="Arial"/>
                <a:cs typeface="Arial"/>
              </a:rPr>
              <a:t>(Sample)</a:t>
            </a:r>
            <a:endParaRPr lang="en-US" sz="1350" u="sng" kern="0" spc="-34" dirty="0">
              <a:solidFill>
                <a:srgbClr val="211F1F"/>
              </a:solidFill>
              <a:latin typeface="Arial"/>
              <a:cs typeface="Arial"/>
            </a:endParaRPr>
          </a:p>
          <a:p>
            <a:pPr marL="609124" lvl="1" indent="-256699" defTabSz="685800">
              <a:spcBef>
                <a:spcPts val="900"/>
              </a:spcBef>
              <a:buFontTx/>
              <a:buChar char="•"/>
              <a:tabLst>
                <a:tab pos="609124" algn="l"/>
              </a:tabLst>
            </a:pPr>
            <a:r>
              <a:rPr sz="1350" kern="0" dirty="0">
                <a:solidFill>
                  <a:srgbClr val="211F1F"/>
                </a:solidFill>
                <a:latin typeface="Arial"/>
                <a:cs typeface="Arial"/>
              </a:rPr>
              <a:t>Bidder</a:t>
            </a:r>
            <a:r>
              <a:rPr sz="1350" kern="0" spc="-23" dirty="0">
                <a:solidFill>
                  <a:srgbClr val="211F1F"/>
                </a:solidFill>
                <a:latin typeface="Arial"/>
                <a:cs typeface="Arial"/>
              </a:rPr>
              <a:t> </a:t>
            </a:r>
            <a:r>
              <a:rPr sz="1350" kern="0" dirty="0">
                <a:solidFill>
                  <a:srgbClr val="211F1F"/>
                </a:solidFill>
                <a:latin typeface="Arial"/>
                <a:cs typeface="Arial"/>
              </a:rPr>
              <a:t>Inquiry</a:t>
            </a:r>
            <a:r>
              <a:rPr sz="1350" kern="0" spc="-19" dirty="0">
                <a:solidFill>
                  <a:srgbClr val="211F1F"/>
                </a:solidFill>
                <a:latin typeface="Arial"/>
                <a:cs typeface="Arial"/>
              </a:rPr>
              <a:t> </a:t>
            </a:r>
            <a:r>
              <a:rPr sz="1350" kern="0" dirty="0">
                <a:solidFill>
                  <a:srgbClr val="211F1F"/>
                </a:solidFill>
                <a:latin typeface="Arial"/>
                <a:cs typeface="Arial"/>
              </a:rPr>
              <a:t>Key:</a:t>
            </a:r>
            <a:r>
              <a:rPr sz="1350" kern="0" spc="-15" dirty="0">
                <a:solidFill>
                  <a:srgbClr val="211F1F"/>
                </a:solidFill>
                <a:latin typeface="Arial"/>
                <a:cs typeface="Arial"/>
              </a:rPr>
              <a:t> </a:t>
            </a:r>
            <a:r>
              <a:rPr sz="1350" kern="0" spc="-8" dirty="0">
                <a:solidFill>
                  <a:srgbClr val="211F1F"/>
                </a:solidFill>
                <a:latin typeface="Arial"/>
                <a:cs typeface="Arial"/>
              </a:rPr>
              <a:t>I7W97W-UH6XGS</a:t>
            </a:r>
            <a:r>
              <a:rPr lang="en-US" sz="1350" kern="0" spc="-8" dirty="0">
                <a:solidFill>
                  <a:srgbClr val="211F1F"/>
                </a:solidFill>
                <a:latin typeface="Arial"/>
                <a:cs typeface="Arial"/>
              </a:rPr>
              <a:t> (Sample)</a:t>
            </a:r>
          </a:p>
        </p:txBody>
      </p:sp>
      <p:sp>
        <p:nvSpPr>
          <p:cNvPr id="7" name="object 7"/>
          <p:cNvSpPr txBox="1"/>
          <p:nvPr/>
        </p:nvSpPr>
        <p:spPr>
          <a:xfrm>
            <a:off x="2329119" y="4103815"/>
            <a:ext cx="4204335" cy="217367"/>
          </a:xfrm>
          <a:prstGeom prst="rect">
            <a:avLst/>
          </a:prstGeom>
        </p:spPr>
        <p:txBody>
          <a:bodyPr vert="horz" wrap="square" lIns="0" tIns="9525" rIns="0" bIns="0" rtlCol="0">
            <a:spAutoFit/>
          </a:bodyPr>
          <a:lstStyle/>
          <a:p>
            <a:pPr marL="9525" defTabSz="685800">
              <a:spcBef>
                <a:spcPts val="75"/>
              </a:spcBef>
            </a:pPr>
            <a:r>
              <a:rPr sz="1350" kern="0" spc="-8">
                <a:solidFill>
                  <a:srgbClr val="00AFEF"/>
                </a:solidFill>
                <a:latin typeface="Arial"/>
                <a:cs typeface="Arial"/>
                <a:hlinkClick r:id="rId2"/>
              </a:rPr>
              <a:t>https://www.projnet.org/projnet/binKornHome/index.cfm</a:t>
            </a:r>
            <a:endParaRPr sz="1350" kern="0">
              <a:solidFill>
                <a:sysClr val="windowText" lastClr="000000"/>
              </a:solidFill>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1BA65-3163-A999-FBBB-FDEAB48027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771EE24-88C3-E988-2A5D-8AA75B122FDC}"/>
              </a:ext>
            </a:extLst>
          </p:cNvPr>
          <p:cNvSpPr/>
          <p:nvPr/>
        </p:nvSpPr>
        <p:spPr>
          <a:xfrm>
            <a:off x="251140" y="695466"/>
            <a:ext cx="8229600" cy="548640"/>
          </a:xfrm>
          <a:prstGeom prst="rect">
            <a:avLst/>
          </a:prstGeom>
          <a:noFill/>
          <a:ln/>
        </p:spPr>
        <p:txBody>
          <a:bodyPr wrap="square" rtlCol="0" anchor="t"/>
          <a:lstStyle/>
          <a:p>
            <a:pPr marL="0" indent="0">
              <a:buNone/>
            </a:pPr>
            <a:r>
              <a:rPr lang="en-US" sz="2400" b="1">
                <a:solidFill>
                  <a:srgbClr val="1F4E79"/>
                </a:solidFill>
              </a:rPr>
              <a:t>AREA OF RESPONSIBILITY</a:t>
            </a:r>
            <a:endParaRPr lang="en-US" sz="2400"/>
          </a:p>
        </p:txBody>
      </p:sp>
      <p:pic>
        <p:nvPicPr>
          <p:cNvPr id="11" name="Picture 10">
            <a:extLst>
              <a:ext uri="{FF2B5EF4-FFF2-40B4-BE49-F238E27FC236}">
                <a16:creationId xmlns:a16="http://schemas.microsoft.com/office/drawing/2014/main" id="{46F3EC41-0A77-7C4F-26F0-42712176A569}"/>
              </a:ext>
            </a:extLst>
          </p:cNvPr>
          <p:cNvPicPr>
            <a:picLocks noChangeAspect="1"/>
          </p:cNvPicPr>
          <p:nvPr/>
        </p:nvPicPr>
        <p:blipFill>
          <a:blip r:embed="rId3"/>
          <a:stretch>
            <a:fillRect/>
          </a:stretch>
        </p:blipFill>
        <p:spPr>
          <a:xfrm>
            <a:off x="523218" y="1320400"/>
            <a:ext cx="5373684" cy="3482326"/>
          </a:xfrm>
          <a:prstGeom prst="rect">
            <a:avLst/>
          </a:prstGeom>
          <a:ln>
            <a:solidFill>
              <a:srgbClr val="FF0000"/>
            </a:solidFill>
          </a:ln>
        </p:spPr>
      </p:pic>
      <p:pic>
        <p:nvPicPr>
          <p:cNvPr id="13" name="Picture 12">
            <a:extLst>
              <a:ext uri="{FF2B5EF4-FFF2-40B4-BE49-F238E27FC236}">
                <a16:creationId xmlns:a16="http://schemas.microsoft.com/office/drawing/2014/main" id="{9A5CC319-00BB-1728-58BC-3244F74AD409}"/>
              </a:ext>
            </a:extLst>
          </p:cNvPr>
          <p:cNvPicPr>
            <a:picLocks noChangeAspect="1"/>
          </p:cNvPicPr>
          <p:nvPr/>
        </p:nvPicPr>
        <p:blipFill>
          <a:blip r:embed="rId4"/>
          <a:stretch>
            <a:fillRect/>
          </a:stretch>
        </p:blipFill>
        <p:spPr>
          <a:xfrm>
            <a:off x="6397948" y="1039340"/>
            <a:ext cx="2311021" cy="2209438"/>
          </a:xfrm>
          <a:prstGeom prst="rect">
            <a:avLst/>
          </a:prstGeom>
        </p:spPr>
      </p:pic>
      <p:sp>
        <p:nvSpPr>
          <p:cNvPr id="14" name="Rectangle: Rounded Corners 13">
            <a:extLst>
              <a:ext uri="{FF2B5EF4-FFF2-40B4-BE49-F238E27FC236}">
                <a16:creationId xmlns:a16="http://schemas.microsoft.com/office/drawing/2014/main" id="{644137ED-EA32-6B66-8B84-CA7936279DD3}"/>
              </a:ext>
            </a:extLst>
          </p:cNvPr>
          <p:cNvSpPr/>
          <p:nvPr/>
        </p:nvSpPr>
        <p:spPr>
          <a:xfrm>
            <a:off x="7488145" y="1867282"/>
            <a:ext cx="327798" cy="30260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F2E3780-D92D-5158-FADC-4968A812C4AC}"/>
              </a:ext>
            </a:extLst>
          </p:cNvPr>
          <p:cNvSpPr txBox="1"/>
          <p:nvPr/>
        </p:nvSpPr>
        <p:spPr>
          <a:xfrm>
            <a:off x="523218" y="3879396"/>
            <a:ext cx="1799771" cy="923330"/>
          </a:xfrm>
          <a:prstGeom prst="rect">
            <a:avLst/>
          </a:prstGeom>
          <a:solidFill>
            <a:srgbClr val="FF0000">
              <a:alpha val="25000"/>
            </a:srgbClr>
          </a:solidFill>
          <a:ln>
            <a:solidFill>
              <a:srgbClr val="FF0000"/>
            </a:solidFill>
          </a:ln>
        </p:spPr>
        <p:txBody>
          <a:bodyPr wrap="square">
            <a:spAutoFit/>
          </a:bodyPr>
          <a:lstStyle/>
          <a:p>
            <a:r>
              <a:rPr lang="en-US" sz="1800" b="0" i="0" u="none" strike="noStrike" baseline="0">
                <a:solidFill>
                  <a:srgbClr val="C00000"/>
                </a:solidFill>
                <a:latin typeface="Arial" panose="020B0604020202020204" pitchFamily="34" charset="0"/>
              </a:rPr>
              <a:t> SAA </a:t>
            </a:r>
          </a:p>
          <a:p>
            <a:r>
              <a:rPr lang="en-US" sz="1800" b="0" i="0" u="none" strike="noStrike" baseline="0">
                <a:solidFill>
                  <a:srgbClr val="C00000"/>
                </a:solidFill>
                <a:latin typeface="Arial" panose="020B0604020202020204" pitchFamily="34" charset="0"/>
              </a:rPr>
              <a:t> Headquartered </a:t>
            </a:r>
          </a:p>
          <a:p>
            <a:r>
              <a:rPr lang="en-US" sz="1800" b="0" i="0" u="none" strike="noStrike" baseline="0">
                <a:solidFill>
                  <a:srgbClr val="C00000"/>
                </a:solidFill>
                <a:latin typeface="Arial" panose="020B0604020202020204" pitchFamily="34" charset="0"/>
              </a:rPr>
              <a:t> in Puerto Rico </a:t>
            </a:r>
          </a:p>
        </p:txBody>
      </p:sp>
      <p:cxnSp>
        <p:nvCxnSpPr>
          <p:cNvPr id="22" name="Straight Arrow Connector 21">
            <a:extLst>
              <a:ext uri="{FF2B5EF4-FFF2-40B4-BE49-F238E27FC236}">
                <a16:creationId xmlns:a16="http://schemas.microsoft.com/office/drawing/2014/main" id="{CE7C0113-E9F6-6B8F-F38C-84370E4F2375}"/>
              </a:ext>
            </a:extLst>
          </p:cNvPr>
          <p:cNvCxnSpPr/>
          <p:nvPr/>
        </p:nvCxnSpPr>
        <p:spPr>
          <a:xfrm flipV="1">
            <a:off x="2322989" y="3120571"/>
            <a:ext cx="2042951" cy="7588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6A218D4-9158-2F16-80EA-E8F715536904}"/>
              </a:ext>
            </a:extLst>
          </p:cNvPr>
          <p:cNvSpPr txBox="1"/>
          <p:nvPr/>
        </p:nvSpPr>
        <p:spPr>
          <a:xfrm>
            <a:off x="6360272" y="3418892"/>
            <a:ext cx="2583543" cy="369332"/>
          </a:xfrm>
          <a:prstGeom prst="rect">
            <a:avLst/>
          </a:prstGeom>
          <a:noFill/>
        </p:spPr>
        <p:txBody>
          <a:bodyPr wrap="square">
            <a:spAutoFit/>
          </a:bodyPr>
          <a:lstStyle/>
          <a:p>
            <a:pPr algn="ctr"/>
            <a:r>
              <a:rPr lang="en-US"/>
              <a:t>CARIBBEAN BASIN</a:t>
            </a:r>
          </a:p>
        </p:txBody>
      </p:sp>
      <p:cxnSp>
        <p:nvCxnSpPr>
          <p:cNvPr id="26" name="Straight Arrow Connector 25">
            <a:extLst>
              <a:ext uri="{FF2B5EF4-FFF2-40B4-BE49-F238E27FC236}">
                <a16:creationId xmlns:a16="http://schemas.microsoft.com/office/drawing/2014/main" id="{1BE33360-4AE8-204A-FB11-B27950754BCF}"/>
              </a:ext>
            </a:extLst>
          </p:cNvPr>
          <p:cNvCxnSpPr>
            <a:cxnSpLocks/>
          </p:cNvCxnSpPr>
          <p:nvPr/>
        </p:nvCxnSpPr>
        <p:spPr>
          <a:xfrm flipH="1">
            <a:off x="5896902" y="2144059"/>
            <a:ext cx="1591243" cy="51205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84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LOCATION OF WORK</a:t>
            </a:r>
            <a:endParaRPr lang="en-US" sz="2400"/>
          </a:p>
        </p:txBody>
      </p:sp>
      <p:sp>
        <p:nvSpPr>
          <p:cNvPr id="3" name="Text 1"/>
          <p:cNvSpPr/>
          <p:nvPr/>
        </p:nvSpPr>
        <p:spPr>
          <a:xfrm>
            <a:off x="457200" y="1645920"/>
            <a:ext cx="8229600" cy="2583180"/>
          </a:xfrm>
          <a:prstGeom prst="rect">
            <a:avLst/>
          </a:prstGeom>
          <a:noFill/>
          <a:ln/>
        </p:spPr>
        <p:txBody>
          <a:bodyPr wrap="square" rtlCol="0" anchor="t"/>
          <a:lstStyle/>
          <a:p>
            <a:pPr marL="342900" indent="-342900">
              <a:buSzPct val="100000"/>
              <a:buChar char="•"/>
            </a:pPr>
            <a:r>
              <a:rPr lang="en-US" sz="1600">
                <a:solidFill>
                  <a:srgbClr val="333333"/>
                </a:solidFill>
              </a:rPr>
              <a:t>Primary Area: Caribbean Basin, Commonwealth of Puerto Rico, U.S. Virgin Islands, and the Antilles</a:t>
            </a:r>
            <a:endParaRPr lang="en-US" sz="1600"/>
          </a:p>
          <a:p>
            <a:pPr marL="342900" indent="-342900">
              <a:buSzPct val="100000"/>
              <a:buChar char="•"/>
            </a:pPr>
            <a:r>
              <a:rPr lang="en-US" sz="1600">
                <a:solidFill>
                  <a:srgbClr val="333333"/>
                </a:solidFill>
              </a:rPr>
              <a:t>Secondary Area: The contract may be used to provide services to other South Atlantic Division (SAD) districts outside of the geographic boundaries of The UCASE Caribbean District. Commonwealth of Puerto Rico and the Antilles. (The contractor will have the right to refuse orders for services to be performed outside the geographic boundaries of The USACE Caribbean District.</a:t>
            </a:r>
            <a:endParaRPr lang="en-US" sz="1600"/>
          </a:p>
          <a:p>
            <a:pPr marL="342900" indent="-342900">
              <a:buSzPct val="100000"/>
              <a:buChar char="•"/>
            </a:pPr>
            <a:r>
              <a:rPr lang="en-US" sz="1600">
                <a:solidFill>
                  <a:srgbClr val="333333"/>
                </a:solidFill>
              </a:rPr>
              <a:t>Project Types: USACE Caribbean District assigned projects</a:t>
            </a:r>
            <a:endParaRPr lang="en-US" sz="1600"/>
          </a:p>
          <a:p>
            <a:pPr marL="342900" indent="-342900">
              <a:buSzPct val="100000"/>
              <a:buChar char="•"/>
            </a:pPr>
            <a:r>
              <a:rPr lang="en-US" sz="1600">
                <a:solidFill>
                  <a:srgbClr val="333333"/>
                </a:solidFill>
              </a:rPr>
              <a:t>Applications: Civil Works, Military Construction, and related projects</a:t>
            </a:r>
            <a:endParaRPr 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AB6E7C6-A8EE-85E2-9874-C85D5B74CDB6}"/>
              </a:ext>
            </a:extLst>
          </p:cNvPr>
          <p:cNvSpPr/>
          <p:nvPr/>
        </p:nvSpPr>
        <p:spPr>
          <a:xfrm>
            <a:off x="178059" y="695466"/>
            <a:ext cx="3878580" cy="548640"/>
          </a:xfrm>
          <a:prstGeom prst="rect">
            <a:avLst/>
          </a:prstGeom>
          <a:noFill/>
          <a:ln/>
        </p:spPr>
        <p:txBody>
          <a:bodyPr wrap="square" rtlCol="0" anchor="t"/>
          <a:lstStyle/>
          <a:p>
            <a:pPr marL="0" indent="0">
              <a:buNone/>
            </a:pPr>
            <a:r>
              <a:rPr lang="en-US" sz="2400" b="1">
                <a:solidFill>
                  <a:srgbClr val="1F4E79"/>
                </a:solidFill>
              </a:rPr>
              <a:t>Types of Projects Supported.</a:t>
            </a:r>
            <a:endParaRPr lang="en-US" sz="2400"/>
          </a:p>
        </p:txBody>
      </p:sp>
      <p:pic>
        <p:nvPicPr>
          <p:cNvPr id="5" name="Picture 4">
            <a:extLst>
              <a:ext uri="{FF2B5EF4-FFF2-40B4-BE49-F238E27FC236}">
                <a16:creationId xmlns:a16="http://schemas.microsoft.com/office/drawing/2014/main" id="{3412D74F-CEA2-C8F2-C84C-D167C63CC607}"/>
              </a:ext>
            </a:extLst>
          </p:cNvPr>
          <p:cNvPicPr>
            <a:picLocks noChangeAspect="1"/>
          </p:cNvPicPr>
          <p:nvPr/>
        </p:nvPicPr>
        <p:blipFill>
          <a:blip r:embed="rId2"/>
          <a:stretch>
            <a:fillRect/>
          </a:stretch>
        </p:blipFill>
        <p:spPr>
          <a:xfrm>
            <a:off x="178061" y="3644933"/>
            <a:ext cx="2969000" cy="1381911"/>
          </a:xfrm>
          <a:prstGeom prst="rect">
            <a:avLst/>
          </a:prstGeom>
        </p:spPr>
      </p:pic>
      <p:sp>
        <p:nvSpPr>
          <p:cNvPr id="7" name="TextBox 6">
            <a:extLst>
              <a:ext uri="{FF2B5EF4-FFF2-40B4-BE49-F238E27FC236}">
                <a16:creationId xmlns:a16="http://schemas.microsoft.com/office/drawing/2014/main" id="{8DE8E48D-9014-B866-7EDA-733E6A28958C}"/>
              </a:ext>
            </a:extLst>
          </p:cNvPr>
          <p:cNvSpPr txBox="1"/>
          <p:nvPr/>
        </p:nvSpPr>
        <p:spPr>
          <a:xfrm>
            <a:off x="3206652" y="4780623"/>
            <a:ext cx="2466304" cy="246221"/>
          </a:xfrm>
          <a:prstGeom prst="rect">
            <a:avLst/>
          </a:prstGeom>
          <a:noFill/>
        </p:spPr>
        <p:txBody>
          <a:bodyPr wrap="square">
            <a:spAutoFit/>
          </a:bodyPr>
          <a:lstStyle/>
          <a:p>
            <a:r>
              <a:rPr lang="en-US" sz="1000" b="1"/>
              <a:t>Río de la Plata Channel Bank Stabilization</a:t>
            </a:r>
          </a:p>
        </p:txBody>
      </p:sp>
      <p:pic>
        <p:nvPicPr>
          <p:cNvPr id="9" name="Picture 8">
            <a:extLst>
              <a:ext uri="{FF2B5EF4-FFF2-40B4-BE49-F238E27FC236}">
                <a16:creationId xmlns:a16="http://schemas.microsoft.com/office/drawing/2014/main" id="{6ECCE081-0C36-E702-3C04-4CFA0C35CE99}"/>
              </a:ext>
            </a:extLst>
          </p:cNvPr>
          <p:cNvPicPr>
            <a:picLocks noChangeAspect="1"/>
          </p:cNvPicPr>
          <p:nvPr/>
        </p:nvPicPr>
        <p:blipFill>
          <a:blip r:embed="rId3"/>
          <a:stretch>
            <a:fillRect/>
          </a:stretch>
        </p:blipFill>
        <p:spPr>
          <a:xfrm>
            <a:off x="4822166" y="790314"/>
            <a:ext cx="3472613" cy="1863622"/>
          </a:xfrm>
          <a:prstGeom prst="rect">
            <a:avLst/>
          </a:prstGeom>
        </p:spPr>
      </p:pic>
      <p:sp>
        <p:nvSpPr>
          <p:cNvPr id="11" name="TextBox 10">
            <a:extLst>
              <a:ext uri="{FF2B5EF4-FFF2-40B4-BE49-F238E27FC236}">
                <a16:creationId xmlns:a16="http://schemas.microsoft.com/office/drawing/2014/main" id="{1AEFAA14-9C5D-5E61-40B7-8EAA0D4EF016}"/>
              </a:ext>
            </a:extLst>
          </p:cNvPr>
          <p:cNvSpPr txBox="1"/>
          <p:nvPr/>
        </p:nvSpPr>
        <p:spPr>
          <a:xfrm>
            <a:off x="4715769" y="2637589"/>
            <a:ext cx="3250345" cy="246221"/>
          </a:xfrm>
          <a:prstGeom prst="rect">
            <a:avLst/>
          </a:prstGeom>
          <a:noFill/>
        </p:spPr>
        <p:txBody>
          <a:bodyPr wrap="square">
            <a:spAutoFit/>
          </a:bodyPr>
          <a:lstStyle/>
          <a:p>
            <a:r>
              <a:rPr lang="en-US" sz="1000" b="1"/>
              <a:t>Río Puerto Nuevo Roosevelt Avenue Bridge Replacement</a:t>
            </a:r>
          </a:p>
        </p:txBody>
      </p:sp>
      <p:pic>
        <p:nvPicPr>
          <p:cNvPr id="13" name="Picture 12">
            <a:extLst>
              <a:ext uri="{FF2B5EF4-FFF2-40B4-BE49-F238E27FC236}">
                <a16:creationId xmlns:a16="http://schemas.microsoft.com/office/drawing/2014/main" id="{01363A0B-817A-8605-1399-2ECB7B64C354}"/>
              </a:ext>
            </a:extLst>
          </p:cNvPr>
          <p:cNvPicPr>
            <a:picLocks noChangeAspect="1"/>
          </p:cNvPicPr>
          <p:nvPr/>
        </p:nvPicPr>
        <p:blipFill>
          <a:blip r:embed="rId4"/>
          <a:stretch>
            <a:fillRect/>
          </a:stretch>
        </p:blipFill>
        <p:spPr>
          <a:xfrm>
            <a:off x="6125655" y="2883810"/>
            <a:ext cx="2466304" cy="1928409"/>
          </a:xfrm>
          <a:prstGeom prst="rect">
            <a:avLst/>
          </a:prstGeom>
        </p:spPr>
      </p:pic>
      <p:sp>
        <p:nvSpPr>
          <p:cNvPr id="15" name="TextBox 14">
            <a:extLst>
              <a:ext uri="{FF2B5EF4-FFF2-40B4-BE49-F238E27FC236}">
                <a16:creationId xmlns:a16="http://schemas.microsoft.com/office/drawing/2014/main" id="{9F65FA20-0E14-0087-7A64-8B6D8DD166B1}"/>
              </a:ext>
            </a:extLst>
          </p:cNvPr>
          <p:cNvSpPr txBox="1"/>
          <p:nvPr/>
        </p:nvSpPr>
        <p:spPr>
          <a:xfrm>
            <a:off x="5148142" y="3848014"/>
            <a:ext cx="1049628" cy="246221"/>
          </a:xfrm>
          <a:prstGeom prst="rect">
            <a:avLst/>
          </a:prstGeom>
          <a:noFill/>
        </p:spPr>
        <p:txBody>
          <a:bodyPr wrap="square">
            <a:spAutoFit/>
          </a:bodyPr>
          <a:lstStyle/>
          <a:p>
            <a:r>
              <a:rPr lang="en-US" sz="1000" b="1"/>
              <a:t>Dredging Work</a:t>
            </a:r>
          </a:p>
        </p:txBody>
      </p:sp>
      <p:pic>
        <p:nvPicPr>
          <p:cNvPr id="17" name="Picture 16">
            <a:extLst>
              <a:ext uri="{FF2B5EF4-FFF2-40B4-BE49-F238E27FC236}">
                <a16:creationId xmlns:a16="http://schemas.microsoft.com/office/drawing/2014/main" id="{FE66A26A-406A-9ED9-3C7C-B1745779319A}"/>
              </a:ext>
            </a:extLst>
          </p:cNvPr>
          <p:cNvPicPr>
            <a:picLocks noChangeAspect="1"/>
          </p:cNvPicPr>
          <p:nvPr/>
        </p:nvPicPr>
        <p:blipFill>
          <a:blip r:embed="rId5"/>
          <a:stretch>
            <a:fillRect/>
          </a:stretch>
        </p:blipFill>
        <p:spPr>
          <a:xfrm>
            <a:off x="121920" y="1177183"/>
            <a:ext cx="3185160" cy="2405185"/>
          </a:xfrm>
          <a:prstGeom prst="rect">
            <a:avLst/>
          </a:prstGeom>
        </p:spPr>
      </p:pic>
      <p:sp>
        <p:nvSpPr>
          <p:cNvPr id="19" name="TextBox 18">
            <a:extLst>
              <a:ext uri="{FF2B5EF4-FFF2-40B4-BE49-F238E27FC236}">
                <a16:creationId xmlns:a16="http://schemas.microsoft.com/office/drawing/2014/main" id="{EBDC4D83-A4A3-FF12-4240-452CCAD080B9}"/>
              </a:ext>
            </a:extLst>
          </p:cNvPr>
          <p:cNvSpPr txBox="1"/>
          <p:nvPr/>
        </p:nvSpPr>
        <p:spPr>
          <a:xfrm>
            <a:off x="3363219" y="1215916"/>
            <a:ext cx="1177290" cy="246221"/>
          </a:xfrm>
          <a:prstGeom prst="rect">
            <a:avLst/>
          </a:prstGeom>
          <a:noFill/>
        </p:spPr>
        <p:txBody>
          <a:bodyPr wrap="square">
            <a:spAutoFit/>
          </a:bodyPr>
          <a:lstStyle/>
          <a:p>
            <a:r>
              <a:rPr lang="en-US" sz="1000" b="1"/>
              <a:t>RIO GUANAJIBO</a:t>
            </a:r>
          </a:p>
        </p:txBody>
      </p:sp>
    </p:spTree>
    <p:extLst>
      <p:ext uri="{BB962C8B-B14F-4D97-AF65-F5344CB8AC3E}">
        <p14:creationId xmlns:p14="http://schemas.microsoft.com/office/powerpoint/2010/main" val="323374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042E6-2126-8B1E-FA1C-639CE669C53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159B0A2-8255-EF08-0CAF-0C7A032002CE}"/>
              </a:ext>
            </a:extLst>
          </p:cNvPr>
          <p:cNvSpPr/>
          <p:nvPr/>
        </p:nvSpPr>
        <p:spPr>
          <a:xfrm>
            <a:off x="457200" y="695466"/>
            <a:ext cx="8229600" cy="548640"/>
          </a:xfrm>
          <a:prstGeom prst="rect">
            <a:avLst/>
          </a:prstGeom>
          <a:noFill/>
          <a:ln/>
        </p:spPr>
        <p:txBody>
          <a:bodyPr wrap="square" rtlCol="0" anchor="t"/>
          <a:lstStyle/>
          <a:p>
            <a:pPr marL="0" indent="0">
              <a:buNone/>
            </a:pPr>
            <a:r>
              <a:rPr lang="en-US" sz="2400" b="1">
                <a:solidFill>
                  <a:srgbClr val="1F4E79"/>
                </a:solidFill>
              </a:rPr>
              <a:t>Types of Projects Supported.</a:t>
            </a:r>
            <a:endParaRPr lang="en-US" sz="2400"/>
          </a:p>
        </p:txBody>
      </p:sp>
      <p:pic>
        <p:nvPicPr>
          <p:cNvPr id="4" name="Picture 3">
            <a:extLst>
              <a:ext uri="{FF2B5EF4-FFF2-40B4-BE49-F238E27FC236}">
                <a16:creationId xmlns:a16="http://schemas.microsoft.com/office/drawing/2014/main" id="{45BB95E2-E44C-C8D4-CD17-DF54AC33D4A0}"/>
              </a:ext>
            </a:extLst>
          </p:cNvPr>
          <p:cNvPicPr>
            <a:picLocks noChangeAspect="1"/>
          </p:cNvPicPr>
          <p:nvPr/>
        </p:nvPicPr>
        <p:blipFill>
          <a:blip r:embed="rId2"/>
          <a:stretch>
            <a:fillRect/>
          </a:stretch>
        </p:blipFill>
        <p:spPr>
          <a:xfrm>
            <a:off x="457200" y="1097496"/>
            <a:ext cx="3912121" cy="3725549"/>
          </a:xfrm>
          <a:prstGeom prst="rect">
            <a:avLst/>
          </a:prstGeom>
        </p:spPr>
      </p:pic>
      <p:sp>
        <p:nvSpPr>
          <p:cNvPr id="8" name="TextBox 7">
            <a:extLst>
              <a:ext uri="{FF2B5EF4-FFF2-40B4-BE49-F238E27FC236}">
                <a16:creationId xmlns:a16="http://schemas.microsoft.com/office/drawing/2014/main" id="{CE40CB57-6AE7-5A2F-190D-4496B2E0C422}"/>
              </a:ext>
            </a:extLst>
          </p:cNvPr>
          <p:cNvSpPr txBox="1"/>
          <p:nvPr/>
        </p:nvSpPr>
        <p:spPr>
          <a:xfrm>
            <a:off x="457200" y="4823045"/>
            <a:ext cx="1310640" cy="246221"/>
          </a:xfrm>
          <a:prstGeom prst="rect">
            <a:avLst/>
          </a:prstGeom>
          <a:noFill/>
        </p:spPr>
        <p:txBody>
          <a:bodyPr wrap="square">
            <a:spAutoFit/>
          </a:bodyPr>
          <a:lstStyle/>
          <a:p>
            <a:r>
              <a:rPr lang="en-US" sz="1000" b="1"/>
              <a:t>RIO PUERTO NUEVO</a:t>
            </a:r>
          </a:p>
        </p:txBody>
      </p:sp>
      <p:pic>
        <p:nvPicPr>
          <p:cNvPr id="12" name="Picture 11">
            <a:extLst>
              <a:ext uri="{FF2B5EF4-FFF2-40B4-BE49-F238E27FC236}">
                <a16:creationId xmlns:a16="http://schemas.microsoft.com/office/drawing/2014/main" id="{B411AFEE-ABE8-46C8-BE4D-789422D27D09}"/>
              </a:ext>
            </a:extLst>
          </p:cNvPr>
          <p:cNvPicPr>
            <a:picLocks noChangeAspect="1"/>
          </p:cNvPicPr>
          <p:nvPr/>
        </p:nvPicPr>
        <p:blipFill>
          <a:blip r:embed="rId3"/>
          <a:stretch>
            <a:fillRect/>
          </a:stretch>
        </p:blipFill>
        <p:spPr>
          <a:xfrm>
            <a:off x="5335849" y="777041"/>
            <a:ext cx="2874250" cy="4046004"/>
          </a:xfrm>
          <a:prstGeom prst="rect">
            <a:avLst/>
          </a:prstGeom>
        </p:spPr>
      </p:pic>
      <p:sp>
        <p:nvSpPr>
          <p:cNvPr id="16" name="TextBox 15">
            <a:extLst>
              <a:ext uri="{FF2B5EF4-FFF2-40B4-BE49-F238E27FC236}">
                <a16:creationId xmlns:a16="http://schemas.microsoft.com/office/drawing/2014/main" id="{F16623CE-B735-1C34-703E-6BB75AABC477}"/>
              </a:ext>
            </a:extLst>
          </p:cNvPr>
          <p:cNvSpPr txBox="1"/>
          <p:nvPr/>
        </p:nvSpPr>
        <p:spPr>
          <a:xfrm>
            <a:off x="5335849" y="4823045"/>
            <a:ext cx="1219200" cy="246221"/>
          </a:xfrm>
          <a:prstGeom prst="rect">
            <a:avLst/>
          </a:prstGeom>
          <a:noFill/>
        </p:spPr>
        <p:txBody>
          <a:bodyPr wrap="square">
            <a:spAutoFit/>
          </a:bodyPr>
          <a:lstStyle/>
          <a:p>
            <a:r>
              <a:rPr lang="en-US" sz="1000" b="1"/>
              <a:t>RIO GUAYANILLA</a:t>
            </a:r>
          </a:p>
        </p:txBody>
      </p:sp>
    </p:spTree>
    <p:extLst>
      <p:ext uri="{BB962C8B-B14F-4D97-AF65-F5344CB8AC3E}">
        <p14:creationId xmlns:p14="http://schemas.microsoft.com/office/powerpoint/2010/main" val="2823137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800100"/>
            <a:ext cx="8229600" cy="548640"/>
          </a:xfrm>
          <a:prstGeom prst="rect">
            <a:avLst/>
          </a:prstGeom>
          <a:noFill/>
          <a:ln/>
        </p:spPr>
        <p:txBody>
          <a:bodyPr wrap="square" rtlCol="0" anchor="t"/>
          <a:lstStyle/>
          <a:p>
            <a:pPr marL="0" indent="0">
              <a:buNone/>
            </a:pPr>
            <a:r>
              <a:rPr lang="en-US" sz="2400" b="1">
                <a:solidFill>
                  <a:srgbClr val="1F4E79"/>
                </a:solidFill>
              </a:rPr>
              <a:t>TECHNICAL CRITERIA AND STANDARDS</a:t>
            </a:r>
            <a:endParaRPr lang="en-US" sz="2400"/>
          </a:p>
        </p:txBody>
      </p:sp>
      <p:sp>
        <p:nvSpPr>
          <p:cNvPr id="3" name="Text 1"/>
          <p:cNvSpPr/>
          <p:nvPr/>
        </p:nvSpPr>
        <p:spPr>
          <a:xfrm>
            <a:off x="457200" y="1236607"/>
            <a:ext cx="8229600" cy="3537806"/>
          </a:xfrm>
          <a:prstGeom prst="rect">
            <a:avLst/>
          </a:prstGeom>
          <a:noFill/>
          <a:ln/>
        </p:spPr>
        <p:txBody>
          <a:bodyPr wrap="square" rtlCol="0" anchor="t"/>
          <a:lstStyle/>
          <a:p>
            <a:pPr marL="342900" indent="-342900">
              <a:buSzPct val="100000"/>
              <a:buFontTx/>
              <a:buChar char="•"/>
            </a:pPr>
            <a:r>
              <a:rPr lang="en-US" sz="1400">
                <a:solidFill>
                  <a:srgbClr val="333333"/>
                </a:solidFill>
              </a:rPr>
              <a:t>USACE ER_5-1-11, USACE Business Process</a:t>
            </a:r>
          </a:p>
          <a:p>
            <a:pPr marL="342900" indent="-342900">
              <a:buSzPct val="100000"/>
              <a:buChar char="•"/>
            </a:pPr>
            <a:r>
              <a:rPr lang="en-US" sz="1400">
                <a:solidFill>
                  <a:srgbClr val="333333"/>
                </a:solidFill>
              </a:rPr>
              <a:t>USACE EM 385-1-1, SAFETY AND HEALTH REQUIREMENTS</a:t>
            </a:r>
          </a:p>
          <a:p>
            <a:pPr marL="342900" indent="-342900">
              <a:buSzPct val="100000"/>
              <a:buChar char="•"/>
            </a:pPr>
            <a:r>
              <a:rPr lang="en-US" sz="1400">
                <a:solidFill>
                  <a:srgbClr val="333333"/>
                </a:solidFill>
              </a:rPr>
              <a:t>USACE EM 405-1-03, Real State Geospatial Data and Mapping</a:t>
            </a:r>
          </a:p>
          <a:p>
            <a:pPr marL="342900" indent="-342900">
              <a:buSzPct val="100000"/>
              <a:buChar char="•"/>
            </a:pPr>
            <a:r>
              <a:rPr lang="en-US" sz="1400">
                <a:solidFill>
                  <a:srgbClr val="333333"/>
                </a:solidFill>
              </a:rPr>
              <a:t>USACE EM 1110-1-1000, Photogrammetric and LiDAR Mapping</a:t>
            </a:r>
          </a:p>
          <a:p>
            <a:pPr marL="342900" indent="-342900">
              <a:buSzPct val="100000"/>
              <a:buChar char="•"/>
            </a:pPr>
            <a:r>
              <a:rPr lang="en-US" sz="1400">
                <a:solidFill>
                  <a:srgbClr val="333333"/>
                </a:solidFill>
              </a:rPr>
              <a:t>USACE EM 1110-1-1002 Survey Markers and Monumentation</a:t>
            </a:r>
          </a:p>
          <a:p>
            <a:pPr marL="342900" indent="-342900">
              <a:buSzPct val="100000"/>
              <a:buFontTx/>
              <a:buChar char="•"/>
            </a:pPr>
            <a:r>
              <a:rPr lang="en-US" sz="1400">
                <a:solidFill>
                  <a:srgbClr val="333333"/>
                </a:solidFill>
              </a:rPr>
              <a:t>USACE EM 1110-1-1003 NAVSTAR Global Positioning System Surveying</a:t>
            </a:r>
          </a:p>
          <a:p>
            <a:pPr marL="342900" indent="-342900">
              <a:buSzPct val="100000"/>
              <a:buFontTx/>
              <a:buChar char="•"/>
            </a:pPr>
            <a:r>
              <a:rPr lang="en-US" sz="1400">
                <a:solidFill>
                  <a:srgbClr val="333333"/>
                </a:solidFill>
              </a:rPr>
              <a:t>USACE EM 1110-1-1005 Control and Topographic Surveying</a:t>
            </a:r>
          </a:p>
          <a:p>
            <a:pPr marL="342900" indent="-342900">
              <a:buSzPct val="100000"/>
              <a:buChar char="•"/>
            </a:pPr>
            <a:r>
              <a:rPr lang="en-US" sz="1400">
                <a:solidFill>
                  <a:srgbClr val="333333"/>
                </a:solidFill>
              </a:rPr>
              <a:t>USACE EM 1110-1-2909 Geospatial Data and Systems</a:t>
            </a:r>
          </a:p>
          <a:p>
            <a:pPr marL="342900" indent="-342900">
              <a:buSzPct val="100000"/>
              <a:buChar char="•"/>
            </a:pPr>
            <a:r>
              <a:rPr lang="pt-BR" sz="1400">
                <a:solidFill>
                  <a:srgbClr val="333333"/>
                </a:solidFill>
              </a:rPr>
              <a:t>USACE EM 1110-1-2910 Remote Sensing</a:t>
            </a:r>
          </a:p>
          <a:p>
            <a:pPr marL="342900" indent="-342900">
              <a:buSzPct val="100000"/>
              <a:buFontTx/>
              <a:buChar char="•"/>
            </a:pPr>
            <a:r>
              <a:rPr lang="en-US" sz="1400">
                <a:solidFill>
                  <a:srgbClr val="333333"/>
                </a:solidFill>
              </a:rPr>
              <a:t>USACE EM 1110-2-1003:Hydrographic Surveying</a:t>
            </a:r>
            <a:endParaRPr lang="en-US" sz="1400"/>
          </a:p>
          <a:p>
            <a:pPr marL="342900" indent="-342900">
              <a:buSzPct val="100000"/>
              <a:buChar char="•"/>
            </a:pPr>
            <a:r>
              <a:rPr lang="en-US" sz="1400">
                <a:solidFill>
                  <a:srgbClr val="333333"/>
                </a:solidFill>
              </a:rPr>
              <a:t>USACE EM 1110-2-1009 Structural Deformation Surveying</a:t>
            </a:r>
          </a:p>
          <a:p>
            <a:pPr marL="342900" indent="-342900">
              <a:buSzPct val="100000"/>
              <a:buChar char="•"/>
            </a:pPr>
            <a:r>
              <a:rPr lang="en-US" sz="1400">
                <a:solidFill>
                  <a:srgbClr val="333333"/>
                </a:solidFill>
              </a:rPr>
              <a:t>USACE EM 1110-2-6056 Standards and Procedures for Referencing Project Evaluation Grades to Nationwide Vertical Datums</a:t>
            </a:r>
          </a:p>
          <a:p>
            <a:pPr marL="342900" indent="-342900">
              <a:buSzPct val="100000"/>
              <a:buChar char="•"/>
            </a:pPr>
            <a:r>
              <a:rPr lang="en-US" sz="1400">
                <a:solidFill>
                  <a:srgbClr val="333333"/>
                </a:solidFill>
              </a:rPr>
              <a:t>Federal Acquisition Regulation 31.205-46 Travel Cost</a:t>
            </a:r>
            <a:endParaRPr lang="en-US" sz="1400"/>
          </a:p>
          <a:p>
            <a:pPr marL="342900" indent="-342900">
              <a:buSzPct val="100000"/>
              <a:buChar char="•"/>
            </a:pPr>
            <a:r>
              <a:rPr lang="en-US" sz="1400">
                <a:solidFill>
                  <a:srgbClr val="333333"/>
                </a:solidFill>
              </a:rPr>
              <a:t>Federal Geographic Data Committee (FGDC) Standards</a:t>
            </a:r>
            <a:endParaRPr lang="en-US" sz="1400"/>
          </a:p>
          <a:p>
            <a:pPr marL="342900" indent="-342900">
              <a:buSzPct val="100000"/>
              <a:buChar char="•"/>
            </a:pPr>
            <a:r>
              <a:rPr lang="en-US" sz="1400">
                <a:solidFill>
                  <a:srgbClr val="333333"/>
                </a:solidFill>
              </a:rPr>
              <a:t>American Society for Photogrammetry and Remote Sensing (ASPRS) Standards</a:t>
            </a:r>
            <a:endParaRPr 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08347"/>
            <a:ext cx="8229600" cy="548640"/>
          </a:xfrm>
          <a:prstGeom prst="rect">
            <a:avLst/>
          </a:prstGeom>
          <a:noFill/>
          <a:ln/>
        </p:spPr>
        <p:txBody>
          <a:bodyPr wrap="square" rtlCol="0" anchor="t"/>
          <a:lstStyle/>
          <a:p>
            <a:pPr marL="0" indent="0">
              <a:buNone/>
            </a:pPr>
            <a:r>
              <a:rPr lang="en-US" sz="2400" b="1">
                <a:solidFill>
                  <a:srgbClr val="1F4E79"/>
                </a:solidFill>
              </a:rPr>
              <a:t>SERVICES TO BE PERFORMED</a:t>
            </a:r>
            <a:endParaRPr lang="en-US" sz="2400"/>
          </a:p>
        </p:txBody>
      </p:sp>
      <p:sp>
        <p:nvSpPr>
          <p:cNvPr id="3" name="Text 1"/>
          <p:cNvSpPr/>
          <p:nvPr/>
        </p:nvSpPr>
        <p:spPr>
          <a:xfrm>
            <a:off x="457200" y="1283521"/>
            <a:ext cx="8229600" cy="3995021"/>
          </a:xfrm>
          <a:prstGeom prst="rect">
            <a:avLst/>
          </a:prstGeom>
          <a:noFill/>
          <a:ln/>
        </p:spPr>
        <p:txBody>
          <a:bodyPr wrap="square" lIns="91440" tIns="45720" rIns="91440" bIns="45720" rtlCol="0" anchor="t"/>
          <a:lstStyle/>
          <a:p>
            <a:pPr marL="342900" indent="-342900">
              <a:buSzPct val="100000"/>
              <a:buChar char="•"/>
            </a:pPr>
            <a:r>
              <a:rPr lang="en-US" sz="1400">
                <a:solidFill>
                  <a:srgbClr val="333333"/>
                </a:solidFill>
              </a:rPr>
              <a:t>Topographic Surveying and Mapping</a:t>
            </a:r>
            <a:endParaRPr lang="en-US" sz="1400"/>
          </a:p>
          <a:p>
            <a:pPr marL="342900" indent="-342900">
              <a:buSzPct val="100000"/>
              <a:buChar char="•"/>
            </a:pPr>
            <a:r>
              <a:rPr lang="en-US" sz="1400">
                <a:solidFill>
                  <a:srgbClr val="333333"/>
                </a:solidFill>
              </a:rPr>
              <a:t>Boundary/Property Surveys</a:t>
            </a:r>
            <a:endParaRPr lang="en-US" sz="1400"/>
          </a:p>
          <a:p>
            <a:pPr marL="342900" indent="-342900">
              <a:buSzPct val="100000"/>
              <a:buChar char="•"/>
            </a:pPr>
            <a:r>
              <a:rPr lang="en-US" sz="1400">
                <a:solidFill>
                  <a:srgbClr val="333333"/>
                </a:solidFill>
              </a:rPr>
              <a:t>Construction Support Surveys</a:t>
            </a:r>
            <a:endParaRPr lang="en-US" sz="1400"/>
          </a:p>
          <a:p>
            <a:pPr marL="342900" indent="-342900">
              <a:buSzPct val="100000"/>
              <a:buChar char="•"/>
            </a:pPr>
            <a:r>
              <a:rPr lang="en-US" sz="1400">
                <a:solidFill>
                  <a:srgbClr val="333333"/>
                </a:solidFill>
              </a:rPr>
              <a:t>Beach Profiles</a:t>
            </a:r>
            <a:endParaRPr lang="en-US" sz="1400"/>
          </a:p>
          <a:p>
            <a:pPr marL="342900" indent="-342900">
              <a:buSzPct val="100000"/>
              <a:buChar char="•"/>
            </a:pPr>
            <a:r>
              <a:rPr lang="en-US" sz="1400">
                <a:solidFill>
                  <a:srgbClr val="333333"/>
                </a:solidFill>
              </a:rPr>
              <a:t>Horizontal and Vertical Geodetic Control Surveys</a:t>
            </a:r>
            <a:endParaRPr lang="en-US" sz="1400"/>
          </a:p>
          <a:p>
            <a:pPr marL="342900" indent="-342900">
              <a:buSzPct val="100000"/>
              <a:buChar char="•"/>
            </a:pPr>
            <a:r>
              <a:rPr lang="en-US" sz="1400">
                <a:solidFill>
                  <a:srgbClr val="333333"/>
                </a:solidFill>
              </a:rPr>
              <a:t>Ground Penetrating Radar and Vacuum Excavation for Utility Location</a:t>
            </a:r>
            <a:endParaRPr lang="en-US" sz="1400"/>
          </a:p>
          <a:p>
            <a:pPr marL="342900" indent="-342900">
              <a:buSzPct val="100000"/>
              <a:buFont typeface="Arial"/>
              <a:buChar char="•"/>
            </a:pPr>
            <a:r>
              <a:rPr lang="en-US" sz="1400">
                <a:solidFill>
                  <a:srgbClr val="333333"/>
                </a:solidFill>
              </a:rPr>
              <a:t>Static Terrestrial  and Mobile Laser Scanning</a:t>
            </a:r>
            <a:endParaRPr lang="en-US" sz="1400">
              <a:ea typeface="Calibri" panose="020F0502020204030204"/>
              <a:cs typeface="Calibri" panose="020F0502020204030204"/>
            </a:endParaRPr>
          </a:p>
          <a:p>
            <a:pPr marL="342900" indent="-342900">
              <a:buSzPct val="100000"/>
              <a:buChar char="•"/>
            </a:pPr>
            <a:r>
              <a:rPr lang="en-US" sz="1400">
                <a:solidFill>
                  <a:srgbClr val="333333"/>
                </a:solidFill>
              </a:rPr>
              <a:t>Near-shore and Offshore Hydrographic Surveys</a:t>
            </a:r>
            <a:endParaRPr lang="en-US" sz="1400"/>
          </a:p>
          <a:p>
            <a:pPr marL="342900" indent="-342900">
              <a:buSzPct val="100000"/>
              <a:buChar char="•"/>
            </a:pPr>
            <a:r>
              <a:rPr lang="en-US" sz="1400">
                <a:solidFill>
                  <a:srgbClr val="333333"/>
                </a:solidFill>
              </a:rPr>
              <a:t>Seabed Classification, Side Scan Sonar, Sub-bottom Profiling</a:t>
            </a:r>
            <a:endParaRPr lang="en-US" sz="1400"/>
          </a:p>
          <a:p>
            <a:pPr marL="342900" indent="-342900">
              <a:buSzPct val="100000"/>
              <a:buChar char="•"/>
            </a:pPr>
            <a:r>
              <a:rPr lang="en-US" sz="1400">
                <a:solidFill>
                  <a:srgbClr val="333333"/>
                </a:solidFill>
              </a:rPr>
              <a:t>CADD/GIS Services</a:t>
            </a:r>
            <a:endParaRPr lang="en-US" sz="1400">
              <a:solidFill>
                <a:srgbClr val="333333"/>
              </a:solidFill>
              <a:ea typeface="Calibri"/>
              <a:cs typeface="Calibri"/>
            </a:endParaRPr>
          </a:p>
          <a:p>
            <a:pPr marL="342900" indent="-342900">
              <a:buSzPct val="100000"/>
              <a:buChar char="•"/>
            </a:pPr>
            <a:r>
              <a:rPr lang="en-US" sz="1400">
                <a:solidFill>
                  <a:srgbClr val="333333"/>
                </a:solidFill>
              </a:rPr>
              <a:t>Photogrammetry</a:t>
            </a:r>
            <a:endParaRPr lang="en-US" sz="1400">
              <a:solidFill>
                <a:srgbClr val="333333"/>
              </a:solidFill>
              <a:ea typeface="Calibri"/>
              <a:cs typeface="Calibri"/>
            </a:endParaRPr>
          </a:p>
          <a:p>
            <a:pPr marL="342900" indent="-342900">
              <a:buSzPct val="100000"/>
              <a:buChar char="•"/>
            </a:pPr>
            <a:r>
              <a:rPr lang="en-US" sz="1400">
                <a:solidFill>
                  <a:srgbClr val="333333"/>
                </a:solidFill>
              </a:rPr>
              <a:t>Aerial LiDAR</a:t>
            </a:r>
            <a:endParaRPr lang="en-US" sz="1400">
              <a:solidFill>
                <a:srgbClr val="333333"/>
              </a:solidFill>
              <a:ea typeface="Calibri"/>
              <a:cs typeface="Calibri"/>
            </a:endParaRPr>
          </a:p>
          <a:p>
            <a:pPr marL="342900" indent="-342900">
              <a:buSzPct val="100000"/>
              <a:buChar char="•"/>
            </a:pP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A1D99-3E67-78D2-A0A7-8FABF7E9C6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85340D-12E2-0924-99EE-26EB45682BD9}"/>
              </a:ext>
            </a:extLst>
          </p:cNvPr>
          <p:cNvSpPr/>
          <p:nvPr/>
        </p:nvSpPr>
        <p:spPr>
          <a:xfrm>
            <a:off x="457200" y="823746"/>
            <a:ext cx="8229600" cy="548640"/>
          </a:xfrm>
          <a:prstGeom prst="rect">
            <a:avLst/>
          </a:prstGeom>
          <a:noFill/>
          <a:ln/>
        </p:spPr>
        <p:txBody>
          <a:bodyPr wrap="square" lIns="91440" tIns="45720" rIns="91440" bIns="45720" rtlCol="0" anchor="t"/>
          <a:lstStyle/>
          <a:p>
            <a:r>
              <a:rPr lang="en-US" sz="2400" b="1">
                <a:solidFill>
                  <a:srgbClr val="1F4E79"/>
                </a:solidFill>
              </a:rPr>
              <a:t>Surveying &amp; Mapping Support Areas </a:t>
            </a:r>
          </a:p>
          <a:p>
            <a:endParaRPr lang="en-US" sz="2400" b="1">
              <a:solidFill>
                <a:srgbClr val="1F4E79"/>
              </a:solidFill>
              <a:ea typeface="Calibri"/>
              <a:cs typeface="Calibri"/>
            </a:endParaRPr>
          </a:p>
        </p:txBody>
      </p:sp>
      <p:sp>
        <p:nvSpPr>
          <p:cNvPr id="3" name="Text 1">
            <a:extLst>
              <a:ext uri="{FF2B5EF4-FFF2-40B4-BE49-F238E27FC236}">
                <a16:creationId xmlns:a16="http://schemas.microsoft.com/office/drawing/2014/main" id="{6D2CC670-FA83-171E-8472-C617DAF3A016}"/>
              </a:ext>
            </a:extLst>
          </p:cNvPr>
          <p:cNvSpPr/>
          <p:nvPr/>
        </p:nvSpPr>
        <p:spPr>
          <a:xfrm>
            <a:off x="457200" y="1371444"/>
            <a:ext cx="8229600" cy="3995021"/>
          </a:xfrm>
          <a:prstGeom prst="rect">
            <a:avLst/>
          </a:prstGeom>
          <a:noFill/>
          <a:ln/>
        </p:spPr>
        <p:txBody>
          <a:bodyPr wrap="square" lIns="91440" tIns="45720" rIns="91440" bIns="45720" rtlCol="0" anchor="t"/>
          <a:lstStyle/>
          <a:p>
            <a:pPr marL="342900" indent="-342900">
              <a:buSzPct val="100000"/>
              <a:buFont typeface="Arial"/>
              <a:buChar char="•"/>
            </a:pPr>
            <a:r>
              <a:rPr lang="en-US" sz="1400">
                <a:solidFill>
                  <a:srgbClr val="333333"/>
                </a:solidFill>
                <a:latin typeface="Calibri"/>
                <a:ea typeface="Calibri"/>
                <a:cs typeface="Calibri"/>
              </a:rPr>
              <a:t>Land Acquisition Process</a:t>
            </a:r>
            <a:endParaRPr lang="en-US" sz="1400">
              <a:latin typeface="Calibri"/>
              <a:ea typeface="Calibri"/>
              <a:cs typeface="Calibri"/>
            </a:endParaRPr>
          </a:p>
          <a:p>
            <a:pPr marL="342900" indent="-342900">
              <a:buSzPct val="100000"/>
              <a:buFont typeface="Arial"/>
              <a:buChar char="•"/>
            </a:pPr>
            <a:r>
              <a:rPr lang="en-US" sz="1400">
                <a:solidFill>
                  <a:srgbClr val="333333"/>
                </a:solidFill>
                <a:latin typeface="Calibri"/>
                <a:ea typeface="Calibri"/>
                <a:cs typeface="Calibri"/>
              </a:rPr>
              <a:t>Hydraulic &amp; Hydrologic Analysis</a:t>
            </a:r>
            <a:endParaRPr lang="en-US" sz="1400">
              <a:latin typeface="Calibri"/>
              <a:ea typeface="Calibri"/>
              <a:cs typeface="Calibri"/>
            </a:endParaRPr>
          </a:p>
          <a:p>
            <a:pPr marL="342900" indent="-342900">
              <a:buSzPct val="100000"/>
              <a:buChar char="•"/>
            </a:pPr>
            <a:r>
              <a:rPr lang="en-US" sz="1400">
                <a:solidFill>
                  <a:srgbClr val="333333"/>
                </a:solidFill>
              </a:rPr>
              <a:t>Construction Support </a:t>
            </a:r>
            <a:endParaRPr lang="en-US" sz="1400"/>
          </a:p>
          <a:p>
            <a:pPr marL="342900" indent="-342900">
              <a:buSzPct val="100000"/>
              <a:buFont typeface="Arial"/>
              <a:buChar char="•"/>
            </a:pPr>
            <a:r>
              <a:rPr lang="en-US" sz="1400">
                <a:solidFill>
                  <a:srgbClr val="333333"/>
                </a:solidFill>
                <a:latin typeface="Calibri"/>
                <a:ea typeface="Calibri"/>
                <a:cs typeface="Calibri"/>
              </a:rPr>
              <a:t>Permitting &amp; Regulatory Compliance</a:t>
            </a:r>
            <a:endParaRPr lang="en-US" sz="1400">
              <a:latin typeface="Calibri"/>
              <a:ea typeface="Calibri"/>
              <a:cs typeface="Calibri"/>
            </a:endParaRPr>
          </a:p>
          <a:p>
            <a:pPr marL="342900" indent="-342900">
              <a:buSzPct val="100000"/>
              <a:buFont typeface="Arial"/>
              <a:buChar char="•"/>
            </a:pPr>
            <a:r>
              <a:rPr lang="en-US" sz="1400">
                <a:solidFill>
                  <a:srgbClr val="333333"/>
                </a:solidFill>
                <a:latin typeface="Calibri"/>
                <a:ea typeface="Calibri"/>
                <a:cs typeface="Calibri"/>
              </a:rPr>
              <a:t>Engineering Design</a:t>
            </a:r>
            <a:endParaRPr lang="en-US" sz="1400">
              <a:latin typeface="Calibri"/>
              <a:ea typeface="Calibri"/>
              <a:cs typeface="Calibri"/>
            </a:endParaRPr>
          </a:p>
          <a:p>
            <a:pPr marL="342900" indent="-342900">
              <a:buSzPct val="100000"/>
              <a:buFont typeface="Arial"/>
              <a:buChar char="•"/>
            </a:pPr>
            <a:r>
              <a:rPr lang="en-US" sz="1400">
                <a:solidFill>
                  <a:srgbClr val="333333"/>
                </a:solidFill>
                <a:latin typeface="Calibri"/>
                <a:ea typeface="Calibri"/>
                <a:cs typeface="Calibri"/>
              </a:rPr>
              <a:t>Harbor Inspections &amp; Post‐Event Assessments</a:t>
            </a:r>
            <a:endParaRPr lang="en-US" sz="1400">
              <a:latin typeface="Calibri"/>
              <a:ea typeface="Calibri"/>
              <a:cs typeface="Calibri"/>
            </a:endParaRPr>
          </a:p>
          <a:p>
            <a:pPr marL="342900" indent="-342900">
              <a:buSzPct val="100000"/>
              <a:buFont typeface="Arial"/>
              <a:buChar char="•"/>
            </a:pPr>
            <a:r>
              <a:rPr lang="en-US" sz="1400">
                <a:solidFill>
                  <a:srgbClr val="333333"/>
                </a:solidFill>
                <a:ea typeface="Calibri"/>
                <a:cs typeface="Calibri"/>
              </a:rPr>
              <a:t>MILCON Programs</a:t>
            </a:r>
          </a:p>
          <a:p>
            <a:pPr marL="342900" indent="-342900">
              <a:buSzPct val="100000"/>
              <a:buFont typeface="Arial"/>
              <a:buChar char="•"/>
            </a:pPr>
            <a:endParaRPr lang="en-US" sz="1400">
              <a:solidFill>
                <a:srgbClr val="333333"/>
              </a:solidFill>
              <a:ea typeface="Calibri"/>
              <a:cs typeface="Calibri"/>
            </a:endParaRPr>
          </a:p>
          <a:p>
            <a:pPr marL="342900" indent="-342900">
              <a:buSzPct val="100000"/>
              <a:buFont typeface="Arial"/>
              <a:buChar char="•"/>
            </a:pPr>
            <a:endParaRPr lang="en-US" sz="1400">
              <a:solidFill>
                <a:srgbClr val="333333"/>
              </a:solidFill>
              <a:ea typeface="Calibri"/>
              <a:cs typeface="Calibri"/>
            </a:endParaRPr>
          </a:p>
          <a:p>
            <a:pPr marL="342900" indent="-342900">
              <a:buSzPct val="100000"/>
              <a:buFont typeface="Arial"/>
              <a:buChar char="•"/>
            </a:pPr>
            <a:endParaRPr lang="en-US" sz="1400">
              <a:solidFill>
                <a:srgbClr val="333333"/>
              </a:solidFill>
              <a:ea typeface="Calibri"/>
              <a:cs typeface="Calibri"/>
            </a:endParaRPr>
          </a:p>
          <a:p>
            <a:pPr marL="342900" indent="-342900">
              <a:buSzPct val="100000"/>
              <a:buChar char="•"/>
            </a:pPr>
            <a:endParaRPr lang="en-US" sz="1400">
              <a:ea typeface="Calibri" panose="020F0502020204030204"/>
              <a:cs typeface="Calibri" panose="020F0502020204030204"/>
            </a:endParaRPr>
          </a:p>
        </p:txBody>
      </p:sp>
      <p:pic>
        <p:nvPicPr>
          <p:cNvPr id="4" name="Picture 3">
            <a:extLst>
              <a:ext uri="{FF2B5EF4-FFF2-40B4-BE49-F238E27FC236}">
                <a16:creationId xmlns:a16="http://schemas.microsoft.com/office/drawing/2014/main" id="{A626891F-220E-6624-10EF-0DBB9078CADC}"/>
              </a:ext>
            </a:extLst>
          </p:cNvPr>
          <p:cNvPicPr>
            <a:picLocks noChangeAspect="1"/>
          </p:cNvPicPr>
          <p:nvPr/>
        </p:nvPicPr>
        <p:blipFill>
          <a:blip r:embed="rId3"/>
          <a:stretch>
            <a:fillRect/>
          </a:stretch>
        </p:blipFill>
        <p:spPr>
          <a:xfrm>
            <a:off x="5519372" y="889855"/>
            <a:ext cx="2798152" cy="1825137"/>
          </a:xfrm>
          <a:prstGeom prst="rect">
            <a:avLst/>
          </a:prstGeom>
        </p:spPr>
      </p:pic>
      <p:pic>
        <p:nvPicPr>
          <p:cNvPr id="5" name="Picture 4">
            <a:extLst>
              <a:ext uri="{FF2B5EF4-FFF2-40B4-BE49-F238E27FC236}">
                <a16:creationId xmlns:a16="http://schemas.microsoft.com/office/drawing/2014/main" id="{F89D9A0B-69B0-A6CD-1DE9-6810A5DF7D5A}"/>
              </a:ext>
            </a:extLst>
          </p:cNvPr>
          <p:cNvPicPr>
            <a:picLocks noChangeAspect="1"/>
          </p:cNvPicPr>
          <p:nvPr/>
        </p:nvPicPr>
        <p:blipFill>
          <a:blip r:embed="rId4"/>
          <a:stretch>
            <a:fillRect/>
          </a:stretch>
        </p:blipFill>
        <p:spPr>
          <a:xfrm>
            <a:off x="5529262" y="3020891"/>
            <a:ext cx="2789360" cy="1629508"/>
          </a:xfrm>
          <a:prstGeom prst="rect">
            <a:avLst/>
          </a:prstGeom>
        </p:spPr>
      </p:pic>
    </p:spTree>
    <p:extLst>
      <p:ext uri="{BB962C8B-B14F-4D97-AF65-F5344CB8AC3E}">
        <p14:creationId xmlns:p14="http://schemas.microsoft.com/office/powerpoint/2010/main" val="22196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lIns="91440" tIns="45720" rIns="91440" bIns="45720" rtlCol="0" anchor="t"/>
          <a:lstStyle/>
          <a:p>
            <a:pPr marL="0" indent="0">
              <a:buNone/>
            </a:pPr>
            <a:r>
              <a:rPr lang="en-US" sz="2400" b="1">
                <a:solidFill>
                  <a:srgbClr val="1F4E79"/>
                </a:solidFill>
              </a:rPr>
              <a:t>PROCEDURES AND REQUIREMENTS</a:t>
            </a:r>
            <a:endParaRPr lang="en-US" sz="2400"/>
          </a:p>
        </p:txBody>
      </p:sp>
      <p:sp>
        <p:nvSpPr>
          <p:cNvPr id="3" name="Text 1"/>
          <p:cNvSpPr/>
          <p:nvPr/>
        </p:nvSpPr>
        <p:spPr>
          <a:xfrm>
            <a:off x="457200" y="1486559"/>
            <a:ext cx="8229600" cy="3657600"/>
          </a:xfrm>
          <a:prstGeom prst="rect">
            <a:avLst/>
          </a:prstGeom>
          <a:noFill/>
          <a:ln/>
        </p:spPr>
        <p:txBody>
          <a:bodyPr wrap="square" rtlCol="0" anchor="t"/>
          <a:lstStyle/>
          <a:p>
            <a:pPr marL="342900" indent="-342900">
              <a:buSzPct val="100000"/>
              <a:buChar char="•"/>
            </a:pPr>
            <a:r>
              <a:rPr lang="en-US" sz="1600">
                <a:solidFill>
                  <a:srgbClr val="333333"/>
                </a:solidFill>
              </a:rPr>
              <a:t>Fully equipped survey crews with professional personnel</a:t>
            </a:r>
            <a:endParaRPr lang="en-US" sz="1600"/>
          </a:p>
          <a:p>
            <a:pPr marL="342900" indent="-342900">
              <a:buSzPct val="100000"/>
              <a:buChar char="•"/>
            </a:pPr>
            <a:r>
              <a:rPr lang="en-US" sz="1600">
                <a:solidFill>
                  <a:srgbClr val="333333"/>
                </a:solidFill>
              </a:rPr>
              <a:t>Appropriate instrumentation consistent with industry standards</a:t>
            </a:r>
            <a:endParaRPr lang="en-US" sz="1600"/>
          </a:p>
          <a:p>
            <a:pPr marL="342900" indent="-342900">
              <a:buSzPct val="100000"/>
              <a:buChar char="•"/>
            </a:pPr>
            <a:r>
              <a:rPr lang="en-US" sz="1600">
                <a:solidFill>
                  <a:srgbClr val="333333"/>
                </a:solidFill>
              </a:rPr>
              <a:t>Standard permanent bound field books for observational data</a:t>
            </a:r>
            <a:endParaRPr lang="en-US" sz="1600"/>
          </a:p>
          <a:p>
            <a:pPr marL="342900" indent="-342900">
              <a:buSzPct val="100000"/>
              <a:buChar char="•"/>
            </a:pPr>
            <a:r>
              <a:rPr lang="en-US" sz="1600">
                <a:solidFill>
                  <a:srgbClr val="333333"/>
                </a:solidFill>
              </a:rPr>
              <a:t>Adequate professional supervision and Quality Control</a:t>
            </a:r>
            <a:endParaRPr lang="en-US" sz="1600"/>
          </a:p>
          <a:p>
            <a:pPr marL="342900" indent="-342900">
              <a:buSzPct val="100000"/>
              <a:buChar char="•"/>
            </a:pPr>
            <a:r>
              <a:rPr lang="en-US" sz="1600">
                <a:solidFill>
                  <a:srgbClr val="333333"/>
                </a:solidFill>
              </a:rPr>
              <a:t>Government review and approval for accuracy standards compliance</a:t>
            </a:r>
            <a:endParaRPr lang="en-US" sz="1600"/>
          </a:p>
          <a:p>
            <a:pPr marL="342900" indent="-342900">
              <a:buSzPct val="100000"/>
              <a:buChar char="•"/>
            </a:pPr>
            <a:r>
              <a:rPr lang="en-US" sz="1600">
                <a:solidFill>
                  <a:srgbClr val="333333"/>
                </a:solidFill>
              </a:rPr>
              <a:t>Direct contact with responsible personnel for progress estimates</a:t>
            </a:r>
            <a:endParaRPr 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PERSONNEL REQUIREMENTS</a:t>
            </a:r>
            <a:endParaRPr lang="en-US" sz="2400"/>
          </a:p>
        </p:txBody>
      </p:sp>
      <p:sp>
        <p:nvSpPr>
          <p:cNvPr id="3" name="Text 1"/>
          <p:cNvSpPr/>
          <p:nvPr/>
        </p:nvSpPr>
        <p:spPr>
          <a:xfrm>
            <a:off x="457200" y="1568987"/>
            <a:ext cx="8229600" cy="3657600"/>
          </a:xfrm>
          <a:prstGeom prst="rect">
            <a:avLst/>
          </a:prstGeom>
          <a:noFill/>
          <a:ln/>
        </p:spPr>
        <p:txBody>
          <a:bodyPr wrap="square" lIns="91440" tIns="45720" rIns="91440" bIns="45720" rtlCol="0" anchor="t"/>
          <a:lstStyle/>
          <a:p>
            <a:pPr marL="342900" indent="-342900">
              <a:buSzPct val="100000"/>
              <a:buChar char="•"/>
            </a:pPr>
            <a:r>
              <a:rPr lang="en-US" sz="1600">
                <a:solidFill>
                  <a:srgbClr val="333333"/>
                </a:solidFill>
              </a:rPr>
              <a:t>Survey Crew: Party chief (2+ years experience) and instrument operator (1+ year experience)</a:t>
            </a:r>
            <a:endParaRPr lang="en-US" sz="1600"/>
          </a:p>
          <a:p>
            <a:pPr marL="342900" indent="-342900">
              <a:buSzPct val="100000"/>
              <a:buChar char="•"/>
            </a:pPr>
            <a:r>
              <a:rPr lang="en-US" sz="1600">
                <a:solidFill>
                  <a:srgbClr val="333333"/>
                </a:solidFill>
              </a:rPr>
              <a:t>Survey Helper: Capable of assisting survey/crews</a:t>
            </a:r>
            <a:endParaRPr lang="en-US" sz="1600"/>
          </a:p>
          <a:p>
            <a:pPr marL="342900" indent="-342900">
              <a:buSzPct val="100000"/>
              <a:buChar char="•"/>
            </a:pPr>
            <a:r>
              <a:rPr lang="en-US" sz="1600">
                <a:solidFill>
                  <a:srgbClr val="333333"/>
                </a:solidFill>
              </a:rPr>
              <a:t>Specialist: 10+ years experience with current professional registration</a:t>
            </a:r>
            <a:endParaRPr lang="en-US" sz="1600"/>
          </a:p>
          <a:p>
            <a:pPr marL="342900" indent="-342900">
              <a:buSzPct val="100000"/>
              <a:buChar char="•"/>
            </a:pPr>
            <a:r>
              <a:rPr lang="en-US" sz="1600">
                <a:solidFill>
                  <a:srgbClr val="333333"/>
                </a:solidFill>
              </a:rPr>
              <a:t>Analyst: 5+ years experience in surface modeling, GIS analysis, data processing, remote sensing</a:t>
            </a:r>
            <a:endParaRPr lang="en-US" sz="1600"/>
          </a:p>
          <a:p>
            <a:pPr marL="342900" indent="-342900">
              <a:buSzPct val="100000"/>
              <a:buChar char="•"/>
            </a:pPr>
            <a:r>
              <a:rPr lang="en-US" sz="1600">
                <a:solidFill>
                  <a:srgbClr val="333333"/>
                </a:solidFill>
              </a:rPr>
              <a:t>Technician: 1+ year experience in engineering or GIS/CADD</a:t>
            </a:r>
            <a:endParaRPr 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QUALITY CONTROL AND ASSURANCE</a:t>
            </a:r>
            <a:endParaRPr lang="en-US" sz="2400"/>
          </a:p>
        </p:txBody>
      </p:sp>
      <p:sp>
        <p:nvSpPr>
          <p:cNvPr id="3" name="Text 1"/>
          <p:cNvSpPr/>
          <p:nvPr/>
        </p:nvSpPr>
        <p:spPr>
          <a:xfrm>
            <a:off x="457200" y="1618444"/>
            <a:ext cx="8229600" cy="3657600"/>
          </a:xfrm>
          <a:prstGeom prst="rect">
            <a:avLst/>
          </a:prstGeom>
          <a:noFill/>
          <a:ln/>
        </p:spPr>
        <p:txBody>
          <a:bodyPr wrap="square" lIns="91440" tIns="45720" rIns="91440" bIns="45720" rtlCol="0" anchor="t"/>
          <a:lstStyle/>
          <a:p>
            <a:pPr>
              <a:buSzPct val="100000"/>
              <a:buFont typeface="Arial"/>
              <a:buChar char="•"/>
            </a:pPr>
            <a:r>
              <a:rPr lang="en-US" sz="1600">
                <a:solidFill>
                  <a:srgbClr val="333333"/>
                </a:solidFill>
                <a:ea typeface="Calibri"/>
                <a:cs typeface="Calibri"/>
              </a:rPr>
              <a:t>All mapping data must conform to EM 1110-1-1005 accuracy standards</a:t>
            </a:r>
          </a:p>
          <a:p>
            <a:pPr>
              <a:buSzPct val="100000"/>
              <a:buFont typeface="Arial"/>
              <a:buChar char="•"/>
            </a:pPr>
            <a:r>
              <a:rPr lang="en-US" sz="1600">
                <a:solidFill>
                  <a:srgbClr val="333333"/>
                </a:solidFill>
                <a:ea typeface="Calibri"/>
                <a:cs typeface="Calibri"/>
              </a:rPr>
              <a:t>Survey Control and Datum Verification</a:t>
            </a:r>
            <a:endParaRPr lang="en-US"/>
          </a:p>
          <a:p>
            <a:pPr>
              <a:buSzPct val="100000"/>
              <a:buFont typeface="Arial"/>
              <a:buChar char="•"/>
            </a:pPr>
            <a:r>
              <a:rPr lang="en-US" sz="1600">
                <a:solidFill>
                  <a:srgbClr val="333333"/>
                </a:solidFill>
                <a:ea typeface="Calibri"/>
                <a:cs typeface="Calibri"/>
              </a:rPr>
              <a:t>Accuracy and Standards Compliance </a:t>
            </a:r>
            <a:endParaRPr lang="en-US"/>
          </a:p>
          <a:p>
            <a:pPr>
              <a:buSzPct val="100000"/>
              <a:buFont typeface="Arial"/>
              <a:buChar char="•"/>
            </a:pPr>
            <a:r>
              <a:rPr lang="en-US" sz="1600">
                <a:solidFill>
                  <a:srgbClr val="333333"/>
                </a:solidFill>
                <a:ea typeface="Calibri"/>
                <a:cs typeface="Calibri"/>
              </a:rPr>
              <a:t>Data Processing, Validation, and Review</a:t>
            </a:r>
            <a:endParaRPr lang="en-US"/>
          </a:p>
          <a:p>
            <a:pPr>
              <a:buSzPct val="100000"/>
              <a:buFont typeface="Arial"/>
              <a:buChar char="•"/>
            </a:pPr>
            <a:r>
              <a:rPr lang="en-US" sz="1600">
                <a:solidFill>
                  <a:srgbClr val="333333"/>
                </a:solidFill>
                <a:ea typeface="Calibri"/>
                <a:cs typeface="Calibri"/>
              </a:rPr>
              <a:t>Professional Oversight </a:t>
            </a:r>
            <a:endParaRPr lang="en-US"/>
          </a:p>
          <a:p>
            <a:pPr>
              <a:buSzPct val="100000"/>
              <a:buFont typeface="Arial"/>
              <a:buChar char="•"/>
            </a:pPr>
            <a:r>
              <a:rPr lang="en-US" sz="1600">
                <a:solidFill>
                  <a:srgbClr val="333333"/>
                </a:solidFill>
                <a:ea typeface="Calibri"/>
                <a:cs typeface="Calibri"/>
              </a:rPr>
              <a:t>Government QA for acceptance.</a:t>
            </a:r>
            <a:endParaRPr lang="en-US"/>
          </a:p>
          <a:p>
            <a:pPr marL="342900" indent="-342900">
              <a:buSzPct val="100000"/>
              <a:buChar char="•"/>
            </a:pPr>
            <a:endParaRPr lang="en-US" sz="1600">
              <a:solidFill>
                <a:srgbClr val="333333"/>
              </a:solidFill>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SUBMITTAL REQUIREMENTS</a:t>
            </a:r>
            <a:endParaRPr lang="en-US" sz="2400"/>
          </a:p>
        </p:txBody>
      </p:sp>
      <p:sp>
        <p:nvSpPr>
          <p:cNvPr id="3" name="Text 1"/>
          <p:cNvSpPr/>
          <p:nvPr/>
        </p:nvSpPr>
        <p:spPr>
          <a:xfrm>
            <a:off x="457200" y="1574483"/>
            <a:ext cx="8229600" cy="4114800"/>
          </a:xfrm>
          <a:prstGeom prst="rect">
            <a:avLst/>
          </a:prstGeom>
          <a:noFill/>
          <a:ln/>
        </p:spPr>
        <p:txBody>
          <a:bodyPr wrap="square" lIns="91440" tIns="45720" rIns="91440" bIns="45720" rtlCol="0" anchor="t"/>
          <a:lstStyle/>
          <a:p>
            <a:pPr>
              <a:buSzPct val="100000"/>
              <a:buFont typeface="Arial"/>
              <a:buChar char="•"/>
            </a:pPr>
            <a:r>
              <a:rPr lang="en-US" sz="1400">
                <a:solidFill>
                  <a:srgbClr val="333333"/>
                </a:solidFill>
              </a:rPr>
              <a:t>   CADD files </a:t>
            </a:r>
            <a:endParaRPr lang="en-US" sz="1400">
              <a:solidFill>
                <a:srgbClr val="000000"/>
              </a:solidFill>
            </a:endParaRPr>
          </a:p>
          <a:p>
            <a:pPr>
              <a:buSzPct val="100000"/>
              <a:buFont typeface="Arial"/>
              <a:buChar char="•"/>
            </a:pPr>
            <a:r>
              <a:rPr lang="en-US" sz="1400">
                <a:solidFill>
                  <a:srgbClr val="333333"/>
                </a:solidFill>
              </a:rPr>
              <a:t>   Pdf Signed &amp; Sealed files </a:t>
            </a:r>
            <a:endParaRPr lang="en-US"/>
          </a:p>
          <a:p>
            <a:pPr>
              <a:buSzPct val="100000"/>
              <a:buFont typeface="Arial"/>
              <a:buChar char="•"/>
            </a:pPr>
            <a:r>
              <a:rPr lang="en-US" sz="1400">
                <a:solidFill>
                  <a:srgbClr val="333333"/>
                </a:solidFill>
              </a:rPr>
              <a:t>   All processed and unprocessed electronic data ( .job, .</a:t>
            </a:r>
            <a:r>
              <a:rPr lang="en-US" sz="1400" err="1">
                <a:solidFill>
                  <a:srgbClr val="333333"/>
                </a:solidFill>
              </a:rPr>
              <a:t>cvs</a:t>
            </a:r>
            <a:r>
              <a:rPr lang="en-US" sz="1400">
                <a:solidFill>
                  <a:srgbClr val="333333"/>
                </a:solidFill>
              </a:rPr>
              <a:t>, </a:t>
            </a:r>
            <a:r>
              <a:rPr lang="en-US" sz="1400" err="1">
                <a:solidFill>
                  <a:srgbClr val="333333"/>
                </a:solidFill>
              </a:rPr>
              <a:t>etc</a:t>
            </a:r>
            <a:r>
              <a:rPr lang="en-US" sz="1400">
                <a:solidFill>
                  <a:srgbClr val="333333"/>
                </a:solidFill>
              </a:rPr>
              <a:t>)</a:t>
            </a:r>
            <a:endParaRPr lang="en-US"/>
          </a:p>
          <a:p>
            <a:pPr>
              <a:buSzPct val="100000"/>
              <a:buFont typeface="Arial"/>
              <a:buChar char="•"/>
            </a:pPr>
            <a:r>
              <a:rPr lang="en-US" sz="1400">
                <a:solidFill>
                  <a:srgbClr val="333333"/>
                </a:solidFill>
              </a:rPr>
              <a:t>   Field records in standard 7.5" x 4.5" bound books</a:t>
            </a:r>
            <a:endParaRPr lang="en-US"/>
          </a:p>
          <a:p>
            <a:pPr>
              <a:buSzPct val="100000"/>
              <a:buFont typeface="Arial"/>
              <a:buChar char="•"/>
            </a:pPr>
            <a:r>
              <a:rPr lang="en-US" sz="1400">
                <a:solidFill>
                  <a:srgbClr val="333333"/>
                </a:solidFill>
              </a:rPr>
              <a:t>   Monument reporting to U-Smart.</a:t>
            </a:r>
            <a:endParaRPr lang="en-US"/>
          </a:p>
          <a:p>
            <a:pPr>
              <a:buSzPct val="100000"/>
              <a:buFont typeface="Arial"/>
              <a:buChar char="•"/>
            </a:pPr>
            <a:r>
              <a:rPr lang="en-US" sz="1400">
                <a:solidFill>
                  <a:srgbClr val="333333"/>
                </a:solidFill>
              </a:rPr>
              <a:t>   Certified Report of Survey by licensed Professional Survey and Mapper</a:t>
            </a:r>
            <a:endParaRPr lang="en-US"/>
          </a:p>
          <a:p>
            <a:pPr>
              <a:buSzPct val="100000"/>
              <a:buFont typeface="Arial"/>
              <a:buChar char="•"/>
            </a:pPr>
            <a:r>
              <a:rPr lang="en-US" sz="1400">
                <a:solidFill>
                  <a:srgbClr val="333333"/>
                </a:solidFill>
              </a:rPr>
              <a:t>   GIS data and metadata</a:t>
            </a:r>
            <a:endParaRPr lang="en-US"/>
          </a:p>
          <a:p>
            <a:pPr>
              <a:buSzPct val="100000"/>
              <a:buFont typeface="Arial"/>
              <a:buChar char="•"/>
            </a:pPr>
            <a:r>
              <a:rPr lang="en-US" sz="1400">
                <a:solidFill>
                  <a:srgbClr val="333333"/>
                </a:solidFill>
              </a:rPr>
              <a:t>   Individual Task Order Requirements Submittals </a:t>
            </a:r>
            <a:endParaRPr lang="en-US"/>
          </a:p>
          <a:p>
            <a:pPr marL="342900" indent="-342900">
              <a:buSzPct val="100000"/>
              <a:buChar char="•"/>
            </a:pPr>
            <a:endParaRPr lang="en-US" sz="1400">
              <a:solidFill>
                <a:srgbClr val="333333"/>
              </a:solidFill>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5AB21-5699-1142-738C-0DFAC17D35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4104D5F-BE72-990A-3BED-8A438FD6FEE5}"/>
              </a:ext>
            </a:extLst>
          </p:cNvPr>
          <p:cNvSpPr/>
          <p:nvPr/>
        </p:nvSpPr>
        <p:spPr>
          <a:xfrm>
            <a:off x="457200" y="694592"/>
            <a:ext cx="8229600" cy="548640"/>
          </a:xfrm>
          <a:prstGeom prst="rect">
            <a:avLst/>
          </a:prstGeom>
          <a:noFill/>
          <a:ln/>
        </p:spPr>
        <p:txBody>
          <a:bodyPr wrap="square" lIns="91440" tIns="45720" rIns="91440" bIns="45720" rtlCol="0" anchor="t"/>
          <a:lstStyle/>
          <a:p>
            <a:r>
              <a:rPr lang="en-US" sz="2400" b="1">
                <a:solidFill>
                  <a:srgbClr val="1F4E79"/>
                </a:solidFill>
              </a:rPr>
              <a:t>General procedures for evaluation boards</a:t>
            </a:r>
          </a:p>
          <a:p>
            <a:endParaRPr lang="en-US" sz="2400" b="1">
              <a:solidFill>
                <a:srgbClr val="1F4E79"/>
              </a:solidFill>
            </a:endParaRPr>
          </a:p>
        </p:txBody>
      </p:sp>
      <p:sp>
        <p:nvSpPr>
          <p:cNvPr id="3" name="Text 1">
            <a:extLst>
              <a:ext uri="{FF2B5EF4-FFF2-40B4-BE49-F238E27FC236}">
                <a16:creationId xmlns:a16="http://schemas.microsoft.com/office/drawing/2014/main" id="{A49C7931-D208-7C54-5CA6-C8B1C3809035}"/>
              </a:ext>
            </a:extLst>
          </p:cNvPr>
          <p:cNvSpPr/>
          <p:nvPr/>
        </p:nvSpPr>
        <p:spPr>
          <a:xfrm>
            <a:off x="457200" y="1140363"/>
            <a:ext cx="8229600" cy="3686175"/>
          </a:xfrm>
          <a:prstGeom prst="rect">
            <a:avLst/>
          </a:prstGeom>
          <a:noFill/>
          <a:ln/>
        </p:spPr>
        <p:txBody>
          <a:bodyPr wrap="square" lIns="91440" tIns="45720" rIns="91440" bIns="45720" rtlCol="0" anchor="t"/>
          <a:lstStyle/>
          <a:p>
            <a:r>
              <a:rPr lang="en-US" sz="1200">
                <a:solidFill>
                  <a:srgbClr val="333333"/>
                </a:solidFill>
                <a:highlight>
                  <a:srgbClr val="FFFFFF"/>
                </a:highlight>
                <a:ea typeface="+mn-lt"/>
                <a:cs typeface="+mn-lt"/>
              </a:rPr>
              <a:t>Information used by boards:</a:t>
            </a:r>
            <a:endParaRPr lang="en-US">
              <a:solidFill>
                <a:srgbClr val="000000"/>
              </a:solidFill>
              <a:ea typeface="+mn-lt"/>
              <a:cs typeface="+mn-lt"/>
            </a:endParaRPr>
          </a:p>
          <a:p>
            <a:pPr marL="171450" indent="-171450">
              <a:buFont typeface="Arial"/>
              <a:buChar char="•"/>
            </a:pPr>
            <a:r>
              <a:rPr lang="en-US" sz="1200">
                <a:solidFill>
                  <a:srgbClr val="333333"/>
                </a:solidFill>
                <a:highlight>
                  <a:srgbClr val="FFFFFF"/>
                </a:highlight>
                <a:ea typeface="+mn-lt"/>
                <a:cs typeface="+mn-lt"/>
              </a:rPr>
              <a:t> Boards will consider only the following information: SF 330 Parts I and II</a:t>
            </a:r>
            <a:endParaRPr lang="en-US">
              <a:solidFill>
                <a:srgbClr val="000000"/>
              </a:solidFill>
              <a:ea typeface="+mn-lt"/>
              <a:cs typeface="+mn-lt"/>
            </a:endParaRPr>
          </a:p>
          <a:p>
            <a:pPr marL="171450" indent="-171450">
              <a:buFont typeface="Arial"/>
              <a:buChar char="•"/>
            </a:pPr>
            <a:r>
              <a:rPr lang="en-US" sz="1200">
                <a:solidFill>
                  <a:srgbClr val="333333"/>
                </a:solidFill>
                <a:highlight>
                  <a:srgbClr val="FFFFFF"/>
                </a:highlight>
                <a:ea typeface="+mn-lt"/>
                <a:cs typeface="+mn-lt"/>
              </a:rPr>
              <a:t>Any required supplemental information; documented performance evaluations from CPARS (or PPQs if example projects are non-federal)</a:t>
            </a:r>
            <a:endParaRPr lang="en-US">
              <a:solidFill>
                <a:srgbClr val="000000"/>
              </a:solidFill>
              <a:ea typeface="+mn-lt"/>
              <a:cs typeface="+mn-lt"/>
            </a:endParaRPr>
          </a:p>
          <a:p>
            <a:pPr marL="171450" indent="-171450">
              <a:buFont typeface="Arial"/>
              <a:buChar char="•"/>
            </a:pPr>
            <a:r>
              <a:rPr lang="en-US" sz="1200">
                <a:solidFill>
                  <a:srgbClr val="333333"/>
                </a:solidFill>
                <a:highlight>
                  <a:srgbClr val="FFFFFF"/>
                </a:highlight>
                <a:ea typeface="+mn-lt"/>
                <a:cs typeface="+mn-lt"/>
              </a:rPr>
              <a:t> DoD contract award data and the results of discussions of the MHQ firms</a:t>
            </a:r>
            <a:endParaRPr lang="en-US">
              <a:solidFill>
                <a:srgbClr val="000000"/>
              </a:solidFill>
              <a:ea typeface="+mn-lt"/>
              <a:cs typeface="+mn-lt"/>
            </a:endParaRPr>
          </a:p>
          <a:p>
            <a:pPr marL="171450" indent="-171450">
              <a:buFont typeface="Arial"/>
              <a:buChar char="•"/>
            </a:pPr>
            <a:r>
              <a:rPr lang="en-US" sz="1200">
                <a:solidFill>
                  <a:srgbClr val="333333"/>
                </a:solidFill>
                <a:highlight>
                  <a:srgbClr val="FFFFFF"/>
                </a:highlight>
                <a:ea typeface="+mn-lt"/>
                <a:cs typeface="+mn-lt"/>
              </a:rPr>
              <a:t> A board will not assume qualifications that are not clearly stated in a firm’s submission or available from CPARS</a:t>
            </a:r>
            <a:endParaRPr lang="en-US">
              <a:solidFill>
                <a:srgbClr val="000000"/>
              </a:solidFill>
              <a:ea typeface="+mn-lt"/>
              <a:cs typeface="+mn-lt"/>
            </a:endParaRPr>
          </a:p>
          <a:p>
            <a:pPr marL="171450" indent="-171450">
              <a:buFont typeface="Arial"/>
              <a:buChar char="•"/>
            </a:pPr>
            <a:r>
              <a:rPr lang="en-US" sz="1200">
                <a:solidFill>
                  <a:srgbClr val="333333"/>
                </a:solidFill>
                <a:highlight>
                  <a:srgbClr val="FFFFFF"/>
                </a:highlight>
                <a:ea typeface="+mn-lt"/>
                <a:cs typeface="+mn-lt"/>
              </a:rPr>
              <a:t>A board will review the entire submission of each firm and not excerpts or summaries</a:t>
            </a:r>
            <a:endParaRPr lang="en-US">
              <a:solidFill>
                <a:srgbClr val="000000"/>
              </a:solidFill>
              <a:ea typeface="+mn-lt"/>
              <a:cs typeface="+mn-lt"/>
            </a:endParaRPr>
          </a:p>
          <a:p>
            <a:pPr marL="171450" indent="-171450">
              <a:buFont typeface="Arial"/>
              <a:buChar char="•"/>
            </a:pPr>
            <a:r>
              <a:rPr lang="en-US" sz="1200">
                <a:solidFill>
                  <a:srgbClr val="333333"/>
                </a:solidFill>
                <a:highlight>
                  <a:srgbClr val="FFFFFF"/>
                </a:highlight>
                <a:ea typeface="+mn-lt"/>
                <a:cs typeface="+mn-lt"/>
              </a:rPr>
              <a:t> A firm will not be contacted to clarify or supplement its submission</a:t>
            </a:r>
          </a:p>
          <a:p>
            <a:pPr marL="171450" indent="-171450">
              <a:buFont typeface="Arial"/>
              <a:buChar char="•"/>
            </a:pPr>
            <a:r>
              <a:rPr lang="en-US" sz="1200">
                <a:solidFill>
                  <a:srgbClr val="333333"/>
                </a:solidFill>
                <a:highlight>
                  <a:srgbClr val="FFFFFF"/>
                </a:highlight>
                <a:ea typeface="+mn-lt"/>
                <a:cs typeface="+mn-lt"/>
              </a:rPr>
              <a:t> Boards will not consider any cost factors</a:t>
            </a:r>
          </a:p>
          <a:p>
            <a:endParaRPr lang="en-US" sz="1200">
              <a:solidFill>
                <a:srgbClr val="333333"/>
              </a:solidFill>
              <a:highlight>
                <a:srgbClr val="FFFFFF"/>
              </a:highlight>
              <a:ea typeface="+mn-lt"/>
              <a:cs typeface="+mn-lt"/>
            </a:endParaRPr>
          </a:p>
          <a:p>
            <a:r>
              <a:rPr lang="en-US" sz="1200">
                <a:solidFill>
                  <a:srgbClr val="333333"/>
                </a:solidFill>
                <a:highlight>
                  <a:srgbClr val="FFFFFF"/>
                </a:highlight>
                <a:ea typeface="+mn-lt"/>
                <a:cs typeface="+mn-lt"/>
              </a:rPr>
              <a:t>A-E submissions are electronic and will be handled by the government consistent with FAR 15.207 and FAR 15.208, including the late proposal rules in FAR 15.208. A firm will not be considered if its SF 330 Part I is not signed unless the SF 330 Part I is accompanied with a signed cover letter or a current signed SF 330 Part II.</a:t>
            </a:r>
          </a:p>
          <a:p>
            <a:endParaRPr lang="en-US" sz="1200">
              <a:solidFill>
                <a:srgbClr val="333333"/>
              </a:solidFill>
              <a:highlight>
                <a:srgbClr val="FFFFFF"/>
              </a:highlight>
              <a:ea typeface="+mn-lt"/>
              <a:cs typeface="+mn-lt"/>
            </a:endParaRPr>
          </a:p>
          <a:p>
            <a:r>
              <a:rPr lang="en-US" sz="1200">
                <a:solidFill>
                  <a:srgbClr val="333333"/>
                </a:solidFill>
                <a:highlight>
                  <a:srgbClr val="FFFFFF"/>
                </a:highlight>
                <a:ea typeface="+mn-lt"/>
                <a:cs typeface="+mn-lt"/>
              </a:rPr>
              <a:t>If a contract has been set aside for SB consistent with FAR 19.5, the CS must check that each prime firm is an SB under the appropriate NAICS in SAM.gov and on the SF 330 Part II.</a:t>
            </a:r>
          </a:p>
          <a:p>
            <a:endParaRPr lang="en-US" sz="1200">
              <a:solidFill>
                <a:srgbClr val="333333"/>
              </a:solidFill>
              <a:highlight>
                <a:srgbClr val="FFFFFF"/>
              </a:highlight>
              <a:ea typeface="+mn-lt"/>
              <a:cs typeface="+mn-lt"/>
            </a:endParaRPr>
          </a:p>
          <a:p>
            <a:r>
              <a:rPr lang="en-US" sz="1200">
                <a:solidFill>
                  <a:srgbClr val="333333"/>
                </a:solidFill>
                <a:highlight>
                  <a:srgbClr val="FFFFFF"/>
                </a:highlight>
                <a:ea typeface="+mn-lt"/>
                <a:cs typeface="+mn-lt"/>
              </a:rPr>
              <a:t>A board may use any qualitative method</a:t>
            </a:r>
            <a:endParaRPr lang="en-US"/>
          </a:p>
          <a:p>
            <a:pPr marL="342900" indent="-342900">
              <a:buSzPct val="100000"/>
              <a:buChar char="•"/>
            </a:pPr>
            <a:endParaRPr lang="en-US" sz="1200">
              <a:solidFill>
                <a:srgbClr val="333333"/>
              </a:solidFill>
              <a:highlight>
                <a:srgbClr val="FFFFFF"/>
              </a:highlight>
              <a:ea typeface="+mn-lt"/>
              <a:cs typeface="+mn-lt"/>
            </a:endParaRPr>
          </a:p>
        </p:txBody>
      </p:sp>
    </p:spTree>
    <p:extLst>
      <p:ext uri="{BB962C8B-B14F-4D97-AF65-F5344CB8AC3E}">
        <p14:creationId xmlns:p14="http://schemas.microsoft.com/office/powerpoint/2010/main" val="4293014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9DEB-D499-5DDE-3D4D-34FE72A327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47B341-BE47-7567-67C7-7002B58078CC}"/>
              </a:ext>
            </a:extLst>
          </p:cNvPr>
          <p:cNvSpPr/>
          <p:nvPr/>
        </p:nvSpPr>
        <p:spPr>
          <a:xfrm>
            <a:off x="457200" y="914400"/>
            <a:ext cx="8229600" cy="548640"/>
          </a:xfrm>
          <a:prstGeom prst="rect">
            <a:avLst/>
          </a:prstGeom>
          <a:noFill/>
          <a:ln/>
        </p:spPr>
        <p:txBody>
          <a:bodyPr wrap="square" lIns="91440" tIns="45720" rIns="91440" bIns="45720" rtlCol="0" anchor="t"/>
          <a:lstStyle/>
          <a:p>
            <a:r>
              <a:rPr lang="en-US" sz="2400" b="1">
                <a:solidFill>
                  <a:srgbClr val="1F4E79"/>
                </a:solidFill>
              </a:rPr>
              <a:t>FAR 36.602-1 Selection criteria.</a:t>
            </a:r>
          </a:p>
          <a:p>
            <a:endParaRPr lang="en-US" sz="2400" b="1">
              <a:solidFill>
                <a:srgbClr val="1F4E79"/>
              </a:solidFill>
              <a:ea typeface="Calibri"/>
              <a:cs typeface="Calibri"/>
            </a:endParaRPr>
          </a:p>
        </p:txBody>
      </p:sp>
      <p:sp>
        <p:nvSpPr>
          <p:cNvPr id="3" name="Text 1">
            <a:extLst>
              <a:ext uri="{FF2B5EF4-FFF2-40B4-BE49-F238E27FC236}">
                <a16:creationId xmlns:a16="http://schemas.microsoft.com/office/drawing/2014/main" id="{D9BB9DAC-86FE-2AEC-DCE9-AEDE6E1F6828}"/>
              </a:ext>
            </a:extLst>
          </p:cNvPr>
          <p:cNvSpPr/>
          <p:nvPr/>
        </p:nvSpPr>
        <p:spPr>
          <a:xfrm>
            <a:off x="457200" y="1574483"/>
            <a:ext cx="8229600" cy="2730012"/>
          </a:xfrm>
          <a:prstGeom prst="rect">
            <a:avLst/>
          </a:prstGeom>
          <a:noFill/>
          <a:ln/>
        </p:spPr>
        <p:txBody>
          <a:bodyPr wrap="square" lIns="91440" tIns="45720" rIns="91440" bIns="45720" rtlCol="0" anchor="t"/>
          <a:lstStyle/>
          <a:p>
            <a:pPr>
              <a:buSzPct val="100000"/>
            </a:pPr>
            <a:r>
              <a:rPr lang="en-US" sz="1200">
                <a:solidFill>
                  <a:srgbClr val="333333"/>
                </a:solidFill>
                <a:highlight>
                  <a:srgbClr val="FFFFFF"/>
                </a:highlight>
                <a:ea typeface="+mn-lt"/>
                <a:cs typeface="+mn-lt"/>
              </a:rPr>
              <a:t>Agencies shall evaluate each potential contractor in terms of its:</a:t>
            </a:r>
            <a:endParaRPr lang="en-US" sz="1200">
              <a:solidFill>
                <a:srgbClr val="000000"/>
              </a:solidFill>
              <a:ea typeface="+mn-lt"/>
              <a:cs typeface="+mn-lt"/>
            </a:endParaRPr>
          </a:p>
          <a:p>
            <a:pPr marL="228600" indent="-228600">
              <a:buSzPct val="100000"/>
              <a:buAutoNum type="arabicParenR"/>
            </a:pPr>
            <a:r>
              <a:rPr lang="en-US" sz="1200">
                <a:solidFill>
                  <a:srgbClr val="333333"/>
                </a:solidFill>
                <a:highlight>
                  <a:srgbClr val="FFFFFF"/>
                </a:highlight>
                <a:ea typeface="+mn-lt"/>
                <a:cs typeface="+mn-lt"/>
              </a:rPr>
              <a:t>Professional qualifications necessary for satisfactory performance of required services *</a:t>
            </a:r>
            <a:endParaRPr lang="en-US" sz="1200">
              <a:solidFill>
                <a:srgbClr val="000000"/>
              </a:solidFill>
              <a:ea typeface="+mn-lt"/>
              <a:cs typeface="+mn-lt"/>
            </a:endParaRPr>
          </a:p>
          <a:p>
            <a:pPr marL="228600" indent="-228600">
              <a:buSzPct val="100000"/>
              <a:buAutoNum type="arabicParenR"/>
            </a:pPr>
            <a:r>
              <a:rPr lang="en-US" sz="1200">
                <a:solidFill>
                  <a:srgbClr val="333333"/>
                </a:solidFill>
                <a:highlight>
                  <a:srgbClr val="FFFFFF"/>
                </a:highlight>
                <a:ea typeface="+mn-lt"/>
                <a:cs typeface="+mn-lt"/>
              </a:rPr>
              <a:t>Specialized experience and technical competence in the type of work required</a:t>
            </a:r>
            <a:endParaRPr lang="en-US" sz="1200">
              <a:solidFill>
                <a:srgbClr val="000000"/>
              </a:solidFill>
              <a:ea typeface="+mn-lt"/>
              <a:cs typeface="+mn-lt"/>
            </a:endParaRPr>
          </a:p>
          <a:p>
            <a:pPr marL="228600" indent="-228600">
              <a:buSzPct val="100000"/>
              <a:buAutoNum type="arabicParenR"/>
            </a:pPr>
            <a:r>
              <a:rPr lang="en-US" sz="1200">
                <a:solidFill>
                  <a:srgbClr val="333333"/>
                </a:solidFill>
                <a:highlight>
                  <a:srgbClr val="FFFFFF"/>
                </a:highlight>
                <a:ea typeface="+mn-lt"/>
                <a:cs typeface="+mn-lt"/>
              </a:rPr>
              <a:t>Capacity to accomplish the work in the required time</a:t>
            </a:r>
            <a:endParaRPr lang="en-US" sz="1200">
              <a:solidFill>
                <a:srgbClr val="000000"/>
              </a:solidFill>
              <a:ea typeface="+mn-lt"/>
              <a:cs typeface="+mn-lt"/>
            </a:endParaRPr>
          </a:p>
          <a:p>
            <a:pPr marL="228600" indent="-228600">
              <a:buSzPct val="100000"/>
              <a:buAutoNum type="arabicParenR"/>
            </a:pPr>
            <a:r>
              <a:rPr lang="en-US" sz="1200">
                <a:solidFill>
                  <a:srgbClr val="333333"/>
                </a:solidFill>
                <a:highlight>
                  <a:srgbClr val="FFFFFF"/>
                </a:highlight>
                <a:ea typeface="+mn-lt"/>
                <a:cs typeface="+mn-lt"/>
              </a:rPr>
              <a:t>Past performance on contracts with Government agencies and private industry in terms of cost control, quality of work, and compliance with performance schedules</a:t>
            </a:r>
            <a:endParaRPr lang="en-US" sz="1200">
              <a:solidFill>
                <a:srgbClr val="000000"/>
              </a:solidFill>
              <a:ea typeface="+mn-lt"/>
              <a:cs typeface="+mn-lt"/>
            </a:endParaRPr>
          </a:p>
          <a:p>
            <a:pPr marL="228600" indent="-228600">
              <a:buSzPct val="100000"/>
              <a:buAutoNum type="arabicParenR"/>
            </a:pPr>
            <a:r>
              <a:rPr lang="en-US" sz="1200">
                <a:solidFill>
                  <a:srgbClr val="333333"/>
                </a:solidFill>
                <a:highlight>
                  <a:srgbClr val="FFFFFF"/>
                </a:highlight>
                <a:ea typeface="+mn-lt"/>
                <a:cs typeface="+mn-lt"/>
              </a:rPr>
              <a:t>Location in the general geographical area of the project and knowledge of the locality of the project; provided, that application of this criterion leaves an appropriate number of qualified firms, given the nature and size of the project</a:t>
            </a:r>
            <a:endParaRPr lang="en-US" sz="1200">
              <a:solidFill>
                <a:srgbClr val="000000"/>
              </a:solidFill>
              <a:ea typeface="+mn-lt"/>
              <a:cs typeface="+mn-lt"/>
            </a:endParaRPr>
          </a:p>
          <a:p>
            <a:pPr marL="228600" indent="-228600">
              <a:buSzPct val="100000"/>
              <a:buAutoNum type="arabicParenR"/>
            </a:pPr>
            <a:r>
              <a:rPr lang="en-US" sz="1200">
                <a:solidFill>
                  <a:srgbClr val="333333"/>
                </a:solidFill>
                <a:highlight>
                  <a:srgbClr val="FFFFFF"/>
                </a:highlight>
                <a:ea typeface="+mn-lt"/>
                <a:cs typeface="+mn-lt"/>
              </a:rPr>
              <a:t>Acceptability under other appropriate evaluation criteria</a:t>
            </a:r>
            <a:endParaRPr lang="en-US" sz="1200">
              <a:solidFill>
                <a:srgbClr val="333333"/>
              </a:solidFill>
              <a:highlight>
                <a:srgbClr val="FFFFFF"/>
              </a:highlight>
              <a:ea typeface="Calibri"/>
              <a:cs typeface="Calibri"/>
            </a:endParaRPr>
          </a:p>
          <a:p>
            <a:pPr marL="228600" indent="-228600">
              <a:buSzPct val="100000"/>
              <a:buFontTx/>
              <a:buAutoNum type="arabicParenR"/>
            </a:pPr>
            <a:endParaRPr lang="en-US" sz="1200">
              <a:solidFill>
                <a:srgbClr val="333333"/>
              </a:solidFill>
              <a:highlight>
                <a:srgbClr val="FFFFFF"/>
              </a:highlight>
              <a:ea typeface="Calibri"/>
              <a:cs typeface="Calibri"/>
            </a:endParaRPr>
          </a:p>
          <a:p>
            <a:pPr>
              <a:buSzPct val="100000"/>
            </a:pPr>
            <a:r>
              <a:rPr lang="en-US" sz="1200">
                <a:solidFill>
                  <a:srgbClr val="333333"/>
                </a:solidFill>
                <a:highlight>
                  <a:srgbClr val="FFFFFF"/>
                </a:highlight>
                <a:ea typeface="Calibri"/>
                <a:cs typeface="Calibri"/>
              </a:rPr>
              <a:t>*  Comply with PR State law' (Dep. Of State </a:t>
            </a:r>
            <a:r>
              <a:rPr lang="en-US" sz="1200">
                <a:solidFill>
                  <a:srgbClr val="333333"/>
                </a:solidFill>
                <a:highlight>
                  <a:srgbClr val="FFFFFF"/>
                </a:highlight>
              </a:rPr>
              <a:t>Examining Boards and</a:t>
            </a:r>
            <a:r>
              <a:rPr lang="en-US" sz="1200">
                <a:solidFill>
                  <a:srgbClr val="333333"/>
                </a:solidFill>
                <a:highlight>
                  <a:srgbClr val="FFFFFF"/>
                </a:highlight>
                <a:ea typeface="Calibri"/>
                <a:cs typeface="Calibri"/>
              </a:rPr>
              <a:t> College of Engineers &amp; Surveyors of PR (CIAPR) and Corporate Institutional Policy Pursuant to Act No. 173 of 1988</a:t>
            </a:r>
            <a:endParaRPr lang="en-US">
              <a:ea typeface="Calibri" panose="020F0502020204030204"/>
              <a:cs typeface="Calibri" panose="020F0502020204030204"/>
            </a:endParaRPr>
          </a:p>
          <a:p>
            <a:endParaRPr lang="en-US">
              <a:solidFill>
                <a:srgbClr val="000000"/>
              </a:solidFill>
              <a:ea typeface="Calibri"/>
              <a:cs typeface="Calibri"/>
            </a:endParaRPr>
          </a:p>
          <a:p>
            <a:pPr>
              <a:buSzPct val="100000"/>
              <a:buFont typeface="Arial"/>
              <a:buChar char="•"/>
            </a:pPr>
            <a:endParaRPr lang="en-US" sz="1400">
              <a:solidFill>
                <a:srgbClr val="333333"/>
              </a:solidFill>
              <a:ea typeface="Calibri"/>
              <a:cs typeface="Calibri"/>
            </a:endParaRPr>
          </a:p>
          <a:p>
            <a:pPr marL="342900" indent="-342900">
              <a:buSzPct val="100000"/>
              <a:buChar char="•"/>
            </a:pPr>
            <a:endParaRPr lang="en-US" sz="1400">
              <a:solidFill>
                <a:srgbClr val="333333"/>
              </a:solidFill>
              <a:ea typeface="Calibri"/>
              <a:cs typeface="Calibri"/>
            </a:endParaRPr>
          </a:p>
        </p:txBody>
      </p:sp>
    </p:spTree>
    <p:extLst>
      <p:ext uri="{BB962C8B-B14F-4D97-AF65-F5344CB8AC3E}">
        <p14:creationId xmlns:p14="http://schemas.microsoft.com/office/powerpoint/2010/main" val="2848394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689029"/>
            <a:ext cx="8229600" cy="548640"/>
          </a:xfrm>
          <a:prstGeom prst="rect">
            <a:avLst/>
          </a:prstGeom>
          <a:noFill/>
          <a:ln/>
        </p:spPr>
        <p:txBody>
          <a:bodyPr wrap="square" rtlCol="0" anchor="t"/>
          <a:lstStyle/>
          <a:p>
            <a:pPr marL="0" indent="0">
              <a:buNone/>
            </a:pPr>
            <a:r>
              <a:rPr lang="en-US" sz="2400" b="1">
                <a:solidFill>
                  <a:srgbClr val="1F4E79"/>
                </a:solidFill>
              </a:rPr>
              <a:t>DRAFT CONTRACT LINE ITEMS OVERVIEW</a:t>
            </a:r>
            <a:endParaRPr lang="en-US" sz="2400"/>
          </a:p>
        </p:txBody>
      </p:sp>
      <p:sp>
        <p:nvSpPr>
          <p:cNvPr id="3" name="Text 1"/>
          <p:cNvSpPr/>
          <p:nvPr/>
        </p:nvSpPr>
        <p:spPr>
          <a:xfrm>
            <a:off x="457200" y="1021301"/>
            <a:ext cx="8229600" cy="3930626"/>
          </a:xfrm>
          <a:prstGeom prst="rect">
            <a:avLst/>
          </a:prstGeom>
          <a:noFill/>
          <a:ln/>
        </p:spPr>
        <p:txBody>
          <a:bodyPr wrap="square" lIns="91440" tIns="45720" rIns="91440" bIns="45720" rtlCol="0" anchor="t"/>
          <a:lstStyle/>
          <a:p>
            <a:pPr marL="342900" indent="-342900">
              <a:buSzPct val="100000"/>
              <a:buChar char="•"/>
            </a:pPr>
            <a:r>
              <a:rPr lang="en-US" sz="1600">
                <a:solidFill>
                  <a:srgbClr val="333333"/>
                </a:solidFill>
              </a:rPr>
              <a:t>0001 - Miscellaneous: Negotiated per task order</a:t>
            </a:r>
          </a:p>
          <a:p>
            <a:pPr marL="800100" lvl="1" indent="-342900">
              <a:buSzPct val="100000"/>
              <a:buChar char="•"/>
            </a:pPr>
            <a:r>
              <a:rPr lang="en-US" sz="1200">
                <a:solidFill>
                  <a:srgbClr val="333333"/>
                </a:solidFill>
              </a:rPr>
              <a:t>0001AA - Per Diem As per FAR 31.205-46</a:t>
            </a:r>
            <a:endParaRPr lang="en-US" sz="1200">
              <a:solidFill>
                <a:srgbClr val="333333"/>
              </a:solidFill>
              <a:ea typeface="Calibri"/>
              <a:cs typeface="Calibri"/>
            </a:endParaRPr>
          </a:p>
          <a:p>
            <a:pPr marL="800100" lvl="1" indent="-342900">
              <a:buSzPct val="100000"/>
              <a:buChar char="•"/>
            </a:pPr>
            <a:r>
              <a:rPr lang="en-US" sz="1200">
                <a:solidFill>
                  <a:srgbClr val="333333"/>
                </a:solidFill>
              </a:rPr>
              <a:t>0001AB - Air Transportation</a:t>
            </a:r>
            <a:endParaRPr lang="en-US" sz="1200"/>
          </a:p>
          <a:p>
            <a:pPr marL="342900" indent="-342900">
              <a:buSzPct val="100000"/>
              <a:buChar char="•"/>
            </a:pPr>
            <a:r>
              <a:rPr lang="en-US" sz="1600">
                <a:solidFill>
                  <a:srgbClr val="333333"/>
                </a:solidFill>
              </a:rPr>
              <a:t>0002 - Vehicles:</a:t>
            </a:r>
          </a:p>
          <a:p>
            <a:pPr marL="800100" lvl="1" indent="-342900">
              <a:buSzPct val="100000"/>
              <a:buChar char="•"/>
            </a:pPr>
            <a:r>
              <a:rPr lang="en-US" sz="1200">
                <a:solidFill>
                  <a:srgbClr val="333333"/>
                </a:solidFill>
              </a:rPr>
              <a:t>0002AA - Pickup Trucks</a:t>
            </a:r>
          </a:p>
          <a:p>
            <a:pPr marL="800100" lvl="1" indent="-342900">
              <a:buSzPct val="100000"/>
              <a:buChar char="•"/>
            </a:pPr>
            <a:r>
              <a:rPr lang="en-US" sz="1200">
                <a:solidFill>
                  <a:srgbClr val="333333"/>
                </a:solidFill>
              </a:rPr>
              <a:t>0002AB - ATV’s</a:t>
            </a:r>
          </a:p>
          <a:p>
            <a:pPr marL="800100" lvl="1" indent="-342900">
              <a:buSzPct val="100000"/>
              <a:buChar char="•"/>
            </a:pPr>
            <a:r>
              <a:rPr lang="en-US" sz="1200">
                <a:solidFill>
                  <a:srgbClr val="333333"/>
                </a:solidFill>
              </a:rPr>
              <a:t>0003AC - Vessels</a:t>
            </a:r>
          </a:p>
          <a:p>
            <a:pPr marL="800100" lvl="1" indent="-342900">
              <a:buSzPct val="100000"/>
              <a:buChar char="•"/>
            </a:pPr>
            <a:r>
              <a:rPr lang="en-US" sz="1200">
                <a:solidFill>
                  <a:srgbClr val="333333"/>
                </a:solidFill>
              </a:rPr>
              <a:t>0003AD - Heavy Equipment</a:t>
            </a:r>
            <a:endParaRPr lang="en-US" sz="1200"/>
          </a:p>
          <a:p>
            <a:pPr marL="342900" indent="-342900">
              <a:buSzPct val="100000"/>
              <a:buChar char="•"/>
            </a:pPr>
            <a:r>
              <a:rPr lang="en-US" sz="1600">
                <a:solidFill>
                  <a:srgbClr val="333333"/>
                </a:solidFill>
              </a:rPr>
              <a:t>0003 - Equipment:</a:t>
            </a:r>
          </a:p>
          <a:p>
            <a:pPr marL="800100" lvl="1" indent="-342900">
              <a:buSzPct val="100000"/>
              <a:buChar char="•"/>
            </a:pPr>
            <a:r>
              <a:rPr lang="en-US" sz="1200">
                <a:solidFill>
                  <a:srgbClr val="333333"/>
                </a:solidFill>
              </a:rPr>
              <a:t>0003AA - GPS units</a:t>
            </a:r>
            <a:endParaRPr lang="en-US" sz="1200">
              <a:solidFill>
                <a:srgbClr val="333333"/>
              </a:solidFill>
              <a:ea typeface="Calibri"/>
              <a:cs typeface="Calibri"/>
            </a:endParaRPr>
          </a:p>
          <a:p>
            <a:pPr marL="800100" lvl="1" indent="-342900">
              <a:buSzPct val="100000"/>
              <a:buChar char="•"/>
            </a:pPr>
            <a:r>
              <a:rPr lang="en-US" sz="1200">
                <a:solidFill>
                  <a:srgbClr val="333333"/>
                </a:solidFill>
              </a:rPr>
              <a:t>0003AB - Total Stations</a:t>
            </a:r>
            <a:endParaRPr lang="en-US" sz="1200">
              <a:solidFill>
                <a:srgbClr val="333333"/>
              </a:solidFill>
              <a:ea typeface="Calibri" panose="020F0502020204030204"/>
              <a:cs typeface="Calibri" panose="020F0502020204030204"/>
            </a:endParaRPr>
          </a:p>
          <a:p>
            <a:pPr marL="800100" lvl="1" indent="-342900">
              <a:buSzPct val="100000"/>
              <a:buChar char="•"/>
            </a:pPr>
            <a:r>
              <a:rPr lang="en-US" sz="1200">
                <a:solidFill>
                  <a:srgbClr val="333333"/>
                </a:solidFill>
              </a:rPr>
              <a:t>0003AC - Hydrographic systems</a:t>
            </a:r>
            <a:endParaRPr lang="en-US" sz="1200">
              <a:solidFill>
                <a:srgbClr val="333333"/>
              </a:solidFill>
              <a:ea typeface="Calibri" panose="020F0502020204030204"/>
              <a:cs typeface="Calibri" panose="020F0502020204030204"/>
            </a:endParaRPr>
          </a:p>
          <a:p>
            <a:pPr marL="800100" lvl="1" indent="-342900">
              <a:buSzPct val="100000"/>
              <a:buChar char="•"/>
            </a:pPr>
            <a:r>
              <a:rPr lang="en-US" sz="1200">
                <a:solidFill>
                  <a:srgbClr val="333333"/>
                </a:solidFill>
              </a:rPr>
              <a:t>0003AD - Sensors</a:t>
            </a:r>
            <a:endParaRPr lang="en-US" sz="1200"/>
          </a:p>
          <a:p>
            <a:pPr marL="342900" indent="-342900">
              <a:buSzPct val="100000"/>
              <a:buChar char="•"/>
            </a:pPr>
            <a:r>
              <a:rPr lang="en-US" sz="1600">
                <a:solidFill>
                  <a:srgbClr val="333333"/>
                </a:solidFill>
              </a:rPr>
              <a:t>0004 - Personnel:</a:t>
            </a:r>
          </a:p>
          <a:p>
            <a:pPr marL="800100" lvl="1" indent="-342900">
              <a:buSzPct val="100000"/>
              <a:buChar char="•"/>
            </a:pPr>
            <a:r>
              <a:rPr lang="en-US" sz="1200">
                <a:solidFill>
                  <a:srgbClr val="333333"/>
                </a:solidFill>
              </a:rPr>
              <a:t>0004AA - Survey crews</a:t>
            </a:r>
            <a:endParaRPr lang="en-US" sz="1200">
              <a:solidFill>
                <a:srgbClr val="333333"/>
              </a:solidFill>
              <a:ea typeface="Calibri"/>
              <a:cs typeface="Calibri"/>
            </a:endParaRPr>
          </a:p>
          <a:p>
            <a:pPr marL="800100" lvl="1" indent="-342900">
              <a:buSzPct val="100000"/>
              <a:buChar char="•"/>
            </a:pPr>
            <a:r>
              <a:rPr lang="en-US" sz="1200">
                <a:solidFill>
                  <a:srgbClr val="333333"/>
                </a:solidFill>
              </a:rPr>
              <a:t>0004AB - Specialists</a:t>
            </a:r>
            <a:endParaRPr lang="en-US" sz="1200">
              <a:solidFill>
                <a:srgbClr val="333333"/>
              </a:solidFill>
              <a:ea typeface="Calibri"/>
              <a:cs typeface="Calibri"/>
            </a:endParaRPr>
          </a:p>
          <a:p>
            <a:pPr marL="800100" lvl="1" indent="-342900">
              <a:buSzPct val="100000"/>
              <a:buChar char="•"/>
            </a:pPr>
            <a:r>
              <a:rPr lang="en-US" sz="1200">
                <a:solidFill>
                  <a:srgbClr val="333333"/>
                </a:solidFill>
              </a:rPr>
              <a:t>0004AC - Analysts</a:t>
            </a:r>
            <a:endParaRPr lang="en-US" sz="1200">
              <a:solidFill>
                <a:srgbClr val="333333"/>
              </a:solidFill>
              <a:ea typeface="Calibri"/>
              <a:cs typeface="Calibri"/>
            </a:endParaRPr>
          </a:p>
          <a:p>
            <a:pPr marL="800100" lvl="1" indent="-342900">
              <a:buSzPct val="100000"/>
              <a:buChar char="•"/>
            </a:pPr>
            <a:r>
              <a:rPr lang="en-US" sz="1200">
                <a:solidFill>
                  <a:srgbClr val="333333"/>
                </a:solidFill>
              </a:rPr>
              <a:t>0004AD - Technicians</a:t>
            </a:r>
            <a:endParaRPr lang="en-US" sz="1200"/>
          </a:p>
          <a:p>
            <a:pPr marL="342900" indent="-342900">
              <a:buSzPct val="100000"/>
              <a:buChar char="•"/>
            </a:pPr>
            <a:r>
              <a:rPr lang="en-US" sz="1600">
                <a:solidFill>
                  <a:srgbClr val="333333"/>
                </a:solidFill>
              </a:rPr>
              <a:t>0005 - Special Assignment: Negotiated as required</a:t>
            </a:r>
            <a:endParaRPr 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PARTNERING AND COMMUNICATION</a:t>
            </a:r>
            <a:endParaRPr lang="en-US" sz="240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1600">
                <a:solidFill>
                  <a:srgbClr val="333333"/>
                </a:solidFill>
              </a:rPr>
              <a:t>Initial Partnering Meeting (Kickoff) for process overview</a:t>
            </a:r>
            <a:endParaRPr lang="en-US" sz="1600"/>
          </a:p>
          <a:p>
            <a:pPr marL="342900" indent="-342900">
              <a:buSzPct val="100000"/>
              <a:buChar char="•"/>
            </a:pPr>
            <a:r>
              <a:rPr lang="en-US" sz="1600">
                <a:solidFill>
                  <a:srgbClr val="333333"/>
                </a:solidFill>
              </a:rPr>
              <a:t>Bilateral project partnership approach</a:t>
            </a:r>
            <a:endParaRPr lang="en-US" sz="1600"/>
          </a:p>
          <a:p>
            <a:pPr marL="342900" indent="-342900">
              <a:buSzPct val="100000"/>
              <a:buChar char="•"/>
            </a:pPr>
            <a:r>
              <a:rPr lang="en-US" sz="1600">
                <a:solidFill>
                  <a:srgbClr val="333333"/>
                </a:solidFill>
              </a:rPr>
              <a:t>Goals: Effective performance, on-time completion, customer satisfaction</a:t>
            </a:r>
            <a:endParaRPr lang="en-US" sz="1600"/>
          </a:p>
          <a:p>
            <a:pPr marL="342900" indent="-342900">
              <a:buSzPct val="100000"/>
              <a:buChar char="•"/>
            </a:pPr>
            <a:r>
              <a:rPr lang="en-US" sz="1600">
                <a:solidFill>
                  <a:srgbClr val="333333"/>
                </a:solidFill>
              </a:rPr>
              <a:t>Weekly reporting requirements by close of business Mondays</a:t>
            </a:r>
            <a:endParaRPr lang="en-US" sz="1600"/>
          </a:p>
          <a:p>
            <a:pPr marL="342900" indent="-342900">
              <a:buSzPct val="100000"/>
              <a:buChar char="•"/>
            </a:pPr>
            <a:r>
              <a:rPr lang="en-US" sz="1600">
                <a:solidFill>
                  <a:srgbClr val="333333"/>
                </a:solidFill>
              </a:rPr>
              <a:t>Close liaison with COR and Technical Point of Contact (TPOC)</a:t>
            </a:r>
            <a:endParaRPr lang="en-US" sz="1600"/>
          </a:p>
          <a:p>
            <a:pPr marL="342900" indent="-342900">
              <a:buSzPct val="100000"/>
              <a:buChar char="•"/>
            </a:pPr>
            <a:r>
              <a:rPr lang="en-US" sz="1600">
                <a:solidFill>
                  <a:srgbClr val="333333"/>
                </a:solidFill>
              </a:rPr>
              <a:t>Response to RFPs within 10 calendar days</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SAFETY AND COMPLIANCE</a:t>
            </a:r>
            <a:endParaRPr lang="en-US" sz="2400"/>
          </a:p>
        </p:txBody>
      </p:sp>
      <p:sp>
        <p:nvSpPr>
          <p:cNvPr id="3" name="Text 1"/>
          <p:cNvSpPr/>
          <p:nvPr/>
        </p:nvSpPr>
        <p:spPr>
          <a:xfrm>
            <a:off x="457200" y="1645920"/>
            <a:ext cx="8229600" cy="3657600"/>
          </a:xfrm>
          <a:prstGeom prst="rect">
            <a:avLst/>
          </a:prstGeom>
          <a:noFill/>
          <a:ln/>
        </p:spPr>
        <p:txBody>
          <a:bodyPr wrap="square" rtlCol="0" anchor="t"/>
          <a:lstStyle/>
          <a:p>
            <a:pPr marL="342900" indent="-342900">
              <a:buSzPct val="100000"/>
              <a:buChar char="•"/>
            </a:pPr>
            <a:r>
              <a:rPr lang="en-US" sz="1600">
                <a:solidFill>
                  <a:srgbClr val="333333"/>
                </a:solidFill>
              </a:rPr>
              <a:t>Compliance with USACE EM 385-1-1 Safety and Health Requirements</a:t>
            </a:r>
            <a:endParaRPr lang="en-US" sz="1600"/>
          </a:p>
          <a:p>
            <a:pPr marL="342900" indent="-342900">
              <a:buSzPct val="100000"/>
              <a:buChar char="•"/>
            </a:pPr>
            <a:r>
              <a:rPr lang="en-US" sz="1600">
                <a:solidFill>
                  <a:srgbClr val="333333"/>
                </a:solidFill>
              </a:rPr>
              <a:t>FAR 52.236-13 Accident Prevention requirements</a:t>
            </a:r>
            <a:endParaRPr lang="en-US" sz="1600"/>
          </a:p>
          <a:p>
            <a:pPr marL="342900" indent="-342900">
              <a:buSzPct val="100000"/>
              <a:buChar char="•"/>
            </a:pPr>
            <a:r>
              <a:rPr lang="en-US" sz="1600">
                <a:solidFill>
                  <a:srgbClr val="333333"/>
                </a:solidFill>
              </a:rPr>
              <a:t>Site investigation responsibility per FAR 52.236-3</a:t>
            </a:r>
            <a:endParaRPr lang="en-US" sz="1600"/>
          </a:p>
          <a:p>
            <a:pPr marL="342900" indent="-342900">
              <a:buSzPct val="100000"/>
              <a:buChar char="•"/>
            </a:pPr>
            <a:r>
              <a:rPr lang="en-US" sz="1600">
                <a:solidFill>
                  <a:srgbClr val="333333"/>
                </a:solidFill>
              </a:rPr>
              <a:t>Professional supervision and quality management</a:t>
            </a:r>
            <a:endParaRPr lang="en-US" sz="1600"/>
          </a:p>
          <a:p>
            <a:pPr marL="342900" indent="-342900">
              <a:buSzPct val="100000"/>
              <a:buChar char="•"/>
            </a:pPr>
            <a:r>
              <a:rPr lang="en-US" sz="1600">
                <a:solidFill>
                  <a:srgbClr val="333333"/>
                </a:solidFill>
              </a:rPr>
              <a:t>Technical accuracy responsibility per FAR 52.236-23</a:t>
            </a:r>
            <a:endParaRPr lang="en-US"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PAYMENT AND INVOICING</a:t>
            </a:r>
            <a:endParaRPr lang="en-US" sz="2400"/>
          </a:p>
        </p:txBody>
      </p:sp>
      <p:sp>
        <p:nvSpPr>
          <p:cNvPr id="3" name="Text 1"/>
          <p:cNvSpPr/>
          <p:nvPr/>
        </p:nvSpPr>
        <p:spPr>
          <a:xfrm>
            <a:off x="457200" y="1486559"/>
            <a:ext cx="8229600" cy="3657600"/>
          </a:xfrm>
          <a:prstGeom prst="rect">
            <a:avLst/>
          </a:prstGeom>
          <a:noFill/>
          <a:ln/>
        </p:spPr>
        <p:txBody>
          <a:bodyPr wrap="square" lIns="91440" tIns="45720" rIns="91440" bIns="45720" rtlCol="0" anchor="t"/>
          <a:lstStyle/>
          <a:p>
            <a:pPr marL="342900" indent="-342900">
              <a:buSzPct val="100000"/>
              <a:buChar char="•"/>
            </a:pPr>
            <a:r>
              <a:rPr lang="en-US" sz="1600">
                <a:solidFill>
                  <a:srgbClr val="333333"/>
                </a:solidFill>
              </a:rPr>
              <a:t>Payment based on negotiated unit prices</a:t>
            </a:r>
            <a:endParaRPr lang="en-US" sz="1600"/>
          </a:p>
          <a:p>
            <a:pPr marL="800100" lvl="1" indent="-342900">
              <a:buSzPct val="100000"/>
              <a:buFont typeface="Arial"/>
              <a:buChar char="•"/>
            </a:pPr>
            <a:r>
              <a:rPr lang="en-US" sz="1600">
                <a:solidFill>
                  <a:srgbClr val="333333"/>
                </a:solidFill>
                <a:ea typeface="Calibri" panose="020F0502020204030204"/>
                <a:cs typeface="Calibri" panose="020F0502020204030204"/>
              </a:rPr>
              <a:t>Task Order (TO) will be a </a:t>
            </a:r>
            <a:r>
              <a:rPr lang="en-US" sz="1600" b="1">
                <a:solidFill>
                  <a:srgbClr val="333333"/>
                </a:solidFill>
                <a:ea typeface="Calibri" panose="020F0502020204030204"/>
                <a:cs typeface="Calibri" panose="020F0502020204030204"/>
              </a:rPr>
              <a:t>Firm Fix Price Contract (FFP) </a:t>
            </a:r>
            <a:r>
              <a:rPr lang="en-US" sz="1600">
                <a:solidFill>
                  <a:srgbClr val="333333"/>
                </a:solidFill>
                <a:ea typeface="Calibri" panose="020F0502020204030204"/>
                <a:cs typeface="Calibri" panose="020F0502020204030204"/>
              </a:rPr>
              <a:t>-  is an agreement where the buyer pays a set price, regardless of the seller’s actual costs, placing maximum risk on the contractor. It requires clear, well-defined, and stable specifications. The contract offers high certainty for budgets, as costs are not subject to adjustment based on contractor experience. </a:t>
            </a:r>
          </a:p>
          <a:p>
            <a:pPr marL="342900" indent="-342900">
              <a:buSzPct val="100000"/>
              <a:buChar char="•"/>
            </a:pPr>
            <a:r>
              <a:rPr lang="en-US" sz="1600">
                <a:solidFill>
                  <a:srgbClr val="333333"/>
                </a:solidFill>
              </a:rPr>
              <a:t>Monthly payments per FAR 52.232-10</a:t>
            </a:r>
            <a:endParaRPr lang="en-US" sz="1600"/>
          </a:p>
          <a:p>
            <a:pPr marL="342900" indent="-342900">
              <a:buSzPct val="100000"/>
              <a:buChar char="•"/>
            </a:pPr>
            <a:r>
              <a:rPr lang="en-US" sz="1600">
                <a:solidFill>
                  <a:srgbClr val="333333"/>
                </a:solidFill>
              </a:rPr>
              <a:t>Standard 10% retainage on partial payments</a:t>
            </a:r>
            <a:endParaRPr lang="en-US" sz="1600"/>
          </a:p>
          <a:p>
            <a:pPr marL="342900" indent="-342900">
              <a:buSzPct val="100000"/>
              <a:buChar char="•"/>
            </a:pPr>
            <a:r>
              <a:rPr lang="en-US" sz="1600">
                <a:solidFill>
                  <a:srgbClr val="333333"/>
                </a:solidFill>
              </a:rPr>
              <a:t>ENG Form 93 submission to ENG-93-tfvipr@usace.army.mil</a:t>
            </a:r>
            <a:endParaRPr lang="en-US" sz="1600"/>
          </a:p>
          <a:p>
            <a:pPr marL="342900" indent="-342900">
              <a:buSzPct val="100000"/>
              <a:buChar char="•"/>
            </a:pPr>
            <a:r>
              <a:rPr lang="en-US" sz="1600">
                <a:solidFill>
                  <a:srgbClr val="333333"/>
                </a:solidFill>
              </a:rPr>
              <a:t>Daily time sheets and lodging receipts required</a:t>
            </a:r>
            <a:endParaRPr lang="en-US" sz="1600"/>
          </a:p>
          <a:p>
            <a:pPr marL="342900" indent="-342900">
              <a:buSzPct val="100000"/>
              <a:buChar char="•"/>
            </a:pPr>
            <a:r>
              <a:rPr lang="en-US" sz="1600">
                <a:solidFill>
                  <a:srgbClr val="333333"/>
                </a:solidFill>
              </a:rPr>
              <a:t>Final payment includes release of claims</a:t>
            </a:r>
            <a:endParaRPr lang="en-US"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t"/>
          <a:lstStyle/>
          <a:p>
            <a:pPr marL="0" indent="0">
              <a:buNone/>
            </a:pPr>
            <a:r>
              <a:rPr lang="en-US" sz="2400" b="1">
                <a:solidFill>
                  <a:srgbClr val="1F4E79"/>
                </a:solidFill>
              </a:rPr>
              <a:t>CONTACT INFORMATION</a:t>
            </a:r>
            <a:endParaRPr lang="en-US" sz="2400"/>
          </a:p>
        </p:txBody>
      </p:sp>
      <p:sp>
        <p:nvSpPr>
          <p:cNvPr id="3" name="Text 1"/>
          <p:cNvSpPr/>
          <p:nvPr/>
        </p:nvSpPr>
        <p:spPr>
          <a:xfrm>
            <a:off x="457200" y="1645920"/>
            <a:ext cx="8229600" cy="365760"/>
          </a:xfrm>
          <a:prstGeom prst="rect">
            <a:avLst/>
          </a:prstGeom>
          <a:noFill/>
          <a:ln/>
        </p:spPr>
        <p:txBody>
          <a:bodyPr wrap="square" rtlCol="0" anchor="t"/>
          <a:lstStyle/>
          <a:p>
            <a:pPr marL="0" indent="0">
              <a:buNone/>
            </a:pPr>
            <a:r>
              <a:rPr lang="en-US" sz="1800" b="1">
                <a:solidFill>
                  <a:srgbClr val="1F4E79"/>
                </a:solidFill>
              </a:rPr>
              <a:t>USACE Caribbean District</a:t>
            </a:r>
            <a:endParaRPr lang="en-US" sz="1800"/>
          </a:p>
        </p:txBody>
      </p:sp>
      <p:sp>
        <p:nvSpPr>
          <p:cNvPr id="4" name="Text 2"/>
          <p:cNvSpPr/>
          <p:nvPr/>
        </p:nvSpPr>
        <p:spPr>
          <a:xfrm>
            <a:off x="457200" y="2103120"/>
            <a:ext cx="8229600" cy="1828800"/>
          </a:xfrm>
          <a:prstGeom prst="rect">
            <a:avLst/>
          </a:prstGeom>
          <a:noFill/>
          <a:ln/>
        </p:spPr>
        <p:txBody>
          <a:bodyPr wrap="square" rtlCol="0" anchor="t"/>
          <a:lstStyle/>
          <a:p>
            <a:pPr marL="342900" indent="-342900">
              <a:buSzPct val="100000"/>
              <a:buChar char="•"/>
            </a:pPr>
            <a:r>
              <a:rPr lang="en-US" sz="1600">
                <a:solidFill>
                  <a:srgbClr val="333333"/>
                </a:solidFill>
              </a:rPr>
              <a:t>Engineering/Surveying, Technical Support Branch</a:t>
            </a:r>
            <a:endParaRPr lang="en-US" sz="1600"/>
          </a:p>
          <a:p>
            <a:pPr marL="342900" indent="-342900">
              <a:buSzPct val="100000"/>
              <a:buChar char="•"/>
            </a:pPr>
            <a:r>
              <a:rPr lang="en-US" sz="1600">
                <a:solidFill>
                  <a:srgbClr val="333333"/>
                </a:solidFill>
              </a:rPr>
              <a:t>Building, Suite 202</a:t>
            </a:r>
            <a:endParaRPr lang="en-US" sz="1600"/>
          </a:p>
          <a:p>
            <a:pPr marL="342900" indent="-342900">
              <a:buSzPct val="100000"/>
              <a:buChar char="•"/>
            </a:pPr>
            <a:r>
              <a:rPr lang="en-US" sz="1600">
                <a:solidFill>
                  <a:srgbClr val="333333"/>
                </a:solidFill>
              </a:rPr>
              <a:t>383 Franklin D. Roosevelt Avenue</a:t>
            </a:r>
            <a:endParaRPr lang="en-US" sz="1600"/>
          </a:p>
          <a:p>
            <a:pPr marL="342900" indent="-342900">
              <a:buSzPct val="100000"/>
              <a:buChar char="•"/>
            </a:pPr>
            <a:r>
              <a:rPr lang="en-US" sz="1600">
                <a:solidFill>
                  <a:srgbClr val="333333"/>
                </a:solidFill>
              </a:rPr>
              <a:t>San Juan, PR 00918</a:t>
            </a:r>
            <a:endParaRPr lang="en-US" sz="1600"/>
          </a:p>
        </p:txBody>
      </p:sp>
      <p:pic>
        <p:nvPicPr>
          <p:cNvPr id="7" name="Picture 6">
            <a:extLst>
              <a:ext uri="{FF2B5EF4-FFF2-40B4-BE49-F238E27FC236}">
                <a16:creationId xmlns:a16="http://schemas.microsoft.com/office/drawing/2014/main" id="{4C4189A0-50A5-4F9D-3BFD-89EA498AA8CE}"/>
              </a:ext>
            </a:extLst>
          </p:cNvPr>
          <p:cNvPicPr>
            <a:picLocks noChangeAspect="1"/>
          </p:cNvPicPr>
          <p:nvPr/>
        </p:nvPicPr>
        <p:blipFill>
          <a:blip r:embed="rId3"/>
          <a:stretch>
            <a:fillRect/>
          </a:stretch>
        </p:blipFill>
        <p:spPr>
          <a:xfrm>
            <a:off x="5546481" y="1043720"/>
            <a:ext cx="2969236" cy="281976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7021319-705E-9B2E-49E9-9C6D328D63FA}"/>
              </a:ext>
            </a:extLst>
          </p:cNvPr>
          <p:cNvGraphicFramePr>
            <a:graphicFrameLocks noGrp="1"/>
          </p:cNvGraphicFramePr>
          <p:nvPr>
            <p:extLst>
              <p:ext uri="{D42A27DB-BD31-4B8C-83A1-F6EECF244321}">
                <p14:modId xmlns:p14="http://schemas.microsoft.com/office/powerpoint/2010/main" val="3780453661"/>
              </p:ext>
            </p:extLst>
          </p:nvPr>
        </p:nvGraphicFramePr>
        <p:xfrm>
          <a:off x="495513" y="960375"/>
          <a:ext cx="8071239" cy="3201406"/>
        </p:xfrm>
        <a:graphic>
          <a:graphicData uri="http://schemas.openxmlformats.org/drawingml/2006/table">
            <a:tbl>
              <a:tblPr>
                <a:tableStyleId>{5C22544A-7EE6-4342-B048-85BDC9FD1C3A}</a:tableStyleId>
              </a:tblPr>
              <a:tblGrid>
                <a:gridCol w="6376679">
                  <a:extLst>
                    <a:ext uri="{9D8B030D-6E8A-4147-A177-3AD203B41FA5}">
                      <a16:colId xmlns:a16="http://schemas.microsoft.com/office/drawing/2014/main" val="1617687541"/>
                    </a:ext>
                  </a:extLst>
                </a:gridCol>
                <a:gridCol w="847280">
                  <a:extLst>
                    <a:ext uri="{9D8B030D-6E8A-4147-A177-3AD203B41FA5}">
                      <a16:colId xmlns:a16="http://schemas.microsoft.com/office/drawing/2014/main" val="2954917605"/>
                    </a:ext>
                  </a:extLst>
                </a:gridCol>
                <a:gridCol w="847280">
                  <a:extLst>
                    <a:ext uri="{9D8B030D-6E8A-4147-A177-3AD203B41FA5}">
                      <a16:colId xmlns:a16="http://schemas.microsoft.com/office/drawing/2014/main" val="1647185653"/>
                    </a:ext>
                  </a:extLst>
                </a:gridCol>
              </a:tblGrid>
              <a:tr h="123632">
                <a:tc>
                  <a:txBody>
                    <a:bodyPr/>
                    <a:lstStyle/>
                    <a:p>
                      <a:pPr algn="l" fontAlgn="b">
                        <a:buNone/>
                      </a:pPr>
                      <a:r>
                        <a:rPr lang="en-US" sz="1200" b="1" u="sng" strike="noStrike">
                          <a:effectLst/>
                        </a:rPr>
                        <a:t>Teams</a:t>
                      </a:r>
                      <a:endParaRPr lang="en-US" sz="1200" b="1" i="1" u="sng" strike="noStrike">
                        <a:solidFill>
                          <a:srgbClr val="000000"/>
                        </a:solidFill>
                        <a:effectLst/>
                        <a:latin typeface="Aptos Narrow" panose="020B0004020202020204" pitchFamily="34" charset="0"/>
                      </a:endParaRPr>
                    </a:p>
                  </a:txBody>
                  <a:tcPr marL="4531" marR="4531" marT="4531" marB="0" anchor="b"/>
                </a:tc>
                <a:tc rowSpan="2" gridSpan="2">
                  <a:txBody>
                    <a:bodyPr/>
                    <a:lstStyle/>
                    <a:p>
                      <a:pPr algn="ctr" fontAlgn="ctr">
                        <a:buNone/>
                      </a:pPr>
                      <a:r>
                        <a:rPr lang="en-US" sz="1200" b="1" u="sng" strike="noStrike">
                          <a:effectLst/>
                        </a:rPr>
                        <a:t>"One on One" Time Schedule </a:t>
                      </a:r>
                      <a:endParaRPr lang="en-US" sz="1200" b="1" i="0" u="sng" strike="noStrike">
                        <a:solidFill>
                          <a:srgbClr val="000000"/>
                        </a:solidFill>
                        <a:effectLst/>
                        <a:latin typeface="Aptos Narrow" panose="020B0004020202020204" pitchFamily="34" charset="0"/>
                      </a:endParaRPr>
                    </a:p>
                  </a:txBody>
                  <a:tcPr marL="4531" marR="4531" marT="4531" marB="0" anchor="ctr"/>
                </a:tc>
                <a:tc rowSpan="2" hMerge="1">
                  <a:txBody>
                    <a:bodyPr/>
                    <a:lstStyle/>
                    <a:p>
                      <a:endParaRPr lang="en-US"/>
                    </a:p>
                  </a:txBody>
                  <a:tcPr/>
                </a:tc>
                <a:extLst>
                  <a:ext uri="{0D108BD9-81ED-4DB2-BD59-A6C34878D82A}">
                    <a16:rowId xmlns:a16="http://schemas.microsoft.com/office/drawing/2014/main" val="1832922203"/>
                  </a:ext>
                </a:extLst>
              </a:tr>
              <a:tr h="123632">
                <a:tc>
                  <a:txBody>
                    <a:bodyPr/>
                    <a:lstStyle/>
                    <a:p>
                      <a:pPr marL="0" indent="0" algn="l" fontAlgn="b">
                        <a:buNone/>
                      </a:pPr>
                      <a:r>
                        <a:rPr lang="en-US" sz="700" u="none" strike="noStrike" dirty="0">
                          <a:effectLst/>
                        </a:rPr>
                        <a:t>A</a:t>
                      </a:r>
                      <a:endParaRPr lang="en-US" sz="700" b="1" i="0" u="none" strike="noStrike" dirty="0">
                        <a:solidFill>
                          <a:srgbClr val="000000"/>
                        </a:solidFill>
                        <a:effectLst/>
                        <a:latin typeface="Aptos Narrow" panose="020B0004020202020204" pitchFamily="34" charset="0"/>
                      </a:endParaRPr>
                    </a:p>
                  </a:txBody>
                  <a:tcPr marL="4531" marR="4531" marT="4531" marB="0" anchor="b"/>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2272581745"/>
                  </a:ext>
                </a:extLst>
              </a:tr>
              <a:tr h="123632">
                <a:tc>
                  <a:txBody>
                    <a:bodyPr/>
                    <a:lstStyle/>
                    <a:p>
                      <a:pPr algn="l" fontAlgn="b">
                        <a:buNone/>
                      </a:pPr>
                      <a:r>
                        <a:rPr lang="en-US" sz="700" u="none" strike="noStrike" dirty="0">
                          <a:effectLst/>
                        </a:rPr>
                        <a:t>Aula Centro </a:t>
                      </a:r>
                      <a:r>
                        <a:rPr lang="en-US" sz="700" u="none" strike="noStrike" dirty="0" err="1">
                          <a:effectLst/>
                        </a:rPr>
                        <a:t>Educativo</a:t>
                      </a:r>
                      <a:r>
                        <a:rPr lang="en-US" sz="700" u="none" strike="noStrike" dirty="0">
                          <a:effectLst/>
                        </a:rPr>
                        <a:t> Montessori </a:t>
                      </a:r>
                      <a:endParaRPr lang="en-US" sz="700" b="0" i="0" u="none" strike="noStrike" dirty="0">
                        <a:solidFill>
                          <a:srgbClr val="000000"/>
                        </a:solidFill>
                        <a:effectLst/>
                        <a:latin typeface="Aptos Narrow" panose="020B0004020202020204" pitchFamily="34" charset="0"/>
                      </a:endParaRPr>
                    </a:p>
                  </a:txBody>
                  <a:tcPr marL="40779" marR="4531" marT="4531" marB="0" anchor="b"/>
                </a:tc>
                <a:tc>
                  <a:txBody>
                    <a:bodyPr/>
                    <a:lstStyle/>
                    <a:p>
                      <a:pPr algn="r" fontAlgn="b">
                        <a:buNone/>
                      </a:pPr>
                      <a:r>
                        <a:rPr lang="en-US" sz="700" u="none" strike="noStrike" dirty="0">
                          <a:effectLst/>
                        </a:rPr>
                        <a:t>11:00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11:10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682285217"/>
                  </a:ext>
                </a:extLst>
              </a:tr>
              <a:tr h="123632">
                <a:tc>
                  <a:txBody>
                    <a:bodyPr/>
                    <a:lstStyle/>
                    <a:p>
                      <a:pPr algn="l" fontAlgn="b">
                        <a:buNone/>
                      </a:pPr>
                      <a:r>
                        <a:rPr lang="fr-FR" sz="700" u="none" strike="noStrike" dirty="0">
                          <a:effectLst/>
                        </a:rPr>
                        <a:t>CAHB LLC </a:t>
                      </a:r>
                      <a:endParaRPr lang="fr-FR" sz="700" b="0" i="0" u="none" strike="noStrike" dirty="0">
                        <a:solidFill>
                          <a:srgbClr val="000000"/>
                        </a:solidFill>
                        <a:effectLst/>
                        <a:latin typeface="Aptos Narrow" panose="020B0004020202020204" pitchFamily="34" charset="0"/>
                      </a:endParaRPr>
                    </a:p>
                  </a:txBody>
                  <a:tcPr marL="40779" marR="4531" marT="4531" marB="0" anchor="b"/>
                </a:tc>
                <a:tc>
                  <a:txBody>
                    <a:bodyPr/>
                    <a:lstStyle/>
                    <a:p>
                      <a:pPr algn="r" fontAlgn="b">
                        <a:buNone/>
                      </a:pPr>
                      <a:r>
                        <a:rPr lang="en-US" sz="700" u="none" strike="noStrike" dirty="0">
                          <a:effectLst/>
                        </a:rPr>
                        <a:t>11:10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11:20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1696637859"/>
                  </a:ext>
                </a:extLst>
              </a:tr>
              <a:tr h="123632">
                <a:tc>
                  <a:txBody>
                    <a:bodyPr/>
                    <a:lstStyle/>
                    <a:p>
                      <a:pPr algn="l" fontAlgn="b">
                        <a:buNone/>
                      </a:pPr>
                      <a:r>
                        <a:rPr lang="en-US" sz="700" u="none" strike="noStrike" dirty="0">
                          <a:effectLst/>
                        </a:rPr>
                        <a:t>CAPTA PSC</a:t>
                      </a:r>
                      <a:endParaRPr lang="en-US" sz="700" b="0" i="0" u="none" strike="noStrike" dirty="0">
                        <a:solidFill>
                          <a:srgbClr val="000000"/>
                        </a:solidFill>
                        <a:effectLst/>
                        <a:latin typeface="Aptos Narrow" panose="020B0004020202020204" pitchFamily="34" charset="0"/>
                      </a:endParaRPr>
                    </a:p>
                  </a:txBody>
                  <a:tcPr marL="40779" marR="4531" marT="4531" marB="0" anchor="b"/>
                </a:tc>
                <a:tc>
                  <a:txBody>
                    <a:bodyPr/>
                    <a:lstStyle/>
                    <a:p>
                      <a:pPr algn="r" fontAlgn="b">
                        <a:buNone/>
                      </a:pPr>
                      <a:r>
                        <a:rPr lang="en-US" sz="700" u="none" strike="noStrike" dirty="0">
                          <a:effectLst/>
                        </a:rPr>
                        <a:t>11:20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11:30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4242139263"/>
                  </a:ext>
                </a:extLst>
              </a:tr>
              <a:tr h="123632">
                <a:tc>
                  <a:txBody>
                    <a:bodyPr/>
                    <a:lstStyle/>
                    <a:p>
                      <a:pPr algn="l" fontAlgn="b">
                        <a:buNone/>
                      </a:pPr>
                      <a:r>
                        <a:rPr lang="en-US" sz="700" u="none" strike="noStrike" dirty="0">
                          <a:effectLst/>
                        </a:rPr>
                        <a:t>Carla  Rivera </a:t>
                      </a:r>
                      <a:endParaRPr lang="en-US" sz="700" b="0" i="0" u="none" strike="noStrike" dirty="0">
                        <a:solidFill>
                          <a:srgbClr val="000000"/>
                        </a:solidFill>
                        <a:effectLst/>
                        <a:latin typeface="Aptos Narrow" panose="020B0004020202020204" pitchFamily="34" charset="0"/>
                      </a:endParaRPr>
                    </a:p>
                  </a:txBody>
                  <a:tcPr marL="40779" marR="4531" marT="4531" marB="0" anchor="b"/>
                </a:tc>
                <a:tc>
                  <a:txBody>
                    <a:bodyPr/>
                    <a:lstStyle/>
                    <a:p>
                      <a:pPr algn="r" fontAlgn="b">
                        <a:buNone/>
                      </a:pPr>
                      <a:r>
                        <a:rPr lang="en-US" sz="700" u="none" strike="noStrike" dirty="0">
                          <a:effectLst/>
                        </a:rPr>
                        <a:t>11:30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11:40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954754353"/>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Christian Construction Service, LLC</a:t>
                      </a:r>
                    </a:p>
                  </a:txBody>
                  <a:tcPr marL="40779" marR="4531" marT="4531" marB="0" anchor="b"/>
                </a:tc>
                <a:tc>
                  <a:txBody>
                    <a:bodyPr/>
                    <a:lstStyle/>
                    <a:p>
                      <a:pPr algn="r" fontAlgn="b">
                        <a:buNone/>
                      </a:pPr>
                      <a:r>
                        <a:rPr lang="en-US" sz="700" u="none" strike="noStrike" dirty="0">
                          <a:effectLst/>
                        </a:rPr>
                        <a:t>11:40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11:50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973848157"/>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CONDADO WINDOW HURRICANE PROTECTION, INC.</a:t>
                      </a:r>
                    </a:p>
                  </a:txBody>
                  <a:tcPr marL="40779" marR="4531" marT="4531" marB="0" anchor="b"/>
                </a:tc>
                <a:tc>
                  <a:txBody>
                    <a:bodyPr/>
                    <a:lstStyle/>
                    <a:p>
                      <a:pPr algn="r" fontAlgn="b">
                        <a:buNone/>
                      </a:pPr>
                      <a:r>
                        <a:rPr lang="en-US" sz="700" u="none" strike="noStrike" dirty="0">
                          <a:effectLst/>
                        </a:rPr>
                        <a:t>11:50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a:effectLst/>
                        </a:rPr>
                        <a:t>12:00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1571130189"/>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Fugro</a:t>
                      </a:r>
                    </a:p>
                  </a:txBody>
                  <a:tcPr marL="40779" marR="4531" marT="4531" marB="0" anchor="b"/>
                </a:tc>
                <a:tc>
                  <a:txBody>
                    <a:bodyPr/>
                    <a:lstStyle/>
                    <a:p>
                      <a:pPr algn="r" fontAlgn="b">
                        <a:buNone/>
                      </a:pPr>
                      <a:r>
                        <a:rPr lang="en-US" sz="700" u="none" strike="noStrike" dirty="0">
                          <a:effectLst/>
                        </a:rPr>
                        <a:t>12:00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12:10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909163291"/>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DIO PR Division of CRACCO ENTERPRISES LLC</a:t>
                      </a:r>
                    </a:p>
                  </a:txBody>
                  <a:tcPr marL="40779" marR="4531" marT="4531" marB="0" anchor="b"/>
                </a:tc>
                <a:tc>
                  <a:txBody>
                    <a:bodyPr/>
                    <a:lstStyle/>
                    <a:p>
                      <a:pPr algn="r" fontAlgn="b">
                        <a:buNone/>
                      </a:pPr>
                      <a:r>
                        <a:rPr lang="en-US" sz="700" b="0" i="0" u="none" strike="noStrike" dirty="0">
                          <a:solidFill>
                            <a:srgbClr val="000000"/>
                          </a:solidFill>
                          <a:effectLst/>
                          <a:latin typeface="Aptos Narrow" panose="020B0004020202020204" pitchFamily="34" charset="0"/>
                        </a:rPr>
                        <a:t>12:10</a:t>
                      </a:r>
                    </a:p>
                  </a:txBody>
                  <a:tcPr marL="4531" marR="4531" marT="4531" marB="0" anchor="b"/>
                </a:tc>
                <a:tc>
                  <a:txBody>
                    <a:bodyPr/>
                    <a:lstStyle/>
                    <a:p>
                      <a:pPr algn="r" fontAlgn="b">
                        <a:buNone/>
                      </a:pPr>
                      <a:r>
                        <a:rPr lang="en-US" sz="700" b="0" i="0" u="none" strike="noStrike" dirty="0">
                          <a:solidFill>
                            <a:srgbClr val="000000"/>
                          </a:solidFill>
                          <a:effectLst/>
                          <a:latin typeface="Aptos Narrow" panose="020B0004020202020204" pitchFamily="34" charset="0"/>
                        </a:rPr>
                        <a:t>12:20</a:t>
                      </a:r>
                    </a:p>
                  </a:txBody>
                  <a:tcPr marL="4531" marR="4531" marT="4531" marB="0" anchor="b"/>
                </a:tc>
                <a:extLst>
                  <a:ext uri="{0D108BD9-81ED-4DB2-BD59-A6C34878D82A}">
                    <a16:rowId xmlns:a16="http://schemas.microsoft.com/office/drawing/2014/main" val="1658244290"/>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JJM Construction</a:t>
                      </a:r>
                    </a:p>
                  </a:txBody>
                  <a:tcPr marL="40779" marR="4531" marT="4531" marB="0" anchor="b"/>
                </a:tc>
                <a:tc>
                  <a:txBody>
                    <a:bodyPr/>
                    <a:lstStyle/>
                    <a:p>
                      <a:pPr algn="r" fontAlgn="b">
                        <a:buNone/>
                      </a:pPr>
                      <a:r>
                        <a:rPr lang="en-US" sz="700" b="0" i="0" u="none" strike="noStrike" dirty="0">
                          <a:solidFill>
                            <a:srgbClr val="000000"/>
                          </a:solidFill>
                          <a:effectLst/>
                          <a:latin typeface="Aptos Narrow" panose="020B0004020202020204" pitchFamily="34" charset="0"/>
                        </a:rPr>
                        <a:t>12:20</a:t>
                      </a:r>
                    </a:p>
                  </a:txBody>
                  <a:tcPr marL="4531" marR="4531" marT="4531" marB="0" anchor="b"/>
                </a:tc>
                <a:tc>
                  <a:txBody>
                    <a:bodyPr/>
                    <a:lstStyle/>
                    <a:p>
                      <a:pPr algn="r" fontAlgn="b">
                        <a:buNone/>
                      </a:pPr>
                      <a:r>
                        <a:rPr lang="en-US" sz="700" b="0" i="0" u="none" strike="noStrike" dirty="0">
                          <a:solidFill>
                            <a:srgbClr val="000000"/>
                          </a:solidFill>
                          <a:effectLst/>
                          <a:latin typeface="Aptos Narrow" panose="020B0004020202020204" pitchFamily="34" charset="0"/>
                        </a:rPr>
                        <a:t>12:30</a:t>
                      </a:r>
                    </a:p>
                  </a:txBody>
                  <a:tcPr marL="4531" marR="4531" marT="4531" marB="0" anchor="b"/>
                </a:tc>
                <a:extLst>
                  <a:ext uri="{0D108BD9-81ED-4DB2-BD59-A6C34878D82A}">
                    <a16:rowId xmlns:a16="http://schemas.microsoft.com/office/drawing/2014/main" val="1564434195"/>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Velocity LLC</a:t>
                      </a:r>
                    </a:p>
                  </a:txBody>
                  <a:tcPr marL="40779" marR="4531" marT="4531" marB="0" anchor="b"/>
                </a:tc>
                <a:tc>
                  <a:txBody>
                    <a:bodyPr/>
                    <a:lstStyle/>
                    <a:p>
                      <a:pPr algn="r" fontAlgn="b">
                        <a:buNone/>
                      </a:pPr>
                      <a:r>
                        <a:rPr lang="en-US" sz="700" b="0" i="0" u="none" strike="noStrike" dirty="0">
                          <a:solidFill>
                            <a:srgbClr val="000000"/>
                          </a:solidFill>
                          <a:effectLst/>
                          <a:latin typeface="Aptos Narrow" panose="020B0004020202020204" pitchFamily="34" charset="0"/>
                        </a:rPr>
                        <a:t>12:30</a:t>
                      </a:r>
                    </a:p>
                  </a:txBody>
                  <a:tcPr marL="4531" marR="4531" marT="4531" marB="0" anchor="b"/>
                </a:tc>
                <a:tc>
                  <a:txBody>
                    <a:bodyPr/>
                    <a:lstStyle/>
                    <a:p>
                      <a:pPr algn="r" fontAlgn="b">
                        <a:buNone/>
                      </a:pPr>
                      <a:r>
                        <a:rPr lang="en-US" sz="700" b="0" i="0" u="none" strike="noStrike" dirty="0">
                          <a:solidFill>
                            <a:srgbClr val="000000"/>
                          </a:solidFill>
                          <a:effectLst/>
                          <a:latin typeface="Aptos Narrow" panose="020B0004020202020204" pitchFamily="34" charset="0"/>
                        </a:rPr>
                        <a:t>12:40</a:t>
                      </a:r>
                    </a:p>
                  </a:txBody>
                  <a:tcPr marL="4531" marR="4531" marT="4531" marB="0" anchor="b"/>
                </a:tc>
                <a:extLst>
                  <a:ext uri="{0D108BD9-81ED-4DB2-BD59-A6C34878D82A}">
                    <a16:rowId xmlns:a16="http://schemas.microsoft.com/office/drawing/2014/main" val="1285606533"/>
                  </a:ext>
                </a:extLst>
              </a:tr>
              <a:tr h="123632">
                <a:tc>
                  <a:txBody>
                    <a:bodyPr/>
                    <a:lstStyle/>
                    <a:p>
                      <a:pPr algn="l" fontAlgn="b">
                        <a:buNone/>
                      </a:pPr>
                      <a:endParaRPr lang="en-US" sz="700" b="1"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879845906"/>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B</a:t>
                      </a:r>
                    </a:p>
                  </a:txBody>
                  <a:tcPr marL="40779" marR="4531" marT="4531"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745616637"/>
                  </a:ext>
                </a:extLst>
              </a:tr>
              <a:tr h="0">
                <a:tc>
                  <a:txBody>
                    <a:bodyPr/>
                    <a:lstStyle/>
                    <a:p>
                      <a:pPr algn="l" fontAlgn="b">
                        <a:buNone/>
                      </a:pPr>
                      <a:r>
                        <a:rPr lang="en-US" sz="700" b="0" i="0" u="none" strike="noStrike" dirty="0">
                          <a:solidFill>
                            <a:srgbClr val="000000"/>
                          </a:solidFill>
                          <a:effectLst/>
                          <a:latin typeface="Aptos Narrow" panose="020B0004020202020204" pitchFamily="34" charset="0"/>
                        </a:rPr>
                        <a:t>Gahagan &amp; Bryant Associates, Inc.</a:t>
                      </a:r>
                    </a:p>
                  </a:txBody>
                  <a:tcPr marL="40779" marR="4531" marT="4531" marB="0" anchor="b"/>
                </a:tc>
                <a:tc>
                  <a:txBody>
                    <a:bodyPr/>
                    <a:lstStyle/>
                    <a:p>
                      <a:pPr algn="r" fontAlgn="b">
                        <a:buNone/>
                      </a:pPr>
                      <a:r>
                        <a:rPr lang="en-US" sz="700" u="none" strike="noStrike" dirty="0">
                          <a:effectLst/>
                        </a:rPr>
                        <a:t>11:00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11:10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138917503"/>
                  </a:ext>
                </a:extLst>
              </a:tr>
              <a:tr h="123632">
                <a:tc>
                  <a:txBody>
                    <a:bodyPr/>
                    <a:lstStyle/>
                    <a:p>
                      <a:pPr algn="l" fontAlgn="b">
                        <a:buNone/>
                      </a:pPr>
                      <a:r>
                        <a:rPr lang="es-ES" sz="700" b="0" i="0" u="none" strike="noStrike" dirty="0">
                          <a:solidFill>
                            <a:srgbClr val="000000"/>
                          </a:solidFill>
                          <a:effectLst/>
                          <a:latin typeface="Aptos Narrow" panose="020B0004020202020204" pitchFamily="34" charset="0"/>
                        </a:rPr>
                        <a:t>Ing. Juan A. Torres Berrios, DBA</a:t>
                      </a:r>
                      <a:endParaRPr lang="en-US" sz="700" b="0" i="0" u="none" strike="noStrike" dirty="0">
                        <a:solidFill>
                          <a:srgbClr val="000000"/>
                        </a:solidFill>
                        <a:effectLst/>
                        <a:latin typeface="Aptos Narrow" panose="020B0004020202020204" pitchFamily="34" charset="0"/>
                      </a:endParaRPr>
                    </a:p>
                  </a:txBody>
                  <a:tcPr marL="40779" marR="4531" marT="4531" marB="0" anchor="b"/>
                </a:tc>
                <a:tc>
                  <a:txBody>
                    <a:bodyPr/>
                    <a:lstStyle/>
                    <a:p>
                      <a:pPr algn="r" fontAlgn="b">
                        <a:buNone/>
                      </a:pPr>
                      <a:r>
                        <a:rPr lang="en-US" sz="700" u="none" strike="noStrike" dirty="0">
                          <a:effectLst/>
                        </a:rPr>
                        <a:t>11:10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11:20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911021752"/>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Juan Carlos Davila</a:t>
                      </a:r>
                    </a:p>
                  </a:txBody>
                  <a:tcPr marL="40779" marR="4531" marT="4531" marB="0" anchor="b"/>
                </a:tc>
                <a:tc>
                  <a:txBody>
                    <a:bodyPr/>
                    <a:lstStyle/>
                    <a:p>
                      <a:pPr algn="r" fontAlgn="b">
                        <a:buNone/>
                      </a:pPr>
                      <a:r>
                        <a:rPr lang="en-US" sz="700" u="none" strike="noStrike" dirty="0">
                          <a:effectLst/>
                        </a:rPr>
                        <a:t>11:20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11:30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2348417777"/>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PAUSA365</a:t>
                      </a:r>
                    </a:p>
                  </a:txBody>
                  <a:tcPr marL="40779" marR="4531" marT="4531" marB="0" anchor="b"/>
                </a:tc>
                <a:tc>
                  <a:txBody>
                    <a:bodyPr/>
                    <a:lstStyle/>
                    <a:p>
                      <a:pPr algn="r" fontAlgn="b">
                        <a:buNone/>
                      </a:pPr>
                      <a:r>
                        <a:rPr lang="en-US" sz="700" u="none" strike="noStrike" dirty="0">
                          <a:effectLst/>
                        </a:rPr>
                        <a:t>11:30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11:40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192069707"/>
                  </a:ext>
                </a:extLst>
              </a:tr>
              <a:tr h="123632">
                <a:tc>
                  <a:txBody>
                    <a:bodyPr/>
                    <a:lstStyle/>
                    <a:p>
                      <a:pPr marL="58738" indent="0" algn="l" fontAlgn="b">
                        <a:buNone/>
                      </a:pPr>
                      <a:r>
                        <a:rPr lang="en-US" sz="700" b="0" i="0" u="none" strike="noStrike" kern="1200" dirty="0">
                          <a:solidFill>
                            <a:srgbClr val="000000"/>
                          </a:solidFill>
                          <a:effectLst/>
                          <a:latin typeface="Aptos Narrow" panose="020B0004020202020204" pitchFamily="34" charset="0"/>
                          <a:ea typeface="+mn-ea"/>
                          <a:cs typeface="+mn-cs"/>
                        </a:rPr>
                        <a:t>PR</a:t>
                      </a:r>
                      <a:r>
                        <a:rPr lang="en-US" sz="700" u="none" strike="noStrike" dirty="0">
                          <a:effectLst/>
                        </a:rPr>
                        <a:t> SOAR</a:t>
                      </a:r>
                      <a:endParaRPr lang="en-US" sz="700" b="1"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11:40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11:50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598548127"/>
                  </a:ext>
                </a:extLst>
              </a:tr>
              <a:tr h="123632">
                <a:tc>
                  <a:txBody>
                    <a:bodyPr/>
                    <a:lstStyle/>
                    <a:p>
                      <a:pPr marL="0" algn="l" defTabSz="914400" rtl="0" eaLnBrk="1" fontAlgn="b" latinLnBrk="0" hangingPunct="1">
                        <a:buNone/>
                      </a:pPr>
                      <a:r>
                        <a:rPr lang="en-US" sz="700" b="0" i="0" u="none" strike="noStrike" kern="1200" dirty="0">
                          <a:solidFill>
                            <a:srgbClr val="000000"/>
                          </a:solidFill>
                          <a:effectLst/>
                          <a:latin typeface="Aptos Narrow" panose="020B0004020202020204" pitchFamily="34" charset="0"/>
                          <a:ea typeface="+mn-ea"/>
                          <a:cs typeface="+mn-cs"/>
                        </a:rPr>
                        <a:t>Precision Measurements, Inc.</a:t>
                      </a:r>
                    </a:p>
                  </a:txBody>
                  <a:tcPr marL="40779" marR="4531" marT="4531" marB="0" anchor="b"/>
                </a:tc>
                <a:tc>
                  <a:txBody>
                    <a:bodyPr/>
                    <a:lstStyle/>
                    <a:p>
                      <a:pPr algn="r" fontAlgn="b">
                        <a:buNone/>
                      </a:pPr>
                      <a:r>
                        <a:rPr lang="en-US" sz="700" u="none" strike="noStrike" dirty="0">
                          <a:effectLst/>
                        </a:rPr>
                        <a:t>11:50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12:00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4027247140"/>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Q&amp;A Diversified LLC</a:t>
                      </a:r>
                    </a:p>
                  </a:txBody>
                  <a:tcPr marL="40779" marR="4531" marT="4531" marB="0" anchor="b"/>
                </a:tc>
                <a:tc>
                  <a:txBody>
                    <a:bodyPr/>
                    <a:lstStyle/>
                    <a:p>
                      <a:pPr algn="r" fontAlgn="b">
                        <a:buNone/>
                      </a:pPr>
                      <a:r>
                        <a:rPr lang="en-US" sz="700" u="none" strike="noStrike" dirty="0">
                          <a:effectLst/>
                        </a:rPr>
                        <a:t>12:00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12:10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794672588"/>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Miro Cividanes, Carlos</a:t>
                      </a:r>
                    </a:p>
                  </a:txBody>
                  <a:tcPr marL="40779" marR="4531" marT="4531" marB="0" anchor="b"/>
                </a:tc>
                <a:tc>
                  <a:txBody>
                    <a:bodyPr/>
                    <a:lstStyle/>
                    <a:p>
                      <a:pPr algn="r" fontAlgn="b">
                        <a:buNone/>
                      </a:pPr>
                      <a:r>
                        <a:rPr lang="en-US" sz="700" u="none" strike="noStrike" dirty="0">
                          <a:effectLst/>
                        </a:rPr>
                        <a:t>12:10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12:20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2451014026"/>
                  </a:ext>
                </a:extLst>
              </a:tr>
              <a:tr h="123632">
                <a:tc>
                  <a:txBody>
                    <a:bodyPr/>
                    <a:lstStyle/>
                    <a:p>
                      <a:pPr marL="0" algn="l" defTabSz="914400" rtl="0" eaLnBrk="1" fontAlgn="b" latinLnBrk="0" hangingPunct="1">
                        <a:buNone/>
                      </a:pPr>
                      <a:r>
                        <a:rPr lang="en-US" sz="700" b="0" i="0" u="none" strike="noStrike" kern="1200" dirty="0">
                          <a:solidFill>
                            <a:srgbClr val="000000"/>
                          </a:solidFill>
                          <a:effectLst/>
                          <a:latin typeface="Aptos Narrow" panose="020B0004020202020204" pitchFamily="34" charset="0"/>
                          <a:ea typeface="+mn-ea"/>
                          <a:cs typeface="+mn-cs"/>
                        </a:rPr>
                        <a:t>Constructora V&amp;M</a:t>
                      </a:r>
                    </a:p>
                  </a:txBody>
                  <a:tcPr marL="40779" marR="4531" marT="4531" marB="0" anchor="b"/>
                </a:tc>
                <a:tc>
                  <a:txBody>
                    <a:bodyPr/>
                    <a:lstStyle/>
                    <a:p>
                      <a:pPr algn="r" fontAlgn="b">
                        <a:buNone/>
                      </a:pPr>
                      <a:r>
                        <a:rPr lang="en-US" sz="700" u="none" strike="noStrike" dirty="0">
                          <a:effectLst/>
                        </a:rPr>
                        <a:t>12:20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12:30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2079540856"/>
                  </a:ext>
                </a:extLst>
              </a:tr>
              <a:tr h="123632">
                <a:tc>
                  <a:txBody>
                    <a:bodyPr/>
                    <a:lstStyle/>
                    <a:p>
                      <a:pPr algn="l" fontAlgn="b">
                        <a:buNone/>
                      </a:pPr>
                      <a:r>
                        <a:rPr lang="en-US" sz="700" b="0" i="0" u="none" strike="noStrike" dirty="0">
                          <a:solidFill>
                            <a:srgbClr val="000000"/>
                          </a:solidFill>
                          <a:effectLst/>
                          <a:latin typeface="Aptos Narrow" panose="020B0004020202020204" pitchFamily="34" charset="0"/>
                        </a:rPr>
                        <a:t>Rincon Reality</a:t>
                      </a:r>
                    </a:p>
                  </a:txBody>
                  <a:tcPr marL="40779" marR="4531" marT="4531" marB="0" anchor="b"/>
                </a:tc>
                <a:tc>
                  <a:txBody>
                    <a:bodyPr/>
                    <a:lstStyle/>
                    <a:p>
                      <a:pPr algn="r" fontAlgn="b">
                        <a:buNone/>
                      </a:pPr>
                      <a:r>
                        <a:rPr lang="en-US" sz="700" u="none" strike="noStrike" dirty="0">
                          <a:effectLst/>
                        </a:rPr>
                        <a:t>12:30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12:40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102094858"/>
                  </a:ext>
                </a:extLst>
              </a:tr>
              <a:tr h="123632">
                <a:tc>
                  <a:txBody>
                    <a:bodyPr/>
                    <a:lstStyle/>
                    <a:p>
                      <a:pPr algn="l" fontAlgn="b">
                        <a:buNone/>
                      </a:pPr>
                      <a:r>
                        <a:rPr lang="en-US" sz="700" b="0" i="0" u="none" strike="noStrike" dirty="0" err="1">
                          <a:solidFill>
                            <a:srgbClr val="000000"/>
                          </a:solidFill>
                          <a:effectLst/>
                          <a:latin typeface="Aptos Narrow" panose="020B0004020202020204" pitchFamily="34" charset="0"/>
                        </a:rPr>
                        <a:t>Agrotex</a:t>
                      </a:r>
                      <a:endParaRPr lang="en-US" sz="700" b="0" i="0" u="none" strike="noStrike" dirty="0">
                        <a:solidFill>
                          <a:srgbClr val="000000"/>
                        </a:solidFill>
                        <a:effectLst/>
                        <a:latin typeface="Aptos Narrow" panose="020B0004020202020204" pitchFamily="34" charset="0"/>
                      </a:endParaRPr>
                    </a:p>
                  </a:txBody>
                  <a:tcPr marL="40779" marR="4531" marT="4531" marB="0" anchor="b"/>
                </a:tc>
                <a:tc>
                  <a:txBody>
                    <a:bodyPr/>
                    <a:lstStyle/>
                    <a:p>
                      <a:pPr algn="r" fontAlgn="b">
                        <a:buNone/>
                      </a:pPr>
                      <a:r>
                        <a:rPr lang="en-US" sz="700" u="none" strike="noStrike" dirty="0">
                          <a:effectLst/>
                        </a:rPr>
                        <a:t>12:40</a:t>
                      </a:r>
                      <a:endParaRPr lang="en-US" sz="700" b="0" i="0" u="none" strike="noStrike" dirty="0">
                        <a:solidFill>
                          <a:srgbClr val="000000"/>
                        </a:solidFill>
                        <a:effectLst/>
                        <a:latin typeface="Aptos Narrow" panose="020B0004020202020204" pitchFamily="34" charset="0"/>
                      </a:endParaRPr>
                    </a:p>
                  </a:txBody>
                  <a:tcPr marL="4531" marR="4531" marT="4531" marB="0" anchor="b"/>
                </a:tc>
                <a:tc>
                  <a:txBody>
                    <a:bodyPr/>
                    <a:lstStyle/>
                    <a:p>
                      <a:pPr algn="r" fontAlgn="b">
                        <a:buNone/>
                      </a:pPr>
                      <a:r>
                        <a:rPr lang="en-US" sz="700" u="none" strike="noStrike" dirty="0">
                          <a:effectLst/>
                        </a:rPr>
                        <a:t>12:50</a:t>
                      </a:r>
                      <a:endParaRPr lang="en-US" sz="700" b="0" i="0" u="none" strike="noStrike" dirty="0">
                        <a:solidFill>
                          <a:srgbClr val="000000"/>
                        </a:solidFill>
                        <a:effectLst/>
                        <a:latin typeface="Aptos Narrow" panose="020B0004020202020204" pitchFamily="34" charset="0"/>
                      </a:endParaRPr>
                    </a:p>
                  </a:txBody>
                  <a:tcPr marL="4531" marR="4531" marT="4531" marB="0" anchor="b"/>
                </a:tc>
                <a:extLst>
                  <a:ext uri="{0D108BD9-81ED-4DB2-BD59-A6C34878D82A}">
                    <a16:rowId xmlns:a16="http://schemas.microsoft.com/office/drawing/2014/main" val="3137007903"/>
                  </a:ext>
                </a:extLst>
              </a:tr>
            </a:tbl>
          </a:graphicData>
        </a:graphic>
      </p:graphicFrame>
    </p:spTree>
    <p:extLst>
      <p:ext uri="{BB962C8B-B14F-4D97-AF65-F5344CB8AC3E}">
        <p14:creationId xmlns:p14="http://schemas.microsoft.com/office/powerpoint/2010/main" val="1705901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ate xmlns="28e9e934-8c45-455d-8699-cf6d9685c6d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3375C2543317348BB5309B054A17703" ma:contentTypeVersion="4" ma:contentTypeDescription="Create a new document." ma:contentTypeScope="" ma:versionID="0c0aea09587374bdf7e0347c57745960">
  <xsd:schema xmlns:xsd="http://www.w3.org/2001/XMLSchema" xmlns:xs="http://www.w3.org/2001/XMLSchema" xmlns:p="http://schemas.microsoft.com/office/2006/metadata/properties" xmlns:ns2="28e9e934-8c45-455d-8699-cf6d9685c6d9" targetNamespace="http://schemas.microsoft.com/office/2006/metadata/properties" ma:root="true" ma:fieldsID="867511b8e8965e73b8f3a2e7c824c5b5" ns2:_="">
    <xsd:import namespace="28e9e934-8c45-455d-8699-cf6d9685c6d9"/>
    <xsd:element name="properties">
      <xsd:complexType>
        <xsd:sequence>
          <xsd:element name="documentManagement">
            <xsd:complexType>
              <xsd:all>
                <xsd:element ref="ns2:Date"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e9e934-8c45-455d-8699-cf6d9685c6d9" elementFormDefault="qualified">
    <xsd:import namespace="http://schemas.microsoft.com/office/2006/documentManagement/types"/>
    <xsd:import namespace="http://schemas.microsoft.com/office/infopath/2007/PartnerControls"/>
    <xsd:element name="Date" ma:index="8" nillable="true" ma:displayName="Date" ma:format="DateOnly" ma:internalName="Date">
      <xsd:simpleType>
        <xsd:restriction base="dms:DateTim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061E94-EE5F-4286-AD4C-D3F336E7D47C}">
  <ds:schemaRefs>
    <ds:schemaRef ds:uri="http://schemas.microsoft.com/sharepoint/v3/contenttype/forms"/>
  </ds:schemaRefs>
</ds:datastoreItem>
</file>

<file path=customXml/itemProps2.xml><?xml version="1.0" encoding="utf-8"?>
<ds:datastoreItem xmlns:ds="http://schemas.openxmlformats.org/officeDocument/2006/customXml" ds:itemID="{7C1A1836-FABA-45D5-9171-98F30AE35596}">
  <ds:schemaRefs>
    <ds:schemaRef ds:uri="http://www.w3.org/XML/1998/namespace"/>
    <ds:schemaRef ds:uri="http://purl.org/dc/dcmitype/"/>
    <ds:schemaRef ds:uri="http://purl.org/dc/elements/1.1/"/>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schemas.microsoft.com/office/2006/metadata/properties"/>
    <ds:schemaRef ds:uri="28e9e934-8c45-455d-8699-cf6d9685c6d9"/>
  </ds:schemaRefs>
</ds:datastoreItem>
</file>

<file path=customXml/itemProps3.xml><?xml version="1.0" encoding="utf-8"?>
<ds:datastoreItem xmlns:ds="http://schemas.openxmlformats.org/officeDocument/2006/customXml" ds:itemID="{8C1832D7-A71C-46E7-AE0F-98581478AAD8}">
  <ds:schemaRefs>
    <ds:schemaRef ds:uri="28e9e934-8c45-455d-8699-cf6d9685c6d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50</TotalTime>
  <Words>1796</Words>
  <Application>Microsoft Office PowerPoint</Application>
  <PresentationFormat>On-screen Show (16:9)</PresentationFormat>
  <Paragraphs>299</Paragraphs>
  <Slides>25</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Aptos</vt:lpstr>
      <vt:lpstr>Aptos Display</vt:lpstr>
      <vt:lpstr>Aptos Narrow</vt:lpstr>
      <vt:lpstr>Arial</vt:lpstr>
      <vt:lpstr>Calibri</vt:lpstr>
      <vt:lpstr>Tahoma</vt:lpstr>
      <vt:lpstr>Office Theme</vt:lpstr>
      <vt:lpstr>Custom Design</vt:lpstr>
      <vt:lpstr>PowerPoint Presentation</vt:lpstr>
      <vt:lpstr>AGENDA</vt:lpstr>
      <vt:lpstr>QUESTION AND ANSWER SESSION</vt:lpstr>
      <vt:lpstr>PowerPoint Presentation</vt:lpstr>
      <vt:lpstr>PowerPoint Presentation</vt:lpstr>
      <vt:lpstr>HOW TO SUBMIT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Martinez Guzman, Angel J CIV USARMY CESAA (USA)</cp:lastModifiedBy>
  <cp:revision>4</cp:revision>
  <cp:lastPrinted>2026-01-27T14:42:49Z</cp:lastPrinted>
  <dcterms:created xsi:type="dcterms:W3CDTF">2026-01-22T13:20:55Z</dcterms:created>
  <dcterms:modified xsi:type="dcterms:W3CDTF">2026-02-27T12:16:37Z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0x01010093375C2543317348BB5309B054A17703</vt:lpwstr>
  </property>
</Properties>
</file>