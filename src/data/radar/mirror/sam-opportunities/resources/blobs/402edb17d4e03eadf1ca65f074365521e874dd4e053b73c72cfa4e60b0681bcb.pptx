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51" autoAdjust="0"/>
  </p:normalViewPr>
  <p:slideViewPr>
    <p:cSldViewPr>
      <p:cViewPr varScale="1">
        <p:scale>
          <a:sx n="77" d="100"/>
          <a:sy n="77" d="100"/>
        </p:scale>
        <p:origin x="161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223DB7B3-8411-4920-9A1D-45D87F9513FD}" type="datetimeFigureOut">
              <a:rPr lang="en-US" smtClean="0"/>
              <a:t>7/3/2025</a:t>
            </a:fld>
            <a:endParaRPr lang="en-US" dirty="0"/>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8685D86C-9D71-4CBD-AA9B-CCBFBDC887CA}" type="slidenum">
              <a:rPr lang="en-US" smtClean="0"/>
              <a:t>‹#›</a:t>
            </a:fld>
            <a:endParaRPr lang="en-US" dirty="0"/>
          </a:p>
        </p:txBody>
      </p:sp>
    </p:spTree>
    <p:extLst>
      <p:ext uri="{BB962C8B-B14F-4D97-AF65-F5344CB8AC3E}">
        <p14:creationId xmlns:p14="http://schemas.microsoft.com/office/powerpoint/2010/main" val="313355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582110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273D84"/>
                </a:solidFill>
                <a:latin typeface="Arial Narrow"/>
                <a:cs typeface="Arial Narrow"/>
              </a:defRPr>
            </a:lvl1pPr>
          </a:lstStyle>
          <a:p>
            <a:endParaRPr/>
          </a:p>
        </p:txBody>
      </p:sp>
      <p:sp>
        <p:nvSpPr>
          <p:cNvPr id="3" name="Holder 3"/>
          <p:cNvSpPr>
            <a:spLocks noGrp="1"/>
          </p:cNvSpPr>
          <p:nvPr>
            <p:ph type="body" idx="1"/>
          </p:nvPr>
        </p:nvSpPr>
        <p:spPr/>
        <p:txBody>
          <a:bodyPr lIns="0" tIns="0" rIns="0" bIns="0"/>
          <a:lstStyle>
            <a:lvl1pPr>
              <a:defRPr sz="1400" b="1" i="0" u="heavy">
                <a:solidFill>
                  <a:srgbClr val="003367"/>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273D84"/>
                </a:solidFill>
                <a:latin typeface="Arial Narrow"/>
                <a:cs typeface="Arial Narrow"/>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273D84"/>
                </a:solidFill>
                <a:latin typeface="Arial Narrow"/>
                <a:cs typeface="Arial Narrow"/>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3999" cy="6857999"/>
          </a:xfrm>
          <a:prstGeom prst="rect">
            <a:avLst/>
          </a:prstGeom>
          <a:blipFill>
            <a:blip r:embed="rId7" cstate="email">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2" name="Holder 2"/>
          <p:cNvSpPr>
            <a:spLocks noGrp="1"/>
          </p:cNvSpPr>
          <p:nvPr>
            <p:ph type="title"/>
          </p:nvPr>
        </p:nvSpPr>
        <p:spPr>
          <a:xfrm>
            <a:off x="2786824" y="426028"/>
            <a:ext cx="3570351" cy="304800"/>
          </a:xfrm>
          <a:prstGeom prst="rect">
            <a:avLst/>
          </a:prstGeom>
        </p:spPr>
        <p:txBody>
          <a:bodyPr wrap="square" lIns="0" tIns="0" rIns="0" bIns="0">
            <a:spAutoFit/>
          </a:bodyPr>
          <a:lstStyle>
            <a:lvl1pPr>
              <a:defRPr sz="2200" b="1" i="0">
                <a:solidFill>
                  <a:srgbClr val="273D84"/>
                </a:solidFill>
                <a:latin typeface="Arial Narrow"/>
                <a:cs typeface="Arial Narrow"/>
              </a:defRPr>
            </a:lvl1pPr>
          </a:lstStyle>
          <a:p>
            <a:endParaRPr/>
          </a:p>
        </p:txBody>
      </p:sp>
      <p:sp>
        <p:nvSpPr>
          <p:cNvPr id="3" name="Holder 3"/>
          <p:cNvSpPr>
            <a:spLocks noGrp="1"/>
          </p:cNvSpPr>
          <p:nvPr>
            <p:ph type="body" idx="1"/>
          </p:nvPr>
        </p:nvSpPr>
        <p:spPr>
          <a:xfrm>
            <a:off x="1466222" y="1249051"/>
            <a:ext cx="6211554" cy="4641850"/>
          </a:xfrm>
          <a:prstGeom prst="rect">
            <a:avLst/>
          </a:prstGeom>
        </p:spPr>
        <p:txBody>
          <a:bodyPr wrap="square" lIns="0" tIns="0" rIns="0" bIns="0">
            <a:spAutoFit/>
          </a:bodyPr>
          <a:lstStyle>
            <a:lvl1pPr>
              <a:defRPr sz="1400" b="1" i="0" u="heavy">
                <a:solidFill>
                  <a:srgbClr val="003367"/>
                </a:solidFill>
                <a:latin typeface="Arial"/>
                <a:cs typeface="Arial"/>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7/3/2025</a:t>
            </a:fld>
            <a:endParaRPr lang="en-US" dirty="0"/>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04800" y="2867183"/>
            <a:ext cx="4800600" cy="3600451"/>
          </a:xfrm>
          <a:prstGeom prst="rect">
            <a:avLst/>
          </a:prstGeom>
        </p:spPr>
      </p:pic>
      <p:sp>
        <p:nvSpPr>
          <p:cNvPr id="2" name="object 2"/>
          <p:cNvSpPr txBox="1"/>
          <p:nvPr/>
        </p:nvSpPr>
        <p:spPr>
          <a:xfrm>
            <a:off x="140646" y="6642303"/>
            <a:ext cx="110489" cy="177800"/>
          </a:xfrm>
          <a:prstGeom prst="rect">
            <a:avLst/>
          </a:prstGeom>
        </p:spPr>
        <p:txBody>
          <a:bodyPr vert="horz" wrap="square" lIns="0" tIns="0" rIns="0" bIns="0" rtlCol="0">
            <a:spAutoFit/>
          </a:bodyPr>
          <a:lstStyle/>
          <a:p>
            <a:pPr marL="12700">
              <a:lnSpc>
                <a:spcPct val="100000"/>
              </a:lnSpc>
            </a:pPr>
            <a:r>
              <a:rPr sz="1200" i="1" dirty="0">
                <a:solidFill>
                  <a:srgbClr val="009ED5"/>
                </a:solidFill>
                <a:latin typeface="Arial"/>
                <a:cs typeface="Arial"/>
              </a:rPr>
              <a:t>1</a:t>
            </a:r>
            <a:endParaRPr sz="1200" dirty="0">
              <a:latin typeface="Arial"/>
              <a:cs typeface="Arial"/>
            </a:endParaRPr>
          </a:p>
        </p:txBody>
      </p:sp>
      <p:sp>
        <p:nvSpPr>
          <p:cNvPr id="4" name="object 4"/>
          <p:cNvSpPr txBox="1">
            <a:spLocks noGrp="1"/>
          </p:cNvSpPr>
          <p:nvPr>
            <p:ph type="title" idx="4294967295"/>
          </p:nvPr>
        </p:nvSpPr>
        <p:spPr>
          <a:xfrm>
            <a:off x="0" y="425450"/>
            <a:ext cx="6477000" cy="338554"/>
          </a:xfrm>
          <a:prstGeom prst="rect">
            <a:avLst/>
          </a:prstGeom>
        </p:spPr>
        <p:txBody>
          <a:bodyPr vert="horz" wrap="square" lIns="0" tIns="0" rIns="0" bIns="0" rtlCol="0">
            <a:spAutoFit/>
          </a:bodyPr>
          <a:lstStyle/>
          <a:p>
            <a:pPr marL="167005">
              <a:lnSpc>
                <a:spcPct val="100000"/>
              </a:lnSpc>
            </a:pPr>
            <a:r>
              <a:rPr lang="en-US" spc="-15" dirty="0"/>
              <a:t>LESSONS LEARNED </a:t>
            </a:r>
            <a:r>
              <a:rPr lang="en-US" spc="-10" dirty="0"/>
              <a:t>–</a:t>
            </a:r>
            <a:r>
              <a:rPr spc="-10" dirty="0"/>
              <a:t> </a:t>
            </a:r>
            <a:r>
              <a:rPr lang="en-US" spc="-10" dirty="0"/>
              <a:t>RICKOVER HALL ROOF FIRE</a:t>
            </a:r>
            <a:endParaRPr spc="-15" dirty="0"/>
          </a:p>
        </p:txBody>
      </p:sp>
      <p:sp>
        <p:nvSpPr>
          <p:cNvPr id="5" name="object 5"/>
          <p:cNvSpPr txBox="1">
            <a:spLocks noGrp="1"/>
          </p:cNvSpPr>
          <p:nvPr>
            <p:ph type="body" idx="4294967295"/>
          </p:nvPr>
        </p:nvSpPr>
        <p:spPr>
          <a:xfrm>
            <a:off x="175983" y="1247026"/>
            <a:ext cx="8534400" cy="1477328"/>
          </a:xfrm>
          <a:prstGeom prst="rect">
            <a:avLst/>
          </a:prstGeom>
        </p:spPr>
        <p:txBody>
          <a:bodyPr vert="horz" wrap="square" lIns="0" tIns="0" rIns="0" bIns="0" rtlCol="0">
            <a:spAutoFit/>
          </a:bodyPr>
          <a:lstStyle/>
          <a:p>
            <a:pPr marL="148590">
              <a:lnSpc>
                <a:spcPct val="100000"/>
              </a:lnSpc>
            </a:pPr>
            <a:r>
              <a:rPr lang="en-US" sz="1200" dirty="0">
                <a:solidFill>
                  <a:schemeClr val="accent1">
                    <a:lumMod val="50000"/>
                  </a:schemeClr>
                </a:solidFill>
              </a:rPr>
              <a:t>Incident</a:t>
            </a:r>
            <a:r>
              <a:rPr sz="1200" b="0" u="none" dirty="0">
                <a:solidFill>
                  <a:schemeClr val="accent1">
                    <a:lumMod val="50000"/>
                  </a:schemeClr>
                </a:solidFill>
              </a:rPr>
              <a:t>:</a:t>
            </a:r>
            <a:r>
              <a:rPr lang="en-US" sz="1200" b="0" u="none" dirty="0">
                <a:solidFill>
                  <a:schemeClr val="accent1">
                    <a:lumMod val="50000"/>
                  </a:schemeClr>
                </a:solidFill>
              </a:rPr>
              <a:t> The contractor was installing temporary roof patches after a welder installed handrails on the roof prior to an upcoming roof replacement. The Contractor’s carpenter was torching down a temporary patch and caught the existing roof insulation on fire. The initial fire was extinguished with fire extinguishers and water and the Contractor posted a fire watch for at least 2 hours. Around 4pm, contractor was convinced the fire had been entirely extinguished and left the site.  Around 9pm, the utilities rover noticed smoke coming from the roof and called the Fire Department.  Fire Department found an active fire on the roof and extinguished it with water. The Fire Department also connected to an FDC that was out of service due to ongoing renovations. The heat of the fire caused activation of a sprinkler head below the roof , all of which caused significant inundation of water throughout the building.</a:t>
            </a:r>
          </a:p>
        </p:txBody>
      </p:sp>
      <p:sp>
        <p:nvSpPr>
          <p:cNvPr id="11" name="object 5"/>
          <p:cNvSpPr txBox="1">
            <a:spLocks/>
          </p:cNvSpPr>
          <p:nvPr/>
        </p:nvSpPr>
        <p:spPr>
          <a:xfrm>
            <a:off x="5181600" y="2867183"/>
            <a:ext cx="3789037" cy="3662541"/>
          </a:xfrm>
          <a:prstGeom prst="rect">
            <a:avLst/>
          </a:prstGeom>
        </p:spPr>
        <p:txBody>
          <a:bodyPr vert="horz" wrap="square" lIns="0" tIns="0" rIns="0" bIns="0" rtlCol="0">
            <a:spAutoFit/>
          </a:bodyPr>
          <a:lstStyle>
            <a:lvl1pPr marL="0">
              <a:defRPr sz="1400" b="1" i="0" u="heavy">
                <a:solidFill>
                  <a:srgbClr val="003367"/>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48590"/>
            <a:r>
              <a:rPr lang="en-US" kern="0" dirty="0">
                <a:solidFill>
                  <a:schemeClr val="accent1">
                    <a:lumMod val="50000"/>
                  </a:schemeClr>
                </a:solidFill>
              </a:rPr>
              <a:t>Causes and Lessons Learned:  </a:t>
            </a:r>
          </a:p>
          <a:p>
            <a:pPr marL="491490" indent="-342900">
              <a:buFontTx/>
              <a:buAutoNum type="arabicPeriod"/>
            </a:pPr>
            <a:r>
              <a:rPr lang="en-US" b="0" u="none" kern="0" dirty="0">
                <a:solidFill>
                  <a:schemeClr val="accent1">
                    <a:lumMod val="50000"/>
                  </a:schemeClr>
                </a:solidFill>
              </a:rPr>
              <a:t>Carpenter performed “torch-down” patching using a cold patch product whose label instructs not to apply heat to the product. This mistake may have triggered or accelerated the ignition of fire in the insulation.  </a:t>
            </a:r>
            <a:r>
              <a:rPr lang="en-US" u="none" kern="0" dirty="0">
                <a:solidFill>
                  <a:schemeClr val="accent1">
                    <a:lumMod val="50000"/>
                  </a:schemeClr>
                </a:solidFill>
              </a:rPr>
              <a:t>Workers must be familiar with the products and follow instructions.</a:t>
            </a:r>
          </a:p>
          <a:p>
            <a:pPr marL="491490" indent="-342900">
              <a:buFontTx/>
              <a:buAutoNum type="arabicPeriod"/>
            </a:pPr>
            <a:endParaRPr lang="en-US" u="none" kern="0" dirty="0">
              <a:solidFill>
                <a:schemeClr val="accent1">
                  <a:lumMod val="50000"/>
                </a:schemeClr>
              </a:solidFill>
            </a:endParaRPr>
          </a:p>
          <a:p>
            <a:pPr marL="491490" indent="-342900">
              <a:buFontTx/>
              <a:buAutoNum type="arabicPeriod"/>
            </a:pPr>
            <a:r>
              <a:rPr lang="en-US" b="0" u="none" kern="0" dirty="0">
                <a:solidFill>
                  <a:schemeClr val="accent1">
                    <a:lumMod val="50000"/>
                  </a:schemeClr>
                </a:solidFill>
              </a:rPr>
              <a:t>Contractor’s carpenter performed the patching because the roofer wasn’t on site that day.  </a:t>
            </a:r>
            <a:r>
              <a:rPr lang="en-US" u="none" kern="0" dirty="0">
                <a:solidFill>
                  <a:schemeClr val="accent1">
                    <a:lumMod val="50000"/>
                  </a:schemeClr>
                </a:solidFill>
              </a:rPr>
              <a:t>Workers must be experienced and trained in the type of work they are performing.</a:t>
            </a:r>
          </a:p>
          <a:p>
            <a:pPr marL="491490" indent="-342900">
              <a:buFontTx/>
              <a:buAutoNum type="arabicPeriod"/>
            </a:pPr>
            <a:endParaRPr lang="en-US" u="none" kern="0" dirty="0">
              <a:solidFill>
                <a:schemeClr val="accent1">
                  <a:lumMod val="75000"/>
                </a:schemeClr>
              </a:solidFill>
            </a:endParaRPr>
          </a:p>
          <a:p>
            <a:pPr marL="491490" indent="-342900">
              <a:buFontTx/>
              <a:buAutoNum type="arabicPeriod"/>
            </a:pPr>
            <a:endParaRPr lang="en-US" b="0" u="none" kern="0"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0646" y="6642303"/>
            <a:ext cx="110489" cy="184666"/>
          </a:xfrm>
          <a:prstGeom prst="rect">
            <a:avLst/>
          </a:prstGeom>
        </p:spPr>
        <p:txBody>
          <a:bodyPr vert="horz" wrap="square" lIns="0" tIns="0" rIns="0" bIns="0" rtlCol="0">
            <a:spAutoFit/>
          </a:bodyPr>
          <a:lstStyle/>
          <a:p>
            <a:pPr marL="12700">
              <a:lnSpc>
                <a:spcPct val="100000"/>
              </a:lnSpc>
            </a:pPr>
            <a:r>
              <a:rPr lang="en-US" sz="1200" i="1" dirty="0">
                <a:solidFill>
                  <a:srgbClr val="009ED5"/>
                </a:solidFill>
                <a:latin typeface="Arial"/>
                <a:cs typeface="Arial"/>
              </a:rPr>
              <a:t>2</a:t>
            </a:r>
            <a:endParaRPr sz="1200" dirty="0">
              <a:latin typeface="Arial"/>
              <a:cs typeface="Arial"/>
            </a:endParaRPr>
          </a:p>
        </p:txBody>
      </p:sp>
      <p:sp>
        <p:nvSpPr>
          <p:cNvPr id="4" name="object 4"/>
          <p:cNvSpPr txBox="1">
            <a:spLocks noGrp="1"/>
          </p:cNvSpPr>
          <p:nvPr>
            <p:ph type="title" idx="4294967295"/>
          </p:nvPr>
        </p:nvSpPr>
        <p:spPr>
          <a:xfrm>
            <a:off x="0" y="425450"/>
            <a:ext cx="6477000" cy="338554"/>
          </a:xfrm>
          <a:prstGeom prst="rect">
            <a:avLst/>
          </a:prstGeom>
        </p:spPr>
        <p:txBody>
          <a:bodyPr vert="horz" wrap="square" lIns="0" tIns="0" rIns="0" bIns="0" rtlCol="0">
            <a:spAutoFit/>
          </a:bodyPr>
          <a:lstStyle/>
          <a:p>
            <a:pPr marL="167005">
              <a:lnSpc>
                <a:spcPct val="100000"/>
              </a:lnSpc>
            </a:pPr>
            <a:r>
              <a:rPr lang="en-US" spc="-15" dirty="0"/>
              <a:t>LESSONS LEARNED </a:t>
            </a:r>
            <a:r>
              <a:rPr lang="en-US" spc="-10" dirty="0"/>
              <a:t>–</a:t>
            </a:r>
            <a:r>
              <a:rPr spc="-10" dirty="0"/>
              <a:t> </a:t>
            </a:r>
            <a:r>
              <a:rPr lang="en-US" spc="-10" dirty="0"/>
              <a:t>RICKOVER HALL ROOF FIRE</a:t>
            </a:r>
            <a:endParaRPr spc="-15" dirty="0"/>
          </a:p>
        </p:txBody>
      </p:sp>
      <p:sp>
        <p:nvSpPr>
          <p:cNvPr id="5" name="object 5"/>
          <p:cNvSpPr txBox="1">
            <a:spLocks noGrp="1"/>
          </p:cNvSpPr>
          <p:nvPr>
            <p:ph type="body" idx="4294967295"/>
          </p:nvPr>
        </p:nvSpPr>
        <p:spPr>
          <a:xfrm>
            <a:off x="3514787" y="1234009"/>
            <a:ext cx="5455850" cy="1938992"/>
          </a:xfrm>
          <a:prstGeom prst="rect">
            <a:avLst/>
          </a:prstGeom>
        </p:spPr>
        <p:txBody>
          <a:bodyPr vert="horz" wrap="square" lIns="0" tIns="0" rIns="0" bIns="0" rtlCol="0">
            <a:spAutoFit/>
          </a:bodyPr>
          <a:lstStyle/>
          <a:p>
            <a:pPr marL="148590">
              <a:lnSpc>
                <a:spcPct val="100000"/>
              </a:lnSpc>
            </a:pPr>
            <a:r>
              <a:rPr lang="en-US" dirty="0"/>
              <a:t>Causes and Lessons Learned (continued):  </a:t>
            </a:r>
          </a:p>
          <a:p>
            <a:pPr marL="491490" indent="-342900">
              <a:lnSpc>
                <a:spcPct val="100000"/>
              </a:lnSpc>
              <a:buAutoNum type="arabicPeriod" startAt="3"/>
            </a:pPr>
            <a:r>
              <a:rPr lang="en-US" b="0" u="none" dirty="0"/>
              <a:t>Contractor did not notify the Fire Department of the initial fire.  The Fire Department would use a heat sensing tool and other methods to determine that the fire had not been 100% extinguished or continued to check the roof for fire throughout the evening. </a:t>
            </a:r>
            <a:r>
              <a:rPr lang="en-US" u="none" dirty="0" err="1"/>
              <a:t>Govt</a:t>
            </a:r>
            <a:r>
              <a:rPr lang="en-US" u="none" dirty="0"/>
              <a:t> Safety Requirements and Roofing Specification Sections in addition to Hot Work Permits all require contractor to “report any fire, no matter how small, to the responsible fire division immediately.”</a:t>
            </a:r>
            <a:endParaRPr lang="en-US" b="0" u="none" dirty="0"/>
          </a:p>
        </p:txBody>
      </p:sp>
      <p:pic>
        <p:nvPicPr>
          <p:cNvPr id="9" name="Picture 8"/>
          <p:cNvPicPr>
            <a:picLocks noChangeAspect="1"/>
          </p:cNvPicPr>
          <p:nvPr/>
        </p:nvPicPr>
        <p:blipFill rotWithShape="1">
          <a:blip r:embed="rId3" cstate="email">
            <a:extLst>
              <a:ext uri="{28A0092B-C50C-407E-A947-70E740481C1C}">
                <a14:useLocalDpi xmlns:a14="http://schemas.microsoft.com/office/drawing/2010/main"/>
              </a:ext>
            </a:extLst>
          </a:blip>
          <a:srcRect t="4970" b="12519"/>
          <a:stretch/>
        </p:blipFill>
        <p:spPr>
          <a:xfrm>
            <a:off x="4594720" y="4058582"/>
            <a:ext cx="3482480" cy="2394546"/>
          </a:xfrm>
          <a:prstGeom prst="rect">
            <a:avLst/>
          </a:prstGeom>
        </p:spPr>
      </p:pic>
      <p:sp>
        <p:nvSpPr>
          <p:cNvPr id="11" name="object 5"/>
          <p:cNvSpPr txBox="1">
            <a:spLocks/>
          </p:cNvSpPr>
          <p:nvPr/>
        </p:nvSpPr>
        <p:spPr>
          <a:xfrm>
            <a:off x="115246" y="4542277"/>
            <a:ext cx="4343400" cy="1508105"/>
          </a:xfrm>
          <a:prstGeom prst="rect">
            <a:avLst/>
          </a:prstGeom>
        </p:spPr>
        <p:txBody>
          <a:bodyPr vert="horz" wrap="square" lIns="0" tIns="0" rIns="0" bIns="0" rtlCol="0">
            <a:spAutoFit/>
          </a:bodyPr>
          <a:lstStyle>
            <a:lvl1pPr marL="0">
              <a:defRPr sz="1400" b="1" i="0" u="heavy">
                <a:solidFill>
                  <a:srgbClr val="003367"/>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48590"/>
            <a:r>
              <a:rPr lang="en-US" b="0" u="none" kern="0" dirty="0"/>
              <a:t>4.   The Fire Department unknowingly connected to  </a:t>
            </a:r>
          </a:p>
          <a:p>
            <a:pPr marL="148590"/>
            <a:r>
              <a:rPr lang="en-US" b="0" u="none" kern="0" dirty="0"/>
              <a:t>       an FDC that was not in service and  </a:t>
            </a:r>
          </a:p>
          <a:p>
            <a:pPr marL="148590"/>
            <a:r>
              <a:rPr lang="en-US" b="0" u="none" kern="0" dirty="0"/>
              <a:t>       exasperated water damage.  </a:t>
            </a:r>
            <a:r>
              <a:rPr lang="en-US" u="none" kern="0" dirty="0"/>
              <a:t>LOTO shall be </a:t>
            </a:r>
          </a:p>
          <a:p>
            <a:pPr marL="148590"/>
            <a:r>
              <a:rPr lang="en-US" u="none" kern="0" dirty="0"/>
              <a:t>       performed of all FDC’s removed from </a:t>
            </a:r>
          </a:p>
          <a:p>
            <a:pPr marL="148590"/>
            <a:r>
              <a:rPr lang="en-US" u="none" kern="0" dirty="0"/>
              <a:t>       service.  LOTO shall be reviewed with Fire </a:t>
            </a:r>
          </a:p>
          <a:p>
            <a:pPr marL="148590"/>
            <a:r>
              <a:rPr lang="en-US" u="none" kern="0" dirty="0"/>
              <a:t>       Marshall during issuance of burn permits.</a:t>
            </a:r>
          </a:p>
          <a:p>
            <a:pPr marL="491490" indent="-342900">
              <a:buFontTx/>
              <a:buAutoNum type="arabicPeriod"/>
            </a:pPr>
            <a:endParaRPr lang="en-US" b="0" u="none" kern="0" dirty="0"/>
          </a:p>
        </p:txBody>
      </p:sp>
      <p:pic>
        <p:nvPicPr>
          <p:cNvPr id="12" name="Picture 1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22847" y="1262703"/>
            <a:ext cx="3197956" cy="2895600"/>
          </a:xfrm>
          <a:prstGeom prst="rect">
            <a:avLst/>
          </a:prstGeom>
        </p:spPr>
      </p:pic>
    </p:spTree>
    <p:extLst>
      <p:ext uri="{BB962C8B-B14F-4D97-AF65-F5344CB8AC3E}">
        <p14:creationId xmlns:p14="http://schemas.microsoft.com/office/powerpoint/2010/main" val="939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26028"/>
            <a:ext cx="6324600" cy="677108"/>
          </a:xfrm>
        </p:spPr>
        <p:txBody>
          <a:bodyPr/>
          <a:lstStyle/>
          <a:p>
            <a:r>
              <a:rPr lang="en-US" dirty="0"/>
              <a:t>Similarities to Recent Fires on NAVFAC Roofing Projects (NAS JAX B110, 124 and Camp Lejeune HS)</a:t>
            </a:r>
          </a:p>
        </p:txBody>
      </p:sp>
      <p:sp>
        <p:nvSpPr>
          <p:cNvPr id="3" name="Text Placeholder 2"/>
          <p:cNvSpPr>
            <a:spLocks noGrp="1"/>
          </p:cNvSpPr>
          <p:nvPr>
            <p:ph type="body" idx="1"/>
          </p:nvPr>
        </p:nvSpPr>
        <p:spPr>
          <a:xfrm>
            <a:off x="457200" y="1249051"/>
            <a:ext cx="8153400" cy="4185761"/>
          </a:xfrm>
        </p:spPr>
        <p:txBody>
          <a:bodyPr/>
          <a:lstStyle/>
          <a:p>
            <a:pPr marL="342900" indent="-342900">
              <a:buAutoNum type="arabicPeriod"/>
            </a:pPr>
            <a:r>
              <a:rPr lang="en-US" u="none" dirty="0"/>
              <a:t>Unqualified personnel, either non-roofers or roofers without CERTA certification and/or not certified on the roofing system being applied, involved in roofing work that resulted in fire.</a:t>
            </a:r>
          </a:p>
          <a:p>
            <a:pPr marL="342900" indent="-342900">
              <a:buAutoNum type="arabicPeriod"/>
            </a:pPr>
            <a:endParaRPr lang="en-US" u="none" dirty="0"/>
          </a:p>
          <a:p>
            <a:pPr marL="342900" indent="-342900">
              <a:buAutoNum type="arabicPeriod"/>
            </a:pPr>
            <a:r>
              <a:rPr lang="en-US" u="none" dirty="0"/>
              <a:t>A fire watch was present and on site for the required 60 minutes following hot work.</a:t>
            </a:r>
          </a:p>
          <a:p>
            <a:pPr marL="342900" indent="-342900">
              <a:buAutoNum type="arabicPeriod"/>
            </a:pPr>
            <a:endParaRPr lang="en-US" u="none" dirty="0"/>
          </a:p>
          <a:p>
            <a:pPr marL="342900" indent="-342900">
              <a:buAutoNum type="arabicPeriod"/>
            </a:pPr>
            <a:r>
              <a:rPr lang="en-US" u="none" dirty="0"/>
              <a:t>Smoldering material (insulation, wood nailing strips) ignited at some time after the fire watch was lifted.</a:t>
            </a:r>
          </a:p>
          <a:p>
            <a:pPr marL="342900" indent="-342900">
              <a:buAutoNum type="arabicPeriod"/>
            </a:pPr>
            <a:endParaRPr lang="en-US" b="0" u="none" dirty="0"/>
          </a:p>
          <a:p>
            <a:pPr marL="342900" indent="-342900">
              <a:buAutoNum type="arabicPeriod"/>
            </a:pPr>
            <a:endParaRPr lang="en-US" b="0" u="none" dirty="0"/>
          </a:p>
          <a:p>
            <a:pPr marL="342900" indent="-342900">
              <a:buAutoNum type="arabicPeriod"/>
            </a:pPr>
            <a:endParaRPr lang="en-US" b="0" u="none" dirty="0"/>
          </a:p>
          <a:p>
            <a:r>
              <a:rPr lang="en-US" sz="2000" u="none" dirty="0"/>
              <a:t>Differences From Recent Fires on NAVFAC Roofing Projects</a:t>
            </a:r>
          </a:p>
          <a:p>
            <a:endParaRPr lang="en-US" b="0" u="none" dirty="0"/>
          </a:p>
          <a:p>
            <a:pPr marL="347663" indent="-347663">
              <a:buAutoNum type="arabicPeriod"/>
            </a:pPr>
            <a:r>
              <a:rPr lang="en-US" u="none" dirty="0"/>
              <a:t>The roofing insulation ignited during hot work.  The fire was extinguished by the work crew but not reported to the Station Fire Department as required.</a:t>
            </a:r>
          </a:p>
          <a:p>
            <a:pPr marL="347663" indent="-347663">
              <a:buAutoNum type="arabicPeriod"/>
            </a:pPr>
            <a:endParaRPr lang="en-US" u="none" dirty="0"/>
          </a:p>
          <a:p>
            <a:pPr marL="347663" indent="-347663">
              <a:buAutoNum type="arabicPeriod"/>
            </a:pPr>
            <a:r>
              <a:rPr lang="en-US" u="none" dirty="0"/>
              <a:t>The roofing patches used at Rickover Hall were a “cold patch” system that did not require heat for application.  Use of a torch for installation was unnecessary and inappropriate.  </a:t>
            </a:r>
          </a:p>
          <a:p>
            <a:pPr marL="342900" indent="-342900">
              <a:buAutoNum type="arabicPeriod"/>
            </a:pPr>
            <a:endParaRPr lang="en-US" b="0" u="none" dirty="0"/>
          </a:p>
          <a:p>
            <a:pPr marL="342900" indent="-342900">
              <a:buAutoNum type="arabicPeriod"/>
            </a:pPr>
            <a:endParaRPr lang="en-US" b="0" u="none" dirty="0"/>
          </a:p>
        </p:txBody>
      </p:sp>
    </p:spTree>
    <p:extLst>
      <p:ext uri="{BB962C8B-B14F-4D97-AF65-F5344CB8AC3E}">
        <p14:creationId xmlns:p14="http://schemas.microsoft.com/office/powerpoint/2010/main" val="2038828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6028"/>
            <a:ext cx="4800600" cy="338554"/>
          </a:xfrm>
        </p:spPr>
        <p:txBody>
          <a:bodyPr/>
          <a:lstStyle/>
          <a:p>
            <a:r>
              <a:rPr lang="en-US" dirty="0"/>
              <a:t>The Way Ahead: Recommended Actions</a:t>
            </a:r>
          </a:p>
        </p:txBody>
      </p:sp>
      <p:sp>
        <p:nvSpPr>
          <p:cNvPr id="3" name="Text Placeholder 2"/>
          <p:cNvSpPr>
            <a:spLocks noGrp="1"/>
          </p:cNvSpPr>
          <p:nvPr>
            <p:ph type="body" idx="1"/>
          </p:nvPr>
        </p:nvSpPr>
        <p:spPr>
          <a:xfrm>
            <a:off x="494046" y="1249051"/>
            <a:ext cx="8116554" cy="5816977"/>
          </a:xfrm>
        </p:spPr>
        <p:txBody>
          <a:bodyPr/>
          <a:lstStyle/>
          <a:p>
            <a:pPr marL="342900" indent="-342900">
              <a:buAutoNum type="arabicPeriod"/>
            </a:pPr>
            <a:r>
              <a:rPr lang="en-US" u="none" dirty="0"/>
              <a:t>Only trained/qualified personnel should perform roof installation work.  Contract specifications should require proof (i.e. certificate) that all personnel working on roof installation are trained on the roofing system being installed.  Certification to be provided as part of the Activity Hazard Analysis (AHA) for roof installation.</a:t>
            </a:r>
          </a:p>
          <a:p>
            <a:pPr marL="342900" indent="-342900">
              <a:buAutoNum type="arabicPeriod"/>
            </a:pPr>
            <a:endParaRPr lang="en-US" u="none" dirty="0"/>
          </a:p>
          <a:p>
            <a:pPr marL="342900" indent="-342900">
              <a:buAutoNum type="arabicPeriod"/>
            </a:pPr>
            <a:r>
              <a:rPr lang="en-US" u="none" dirty="0"/>
              <a:t>Only trained/qualified personnel should perform hot work during roofing installation/repair as required (i.e. using torch to activate adhesives).  Contract specifications should require Certified Roofing Torch Applicator (CERTA) certification for all personnel performing hot work during a roof installation/repair project.  Certification to be provided as part of the AHA for roof installation.</a:t>
            </a:r>
          </a:p>
          <a:p>
            <a:pPr marL="342900" indent="-342900">
              <a:buAutoNum type="arabicPeriod"/>
            </a:pPr>
            <a:endParaRPr lang="en-US" u="none" dirty="0"/>
          </a:p>
          <a:p>
            <a:pPr marL="342900" indent="-342900">
              <a:buAutoNum type="arabicPeriod"/>
            </a:pPr>
            <a:r>
              <a:rPr lang="en-US" u="none" dirty="0"/>
              <a:t>EM 385-1-1 Section 9 Fire Protection, paragraph 09.A.04.b states, “Areas shall be surveyed prior to performing any hot work to ensure they are free of fire hazards and to determine if a fire watch is required.”  Contract specifications should require the contractor to submit a survey report as part of the AHA to ensure a survey has taken place, identify potential fire hazards such as nailing strips, and plan preventative measures.</a:t>
            </a:r>
          </a:p>
          <a:p>
            <a:pPr marL="342900" indent="-342900">
              <a:buAutoNum type="arabicPeriod"/>
            </a:pPr>
            <a:endParaRPr lang="en-US" u="none" dirty="0"/>
          </a:p>
          <a:p>
            <a:pPr marL="342900" indent="-342900">
              <a:buAutoNum type="arabicPeriod"/>
            </a:pPr>
            <a:r>
              <a:rPr lang="en-US" u="none" dirty="0"/>
              <a:t>EM 385-1-1 paragraph 09.K Fire Watch does not require monitoring with heat detection device (i.e. infrared camera or laser thermometer).  However, in all four cases cited, doing so may have discovered the smoldering fire and prevented it from becoming a full blaze.  Contract specifications should require that contractors performing hot work on a roofing installation/repair use an appropriate heat detection device to survey the work area prior to demobilizing the Fire Watch to ensure there are no potential fires present.</a:t>
            </a:r>
          </a:p>
          <a:p>
            <a:pPr marL="342900" indent="-342900">
              <a:buAutoNum type="arabicPeriod"/>
            </a:pPr>
            <a:endParaRPr lang="en-US" u="none" dirty="0"/>
          </a:p>
          <a:p>
            <a:pPr marL="342900" indent="-342900">
              <a:buAutoNum type="arabicPeriod"/>
            </a:pPr>
            <a:r>
              <a:rPr lang="en-US" u="none" dirty="0"/>
              <a:t>Communicate these recommendations via an Engineering and Construction Bulletin.</a:t>
            </a:r>
          </a:p>
          <a:p>
            <a:pPr marL="342900" indent="-342900">
              <a:buAutoNum type="arabicPeriod"/>
            </a:pPr>
            <a:endParaRPr lang="en-US" u="none" dirty="0"/>
          </a:p>
          <a:p>
            <a:pPr marL="342900" indent="-342900">
              <a:buAutoNum type="arabicPeriod"/>
            </a:pPr>
            <a:endParaRPr lang="en-US" u="none" dirty="0"/>
          </a:p>
        </p:txBody>
      </p:sp>
    </p:spTree>
    <p:extLst>
      <p:ext uri="{BB962C8B-B14F-4D97-AF65-F5344CB8AC3E}">
        <p14:creationId xmlns:p14="http://schemas.microsoft.com/office/powerpoint/2010/main" val="458725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26028"/>
            <a:ext cx="7296776" cy="338554"/>
          </a:xfrm>
        </p:spPr>
        <p:txBody>
          <a:bodyPr/>
          <a:lstStyle/>
          <a:p>
            <a:r>
              <a:rPr lang="en-US" dirty="0"/>
              <a:t>The Way Ahead: Recommended Actions (continued)</a:t>
            </a:r>
          </a:p>
        </p:txBody>
      </p:sp>
      <p:sp>
        <p:nvSpPr>
          <p:cNvPr id="3" name="Text Placeholder 2"/>
          <p:cNvSpPr>
            <a:spLocks noGrp="1"/>
          </p:cNvSpPr>
          <p:nvPr>
            <p:ph type="body" idx="1"/>
          </p:nvPr>
        </p:nvSpPr>
        <p:spPr>
          <a:xfrm>
            <a:off x="457200" y="1249051"/>
            <a:ext cx="8229600" cy="2585323"/>
          </a:xfrm>
        </p:spPr>
        <p:txBody>
          <a:bodyPr/>
          <a:lstStyle/>
          <a:p>
            <a:r>
              <a:rPr lang="en-US" u="none" dirty="0"/>
              <a:t>The NDW Fire Chief offered several recommendations following the Rickover Hall fire.  Several were directed at establishing a stronger relationship between the FEAD and the local Fire Department.  One specific recommendation stood out:</a:t>
            </a:r>
          </a:p>
          <a:p>
            <a:endParaRPr lang="en-US" u="none" dirty="0"/>
          </a:p>
          <a:p>
            <a:r>
              <a:rPr lang="en-US" u="none" dirty="0"/>
              <a:t>1. Hot work for roof operations should be covered under a separate hot work process and not included in a work site permit. This will ensure that the post inspection and fire watch process is adhered to by the fire department and the contractor (please note that this will be difficult at places that do not have organic fire department assets).  </a:t>
            </a:r>
          </a:p>
          <a:p>
            <a:endParaRPr lang="en-US" u="none" dirty="0"/>
          </a:p>
          <a:p>
            <a:r>
              <a:rPr lang="en-US" u="none" dirty="0"/>
              <a:t>To make this happen, NAVFAC CI5 will work with NAVFAC Safety and/or CNIC Fire Safety to develop a hot work permit specifically tailored for roof work that can then be implemented in the field.     </a:t>
            </a:r>
          </a:p>
        </p:txBody>
      </p:sp>
    </p:spTree>
    <p:extLst>
      <p:ext uri="{BB962C8B-B14F-4D97-AF65-F5344CB8AC3E}">
        <p14:creationId xmlns:p14="http://schemas.microsoft.com/office/powerpoint/2010/main" val="3062887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2802</TotalTime>
  <Words>1014</Words>
  <Application>Microsoft Office PowerPoint</Application>
  <PresentationFormat>On-screen Show (4:3)</PresentationFormat>
  <Paragraphs>47</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Arial Narrow</vt:lpstr>
      <vt:lpstr>Calibri</vt:lpstr>
      <vt:lpstr>Office Theme</vt:lpstr>
      <vt:lpstr>LESSONS LEARNED – RICKOVER HALL ROOF FIRE</vt:lpstr>
      <vt:lpstr>LESSONS LEARNED – RICKOVER HALL ROOF FIRE</vt:lpstr>
      <vt:lpstr>Similarities to Recent Fires on NAVFAC Roofing Projects (NAS JAX B110, 124 and Camp Lejeune HS)</vt:lpstr>
      <vt:lpstr>The Way Ahead: Recommended Actions</vt:lpstr>
      <vt:lpstr>The Way Ahead: Recommended Actions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IN-HOUSE NEAR MISS ABSTRACT Roll Over</dc:title>
  <dc:creator>Halley, David J CIV USN NAVFAC ROTA</dc:creator>
  <cp:lastModifiedBy>Cristelli, Brittany N CIV USN NAVFAC MIDLANT NOR (USA)</cp:lastModifiedBy>
  <cp:revision>96</cp:revision>
  <dcterms:created xsi:type="dcterms:W3CDTF">2017-06-02T06:32:33Z</dcterms:created>
  <dcterms:modified xsi:type="dcterms:W3CDTF">2025-07-03T16:29:42Z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2017-05-31T00:00:00Z</vt:filetime>
  </property>
  <property fmtid="{D5CDD505-2E9C-101B-9397-08002B2CF9AE}" pid="3" name="LastSaved">
    <vt:filetime>2017-06-02T00:00:00Z</vt:filetime>
  </property>
</Properties>
</file>