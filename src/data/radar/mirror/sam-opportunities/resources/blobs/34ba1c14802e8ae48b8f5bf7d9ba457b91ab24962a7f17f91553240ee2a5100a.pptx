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73" r:id="rId4"/>
    <p:sldMasterId id="2147483676" r:id="rId5"/>
    <p:sldMasterId id="2147483688" r:id="rId6"/>
  </p:sldMasterIdLst>
  <p:notesMasterIdLst>
    <p:notesMasterId r:id="rId19"/>
  </p:notesMasterIdLst>
  <p:handoutMasterIdLst>
    <p:handoutMasterId r:id="rId20"/>
  </p:handoutMasterIdLst>
  <p:sldIdLst>
    <p:sldId id="2147472844" r:id="rId7"/>
    <p:sldId id="2147473092" r:id="rId8"/>
    <p:sldId id="257" r:id="rId9"/>
    <p:sldId id="2147473093" r:id="rId10"/>
    <p:sldId id="2147472854" r:id="rId11"/>
    <p:sldId id="264" r:id="rId12"/>
    <p:sldId id="2147472882" r:id="rId13"/>
    <p:sldId id="2147473089" r:id="rId14"/>
    <p:sldId id="2147473082" r:id="rId15"/>
    <p:sldId id="2147473088" r:id="rId16"/>
    <p:sldId id="2147473095" r:id="rId17"/>
    <p:sldId id="2147473096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D03DF0A-9F97-C0A8-D673-25681F4C1D07}" name="Shea, Melissa" initials="MS" userId="S::Melissa.Shea@fda.gov::03bb9c2a-1222-4c42-be4a-9803f481154e" providerId="AD"/>
  <p188:author id="{C270C322-661C-3F1D-AD4C-A117A60B5963}" name="Gray, Tara" initials="GT" userId="S::tara.gray@fda.gov::650b3730-7f91-4b5f-bcd7-f1921d8f0871" providerId="AD"/>
  <p188:author id="{B153B532-67CA-D75E-2283-A323C1389B9D}" name="Amato, Nina" initials="AN" userId="S::nina.amato@fda.gov::0eb607eb-9710-4c7a-889f-9144170e8541" providerId="AD"/>
  <p188:author id="{0361FD41-6734-BEC6-2E55-E04A9A7B8F21}" name="Shah, Shailesh" initials="SS" userId="S::shailesh.shah@fda.gov::9e8b2cf0-c628-4aef-9c50-7c723b19c439" providerId="AD"/>
  <p188:author id="{1AF0D24C-3A72-DD07-32AF-6600A3BC00A8}" name="Miller, Barry" initials="BM" userId="S::MILLERB@fda.gov::444a7783-fb12-499e-aff2-0af3ee545cc7" providerId="AD"/>
  <p188:author id="{6D335F51-FCAE-8D1B-A392-A8FEA6F5CC51}" name="Shah, Shailesh" initials="SS" userId="S::Shailesh.Shah@fda.gov::9e8b2cf0-c628-4aef-9c50-7c723b19c439" providerId="AD"/>
  <p188:author id="{003FB758-5DFE-EB7D-68F1-0DD43ECBB06A}" name="Miller, Barry" initials="MB" userId="S::millerb@fda.gov::444a7783-fb12-499e-aff2-0af3ee545cc7" providerId="AD"/>
  <p188:author id="{A22B9D6A-ABF6-9329-5971-28E35C5A9162}" name="Cohen, C. Lee" initials="CCL" userId="S::Caitlin.Cohen@fda.gov::81fa8b80-f3f7-43f8-b8b1-28826fd17483" providerId="AD"/>
  <p188:author id="{1646D486-8A8A-4C96-8F56-9AFF3B245F47}" name="Dubrow, Geoffrey" initials="GD" userId="S::Geoffrey.Dubrow@fda.gov::ba914806-e5a0-41d8-bb1b-188cdc3a6058" providerId="AD"/>
  <p188:author id="{165A3D8E-5EBC-774B-4145-0A02E7885DE8}" name="Cohen, C. Lee" initials="CC" userId="S::caitlin.cohen@fda.gov::81fa8b80-f3f7-43f8-b8b1-28826fd17483" providerId="AD"/>
  <p188:author id="{EF40A49E-9D3F-C58A-CB5E-88BA9CE274DB}" name="Throckmorton, Douglas C" initials="TC" userId="S::throckmorton@fda.gov::d8cbbc37-873a-4d2f-a46a-8d3f0e2a8fbc" providerId="AD"/>
  <p188:author id="{3FE9CDBD-51BF-084E-F437-808EDF5F1503}" name="Throckmorton, Douglas C" initials="TDC" userId="S::THROCKMORTON@fda.gov::d8cbbc37-873a-4d2f-a46a-8d3f0e2a8fbc" providerId="AD"/>
  <p188:author id="{A10B7AC1-F926-6C63-AF58-A6FF0A12611B}" name="Ligh, Ming" initials="LM" userId="S::ming.ligh@fda.gov::5bdcf257-8aae-432e-b078-2234d5b21a8c" providerId="AD"/>
  <p188:author id="{CF1611C2-6A40-D888-5268-973336D002C8}" name="Adele Nguyen" initials="AN" userId="S::NGUYENAD@fda.gov::5492f042-f6fa-409f-a063-e82444b5be5b" providerId="AD"/>
  <p188:author id="{21305DD6-AD0A-5697-3D64-4B91431BF420}" name="vanTwuyver, Sheila" initials="vS" userId="S::svantwuy@fda.gov::30cad0b2-1919-40c0-a7b4-7fb5feee717e" providerId="AD"/>
  <p188:author id="{C34735E1-813B-D1CF-82AE-A69D8A2A50C1}" name="Birenbaum, Norman" initials="BN" userId="S::norman.birenbaum@fda.gov::a9ffeea6-5054-474c-b09a-139c8b3826fe" providerId="AD"/>
  <p188:author id="{4F16EEE1-1C19-2CA1-F863-B88060FA7AAA}" name="Shaikh, Samir" initials="SS" userId="S::SHAIKHS@fda.gov::a5007dd4-0540-4845-8976-61d5aac55cd5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Guy Hendrickson" initials="GH" lastIdx="2" clrIdx="0">
    <p:extLst>
      <p:ext uri="{19B8F6BF-5375-455C-9EA6-DF929625EA0E}">
        <p15:presenceInfo xmlns:p15="http://schemas.microsoft.com/office/powerpoint/2012/main" userId="Guy Hendrickson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CC00CC"/>
    <a:srgbClr val="FF66FF"/>
    <a:srgbClr val="007DBC"/>
    <a:srgbClr val="F2F2F2"/>
    <a:srgbClr val="C7A97B"/>
    <a:srgbClr val="007CBA"/>
    <a:srgbClr val="FFFFFF"/>
    <a:srgbClr val="A3CAE1"/>
    <a:srgbClr val="D0E4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5968E7-2741-436C-9E0F-FA5A4676B85E}" v="2" dt="2026-03-05T12:54:59.7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21" Type="http://schemas.openxmlformats.org/officeDocument/2006/relationships/commentAuthors" Target="comment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viewProps" Target="viewProps.xml"/><Relationship Id="rId28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h, Shailesh" userId="9e8b2cf0-c628-4aef-9c50-7c723b19c439" providerId="ADAL" clId="{BF93501F-AD2C-4239-88F1-0F269FE4D017}"/>
    <pc:docChg chg="custSel modSld">
      <pc:chgData name="Shah, Shailesh" userId="9e8b2cf0-c628-4aef-9c50-7c723b19c439" providerId="ADAL" clId="{BF93501F-AD2C-4239-88F1-0F269FE4D017}" dt="2026-03-04T17:41:14.997" v="112" actId="20577"/>
      <pc:docMkLst>
        <pc:docMk/>
      </pc:docMkLst>
      <pc:sldChg chg="modSp mod">
        <pc:chgData name="Shah, Shailesh" userId="9e8b2cf0-c628-4aef-9c50-7c723b19c439" providerId="ADAL" clId="{BF93501F-AD2C-4239-88F1-0F269FE4D017}" dt="2026-03-04T17:40:05.192" v="57" actId="20577"/>
        <pc:sldMkLst>
          <pc:docMk/>
          <pc:sldMk cId="2727179669" sldId="264"/>
        </pc:sldMkLst>
        <pc:spChg chg="mod">
          <ac:chgData name="Shah, Shailesh" userId="9e8b2cf0-c628-4aef-9c50-7c723b19c439" providerId="ADAL" clId="{BF93501F-AD2C-4239-88F1-0F269FE4D017}" dt="2026-03-04T17:40:05.192" v="57" actId="20577"/>
          <ac:spMkLst>
            <pc:docMk/>
            <pc:sldMk cId="2727179669" sldId="264"/>
            <ac:spMk id="2" creationId="{CEE94979-775C-6DF0-348F-F88EC9501A67}"/>
          </ac:spMkLst>
        </pc:spChg>
      </pc:sldChg>
      <pc:sldChg chg="modSp mod">
        <pc:chgData name="Shah, Shailesh" userId="9e8b2cf0-c628-4aef-9c50-7c723b19c439" providerId="ADAL" clId="{BF93501F-AD2C-4239-88F1-0F269FE4D017}" dt="2026-03-04T17:41:14.997" v="112" actId="20577"/>
        <pc:sldMkLst>
          <pc:docMk/>
          <pc:sldMk cId="1415424601" sldId="2147472844"/>
        </pc:sldMkLst>
        <pc:spChg chg="mod">
          <ac:chgData name="Shah, Shailesh" userId="9e8b2cf0-c628-4aef-9c50-7c723b19c439" providerId="ADAL" clId="{BF93501F-AD2C-4239-88F1-0F269FE4D017}" dt="2026-03-04T17:41:14.997" v="112" actId="20577"/>
          <ac:spMkLst>
            <pc:docMk/>
            <pc:sldMk cId="1415424601" sldId="2147472844"/>
            <ac:spMk id="8" creationId="{00000000-0000-0000-0000-000000000000}"/>
          </ac:spMkLst>
        </pc:spChg>
      </pc:sldChg>
      <pc:sldChg chg="modSp mod">
        <pc:chgData name="Shah, Shailesh" userId="9e8b2cf0-c628-4aef-9c50-7c723b19c439" providerId="ADAL" clId="{BF93501F-AD2C-4239-88F1-0F269FE4D017}" dt="2026-03-04T17:39:44.819" v="47" actId="20577"/>
        <pc:sldMkLst>
          <pc:docMk/>
          <pc:sldMk cId="117844442" sldId="2147472854"/>
        </pc:sldMkLst>
        <pc:spChg chg="mod">
          <ac:chgData name="Shah, Shailesh" userId="9e8b2cf0-c628-4aef-9c50-7c723b19c439" providerId="ADAL" clId="{BF93501F-AD2C-4239-88F1-0F269FE4D017}" dt="2026-03-04T17:39:44.819" v="47" actId="20577"/>
          <ac:spMkLst>
            <pc:docMk/>
            <pc:sldMk cId="117844442" sldId="2147472854"/>
            <ac:spMk id="3" creationId="{C51B3B3C-7994-16B4-1327-13C6238EF940}"/>
          </ac:spMkLst>
        </pc:spChg>
      </pc:sldChg>
      <pc:sldChg chg="modSp mod">
        <pc:chgData name="Shah, Shailesh" userId="9e8b2cf0-c628-4aef-9c50-7c723b19c439" providerId="ADAL" clId="{BF93501F-AD2C-4239-88F1-0F269FE4D017}" dt="2026-03-04T17:40:13.988" v="67" actId="20577"/>
        <pc:sldMkLst>
          <pc:docMk/>
          <pc:sldMk cId="2493780290" sldId="2147472882"/>
        </pc:sldMkLst>
        <pc:spChg chg="mod">
          <ac:chgData name="Shah, Shailesh" userId="9e8b2cf0-c628-4aef-9c50-7c723b19c439" providerId="ADAL" clId="{BF93501F-AD2C-4239-88F1-0F269FE4D017}" dt="2026-03-04T17:40:13.988" v="67" actId="20577"/>
          <ac:spMkLst>
            <pc:docMk/>
            <pc:sldMk cId="2493780290" sldId="2147472882"/>
            <ac:spMk id="8" creationId="{5B2984DA-6811-4D47-1AB7-101B56EA97D7}"/>
          </ac:spMkLst>
        </pc:spChg>
      </pc:sldChg>
      <pc:sldChg chg="modSp mod">
        <pc:chgData name="Shah, Shailesh" userId="9e8b2cf0-c628-4aef-9c50-7c723b19c439" providerId="ADAL" clId="{BF93501F-AD2C-4239-88F1-0F269FE4D017}" dt="2026-03-04T17:40:27.835" v="88" actId="20577"/>
        <pc:sldMkLst>
          <pc:docMk/>
          <pc:sldMk cId="3168571834" sldId="2147473082"/>
        </pc:sldMkLst>
        <pc:spChg chg="mod">
          <ac:chgData name="Shah, Shailesh" userId="9e8b2cf0-c628-4aef-9c50-7c723b19c439" providerId="ADAL" clId="{BF93501F-AD2C-4239-88F1-0F269FE4D017}" dt="2026-03-04T17:40:27.835" v="88" actId="20577"/>
          <ac:spMkLst>
            <pc:docMk/>
            <pc:sldMk cId="3168571834" sldId="2147473082"/>
            <ac:spMk id="7" creationId="{557B4830-FBFC-9A83-42D7-8212A3FA3B46}"/>
          </ac:spMkLst>
        </pc:spChg>
      </pc:sldChg>
      <pc:sldChg chg="modSp mod">
        <pc:chgData name="Shah, Shailesh" userId="9e8b2cf0-c628-4aef-9c50-7c723b19c439" providerId="ADAL" clId="{BF93501F-AD2C-4239-88F1-0F269FE4D017}" dt="2026-03-04T17:40:33.410" v="98" actId="20577"/>
        <pc:sldMkLst>
          <pc:docMk/>
          <pc:sldMk cId="1461895519" sldId="2147473088"/>
        </pc:sldMkLst>
        <pc:spChg chg="mod">
          <ac:chgData name="Shah, Shailesh" userId="9e8b2cf0-c628-4aef-9c50-7c723b19c439" providerId="ADAL" clId="{BF93501F-AD2C-4239-88F1-0F269FE4D017}" dt="2026-03-04T17:40:33.410" v="98" actId="20577"/>
          <ac:spMkLst>
            <pc:docMk/>
            <pc:sldMk cId="1461895519" sldId="2147473088"/>
            <ac:spMk id="11" creationId="{50EE890D-FE33-9B19-75FB-E24B1AB973E7}"/>
          </ac:spMkLst>
        </pc:spChg>
      </pc:sldChg>
      <pc:sldChg chg="modSp mod">
        <pc:chgData name="Shah, Shailesh" userId="9e8b2cf0-c628-4aef-9c50-7c723b19c439" providerId="ADAL" clId="{BF93501F-AD2C-4239-88F1-0F269FE4D017}" dt="2026-03-04T17:40:21.087" v="78" actId="20577"/>
        <pc:sldMkLst>
          <pc:docMk/>
          <pc:sldMk cId="3394369655" sldId="2147473089"/>
        </pc:sldMkLst>
        <pc:spChg chg="mod">
          <ac:chgData name="Shah, Shailesh" userId="9e8b2cf0-c628-4aef-9c50-7c723b19c439" providerId="ADAL" clId="{BF93501F-AD2C-4239-88F1-0F269FE4D017}" dt="2026-03-04T17:40:21.087" v="78" actId="20577"/>
          <ac:spMkLst>
            <pc:docMk/>
            <pc:sldMk cId="3394369655" sldId="2147473089"/>
            <ac:spMk id="12" creationId="{49A3CC76-9ADE-4CD6-9551-79F8377DE8D2}"/>
          </ac:spMkLst>
        </pc:spChg>
      </pc:sldChg>
      <pc:sldChg chg="modSp mod">
        <pc:chgData name="Shah, Shailesh" userId="9e8b2cf0-c628-4aef-9c50-7c723b19c439" providerId="ADAL" clId="{BF93501F-AD2C-4239-88F1-0F269FE4D017}" dt="2026-03-04T17:41:04.728" v="111" actId="20577"/>
        <pc:sldMkLst>
          <pc:docMk/>
          <pc:sldMk cId="3644965084" sldId="2147473092"/>
        </pc:sldMkLst>
        <pc:spChg chg="mod">
          <ac:chgData name="Shah, Shailesh" userId="9e8b2cf0-c628-4aef-9c50-7c723b19c439" providerId="ADAL" clId="{BF93501F-AD2C-4239-88F1-0F269FE4D017}" dt="2026-03-04T17:41:04.728" v="111" actId="20577"/>
          <ac:spMkLst>
            <pc:docMk/>
            <pc:sldMk cId="3644965084" sldId="2147473092"/>
            <ac:spMk id="5" creationId="{7B2C9DB4-7587-117F-9B2D-C3ED7029E03F}"/>
          </ac:spMkLst>
        </pc:spChg>
      </pc:sldChg>
      <pc:sldChg chg="modSp mod">
        <pc:chgData name="Shah, Shailesh" userId="9e8b2cf0-c628-4aef-9c50-7c723b19c439" providerId="ADAL" clId="{BF93501F-AD2C-4239-88F1-0F269FE4D017}" dt="2026-03-04T17:40:51.146" v="99" actId="6549"/>
        <pc:sldMkLst>
          <pc:docMk/>
          <pc:sldMk cId="706618636" sldId="2147473093"/>
        </pc:sldMkLst>
        <pc:spChg chg="mod">
          <ac:chgData name="Shah, Shailesh" userId="9e8b2cf0-c628-4aef-9c50-7c723b19c439" providerId="ADAL" clId="{BF93501F-AD2C-4239-88F1-0F269FE4D017}" dt="2026-03-04T17:40:51.146" v="99" actId="6549"/>
          <ac:spMkLst>
            <pc:docMk/>
            <pc:sldMk cId="706618636" sldId="2147473093"/>
            <ac:spMk id="5" creationId="{82BAE637-EDBC-215D-1B9D-4DEC15512E11}"/>
          </ac:spMkLst>
        </pc:spChg>
      </pc:sldChg>
    </pc:docChg>
  </pc:docChgLst>
  <pc:docChgLst>
    <pc:chgData name="Shah, Shailesh" userId="9e8b2cf0-c628-4aef-9c50-7c723b19c439" providerId="ADAL" clId="{9D5968E7-2741-436C-9E0F-FA5A4676B85E}"/>
    <pc:docChg chg="custSel addSld delSld modSld sldOrd">
      <pc:chgData name="Shah, Shailesh" userId="9e8b2cf0-c628-4aef-9c50-7c723b19c439" providerId="ADAL" clId="{9D5968E7-2741-436C-9E0F-FA5A4676B85E}" dt="2026-03-11T17:10:20.247" v="33"/>
      <pc:docMkLst>
        <pc:docMk/>
      </pc:docMkLst>
      <pc:sldChg chg="ord">
        <pc:chgData name="Shah, Shailesh" userId="9e8b2cf0-c628-4aef-9c50-7c723b19c439" providerId="ADAL" clId="{9D5968E7-2741-436C-9E0F-FA5A4676B85E}" dt="2026-03-11T17:10:20.247" v="33"/>
        <pc:sldMkLst>
          <pc:docMk/>
          <pc:sldMk cId="2767019918" sldId="257"/>
        </pc:sldMkLst>
      </pc:sldChg>
      <pc:sldChg chg="delSp new del mod ord">
        <pc:chgData name="Shah, Shailesh" userId="9e8b2cf0-c628-4aef-9c50-7c723b19c439" providerId="ADAL" clId="{9D5968E7-2741-436C-9E0F-FA5A4676B85E}" dt="2026-03-05T12:54:18.234" v="17" actId="47"/>
        <pc:sldMkLst>
          <pc:docMk/>
          <pc:sldMk cId="2533777881" sldId="2147473094"/>
        </pc:sldMkLst>
      </pc:sldChg>
      <pc:sldChg chg="delSp modSp new mod">
        <pc:chgData name="Shah, Shailesh" userId="9e8b2cf0-c628-4aef-9c50-7c723b19c439" providerId="ADAL" clId="{9D5968E7-2741-436C-9E0F-FA5A4676B85E}" dt="2026-03-05T12:47:31.508" v="15" actId="478"/>
        <pc:sldMkLst>
          <pc:docMk/>
          <pc:sldMk cId="1495117525" sldId="2147473095"/>
        </pc:sldMkLst>
        <pc:spChg chg="mod">
          <ac:chgData name="Shah, Shailesh" userId="9e8b2cf0-c628-4aef-9c50-7c723b19c439" providerId="ADAL" clId="{9D5968E7-2741-436C-9E0F-FA5A4676B85E}" dt="2026-03-05T12:47:26.468" v="14" actId="20577"/>
          <ac:spMkLst>
            <pc:docMk/>
            <pc:sldMk cId="1495117525" sldId="2147473095"/>
            <ac:spMk id="2" creationId="{9523A0DB-F8B8-7E2C-3379-EBCDFB60F1E1}"/>
          </ac:spMkLst>
        </pc:spChg>
      </pc:sldChg>
      <pc:sldChg chg="new del">
        <pc:chgData name="Shah, Shailesh" userId="9e8b2cf0-c628-4aef-9c50-7c723b19c439" providerId="ADAL" clId="{9D5968E7-2741-436C-9E0F-FA5A4676B85E}" dt="2026-03-05T12:46:49.404" v="4" actId="47"/>
        <pc:sldMkLst>
          <pc:docMk/>
          <pc:sldMk cId="1949454145" sldId="2147473095"/>
        </pc:sldMkLst>
      </pc:sldChg>
      <pc:sldChg chg="modSp add mod">
        <pc:chgData name="Shah, Shailesh" userId="9e8b2cf0-c628-4aef-9c50-7c723b19c439" providerId="ADAL" clId="{9D5968E7-2741-436C-9E0F-FA5A4676B85E}" dt="2026-03-05T12:55:10.413" v="31" actId="20577"/>
        <pc:sldMkLst>
          <pc:docMk/>
          <pc:sldMk cId="3909929110" sldId="2147473096"/>
        </pc:sldMkLst>
        <pc:spChg chg="mod">
          <ac:chgData name="Shah, Shailesh" userId="9e8b2cf0-c628-4aef-9c50-7c723b19c439" providerId="ADAL" clId="{9D5968E7-2741-436C-9E0F-FA5A4676B85E}" dt="2026-03-05T12:55:10.413" v="31" actId="20577"/>
          <ac:spMkLst>
            <pc:docMk/>
            <pc:sldMk cId="3909929110" sldId="2147473096"/>
            <ac:spMk id="2" creationId="{DAA31478-7F96-91FA-B2CA-CC416B68012B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950B3A-596A-924C-898B-8C3438F6E30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FF509-A137-BE4A-850B-DAE2751308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65B61ED5-9BAA-024F-8856-634509825778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8590D1-8102-5249-A8FA-01F11C3B0B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5423EE-F1F7-EB46-843C-7D4B764D2AD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0641231-0D6C-7A46-BEC6-119191C24E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8577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6434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663E50D-9837-47AF-A99E-4AF8A6DA2B87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73892"/>
            <a:ext cx="5608320" cy="3660458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7"/>
            <a:ext cx="3037840" cy="466433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80ED736-E97B-4BC0-9161-0F155192A5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9102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defTabSz="931774">
              <a:defRPr/>
            </a:pPr>
            <a:fld id="{339C3468-B7FD-4C7E-B3A3-0487314C079D}" type="slidenum">
              <a:rPr lang="en-US">
                <a:solidFill>
                  <a:prstClr val="black"/>
                </a:solidFill>
                <a:latin typeface="Calibri" panose="020F0502020204030204"/>
              </a:rPr>
              <a:pPr defTabSz="931774">
                <a:defRPr/>
              </a:pPr>
              <a:t>1</a:t>
            </a:fld>
            <a:endParaRPr lang="en-US">
              <a:solidFill>
                <a:prstClr val="black"/>
              </a:solidFill>
              <a:latin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593973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6.sv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_BLU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2">
            <a:extLst>
              <a:ext uri="{FF2B5EF4-FFF2-40B4-BE49-F238E27FC236}">
                <a16:creationId xmlns:a16="http://schemas.microsoft.com/office/drawing/2014/main" id="{7B9F86E7-C30D-3AFE-8CA0-E656110F7BB0}"/>
              </a:ext>
            </a:extLst>
          </p:cNvPr>
          <p:cNvSpPr/>
          <p:nvPr userDrawn="1"/>
        </p:nvSpPr>
        <p:spPr>
          <a:xfrm>
            <a:off x="35377" y="31894"/>
            <a:ext cx="8005819" cy="5969375"/>
          </a:xfrm>
          <a:custGeom>
            <a:avLst/>
            <a:gdLst/>
            <a:ahLst/>
            <a:cxnLst/>
            <a:rect l="l" t="t" r="r" b="b"/>
            <a:pathLst>
              <a:path w="8006080" h="5960110">
                <a:moveTo>
                  <a:pt x="8005572" y="0"/>
                </a:moveTo>
                <a:lnTo>
                  <a:pt x="0" y="0"/>
                </a:lnTo>
                <a:lnTo>
                  <a:pt x="0" y="5959602"/>
                </a:lnTo>
                <a:lnTo>
                  <a:pt x="8005572" y="5959602"/>
                </a:lnTo>
                <a:lnTo>
                  <a:pt x="8005572" y="0"/>
                </a:lnTo>
                <a:close/>
              </a:path>
            </a:pathLst>
          </a:custGeom>
          <a:solidFill>
            <a:srgbClr val="007DBA"/>
          </a:solidFill>
        </p:spPr>
        <p:txBody>
          <a:bodyPr wrap="square" lIns="0" tIns="0" rIns="0" bIns="0" rtlCol="0"/>
          <a:lstStyle/>
          <a:p>
            <a:pPr marL="0" marR="0" lvl="0" indent="0" algn="l" defTabSz="6865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35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 Light" panose="020B0606030504020204" pitchFamily="34" charset="0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4" name="object 3">
            <a:extLst>
              <a:ext uri="{FF2B5EF4-FFF2-40B4-BE49-F238E27FC236}">
                <a16:creationId xmlns:a16="http://schemas.microsoft.com/office/drawing/2014/main" id="{F5DD563F-F8CF-6B96-8C1A-6EACA79955D8}"/>
              </a:ext>
            </a:extLst>
          </p:cNvPr>
          <p:cNvSpPr/>
          <p:nvPr userDrawn="1"/>
        </p:nvSpPr>
        <p:spPr>
          <a:xfrm>
            <a:off x="35378" y="6042579"/>
            <a:ext cx="12110452" cy="783528"/>
          </a:xfrm>
          <a:custGeom>
            <a:avLst/>
            <a:gdLst/>
            <a:ahLst/>
            <a:cxnLst/>
            <a:rect l="l" t="t" r="r" b="b"/>
            <a:pathLst>
              <a:path w="12192000" h="815340">
                <a:moveTo>
                  <a:pt x="12192000" y="0"/>
                </a:moveTo>
                <a:lnTo>
                  <a:pt x="0" y="0"/>
                </a:lnTo>
                <a:lnTo>
                  <a:pt x="0" y="815339"/>
                </a:lnTo>
                <a:lnTo>
                  <a:pt x="12192000" y="815339"/>
                </a:lnTo>
                <a:lnTo>
                  <a:pt x="12192000" y="0"/>
                </a:lnTo>
                <a:close/>
              </a:path>
            </a:pathLst>
          </a:custGeom>
          <a:solidFill>
            <a:schemeClr val="accent5">
              <a:lumMod val="50000"/>
            </a:schemeClr>
          </a:solidFill>
        </p:spPr>
        <p:txBody>
          <a:bodyPr wrap="square" lIns="0" tIns="0" rIns="0" bIns="0" rtlCol="0"/>
          <a:lstStyle/>
          <a:p>
            <a:pPr marL="0" marR="0" lvl="0" indent="0" algn="l" defTabSz="68651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sz="1351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Open Sans Light" panose="020B0606030504020204" pitchFamily="34" charset="0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grpSp>
        <p:nvGrpSpPr>
          <p:cNvPr id="8" name="object 9">
            <a:extLst>
              <a:ext uri="{FF2B5EF4-FFF2-40B4-BE49-F238E27FC236}">
                <a16:creationId xmlns:a16="http://schemas.microsoft.com/office/drawing/2014/main" id="{A3687D5A-7105-8E95-F5F8-C4831AF0D83E}"/>
              </a:ext>
            </a:extLst>
          </p:cNvPr>
          <p:cNvGrpSpPr/>
          <p:nvPr userDrawn="1"/>
        </p:nvGrpSpPr>
        <p:grpSpPr>
          <a:xfrm>
            <a:off x="8086027" y="24878"/>
            <a:ext cx="4060057" cy="5969440"/>
            <a:chOff x="8132064" y="0"/>
            <a:chExt cx="4060190" cy="5969635"/>
          </a:xfrm>
        </p:grpSpPr>
        <p:pic>
          <p:nvPicPr>
            <p:cNvPr id="9" name="object 10">
              <a:extLst>
                <a:ext uri="{FF2B5EF4-FFF2-40B4-BE49-F238E27FC236}">
                  <a16:creationId xmlns:a16="http://schemas.microsoft.com/office/drawing/2014/main" id="{E904FEA3-6CB0-415F-CB00-E0D77C214B31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132064" y="0"/>
              <a:ext cx="4059935" cy="5969570"/>
            </a:xfrm>
            <a:prstGeom prst="rect">
              <a:avLst/>
            </a:prstGeom>
          </p:spPr>
        </p:pic>
        <p:sp>
          <p:nvSpPr>
            <p:cNvPr id="10" name="object 11">
              <a:extLst>
                <a:ext uri="{FF2B5EF4-FFF2-40B4-BE49-F238E27FC236}">
                  <a16:creationId xmlns:a16="http://schemas.microsoft.com/office/drawing/2014/main" id="{5DFB4021-F59A-4A69-D130-69C8047EC378}"/>
                </a:ext>
              </a:extLst>
            </p:cNvPr>
            <p:cNvSpPr/>
            <p:nvPr/>
          </p:nvSpPr>
          <p:spPr>
            <a:xfrm>
              <a:off x="11070335" y="228599"/>
              <a:ext cx="826769" cy="992505"/>
            </a:xfrm>
            <a:custGeom>
              <a:avLst/>
              <a:gdLst/>
              <a:ahLst/>
              <a:cxnLst/>
              <a:rect l="l" t="t" r="r" b="b"/>
              <a:pathLst>
                <a:path w="826770" h="992505">
                  <a:moveTo>
                    <a:pt x="826773" y="992125"/>
                  </a:moveTo>
                  <a:lnTo>
                    <a:pt x="0" y="992125"/>
                  </a:lnTo>
                  <a:lnTo>
                    <a:pt x="0" y="0"/>
                  </a:lnTo>
                  <a:lnTo>
                    <a:pt x="826773" y="0"/>
                  </a:lnTo>
                  <a:lnTo>
                    <a:pt x="826773" y="992125"/>
                  </a:lnTo>
                  <a:close/>
                </a:path>
              </a:pathLst>
            </a:custGeom>
            <a:solidFill>
              <a:srgbClr val="1E7BC1"/>
            </a:solidFill>
          </p:spPr>
          <p:txBody>
            <a:bodyPr wrap="square" lIns="0" tIns="0" rIns="0" bIns="0" rtlCol="0"/>
            <a:lstStyle/>
            <a:p>
              <a:pPr marL="0" marR="0" lvl="0" indent="0" algn="l" defTabSz="68651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  <p:sp>
          <p:nvSpPr>
            <p:cNvPr id="11" name="object 12">
              <a:extLst>
                <a:ext uri="{FF2B5EF4-FFF2-40B4-BE49-F238E27FC236}">
                  <a16:creationId xmlns:a16="http://schemas.microsoft.com/office/drawing/2014/main" id="{FB417E78-3920-DC31-5468-9F4461C08C36}"/>
                </a:ext>
              </a:extLst>
            </p:cNvPr>
            <p:cNvSpPr/>
            <p:nvPr/>
          </p:nvSpPr>
          <p:spPr>
            <a:xfrm>
              <a:off x="11153000" y="422719"/>
              <a:ext cx="675640" cy="271780"/>
            </a:xfrm>
            <a:custGeom>
              <a:avLst/>
              <a:gdLst/>
              <a:ahLst/>
              <a:cxnLst/>
              <a:rect l="l" t="t" r="r" b="b"/>
              <a:pathLst>
                <a:path w="675640" h="271780">
                  <a:moveTo>
                    <a:pt x="414629" y="134378"/>
                  </a:moveTo>
                  <a:lnTo>
                    <a:pt x="405917" y="75780"/>
                  </a:lnTo>
                  <a:lnTo>
                    <a:pt x="379882" y="33718"/>
                  </a:lnTo>
                  <a:lnTo>
                    <a:pt x="341947" y="9918"/>
                  </a:lnTo>
                  <a:lnTo>
                    <a:pt x="292481" y="254"/>
                  </a:lnTo>
                  <a:lnTo>
                    <a:pt x="292481" y="0"/>
                  </a:lnTo>
                  <a:lnTo>
                    <a:pt x="0" y="0"/>
                  </a:lnTo>
                  <a:lnTo>
                    <a:pt x="0" y="271716"/>
                  </a:lnTo>
                  <a:lnTo>
                    <a:pt x="56857" y="271716"/>
                  </a:lnTo>
                  <a:lnTo>
                    <a:pt x="56857" y="159664"/>
                  </a:lnTo>
                  <a:lnTo>
                    <a:pt x="133337" y="159664"/>
                  </a:lnTo>
                  <a:lnTo>
                    <a:pt x="133337" y="110820"/>
                  </a:lnTo>
                  <a:lnTo>
                    <a:pt x="56857" y="110820"/>
                  </a:lnTo>
                  <a:lnTo>
                    <a:pt x="56857" y="48602"/>
                  </a:lnTo>
                  <a:lnTo>
                    <a:pt x="287020" y="48602"/>
                  </a:lnTo>
                  <a:lnTo>
                    <a:pt x="295300" y="49212"/>
                  </a:lnTo>
                  <a:lnTo>
                    <a:pt x="334505" y="66294"/>
                  </a:lnTo>
                  <a:lnTo>
                    <a:pt x="353733" y="107048"/>
                  </a:lnTo>
                  <a:lnTo>
                    <a:pt x="356044" y="134620"/>
                  </a:lnTo>
                  <a:lnTo>
                    <a:pt x="355727" y="144437"/>
                  </a:lnTo>
                  <a:lnTo>
                    <a:pt x="345554" y="186093"/>
                  </a:lnTo>
                  <a:lnTo>
                    <a:pt x="319049" y="213550"/>
                  </a:lnTo>
                  <a:lnTo>
                    <a:pt x="274104" y="223380"/>
                  </a:lnTo>
                  <a:lnTo>
                    <a:pt x="237363" y="223380"/>
                  </a:lnTo>
                  <a:lnTo>
                    <a:pt x="237363" y="111315"/>
                  </a:lnTo>
                  <a:lnTo>
                    <a:pt x="180759" y="111315"/>
                  </a:lnTo>
                  <a:lnTo>
                    <a:pt x="180759" y="271716"/>
                  </a:lnTo>
                  <a:lnTo>
                    <a:pt x="272872" y="271716"/>
                  </a:lnTo>
                  <a:lnTo>
                    <a:pt x="318820" y="266700"/>
                  </a:lnTo>
                  <a:lnTo>
                    <a:pt x="356628" y="251980"/>
                  </a:lnTo>
                  <a:lnTo>
                    <a:pt x="393065" y="217119"/>
                  </a:lnTo>
                  <a:lnTo>
                    <a:pt x="409194" y="180428"/>
                  </a:lnTo>
                  <a:lnTo>
                    <a:pt x="414032" y="150787"/>
                  </a:lnTo>
                  <a:lnTo>
                    <a:pt x="414629" y="134378"/>
                  </a:lnTo>
                  <a:close/>
                </a:path>
                <a:path w="675640" h="271780">
                  <a:moveTo>
                    <a:pt x="675081" y="271716"/>
                  </a:moveTo>
                  <a:lnTo>
                    <a:pt x="573036" y="0"/>
                  </a:lnTo>
                  <a:lnTo>
                    <a:pt x="518909" y="0"/>
                  </a:lnTo>
                  <a:lnTo>
                    <a:pt x="416623" y="271716"/>
                  </a:lnTo>
                  <a:lnTo>
                    <a:pt x="477697" y="271716"/>
                  </a:lnTo>
                  <a:lnTo>
                    <a:pt x="499300" y="208749"/>
                  </a:lnTo>
                  <a:lnTo>
                    <a:pt x="565099" y="208749"/>
                  </a:lnTo>
                  <a:lnTo>
                    <a:pt x="551688" y="162140"/>
                  </a:lnTo>
                  <a:lnTo>
                    <a:pt x="514197" y="162140"/>
                  </a:lnTo>
                  <a:lnTo>
                    <a:pt x="547471" y="64706"/>
                  </a:lnTo>
                  <a:lnTo>
                    <a:pt x="616483" y="271716"/>
                  </a:lnTo>
                  <a:lnTo>
                    <a:pt x="675081" y="271716"/>
                  </a:lnTo>
                  <a:close/>
                </a:path>
              </a:pathLst>
            </a:custGeom>
            <a:solidFill>
              <a:srgbClr val="FEFEFE"/>
            </a:solidFill>
          </p:spPr>
          <p:txBody>
            <a:bodyPr wrap="square" lIns="0" tIns="0" rIns="0" bIns="0" rtlCol="0"/>
            <a:lstStyle/>
            <a:p>
              <a:pPr marL="0" marR="0" lvl="0" indent="0" algn="l" defTabSz="686515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sz="1351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endParaRPr>
            </a:p>
          </p:txBody>
        </p:sp>
      </p:grpSp>
      <p:sp>
        <p:nvSpPr>
          <p:cNvPr id="19" name="Title 18">
            <a:extLst>
              <a:ext uri="{FF2B5EF4-FFF2-40B4-BE49-F238E27FC236}">
                <a16:creationId xmlns:a16="http://schemas.microsoft.com/office/drawing/2014/main" id="{199D4398-1823-6110-616E-FF503D3A335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7353" y="2091499"/>
            <a:ext cx="6674068" cy="2207231"/>
          </a:xfrm>
        </p:spPr>
        <p:txBody>
          <a:bodyPr anchor="t"/>
          <a:lstStyle>
            <a:lvl1pPr>
              <a:defRPr sz="3600">
                <a:solidFill>
                  <a:schemeClr val="bg1"/>
                </a:solidFill>
                <a:latin typeface="Calibri "/>
              </a:defRPr>
            </a:lvl1pPr>
          </a:lstStyle>
          <a:p>
            <a:r>
              <a:rPr lang="en-US"/>
              <a:t>Click to Insert title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369ACF5-AFA4-70C7-D010-034F978A200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7188" y="4298950"/>
            <a:ext cx="6673850" cy="1341438"/>
          </a:xfrm>
        </p:spPr>
        <p:txBody>
          <a:bodyPr/>
          <a:lstStyle>
            <a:lvl1pPr marL="0" indent="0">
              <a:buNone/>
              <a:defRPr sz="1400" b="0" i="1">
                <a:solidFill>
                  <a:schemeClr val="bg1"/>
                </a:solidFill>
                <a:latin typeface="+mn-lt"/>
              </a:defRPr>
            </a:lvl1pPr>
            <a:lvl2pPr marL="457189" indent="0">
              <a:buNone/>
              <a:defRPr sz="1200">
                <a:solidFill>
                  <a:schemeClr val="bg1"/>
                </a:solidFill>
              </a:defRPr>
            </a:lvl2pPr>
            <a:lvl3pPr marL="914377" indent="0">
              <a:buNone/>
              <a:defRPr sz="1200">
                <a:solidFill>
                  <a:schemeClr val="bg1"/>
                </a:solidFill>
              </a:defRPr>
            </a:lvl3pPr>
            <a:lvl4pPr marL="1371566" indent="0">
              <a:buNone/>
              <a:defRPr sz="1200">
                <a:solidFill>
                  <a:schemeClr val="bg1"/>
                </a:solidFill>
              </a:defRPr>
            </a:lvl4pPr>
            <a:lvl5pPr marL="1828755" indent="0">
              <a:buNone/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Insert </a:t>
            </a:r>
          </a:p>
          <a:p>
            <a:pPr lvl="0"/>
            <a:r>
              <a:rPr lang="en-US"/>
              <a:t>Presenter Name, Title</a:t>
            </a:r>
          </a:p>
          <a:p>
            <a:pPr lvl="0"/>
            <a:r>
              <a:rPr lang="en-US"/>
              <a:t>Office (Acronym)</a:t>
            </a:r>
          </a:p>
          <a:p>
            <a:pPr lvl="0"/>
            <a:r>
              <a:rPr lang="en-US"/>
              <a:t>Presenters Center within Office(Acronym)</a:t>
            </a:r>
          </a:p>
        </p:txBody>
      </p:sp>
    </p:spTree>
    <p:extLst>
      <p:ext uri="{BB962C8B-B14F-4D97-AF65-F5344CB8AC3E}">
        <p14:creationId xmlns:p14="http://schemas.microsoft.com/office/powerpoint/2010/main" val="3921312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Risk and/or Issue Slide_BLU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72288FB8-7603-2964-5524-B0619F7EC56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6731" y="177802"/>
            <a:ext cx="848455" cy="101599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001F379-2074-1B87-9B77-50B3A1D5E4A9}"/>
              </a:ext>
            </a:extLst>
          </p:cNvPr>
          <p:cNvSpPr/>
          <p:nvPr userDrawn="1"/>
        </p:nvSpPr>
        <p:spPr>
          <a:xfrm>
            <a:off x="420624" y="177801"/>
            <a:ext cx="10364790" cy="1009047"/>
          </a:xfrm>
          <a:prstGeom prst="rect">
            <a:avLst/>
          </a:prstGeom>
          <a:solidFill>
            <a:srgbClr val="007DBC"/>
          </a:solidFill>
          <a:ln>
            <a:solidFill>
              <a:srgbClr val="007DBC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585670-D4AC-1278-3EE6-D1E361BC54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06586" y="407624"/>
            <a:ext cx="9114522" cy="451692"/>
          </a:xfrm>
        </p:spPr>
        <p:txBody>
          <a:bodyPr/>
          <a:lstStyle>
            <a:lvl1pPr algn="ctr">
              <a:defRPr sz="3200" b="1">
                <a:solidFill>
                  <a:schemeClr val="bg1"/>
                </a:solidFill>
                <a:latin typeface="Calibri  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EB506D3-FF4F-164A-9A83-2A9C3EBEAC6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0688" y="1322388"/>
            <a:ext cx="11254498" cy="495395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BLUF: Click to Insert Bottom Line Up Front (BLUF) Statement</a:t>
            </a:r>
            <a:b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</a:b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endParaRPr lang="en-US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DCFAEE9-00FC-90A6-61A0-6B2BE27387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487203" y="6316231"/>
            <a:ext cx="3217594" cy="268287"/>
          </a:xfrm>
        </p:spPr>
        <p:txBody>
          <a:bodyPr/>
          <a:lstStyle>
            <a:lvl1pPr marL="0" indent="0" algn="ctr">
              <a:buNone/>
              <a:defRPr sz="1200" b="1">
                <a:solidFill>
                  <a:srgbClr val="44546A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</a:lstStyle>
          <a:p>
            <a:r>
              <a:rPr lang="en-US"/>
              <a:t>Click to Insert FDA Center | Office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C3B9ED09-6180-719D-4142-60946FCE7A8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16057" y="6316230"/>
            <a:ext cx="1311275" cy="268287"/>
          </a:xfrm>
        </p:spPr>
        <p:txBody>
          <a:bodyPr/>
          <a:lstStyle>
            <a:lvl1pPr marL="0" indent="0">
              <a:buNone/>
              <a:defRPr sz="1200" b="1">
                <a:solidFill>
                  <a:srgbClr val="44546A"/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1pPr>
            <a:lvl2pPr marL="457189" indent="0"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2pPr>
            <a:lvl3pPr marL="914377" indent="0"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3pPr>
            <a:lvl4pPr marL="1371566" indent="0"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4pPr>
            <a:lvl5pPr marL="1828755" indent="0">
              <a:buNone/>
              <a:defRPr sz="1400" b="1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</a:defRPr>
            </a:lvl5pPr>
          </a:lstStyle>
          <a:p>
            <a:pPr lvl="0"/>
            <a:r>
              <a:rPr lang="en-US"/>
              <a:t>August 29, 2025</a:t>
            </a:r>
          </a:p>
        </p:txBody>
      </p:sp>
      <p:sp>
        <p:nvSpPr>
          <p:cNvPr id="22" name="Content Placeholder 19">
            <a:extLst>
              <a:ext uri="{FF2B5EF4-FFF2-40B4-BE49-F238E27FC236}">
                <a16:creationId xmlns:a16="http://schemas.microsoft.com/office/drawing/2014/main" id="{B72ADBC6-F461-6554-47A5-4A433044EA6F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416057" y="2254126"/>
            <a:ext cx="11254498" cy="841613"/>
          </a:xfrm>
        </p:spPr>
        <p:txBody>
          <a:bodyPr/>
          <a:lstStyle>
            <a:lvl1pPr marL="0" indent="0">
              <a:buNone/>
              <a:defRPr sz="1800" b="0">
                <a:latin typeface="+mj-lt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Facts and Assumptions</a:t>
            </a:r>
          </a:p>
          <a:p>
            <a:pPr lvl="0"/>
            <a:endParaRPr lang="en-US"/>
          </a:p>
        </p:txBody>
      </p:sp>
      <p:sp>
        <p:nvSpPr>
          <p:cNvPr id="23" name="Content Placeholder 19">
            <a:extLst>
              <a:ext uri="{FF2B5EF4-FFF2-40B4-BE49-F238E27FC236}">
                <a16:creationId xmlns:a16="http://schemas.microsoft.com/office/drawing/2014/main" id="{BA105C43-1645-59B8-F47A-B650681BD149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416057" y="3321405"/>
            <a:ext cx="11254498" cy="1393813"/>
          </a:xfrm>
        </p:spPr>
        <p:txBody>
          <a:bodyPr/>
          <a:lstStyle>
            <a:lvl1pPr marL="0" indent="0">
              <a:buNone/>
              <a:defRPr sz="1800" b="0">
                <a:latin typeface="+mj-lt"/>
              </a:defRPr>
            </a:lvl1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Tag Line</a:t>
            </a:r>
          </a:p>
          <a:p>
            <a:pPr lvl="0"/>
            <a:endParaRPr lang="en-US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51692B79-D6B9-EA5A-54E8-27F685C18C38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0785414" y="6299728"/>
            <a:ext cx="1020415" cy="284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1" tIns="60944" rIns="121891" bIns="60944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r" defTabSz="45766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1FD218-8A1D-4C52-8A7F-158F5FDE1C8E}" type="slidenum">
              <a:rPr kumimoji="0" lang="en-US" altLang="en-US" sz="1051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rPr>
              <a:pPr marL="0" marR="0" lvl="0" indent="0" algn="r" defTabSz="45766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51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2151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5255ED-F3DE-5444-B1B0-EA9F805D4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17" y="2063135"/>
            <a:ext cx="10249321" cy="1276966"/>
          </a:xfrm>
        </p:spPr>
        <p:txBody>
          <a:bodyPr anchor="t">
            <a:normAutofit/>
          </a:bodyPr>
          <a:lstStyle>
            <a:lvl1pPr algn="l">
              <a:lnSpc>
                <a:spcPts val="4600"/>
              </a:lnSpc>
              <a:defRPr sz="4600">
                <a:solidFill>
                  <a:srgbClr val="75757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1E5E4-AEAB-7045-802A-58FDBF707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66" y="3399650"/>
            <a:ext cx="9144000" cy="1963658"/>
          </a:xfrm>
        </p:spPr>
        <p:txBody>
          <a:bodyPr/>
          <a:lstStyle>
            <a:lvl1pPr marL="0" indent="0" algn="l">
              <a:lnSpc>
                <a:spcPts val="2600"/>
              </a:lnSpc>
              <a:buNone/>
              <a:defRPr sz="2400" b="1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26243-5242-9517-D42B-38EFA68EE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04" y="6399891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9A1969-697B-A0BF-DB30-1D320A37E8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99892"/>
            <a:ext cx="2743200" cy="365125"/>
          </a:xfrm>
        </p:spPr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75FF29-B730-A085-3906-471DE156F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39741" y="6399892"/>
            <a:ext cx="4114800" cy="365125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272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1C552F7A-5A9C-4209-AE51-A91CFA1817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9152" y="5147"/>
            <a:ext cx="12178499" cy="6850406"/>
          </a:xfrm>
          <a:prstGeom prst="rect">
            <a:avLst/>
          </a:prstGeom>
        </p:spPr>
      </p:pic>
      <p:pic>
        <p:nvPicPr>
          <p:cNvPr id="12" name="Graphic 11" descr="Logo for U.S. Department of Health and Human Services. &#10;Logo for U.S. Food and Drug Administration. ">
            <a:extLst>
              <a:ext uri="{FF2B5EF4-FFF2-40B4-BE49-F238E27FC236}">
                <a16:creationId xmlns:a16="http://schemas.microsoft.com/office/drawing/2014/main" id="{CF72FC16-3350-408C-A562-9471D24FE2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b="12250"/>
          <a:stretch/>
        </p:blipFill>
        <p:spPr>
          <a:xfrm>
            <a:off x="330199" y="5098625"/>
            <a:ext cx="4602159" cy="110241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33B917F-7813-43E4-A8B9-0B9B3BA47F6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199" y="-1497807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Cover Page</a:t>
            </a:r>
          </a:p>
        </p:txBody>
      </p:sp>
    </p:spTree>
    <p:extLst>
      <p:ext uri="{BB962C8B-B14F-4D97-AF65-F5344CB8AC3E}">
        <p14:creationId xmlns:p14="http://schemas.microsoft.com/office/powerpoint/2010/main" val="2322141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Logo for U.S. Department of Health and Human Services. &#10;Logo for U.S. Food and Drug Administration. ">
            <a:extLst>
              <a:ext uri="{FF2B5EF4-FFF2-40B4-BE49-F238E27FC236}">
                <a16:creationId xmlns:a16="http://schemas.microsoft.com/office/drawing/2014/main" id="{F4DDB8C6-2158-C04E-9109-1CA098FDC9F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16814"/>
          <a:stretch/>
        </p:blipFill>
        <p:spPr>
          <a:xfrm>
            <a:off x="8467725" y="435140"/>
            <a:ext cx="3291008" cy="77743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15255ED-F3DE-5444-B1B0-EA9F805D448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17" y="2063135"/>
            <a:ext cx="10249321" cy="1276966"/>
          </a:xfrm>
        </p:spPr>
        <p:txBody>
          <a:bodyPr anchor="t">
            <a:normAutofit/>
          </a:bodyPr>
          <a:lstStyle>
            <a:lvl1pPr algn="l">
              <a:lnSpc>
                <a:spcPts val="4600"/>
              </a:lnSpc>
              <a:defRPr sz="4600">
                <a:solidFill>
                  <a:srgbClr val="757575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771E5E4-AEAB-7045-802A-58FDBF707C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66" y="3399650"/>
            <a:ext cx="9144000" cy="1963658"/>
          </a:xfrm>
        </p:spPr>
        <p:txBody>
          <a:bodyPr/>
          <a:lstStyle>
            <a:lvl1pPr marL="0" indent="0" algn="l">
              <a:lnSpc>
                <a:spcPts val="2600"/>
              </a:lnSpc>
              <a:buNone/>
              <a:defRPr sz="2400" b="1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626243-5242-9517-D42B-38EFA68EE8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904" y="6399891"/>
            <a:ext cx="27432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69A1969-697B-A0BF-DB30-1D320A37E88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724400" y="6399892"/>
            <a:ext cx="2743200" cy="365125"/>
          </a:xfrm>
        </p:spPr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375FF29-B730-A085-3906-471DE156FB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39741" y="6399892"/>
            <a:ext cx="4114800" cy="365125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777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CAB24A0-D399-2F4E-ABAD-264562B8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3D58A2-8FD2-6C45-8EA3-962D1AB05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28114-4E92-6842-BC76-CDB5D5577C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BFAF6-0854-4643-8110-60CE8A51721F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EEEDA0-A28D-AD46-AA0D-1903C0CFEB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58B6AC6-C374-AD45-8C95-D652F64BA2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659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4C04EDB7-583C-B041-8ED4-5F1403CA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EDD7E31-402C-8B47-99BD-D4428D83D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17" y="2063135"/>
            <a:ext cx="10249321" cy="1276966"/>
          </a:xfrm>
        </p:spPr>
        <p:txBody>
          <a:bodyPr anchor="t">
            <a:normAutofit/>
          </a:bodyPr>
          <a:lstStyle>
            <a:lvl1pPr algn="l">
              <a:lnSpc>
                <a:spcPts val="4600"/>
              </a:lnSpc>
              <a:defRPr sz="4600">
                <a:solidFill>
                  <a:srgbClr val="007DB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40BC718-3BD8-644E-8D63-9C1B0F767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66" y="3399650"/>
            <a:ext cx="9144000" cy="196365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rgbClr val="78787A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C21EB-718D-A646-B242-08F44CBBC8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0F3C57-19F2-D441-B1AA-FB07A18ED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D573A-E463-4148-AA4A-9BA1A19FAD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6299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B95B44C-7330-4890-9B33-817560A5746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-21771" y="-67384"/>
            <a:ext cx="12437729" cy="69927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E07DBCD-A955-4521-B202-8349ADC5D5F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1322050" y="442774"/>
            <a:ext cx="439511" cy="528459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4EDD7E31-402C-8B47-99BD-D4428D83D9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8117" y="2063135"/>
            <a:ext cx="10249321" cy="1276966"/>
          </a:xfrm>
        </p:spPr>
        <p:txBody>
          <a:bodyPr anchor="t">
            <a:normAutofit/>
          </a:bodyPr>
          <a:lstStyle>
            <a:lvl1pPr algn="l">
              <a:lnSpc>
                <a:spcPts val="4600"/>
              </a:lnSpc>
              <a:defRPr sz="4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540BC718-3BD8-644E-8D63-9C1B0F7678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0266" y="3399650"/>
            <a:ext cx="9144000" cy="1963658"/>
          </a:xfrm>
        </p:spPr>
        <p:txBody>
          <a:bodyPr/>
          <a:lstStyle>
            <a:lvl1pPr marL="0" indent="0" algn="l">
              <a:buNone/>
              <a:defRPr sz="2400" b="1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2909666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4EB543-71F1-BB41-81DB-6ACC7FDC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E31107-C800-C447-BB00-46CE40BF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FA71-C67A-5248-BF63-03BF43B66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440" y="167549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811F-8E05-AA4E-9E43-B38B0CCEB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22579" y="1675497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4B535-29AA-2042-A100-C11ED10B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EDAB4-1026-7D4D-A1D7-40513CB4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79B00-907C-444C-8AEB-C0FFB2DE2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3693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4EB543-71F1-BB41-81DB-6ACC7FDC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E31107-C800-C447-BB00-46CE40BF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FA71-C67A-5248-BF63-03BF43B66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440" y="1675497"/>
            <a:ext cx="3200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811F-8E05-AA4E-9E43-B38B0CCEB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6745" y="1675497"/>
            <a:ext cx="32004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BD6D41F-C468-43FE-8673-96D2E5AB062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47050" y="1675497"/>
            <a:ext cx="3200400" cy="43525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4B535-29AA-2042-A100-C11ED10B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EDAB4-1026-7D4D-A1D7-40513CB4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79B00-907C-444C-8AEB-C0FFB2DE2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9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64EB543-71F1-BB41-81DB-6ACC7FDCEA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8E31107-C800-C447-BB00-46CE40BFE9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877" y="1053659"/>
            <a:ext cx="10515600" cy="548640"/>
          </a:xfrm>
        </p:spPr>
        <p:txBody>
          <a:bodyPr numCol="1" anchor="t"/>
          <a:lstStyle>
            <a:lvl1pPr>
              <a:defRPr>
                <a:solidFill>
                  <a:srgbClr val="007DBB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BFA71-C67A-5248-BF63-03BF43B66A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906440" y="1675497"/>
            <a:ext cx="3200400" cy="36576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49811F-8E05-AA4E-9E43-B38B0CCEB9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26745" y="1675497"/>
            <a:ext cx="3200400" cy="36576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BD6D41F-C468-43FE-8673-96D2E5AB062B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147050" y="1675497"/>
            <a:ext cx="3200400" cy="3657600"/>
          </a:xfrm>
        </p:spPr>
        <p:txBody>
          <a:bodyPr>
            <a:noAutofit/>
          </a:bodyPr>
          <a:lstStyle>
            <a:lvl1pPr marL="0" indent="0"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04B535-29AA-2042-A100-C11ED10BD9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B4EDAB4-1026-7D4D-A1D7-40513CB43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579B00-907C-444C-8AEB-C0FFB2DE2E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44F535C3-8186-4FE5-88AD-943359257A5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06462" y="5422900"/>
            <a:ext cx="3200377" cy="274320"/>
          </a:xfrm>
        </p:spPr>
        <p:txBody>
          <a:bodyPr lIns="0">
            <a:noAutofit/>
          </a:bodyPr>
          <a:lstStyle>
            <a:lvl1pPr marL="0" indent="0" algn="l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 algn="ctr">
              <a:buNone/>
              <a:defRPr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C349AD48-E355-4D85-A5B9-FB2C1042711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525963" y="5422900"/>
            <a:ext cx="3200400" cy="274320"/>
          </a:xfrm>
        </p:spPr>
        <p:txBody>
          <a:bodyPr vert="horz" lIns="0" tIns="45720" rIns="91440" bIns="45720" rtlCol="0">
            <a:noAutofit/>
          </a:bodyPr>
          <a:lstStyle>
            <a:lvl1pPr marL="0" indent="0" algn="l">
              <a:buNone/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lang="en-US"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07831B7C-0690-4D86-813C-3EC2A0013E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47050" y="5422900"/>
            <a:ext cx="3200400" cy="274320"/>
          </a:xfrm>
        </p:spPr>
        <p:txBody>
          <a:bodyPr vert="horz" lIns="0" tIns="45720" rIns="91440" bIns="45720" rtlCol="0">
            <a:noAutofit/>
          </a:bodyPr>
          <a:lstStyle>
            <a:lvl1pPr marL="0" indent="0" algn="l">
              <a:buNone/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>
              <a:defRPr lang="en-US" sz="1200" smtClean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>
              <a:defRPr lang="en-US" sz="120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marL="228600" lvl="0" indent="-22860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90142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19610-83C7-3D4A-A4A5-4F86D0BA2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57733A5-E61B-484A-98BB-EF495F331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3D9225-69CC-F845-BFAC-B0755ABB1A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3584432-1700-4F44-80E3-B4BFA4427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E6E2E3-6AFA-934A-9EBE-15A1044B7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617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F95898B-20FB-6446-B900-F7A83C1FEA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322050" y="442400"/>
            <a:ext cx="439511" cy="529207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EBFBC38-75CA-A44C-A9FD-C3176D69DB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8D9AE2-9232-2646-963E-214DBDA77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‹#›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664CC0D-2655-0C41-8B1D-74329726C4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729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E6988797-1F1B-4B04-8A4C-C7448A92D4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30199" y="-1325563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Quote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A05F9D0-007D-4DE0-8E22-F403BEF54F7D}"/>
              </a:ext>
            </a:extLst>
          </p:cNvPr>
          <p:cNvSpPr txBox="1"/>
          <p:nvPr userDrawn="1"/>
        </p:nvSpPr>
        <p:spPr>
          <a:xfrm>
            <a:off x="1714500" y="1463674"/>
            <a:ext cx="7048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0">
                <a:solidFill>
                  <a:srgbClr val="7575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60D9ABF-E45E-464F-B292-D0DEBD6669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496460" y="2409825"/>
            <a:ext cx="7226300" cy="1746250"/>
          </a:xfrm>
        </p:spPr>
        <p:txBody>
          <a:bodyPr>
            <a:noAutofit/>
          </a:bodyPr>
          <a:lstStyle>
            <a:lvl1pPr marL="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9144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3716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828800" indent="0">
              <a:lnSpc>
                <a:spcPct val="110000"/>
              </a:lnSpc>
              <a:buNone/>
              <a:defRPr sz="3600" b="1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230743C-8D35-4D62-9118-28C8C56225A7}"/>
              </a:ext>
            </a:extLst>
          </p:cNvPr>
          <p:cNvSpPr txBox="1"/>
          <p:nvPr userDrawn="1"/>
        </p:nvSpPr>
        <p:spPr>
          <a:xfrm>
            <a:off x="9163050" y="3618142"/>
            <a:ext cx="70485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0">
                <a:solidFill>
                  <a:srgbClr val="75757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CE988A-DF04-4686-BF17-A716DB03D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919FC3-1BC1-4751-B9EA-E760893A1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BEFA13-4BB7-4CE8-A0EE-F367DEDA34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1465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B88499-3B37-C12F-1059-897B645300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F4568-53B1-39CB-BDFA-63445A973A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874902-6E55-B524-3CD9-46E767A74C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11DF55-085E-A15B-3693-A6ACAFB0F6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6F2D9-9FD6-5399-3027-503ED2F9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6155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3B8C8-5B32-F4D3-9DE8-D82A135FDE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60D7D-3D94-2132-7904-1407E4B9DD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4E3B9F-95C1-337F-435D-A9CDA7683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E6325-E72C-6E5E-722A-804C7FB7C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3C1CC1-C675-6897-EA45-03D68F6A3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22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D95D72-0386-E92B-7F2A-BCEBBE1D8B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FF96F6-3BF3-203B-C952-D7B4D98956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BB216-0635-DC1A-235D-D16F9840EB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4A7B-CC5A-5879-9E26-9EC379977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F15D14-3245-EA50-54C5-E093ADB581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48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E0049-4572-972D-35DE-C5562939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C03DDA-1BF0-EEFC-C57D-3CAEA6F5A6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D74980-1819-E4F5-A21E-2E6D316F40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0B24CA-A83E-04EE-3BC9-8F61604CEC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A39BB5-EBE9-AB33-6C56-769989C2B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7AC84E-E480-CD0D-4533-7C8904BD4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4855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BB6BA0-7A37-D85B-1961-1129D2E82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62581B-6F1A-2811-9E8D-64D52B2EF8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286AE60-623B-5FD7-350A-ACB61CD82D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E49C44-FB77-EAD1-6C7A-085184BB00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912C0D-792E-B828-1D4E-D16D07132F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1A7ABEF-7452-AB4D-7EF3-3DF2304FF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1D4BEB-7678-B1B2-9613-67AEDFEB1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40D2E1-0A1D-4532-9BBF-EEAC09935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6919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6CDE8-0896-F296-CB36-DD0D034D6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389F44-88A4-DECE-0BC4-BB245E4015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7D9838-9233-AE44-7F56-5FBC9208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1F746A-25A4-3234-BC2E-EA9C6B07D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900791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FA90EFB-7D57-C02E-5395-AE4FD34DF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342800E-1FD1-9CC7-BA43-4A438E5B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85CD18-76CB-EB15-E4B3-CAAD29B086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027428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30EF6-FEDF-0AA5-BC43-A49C1888B7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5E3E55-8689-5C42-E928-FF5A5966E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55D928-174A-0758-D549-D868169F69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0F1849-D2C7-9C09-B661-A7D8D8C398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8FD92F-1039-7BBE-E234-B6A690D33C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7718BD-716A-C9CB-06A5-E1D66B5EE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613402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E63CD-3C55-D88B-668C-477AEB10D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2B1494D-9E9A-5830-F7EA-A66546A05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D953C-1120-6521-961F-F768820CB3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174E59-C617-836C-D629-B643DBFA0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CADC24-E955-A466-51A2-A3863A9AA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B33A3B-0784-D2AE-06E6-D7D122066A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707459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9E2A-E35C-D0A2-B42D-D7F9CDAA6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4817541-43C6-93A1-A469-0EB8F6D7B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3A8D83-D5B3-DAA7-D4D6-043E0A46D2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DD4D0-E58A-95C7-CEBC-CE67DA711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17F1FA-43E3-ED8D-9764-48783D1ED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42113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F4697F-3D3B-3AE5-00F0-D5F3361E7F7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ACD257-B10E-DE87-6A0E-A6A7779CD2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E04EBA-E448-7F65-AB79-0CE6ACBB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7B301-2118-3719-7022-A38A2C4ED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0B826A-C206-9D90-0D37-2DAF1A8864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0321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3" Type="http://schemas.openxmlformats.org/officeDocument/2006/relationships/slideLayout" Target="../slideLayouts/slideLayout6.xml"/><Relationship Id="rId7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4.xml"/><Relationship Id="rId5" Type="http://schemas.openxmlformats.org/officeDocument/2006/relationships/slideLayout" Target="../slideLayouts/slideLayout8.xml"/><Relationship Id="rId10" Type="http://schemas.openxmlformats.org/officeDocument/2006/relationships/slideLayout" Target="../slideLayouts/slideLayout13.xml"/><Relationship Id="rId4" Type="http://schemas.openxmlformats.org/officeDocument/2006/relationships/slideLayout" Target="../slideLayouts/slideLayout7.xml"/><Relationship Id="rId9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4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F5D9884-BFAF-561D-D513-8619A7ABF0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313" y="163017"/>
            <a:ext cx="10515600" cy="38070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62E5C7-A80E-2712-CD47-B54F5D6087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969820"/>
            <a:ext cx="10515600" cy="520714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E210149-F969-9A30-1DCE-3AB11584EA60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1243851" y="6573166"/>
            <a:ext cx="1020415" cy="2847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121891" tIns="60944" rIns="121891" bIns="60944">
            <a:spAutoFit/>
          </a:bodyPr>
          <a:lstStyle>
            <a:lvl1pPr defTabSz="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1pPr>
            <a:lvl2pPr marL="742950" indent="-285750" defTabSz="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2pPr>
            <a:lvl3pPr marL="1143000" indent="-228600" defTabSz="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3pPr>
            <a:lvl4pPr marL="1600200" indent="-228600" defTabSz="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4pPr>
            <a:lvl5pPr marL="2057400" indent="-228600" defTabSz="457200" eaLnBrk="0" hangingPunct="0"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  <a:cs typeface="Arial" charset="0"/>
              </a:defRPr>
            </a:lvl9pPr>
          </a:lstStyle>
          <a:p>
            <a:pPr marL="0" marR="0" lvl="0" indent="0" algn="r" defTabSz="457661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B21FD218-8A1D-4C52-8A7F-158F5FDE1C8E}" type="slidenum">
              <a:rPr kumimoji="0" lang="en-US" altLang="en-US" sz="1051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rPr>
              <a:pPr marL="0" marR="0" lvl="0" indent="0" algn="r" defTabSz="457661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en-US" sz="1051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ExtraBold" panose="020B0606030504020204" pitchFamily="34" charset="0"/>
              <a:ea typeface="Open Sans ExtraBold" panose="020B0606030504020204" pitchFamily="34" charset="0"/>
              <a:cs typeface="Open Sans ExtraBold" panose="020B0606030504020204" pitchFamily="34" charset="0"/>
            </a:endParaRPr>
          </a:p>
        </p:txBody>
      </p:sp>
      <p:pic>
        <p:nvPicPr>
          <p:cNvPr id="8" name="Picture 7" descr="FDA_B&amp;W_Primary_logo.jpg">
            <a:extLst>
              <a:ext uri="{FF2B5EF4-FFF2-40B4-BE49-F238E27FC236}">
                <a16:creationId xmlns:a16="http://schemas.microsoft.com/office/drawing/2014/main" id="{C7C8EDE3-DBAE-F216-FACF-B03B9E8E8CE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1" y="73323"/>
            <a:ext cx="1828687" cy="3807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524350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9" r:id="rId2"/>
    <p:sldLayoutId id="2147483675" r:id="rId3"/>
  </p:sldLayoutIdLst>
  <p:hf hdr="0" dt="0"/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2800" b="0" i="0" kern="1200">
          <a:solidFill>
            <a:schemeClr val="tx1"/>
          </a:solidFill>
          <a:latin typeface="Helvetica" pitchFamily="2" charset="0"/>
          <a:ea typeface="+mj-ea"/>
          <a:cs typeface="Calibri" panose="020F0502020204030204" pitchFamily="34" charset="0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b="0" i="0" kern="1200">
          <a:solidFill>
            <a:schemeClr val="tx1"/>
          </a:solidFill>
          <a:latin typeface="Helvetica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5006D43-080D-8F4F-9ADF-A49BB6C9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199" y="60721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151461-AF4C-1F43-AEEA-79424D0C6E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2585" y="1673224"/>
            <a:ext cx="10192657" cy="39147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347AA2-6BFE-F04A-8258-381B24A99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42904" y="639989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b="0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F60DE-F467-5A4D-97D4-1ED60328B1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24400" y="639989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 b="0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2C451916-448D-084F-871F-01BF4E2B7E7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4057A9-0926-7841-86C9-8895334BDF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39741" y="639989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 i="0">
                <a:solidFill>
                  <a:srgbClr val="007DBB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594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rgbClr val="007DBB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rgbClr val="007DBB"/>
        </a:buClr>
        <a:buFont typeface="Wingdings" pitchFamily="2" charset="2"/>
        <a:buChar char="§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007DBB"/>
        </a:buClr>
        <a:buFont typeface="Wingdings" pitchFamily="2" charset="2"/>
        <a:buChar char="§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90745F-E844-08C2-24F9-A1723D5FF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F024FC-4B3C-FF0D-F21C-98BF934242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626D6A-065C-19E6-E428-3B1097D55A2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5E4352-BAF5-4BF7-BA54-E124BD99ABA1}" type="datetimeFigureOut">
              <a:rPr lang="en-US" smtClean="0"/>
              <a:t>3/11/2026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83D44E-A3C3-5F7C-11F1-805BB53C8E5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2EB289-EC0C-98F5-4683-9193C2C7F6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CDAEA3-41F3-4F7E-93E3-947ED12B436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951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13" Type="http://schemas.openxmlformats.org/officeDocument/2006/relationships/image" Target="../media/image24.svg"/><Relationship Id="rId18" Type="http://schemas.openxmlformats.org/officeDocument/2006/relationships/image" Target="../media/image29.png"/><Relationship Id="rId26" Type="http://schemas.openxmlformats.org/officeDocument/2006/relationships/image" Target="../media/image37.png"/><Relationship Id="rId3" Type="http://schemas.openxmlformats.org/officeDocument/2006/relationships/image" Target="../media/image14.svg"/><Relationship Id="rId21" Type="http://schemas.openxmlformats.org/officeDocument/2006/relationships/image" Target="../media/image32.svg"/><Relationship Id="rId7" Type="http://schemas.openxmlformats.org/officeDocument/2006/relationships/image" Target="../media/image18.svg"/><Relationship Id="rId12" Type="http://schemas.openxmlformats.org/officeDocument/2006/relationships/image" Target="../media/image23.png"/><Relationship Id="rId17" Type="http://schemas.openxmlformats.org/officeDocument/2006/relationships/image" Target="../media/image28.svg"/><Relationship Id="rId25" Type="http://schemas.openxmlformats.org/officeDocument/2006/relationships/image" Target="../media/image36.svg"/><Relationship Id="rId33" Type="http://schemas.openxmlformats.org/officeDocument/2006/relationships/image" Target="../media/image44.svg"/><Relationship Id="rId2" Type="http://schemas.openxmlformats.org/officeDocument/2006/relationships/image" Target="../media/image13.png"/><Relationship Id="rId16" Type="http://schemas.openxmlformats.org/officeDocument/2006/relationships/image" Target="../media/image27.png"/><Relationship Id="rId20" Type="http://schemas.openxmlformats.org/officeDocument/2006/relationships/image" Target="../media/image31.png"/><Relationship Id="rId29" Type="http://schemas.openxmlformats.org/officeDocument/2006/relationships/image" Target="../media/image40.sv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.png"/><Relationship Id="rId11" Type="http://schemas.openxmlformats.org/officeDocument/2006/relationships/image" Target="../media/image22.svg"/><Relationship Id="rId24" Type="http://schemas.openxmlformats.org/officeDocument/2006/relationships/image" Target="../media/image35.png"/><Relationship Id="rId32" Type="http://schemas.openxmlformats.org/officeDocument/2006/relationships/image" Target="../media/image43.png"/><Relationship Id="rId5" Type="http://schemas.openxmlformats.org/officeDocument/2006/relationships/image" Target="../media/image16.svg"/><Relationship Id="rId15" Type="http://schemas.openxmlformats.org/officeDocument/2006/relationships/image" Target="../media/image26.svg"/><Relationship Id="rId23" Type="http://schemas.openxmlformats.org/officeDocument/2006/relationships/image" Target="../media/image34.svg"/><Relationship Id="rId28" Type="http://schemas.openxmlformats.org/officeDocument/2006/relationships/image" Target="../media/image39.png"/><Relationship Id="rId10" Type="http://schemas.openxmlformats.org/officeDocument/2006/relationships/image" Target="../media/image21.png"/><Relationship Id="rId19" Type="http://schemas.openxmlformats.org/officeDocument/2006/relationships/image" Target="../media/image30.svg"/><Relationship Id="rId31" Type="http://schemas.openxmlformats.org/officeDocument/2006/relationships/image" Target="../media/image42.svg"/><Relationship Id="rId4" Type="http://schemas.openxmlformats.org/officeDocument/2006/relationships/image" Target="../media/image15.png"/><Relationship Id="rId9" Type="http://schemas.openxmlformats.org/officeDocument/2006/relationships/image" Target="../media/image20.svg"/><Relationship Id="rId14" Type="http://schemas.openxmlformats.org/officeDocument/2006/relationships/image" Target="../media/image25.png"/><Relationship Id="rId22" Type="http://schemas.openxmlformats.org/officeDocument/2006/relationships/image" Target="../media/image33.png"/><Relationship Id="rId27" Type="http://schemas.openxmlformats.org/officeDocument/2006/relationships/image" Target="../media/image38.svg"/><Relationship Id="rId30" Type="http://schemas.openxmlformats.org/officeDocument/2006/relationships/image" Target="../media/image4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Team of four people using computer in call center">
            <a:extLst>
              <a:ext uri="{FF2B5EF4-FFF2-40B4-BE49-F238E27FC236}">
                <a16:creationId xmlns:a16="http://schemas.microsoft.com/office/drawing/2014/main" id="{41CDE5EB-FD04-1335-00FA-FCBE8D8BF0D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818" b="28818"/>
          <a:stretch/>
        </p:blipFill>
        <p:spPr>
          <a:xfrm>
            <a:off x="0" y="961067"/>
            <a:ext cx="12192000" cy="3519376"/>
          </a:xfrm>
          <a:prstGeom prst="rect">
            <a:avLst/>
          </a:prstGeom>
        </p:spPr>
      </p:pic>
      <p:sp>
        <p:nvSpPr>
          <p:cNvPr id="8" name="Title 1"/>
          <p:cNvSpPr txBox="1">
            <a:spLocks/>
          </p:cNvSpPr>
          <p:nvPr/>
        </p:nvSpPr>
        <p:spPr>
          <a:xfrm>
            <a:off x="0" y="4588227"/>
            <a:ext cx="12192000" cy="15151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b="0" kern="1200">
                <a:solidFill>
                  <a:schemeClr val="tx1"/>
                </a:solidFill>
                <a:latin typeface="+mj-lt"/>
                <a:ea typeface="+mj-ea"/>
                <a:cs typeface="Arial" panose="020B0604020202020204" pitchFamily="34" charset="0"/>
              </a:defRPr>
            </a:lvl1pPr>
          </a:lstStyle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1871"/>
                </a:solidFill>
                <a:effectLst/>
                <a:uLnTx/>
                <a:uFillTx/>
                <a:latin typeface="Merriweather" pitchFamily="50" charset="0"/>
                <a:cs typeface="Helvetica"/>
              </a:rPr>
              <a:t>Contact Center Optimization</a:t>
            </a:r>
            <a:r>
              <a:rPr lang="en-US" sz="3600" b="1" dirty="0">
                <a:solidFill>
                  <a:srgbClr val="001871"/>
                </a:solidFill>
                <a:latin typeface="Merriweather" pitchFamily="50" charset="0"/>
                <a:cs typeface="Helvetica"/>
              </a:rPr>
              <a:t> </a:t>
            </a: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001871"/>
                </a:solidFill>
                <a:effectLst/>
                <a:uLnTx/>
                <a:uFillTx/>
                <a:latin typeface="Merriweather" pitchFamily="50" charset="0"/>
                <a:cs typeface="Helvetica"/>
              </a:rPr>
              <a:t>Project</a:t>
            </a:r>
          </a:p>
          <a:p>
            <a:pPr>
              <a:spcAft>
                <a:spcPts val="300"/>
              </a:spcAft>
              <a:defRPr/>
            </a:pPr>
            <a:r>
              <a:rPr lang="en-US" sz="2000" b="1" dirty="0">
                <a:solidFill>
                  <a:srgbClr val="001871"/>
                </a:solidFill>
                <a:latin typeface="Merriweather" pitchFamily="50" charset="0"/>
                <a:cs typeface="Helvetica"/>
              </a:rPr>
              <a:t>Industry Day</a:t>
            </a:r>
          </a:p>
          <a:p>
            <a:pPr>
              <a:spcAft>
                <a:spcPts val="300"/>
              </a:spcAft>
              <a:defRPr/>
            </a:pPr>
            <a:r>
              <a:rPr lang="en-US" sz="2000" b="1" dirty="0">
                <a:solidFill>
                  <a:srgbClr val="001871"/>
                </a:solidFill>
                <a:latin typeface="Merriweather" pitchFamily="50" charset="0"/>
                <a:ea typeface="Calibri"/>
                <a:cs typeface="Helvetica"/>
              </a:rPr>
              <a:t>March 5, 2026</a:t>
            </a:r>
          </a:p>
        </p:txBody>
      </p:sp>
    </p:spTree>
    <p:extLst>
      <p:ext uri="{BB962C8B-B14F-4D97-AF65-F5344CB8AC3E}">
        <p14:creationId xmlns:p14="http://schemas.microsoft.com/office/powerpoint/2010/main" val="14154246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8331C-4C2A-E3E6-F529-B896F932A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00740-60AD-5C4F-5B90-6B8ECA8AFA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Industry Day Agenda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24188-DB40-1B7B-C10A-F1CC8C5ED84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/>
              <a:t>Office of Operations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2C9DB4-7587-117F-9B2D-C3ED7029E0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598" y="6297341"/>
            <a:ext cx="1556210" cy="268287"/>
          </a:xfrm>
        </p:spPr>
        <p:txBody>
          <a:bodyPr/>
          <a:lstStyle/>
          <a:p>
            <a:r>
              <a:rPr lang="en-US" dirty="0"/>
              <a:t>March 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7CE4C4-0356-E93A-DE72-0AD7CA56657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8056" y="1371600"/>
            <a:ext cx="11254498" cy="47826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8:00 A.M. to 9:15 A.M. – Check-in/Registration, nametags, logistics (coffee/tea, restrooms, etc.)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9:30 A.M. to 10: A.M. – Welcome remarks and Introductions</a:t>
            </a:r>
          </a:p>
          <a:p>
            <a:pPr marL="1028683" lvl="1" indent="-34290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FDA Panel Introductions</a:t>
            </a:r>
          </a:p>
          <a:p>
            <a:pPr marL="1485871" lvl="2" indent="-342900"/>
            <a:r>
              <a:rPr lang="en-US" sz="1600" dirty="0">
                <a:latin typeface="Arial" panose="020B0604020202020204" pitchFamily="34" charset="0"/>
                <a:cs typeface="Arial" panose="020B0604020202020204" pitchFamily="34" charset="0"/>
              </a:rPr>
              <a:t>Welcome remarks from Dr. Butler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10:00 A.M. to 10:30 A.M. – Project Overview, Objectives and Goals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10:45 A.M. to 12:00 P.M. – General Q&amp;A</a:t>
            </a:r>
          </a:p>
          <a:p>
            <a:pPr marL="1028683" lvl="1" indent="-342900"/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Ground rules (see next slide)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12:00 P.M. to 1:00 P.M. – Vendor networking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i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Disclaimer: </a:t>
            </a:r>
            <a:r>
              <a:rPr lang="en-US" sz="1400" i="1" dirty="0">
                <a:solidFill>
                  <a:srgbClr val="FF0000"/>
                </a:solidFill>
                <a:latin typeface="+mn-lt"/>
              </a:rPr>
              <a:t>“This Industry Day is for planning and information-gathering purposes only and does not constitute a solicitation or commitment by the Government.”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9650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Logo&#10;&#10;AI-generated content may be incorrect.">
            <a:extLst>
              <a:ext uri="{FF2B5EF4-FFF2-40B4-BE49-F238E27FC236}">
                <a16:creationId xmlns:a16="http://schemas.microsoft.com/office/drawing/2014/main" id="{47F07AA4-83F5-4FFE-FD82-32CA4D573E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24293" y="557293"/>
            <a:ext cx="5743414" cy="57434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019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4A2353-BF18-4B53-D48E-96D87FD17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FBA4A-D17C-1E4C-CCF0-292F1D79C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Ground rules during Q&amp;A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4D0F9B-2A39-B367-6BAA-EFD92223ACE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/>
              <a:t>Office of Operations 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2BAE637-EDBC-215D-1B9D-4DEC15512E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6598" y="6297341"/>
            <a:ext cx="1455626" cy="268287"/>
          </a:xfrm>
        </p:spPr>
        <p:txBody>
          <a:bodyPr/>
          <a:lstStyle/>
          <a:p>
            <a:r>
              <a:rPr lang="en-US" dirty="0"/>
              <a:t>March 2026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A45CC5-A1C1-2E9B-2F30-9729FEF2BD1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48056" y="1371600"/>
            <a:ext cx="11254498" cy="47826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8600" lvl="0" indent="-228600">
              <a:buFont typeface="+mj-lt"/>
              <a:buAutoNum type="arabicPeriod"/>
            </a:pPr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Vendors must identify their name and company name before asking a single question. One follow-up question will be allowed if time permits.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Each question-and-answer exchange is limited to 2-3 minutes combined. If necessary, the FDA facilitator has the option to cut-off the question.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Government will not answer any questions on proprietary information, promise awards, indicate a preferred vendor, discuss source selection criteria in details or reveal budget-sensitive/acquisition-sensitive information. 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Responses provided during Industry Day do not constitute official answer. Only written responses to formal questions submitted through proper channels are binding.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FDA representatives will determine which questions can be answered immediately versus those requiring written follow-up, and the government reserves the right to decline answering questions that are premature, inappropriate, or outside the scope.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All questions and answers will be shared with all attendees through post-event summaries or in real-time, and the session will be recorded and transcribed for documentation purposes.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Q&amp;A content may be incorporated into a Frequently Asked Questions (FAQ) document to provide ongoing guidance to all potential vendors.</a:t>
            </a:r>
          </a:p>
          <a:p>
            <a:pPr marL="228600" lvl="0" indent="-228600">
              <a:buFont typeface="+mj-lt"/>
              <a:buAutoNum type="arabicPeriod"/>
            </a:pPr>
            <a:r>
              <a:rPr lang="en-US" sz="1200" dirty="0">
                <a:latin typeface="+mn-lt"/>
                <a:ea typeface="Calibri" panose="020F0502020204030204" pitchFamily="34" charset="0"/>
                <a:cs typeface="Calibri" panose="020F0502020204030204" pitchFamily="34" charset="0"/>
              </a:rPr>
              <a:t>All Industry Day information, including Q&amp;A content, is provided for general guidance only and does not amend or modify the official solicitation document, with unanswered questions held for written response after the event.</a:t>
            </a:r>
          </a:p>
          <a:p>
            <a:pPr marL="228600" lvl="0" indent="-228600">
              <a:buFont typeface="+mj-lt"/>
              <a:buAutoNum type="arabicPeriod"/>
            </a:pPr>
            <a:endParaRPr lang="en-US" sz="12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28600" lvl="0" indent="-228600">
              <a:buFont typeface="+mj-lt"/>
              <a:buAutoNum type="arabicPeriod"/>
            </a:pPr>
            <a:endParaRPr lang="en-US" sz="12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1400" i="1" dirty="0">
                <a:solidFill>
                  <a:srgbClr val="FF0000"/>
                </a:solidFill>
                <a:latin typeface="+mn-lt"/>
                <a:cs typeface="Arial" panose="020B0604020202020204" pitchFamily="34" charset="0"/>
              </a:rPr>
              <a:t>Disclaimer: </a:t>
            </a:r>
            <a:r>
              <a:rPr lang="en-US" sz="1400" i="1" dirty="0">
                <a:solidFill>
                  <a:srgbClr val="FF0000"/>
                </a:solidFill>
                <a:latin typeface="+mn-lt"/>
              </a:rPr>
              <a:t>“This Industry Day is for planning and information-gathering purposes only and does not constitute a solicitation or commitment by the Government.”</a:t>
            </a:r>
          </a:p>
          <a:p>
            <a:pPr lvl="0"/>
            <a:endParaRPr lang="en-US" sz="1200" dirty="0">
              <a:latin typeface="+mn-lt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066186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AC9F0-9E4B-D381-3E27-1F95717C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Vision and Scope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8B24F-975B-09E7-D41C-D9A98F78F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/>
              <a:t>Office of Operations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C2E8F-3F37-8399-9F48-F0E0228B01D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751" y="1358900"/>
            <a:ext cx="11254498" cy="532646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i="0" u="none" strike="noStrike" baseline="0" dirty="0">
                <a:latin typeface="Arial" panose="020B0604020202020204" pitchFamily="34" charset="0"/>
              </a:rPr>
              <a:t>Vision: </a:t>
            </a:r>
            <a:r>
              <a:rPr lang="en-US" b="0" i="0" u="none" strike="noStrike" baseline="0" dirty="0">
                <a:latin typeface="Arial" panose="020B0604020202020204" pitchFamily="34" charset="0"/>
              </a:rPr>
              <a:t>Reimagine and modernize FDA’s contact center operations, delivering a unified, consistent, and resilient contact experience across the agency. </a:t>
            </a:r>
          </a:p>
          <a:p>
            <a:pPr>
              <a:spcBef>
                <a:spcPts val="1800"/>
              </a:spcBef>
            </a:pPr>
            <a:r>
              <a:rPr lang="en-US" dirty="0">
                <a:latin typeface="Arial" panose="020B0604020202020204" pitchFamily="34" charset="0"/>
              </a:rPr>
              <a:t>In-Scope:</a:t>
            </a:r>
          </a:p>
          <a:p>
            <a:pPr marL="285750" indent="-285750"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Immediate – Establish a structured tiered contact center and enterprise CRM to support the integrated customer journey for inquiries and complaints raised to FDA</a:t>
            </a:r>
          </a:p>
          <a:p>
            <a:pPr marL="285750" indent="-285750"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Long-Term – Leverage the structure tiered contact center and enterprise CRM implemented for inquiries and complaints by applying all FDA contact centers. </a:t>
            </a:r>
          </a:p>
          <a:p>
            <a:pPr marL="285750" indent="-285750"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Critical integration points</a:t>
            </a:r>
          </a:p>
          <a:p>
            <a:pPr marL="971533" lvl="1" indent="-285750">
              <a:buClr>
                <a:schemeClr val="accent1"/>
              </a:buClr>
            </a:pPr>
            <a:r>
              <a:rPr lang="en-US" sz="1800" dirty="0">
                <a:latin typeface="Arial" panose="020B0604020202020204" pitchFamily="34" charset="0"/>
              </a:rPr>
              <a:t>Tier 0 to Unified Intake Tool (UIT)</a:t>
            </a:r>
          </a:p>
          <a:p>
            <a:pPr marL="971533" lvl="1" indent="-285750">
              <a:buClr>
                <a:schemeClr val="accent1"/>
              </a:buClr>
            </a:pPr>
            <a:r>
              <a:rPr lang="en-US" sz="1800" dirty="0">
                <a:latin typeface="Arial" panose="020B0604020202020204" pitchFamily="34" charset="0"/>
              </a:rPr>
              <a:t>UIT to CRM</a:t>
            </a:r>
          </a:p>
          <a:p>
            <a:pPr marL="285750" indent="-285750">
              <a:spcBef>
                <a:spcPts val="500"/>
              </a:spcBef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</a:rPr>
              <a:t>Out of scope </a:t>
            </a:r>
          </a:p>
          <a:p>
            <a:pPr marL="971533" lvl="1" indent="-285750">
              <a:buClr>
                <a:schemeClr val="accent1"/>
              </a:buClr>
            </a:pPr>
            <a:r>
              <a:rPr lang="en-US" sz="1800" dirty="0">
                <a:latin typeface="Arial" panose="020B0604020202020204" pitchFamily="34" charset="0"/>
              </a:rPr>
              <a:t>UIT</a:t>
            </a:r>
          </a:p>
          <a:p>
            <a:pPr marL="971533" lvl="1" indent="-285750">
              <a:buClr>
                <a:schemeClr val="accent1"/>
              </a:buClr>
            </a:pPr>
            <a:r>
              <a:rPr lang="en-US" sz="1800" dirty="0">
                <a:latin typeface="Arial" panose="020B0604020202020204" pitchFamily="34" charset="0"/>
              </a:rPr>
              <a:t>UIT integration with downstream systems</a:t>
            </a:r>
          </a:p>
          <a:p>
            <a:pPr marL="971533" lvl="1" indent="-285750">
              <a:buClr>
                <a:schemeClr val="accent1"/>
              </a:buClr>
            </a:pPr>
            <a:r>
              <a:rPr lang="en-US" sz="1800" dirty="0">
                <a:latin typeface="Arial" panose="020B0604020202020204" pitchFamily="34" charset="0"/>
              </a:rPr>
              <a:t>Other applications used for industry submissions, data storage, publishing, regulatory review and assessment management, or inspections and compliance management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1B3B3C-7994-16B4-1327-13C6238EF940}"/>
              </a:ext>
            </a:extLst>
          </p:cNvPr>
          <p:cNvSpPr txBox="1">
            <a:spLocks/>
          </p:cNvSpPr>
          <p:nvPr/>
        </p:nvSpPr>
        <p:spPr>
          <a:xfrm>
            <a:off x="336598" y="6297341"/>
            <a:ext cx="1311275" cy="2682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i="0" kern="1200">
                <a:solidFill>
                  <a:srgbClr val="44546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1178444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F8BB94-ACDA-4DB5-B82D-7042AC7AB9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C451916-448D-084F-871F-01BF4E2B7E7A}" type="slidenum">
              <a:rPr kumimoji="0" lang="en-US" sz="1050" b="0" i="0" u="none" strike="noStrike" kern="1200" cap="none" spc="0" normalizeH="0" baseline="0" noProof="0" smtClean="0">
                <a:ln>
                  <a:noFill/>
                </a:ln>
                <a:solidFill>
                  <a:srgbClr val="007DB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7DBB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8B9BB4A-25F8-43B1-B6E7-8B76FA748F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7DB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Office of Operations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54135A6-BC20-6967-584F-3089BC24BD34}"/>
              </a:ext>
            </a:extLst>
          </p:cNvPr>
          <p:cNvSpPr txBox="1"/>
          <p:nvPr/>
        </p:nvSpPr>
        <p:spPr>
          <a:xfrm>
            <a:off x="1958443" y="1215293"/>
            <a:ext cx="3772532" cy="2582675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txBody>
          <a:bodyPr wrap="square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F7CAE2-0BAD-6513-71A3-C3B60735B851}"/>
              </a:ext>
            </a:extLst>
          </p:cNvPr>
          <p:cNvSpPr txBox="1"/>
          <p:nvPr/>
        </p:nvSpPr>
        <p:spPr>
          <a:xfrm>
            <a:off x="5657860" y="1215294"/>
            <a:ext cx="4349842" cy="5289918"/>
          </a:xfrm>
          <a:prstGeom prst="rect">
            <a:avLst/>
          </a:prstGeom>
          <a:solidFill>
            <a:schemeClr val="accent1">
              <a:lumMod val="10000"/>
              <a:lumOff val="90000"/>
            </a:schemeClr>
          </a:solidFill>
          <a:ln>
            <a:noFill/>
          </a:ln>
        </p:spPr>
        <p:txBody>
          <a:bodyPr wrap="square" lIns="91440" tIns="45720" rIns="91440" bIns="45720" rtlCol="0" anchor="b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22B5901D-E5FC-5B20-7CCC-A7A590AA90C0}"/>
              </a:ext>
            </a:extLst>
          </p:cNvPr>
          <p:cNvSpPr/>
          <p:nvPr/>
        </p:nvSpPr>
        <p:spPr>
          <a:xfrm>
            <a:off x="6736864" y="3020273"/>
            <a:ext cx="3175638" cy="3297637"/>
          </a:xfrm>
          <a:prstGeom prst="roundRect">
            <a:avLst/>
          </a:prstGeom>
          <a:solidFill>
            <a:srgbClr val="EBFFF8"/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Customer Relationship </a:t>
            </a:r>
            <a:r>
              <a:rPr kumimoji="0" lang="en-US" sz="1400" b="0" i="0" u="none" strike="noStrike" kern="1200" cap="none" spc="0" normalizeH="0" baseline="0" noProof="0" err="1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Mgmt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(CRM)-like system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manage engagement workflows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7765550-A6F8-E30D-50F1-D27D979BB03E}"/>
              </a:ext>
            </a:extLst>
          </p:cNvPr>
          <p:cNvSpPr/>
          <p:nvPr/>
        </p:nvSpPr>
        <p:spPr>
          <a:xfrm>
            <a:off x="7803686" y="3421026"/>
            <a:ext cx="2030065" cy="795012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Tier 2/3: COP’s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Evaluation, determination, closure</a:t>
            </a:r>
          </a:p>
        </p:txBody>
      </p:sp>
      <p:sp>
        <p:nvSpPr>
          <p:cNvPr id="17" name="Title 3">
            <a:extLst>
              <a:ext uri="{FF2B5EF4-FFF2-40B4-BE49-F238E27FC236}">
                <a16:creationId xmlns:a16="http://schemas.microsoft.com/office/drawing/2014/main" id="{F620D561-45E8-182E-A3FF-20CA29008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0747" y="438110"/>
            <a:ext cx="11026270" cy="534651"/>
          </a:xfrm>
        </p:spPr>
        <p:txBody>
          <a:bodyPr anchor="ctr">
            <a:normAutofit/>
          </a:bodyPr>
          <a:lstStyle/>
          <a:p>
            <a:r>
              <a:rPr lang="en-US" sz="2400">
                <a:latin typeface="Merriweather"/>
                <a:cs typeface="Arial"/>
              </a:rPr>
              <a:t>Simplified FDA Customer Journey of an Inquiry or Complaint</a:t>
            </a:r>
            <a:endParaRPr lang="en-US" sz="2400" b="0">
              <a:latin typeface="Merriweather"/>
              <a:cs typeface="Arial"/>
            </a:endParaRPr>
          </a:p>
        </p:txBody>
      </p:sp>
      <p:pic>
        <p:nvPicPr>
          <p:cNvPr id="18" name="Graphic 17" descr="Internet outline">
            <a:extLst>
              <a:ext uri="{FF2B5EF4-FFF2-40B4-BE49-F238E27FC236}">
                <a16:creationId xmlns:a16="http://schemas.microsoft.com/office/drawing/2014/main" id="{6806E340-6421-2A0D-182A-5681F4D7FD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39997" y="2816418"/>
            <a:ext cx="548640" cy="548640"/>
          </a:xfrm>
          <a:prstGeom prst="rect">
            <a:avLst/>
          </a:prstGeom>
        </p:spPr>
      </p:pic>
      <p:pic>
        <p:nvPicPr>
          <p:cNvPr id="19" name="Graphic 18" descr="Speaker phone outline">
            <a:extLst>
              <a:ext uri="{FF2B5EF4-FFF2-40B4-BE49-F238E27FC236}">
                <a16:creationId xmlns:a16="http://schemas.microsoft.com/office/drawing/2014/main" id="{EE9F9CDC-EFE6-423C-CA52-BF8B22DAB85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31437" y="4254838"/>
            <a:ext cx="365760" cy="365760"/>
          </a:xfrm>
          <a:prstGeom prst="rect">
            <a:avLst/>
          </a:prstGeom>
        </p:spPr>
      </p:pic>
      <p:pic>
        <p:nvPicPr>
          <p:cNvPr id="20" name="Graphic 19" descr="Email outline">
            <a:extLst>
              <a:ext uri="{FF2B5EF4-FFF2-40B4-BE49-F238E27FC236}">
                <a16:creationId xmlns:a16="http://schemas.microsoft.com/office/drawing/2014/main" id="{2CE2726B-43BE-C088-4E69-8ABBA1F400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03826" y="3444564"/>
            <a:ext cx="365760" cy="365760"/>
          </a:xfrm>
          <a:prstGeom prst="rect">
            <a:avLst/>
          </a:prstGeom>
        </p:spPr>
      </p:pic>
      <p:pic>
        <p:nvPicPr>
          <p:cNvPr id="21" name="Graphic 20" descr="Envelope outline">
            <a:extLst>
              <a:ext uri="{FF2B5EF4-FFF2-40B4-BE49-F238E27FC236}">
                <a16:creationId xmlns:a16="http://schemas.microsoft.com/office/drawing/2014/main" id="{93ABF6BA-3C5C-5D93-1016-EE4582CB364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14631" y="3771796"/>
            <a:ext cx="365760" cy="365760"/>
          </a:xfrm>
          <a:prstGeom prst="rect">
            <a:avLst/>
          </a:prstGeom>
        </p:spPr>
      </p:pic>
      <p:pic>
        <p:nvPicPr>
          <p:cNvPr id="22" name="Graphic 21" descr="Question Mark outline">
            <a:extLst>
              <a:ext uri="{FF2B5EF4-FFF2-40B4-BE49-F238E27FC236}">
                <a16:creationId xmlns:a16="http://schemas.microsoft.com/office/drawing/2014/main" id="{FA709583-E336-90B9-0E24-917156A1308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5983" y="3980848"/>
            <a:ext cx="182880" cy="182880"/>
          </a:xfrm>
          <a:prstGeom prst="rect">
            <a:avLst/>
          </a:prstGeom>
        </p:spPr>
      </p:pic>
      <p:pic>
        <p:nvPicPr>
          <p:cNvPr id="23" name="Graphic 22" descr="Information outline">
            <a:extLst>
              <a:ext uri="{FF2B5EF4-FFF2-40B4-BE49-F238E27FC236}">
                <a16:creationId xmlns:a16="http://schemas.microsoft.com/office/drawing/2014/main" id="{86DC8B3A-02A1-0457-6961-5BFECAD20DBC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01398" y="4033652"/>
            <a:ext cx="182880" cy="182880"/>
          </a:xfrm>
          <a:prstGeom prst="rect">
            <a:avLst/>
          </a:prstGeom>
        </p:spPr>
      </p:pic>
      <p:pic>
        <p:nvPicPr>
          <p:cNvPr id="24" name="Graphic 23" descr="Document outline">
            <a:extLst>
              <a:ext uri="{FF2B5EF4-FFF2-40B4-BE49-F238E27FC236}">
                <a16:creationId xmlns:a16="http://schemas.microsoft.com/office/drawing/2014/main" id="{9E5CFC18-95C4-A027-9E31-BD7F58CB70B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353789" y="3500231"/>
            <a:ext cx="182880" cy="182880"/>
          </a:xfrm>
          <a:prstGeom prst="rect">
            <a:avLst/>
          </a:prstGeom>
        </p:spPr>
      </p:pic>
      <p:pic>
        <p:nvPicPr>
          <p:cNvPr id="25" name="Graphic 24" descr="Siren outline">
            <a:extLst>
              <a:ext uri="{FF2B5EF4-FFF2-40B4-BE49-F238E27FC236}">
                <a16:creationId xmlns:a16="http://schemas.microsoft.com/office/drawing/2014/main" id="{3EEEB994-ABF1-2D75-F4DF-2FC69F2829A4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04670" y="3731710"/>
            <a:ext cx="182880" cy="182880"/>
          </a:xfrm>
          <a:prstGeom prst="rect">
            <a:avLst/>
          </a:prstGeom>
        </p:spPr>
      </p:pic>
      <p:pic>
        <p:nvPicPr>
          <p:cNvPr id="26" name="Graphic 25" descr="Whistle outline">
            <a:extLst>
              <a:ext uri="{FF2B5EF4-FFF2-40B4-BE49-F238E27FC236}">
                <a16:creationId xmlns:a16="http://schemas.microsoft.com/office/drawing/2014/main" id="{178F69AE-973D-E8F3-2B84-9412DC6D3A06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81009" y="3397469"/>
            <a:ext cx="182880" cy="182880"/>
          </a:xfrm>
          <a:prstGeom prst="rect">
            <a:avLst/>
          </a:prstGeom>
        </p:spPr>
      </p:pic>
      <p:pic>
        <p:nvPicPr>
          <p:cNvPr id="27" name="Graphic 26" descr="IV outline">
            <a:extLst>
              <a:ext uri="{FF2B5EF4-FFF2-40B4-BE49-F238E27FC236}">
                <a16:creationId xmlns:a16="http://schemas.microsoft.com/office/drawing/2014/main" id="{7B3389F9-82F1-6B08-34B1-459C452CB22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038427" y="3797968"/>
            <a:ext cx="182880" cy="182880"/>
          </a:xfrm>
          <a:prstGeom prst="rect">
            <a:avLst/>
          </a:prstGeom>
        </p:spPr>
      </p:pic>
      <p:pic>
        <p:nvPicPr>
          <p:cNvPr id="28" name="Graphic 27" descr="Medicine outline">
            <a:extLst>
              <a:ext uri="{FF2B5EF4-FFF2-40B4-BE49-F238E27FC236}">
                <a16:creationId xmlns:a16="http://schemas.microsoft.com/office/drawing/2014/main" id="{B4D7F1F5-4769-BA04-1FED-447FE58CAAE0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025919" y="3545793"/>
            <a:ext cx="182880" cy="182880"/>
          </a:xfrm>
          <a:prstGeom prst="rect">
            <a:avLst/>
          </a:prstGeom>
        </p:spPr>
      </p:pic>
      <p:pic>
        <p:nvPicPr>
          <p:cNvPr id="29" name="Graphic 28" descr="Factory outline">
            <a:extLst>
              <a:ext uri="{FF2B5EF4-FFF2-40B4-BE49-F238E27FC236}">
                <a16:creationId xmlns:a16="http://schemas.microsoft.com/office/drawing/2014/main" id="{9D636FE9-F578-4E2E-33E3-83371F3E805B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799407" y="3421026"/>
            <a:ext cx="182880" cy="182880"/>
          </a:xfrm>
          <a:prstGeom prst="rect">
            <a:avLst/>
          </a:prstGeom>
        </p:spPr>
      </p:pic>
      <p:sp>
        <p:nvSpPr>
          <p:cNvPr id="30" name="Diamond 29">
            <a:extLst>
              <a:ext uri="{FF2B5EF4-FFF2-40B4-BE49-F238E27FC236}">
                <a16:creationId xmlns:a16="http://schemas.microsoft.com/office/drawing/2014/main" id="{0EB4F309-6D65-DC28-AF64-3F6375FB84B3}"/>
              </a:ext>
            </a:extLst>
          </p:cNvPr>
          <p:cNvSpPr>
            <a:spLocks noChangeAspect="1"/>
          </p:cNvSpPr>
          <p:nvPr/>
        </p:nvSpPr>
        <p:spPr>
          <a:xfrm>
            <a:off x="2745097" y="1919384"/>
            <a:ext cx="1190671" cy="1188720"/>
          </a:xfrm>
          <a:prstGeom prst="diamond">
            <a:avLst/>
          </a:prstGeom>
          <a:solidFill>
            <a:schemeClr val="bg1"/>
          </a:solidFill>
          <a:ln>
            <a:solidFill>
              <a:schemeClr val="tx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Tier 0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C2A513EF-E933-5A16-D613-39D174A06E5B}"/>
              </a:ext>
            </a:extLst>
          </p:cNvPr>
          <p:cNvSpPr/>
          <p:nvPr/>
        </p:nvSpPr>
        <p:spPr>
          <a:xfrm>
            <a:off x="4396550" y="1737323"/>
            <a:ext cx="2118696" cy="1552842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Unified Intake Tool (UIT)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Completion of inquiries &amp; complaints, incl. food and medical product safety reporting, allegations</a:t>
            </a:r>
          </a:p>
        </p:txBody>
      </p:sp>
      <p:sp>
        <p:nvSpPr>
          <p:cNvPr id="32" name="Diamond 31">
            <a:extLst>
              <a:ext uri="{FF2B5EF4-FFF2-40B4-BE49-F238E27FC236}">
                <a16:creationId xmlns:a16="http://schemas.microsoft.com/office/drawing/2014/main" id="{EE7D71F9-E104-A1A7-4580-65D8DCDD88DE}"/>
              </a:ext>
            </a:extLst>
          </p:cNvPr>
          <p:cNvSpPr/>
          <p:nvPr/>
        </p:nvSpPr>
        <p:spPr>
          <a:xfrm>
            <a:off x="2745097" y="4396097"/>
            <a:ext cx="1188720" cy="1188720"/>
          </a:xfrm>
          <a:prstGeom prst="diamond">
            <a:avLst/>
          </a:prstGeom>
          <a:ln>
            <a:solidFill>
              <a:schemeClr val="tx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ACD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6A898FC-C084-AECE-DFDB-8300D30899C0}"/>
              </a:ext>
            </a:extLst>
          </p:cNvPr>
          <p:cNvSpPr txBox="1"/>
          <p:nvPr/>
        </p:nvSpPr>
        <p:spPr>
          <a:xfrm>
            <a:off x="3339457" y="5651241"/>
            <a:ext cx="92150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Non-I or C</a:t>
            </a: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E46E7A95-4D34-7E2C-4C53-4F15230AEE1F}"/>
              </a:ext>
            </a:extLst>
          </p:cNvPr>
          <p:cNvSpPr/>
          <p:nvPr/>
        </p:nvSpPr>
        <p:spPr>
          <a:xfrm>
            <a:off x="6864577" y="4483717"/>
            <a:ext cx="1711329" cy="1012641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Tier 1: Contact Center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Facilitate routing, resolve simple calls and inquiries</a:t>
            </a:r>
          </a:p>
        </p:txBody>
      </p:sp>
      <p:pic>
        <p:nvPicPr>
          <p:cNvPr id="35" name="Graphic 34" descr="Thought bubble outline">
            <a:extLst>
              <a:ext uri="{FF2B5EF4-FFF2-40B4-BE49-F238E27FC236}">
                <a16:creationId xmlns:a16="http://schemas.microsoft.com/office/drawing/2014/main" id="{274E7594-E843-8DF5-0793-0C20171003B9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480747" y="3582382"/>
            <a:ext cx="548640" cy="548640"/>
          </a:xfrm>
          <a:prstGeom prst="rect">
            <a:avLst/>
          </a:prstGeom>
        </p:spPr>
      </p:pic>
      <p:sp>
        <p:nvSpPr>
          <p:cNvPr id="36" name="Rectangle 35">
            <a:extLst>
              <a:ext uri="{FF2B5EF4-FFF2-40B4-BE49-F238E27FC236}">
                <a16:creationId xmlns:a16="http://schemas.microsoft.com/office/drawing/2014/main" id="{1353269C-9D4F-235D-92E9-ADC15D3AD2C8}"/>
              </a:ext>
            </a:extLst>
          </p:cNvPr>
          <p:cNvSpPr/>
          <p:nvPr/>
        </p:nvSpPr>
        <p:spPr>
          <a:xfrm>
            <a:off x="10296072" y="2904489"/>
            <a:ext cx="1562041" cy="1491607"/>
          </a:xfrm>
          <a:prstGeom prst="rect">
            <a:avLst/>
          </a:prstGeom>
          <a:noFill/>
          <a:ln>
            <a:solidFill>
              <a:schemeClr val="accent1">
                <a:lumMod val="25000"/>
                <a:lumOff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Adverse Event </a:t>
            </a:r>
            <a:r>
              <a:rPr kumimoji="0" lang="en-US" sz="1200" b="0" i="1" u="none" strike="noStrike" kern="1200" cap="none" spc="0" normalizeH="0" baseline="0" noProof="0" err="1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Mgmt</a:t>
            </a: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system(s)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1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Safety reports and product problems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1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Other systems</a:t>
            </a:r>
          </a:p>
        </p:txBody>
      </p:sp>
      <p:cxnSp>
        <p:nvCxnSpPr>
          <p:cNvPr id="37" name="Straight Connector 11">
            <a:extLst>
              <a:ext uri="{FF2B5EF4-FFF2-40B4-BE49-F238E27FC236}">
                <a16:creationId xmlns:a16="http://schemas.microsoft.com/office/drawing/2014/main" id="{C82B79E8-FF6F-51E9-C96A-27C69C5EF9F2}"/>
              </a:ext>
            </a:extLst>
          </p:cNvPr>
          <p:cNvCxnSpPr>
            <a:cxnSpLocks/>
            <a:stCxn id="32" idx="3"/>
            <a:endCxn id="34" idx="1"/>
          </p:cNvCxnSpPr>
          <p:nvPr/>
        </p:nvCxnSpPr>
        <p:spPr>
          <a:xfrm flipV="1">
            <a:off x="3933817" y="4990038"/>
            <a:ext cx="2930760" cy="419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10EB45E-11A4-FC42-D90C-356468E125F3}"/>
              </a:ext>
            </a:extLst>
          </p:cNvPr>
          <p:cNvSpPr txBox="1"/>
          <p:nvPr/>
        </p:nvSpPr>
        <p:spPr>
          <a:xfrm>
            <a:off x="75916" y="1835039"/>
            <a:ext cx="92150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Complaint</a:t>
            </a:r>
            <a:r>
              <a:rPr kumimoji="0" lang="en-US" sz="800" b="1" i="0" u="none" strike="noStrike" kern="1200" cap="none" spc="0" normalizeH="0" baseline="0" noProof="0">
                <a:ln>
                  <a:noFill/>
                </a:ln>
                <a:solidFill>
                  <a:srgbClr val="2E292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E292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(SMG 2180.2) Any voluntary submission to FDA alleging potential violation(s) of federal law, or an illicit or unsafe product or activity.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96FADFEE-5593-2875-4BC3-2DCCD6D1DC96}"/>
              </a:ext>
            </a:extLst>
          </p:cNvPr>
          <p:cNvSpPr txBox="1"/>
          <p:nvPr/>
        </p:nvSpPr>
        <p:spPr>
          <a:xfrm>
            <a:off x="75916" y="4759570"/>
            <a:ext cx="921507" cy="1723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Inquiry</a:t>
            </a: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 </a:t>
            </a: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E292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Requests for information or questions, submitted to FDA, that do not allege potential violation(s) of federal law, or an illicit or unsafe product or activity.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E73D7E4-E896-8707-D318-3F84BB278951}"/>
              </a:ext>
            </a:extLst>
          </p:cNvPr>
          <p:cNvSpPr txBox="1"/>
          <p:nvPr/>
        </p:nvSpPr>
        <p:spPr>
          <a:xfrm>
            <a:off x="3860991" y="2283993"/>
            <a:ext cx="509013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or C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41" name="Straight Connector 11">
            <a:extLst>
              <a:ext uri="{FF2B5EF4-FFF2-40B4-BE49-F238E27FC236}">
                <a16:creationId xmlns:a16="http://schemas.microsoft.com/office/drawing/2014/main" id="{8ED1189E-B981-22C5-38BD-CF7C995AEC00}"/>
              </a:ext>
            </a:extLst>
          </p:cNvPr>
          <p:cNvCxnSpPr>
            <a:cxnSpLocks/>
            <a:stCxn id="30" idx="3"/>
            <a:endCxn id="31" idx="1"/>
          </p:cNvCxnSpPr>
          <p:nvPr/>
        </p:nvCxnSpPr>
        <p:spPr>
          <a:xfrm>
            <a:off x="3935768" y="2513744"/>
            <a:ext cx="460782" cy="0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2" name="Graphic 41" descr="Smiling face outline with solid fill">
            <a:extLst>
              <a:ext uri="{FF2B5EF4-FFF2-40B4-BE49-F238E27FC236}">
                <a16:creationId xmlns:a16="http://schemas.microsoft.com/office/drawing/2014/main" id="{62487088-A46D-7249-DB2F-27B9E36FE604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3208764" y="3299397"/>
            <a:ext cx="274320" cy="274320"/>
          </a:xfrm>
          <a:prstGeom prst="rect">
            <a:avLst/>
          </a:prstGeom>
        </p:spPr>
      </p:pic>
      <p:cxnSp>
        <p:nvCxnSpPr>
          <p:cNvPr id="43" name="Straight Connector 11">
            <a:extLst>
              <a:ext uri="{FF2B5EF4-FFF2-40B4-BE49-F238E27FC236}">
                <a16:creationId xmlns:a16="http://schemas.microsoft.com/office/drawing/2014/main" id="{701097A4-1516-144D-4A0C-E905C317DE51}"/>
              </a:ext>
            </a:extLst>
          </p:cNvPr>
          <p:cNvCxnSpPr>
            <a:cxnSpLocks/>
            <a:stCxn id="30" idx="2"/>
            <a:endCxn id="42" idx="0"/>
          </p:cNvCxnSpPr>
          <p:nvPr/>
        </p:nvCxnSpPr>
        <p:spPr>
          <a:xfrm>
            <a:off x="3340433" y="3108104"/>
            <a:ext cx="5491" cy="191293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11">
            <a:extLst>
              <a:ext uri="{FF2B5EF4-FFF2-40B4-BE49-F238E27FC236}">
                <a16:creationId xmlns:a16="http://schemas.microsoft.com/office/drawing/2014/main" id="{8A0477B8-1114-935C-BC37-9CA929FBFD8B}"/>
              </a:ext>
            </a:extLst>
          </p:cNvPr>
          <p:cNvCxnSpPr>
            <a:cxnSpLocks/>
            <a:stCxn id="18" idx="0"/>
            <a:endCxn id="30" idx="1"/>
          </p:cNvCxnSpPr>
          <p:nvPr/>
        </p:nvCxnSpPr>
        <p:spPr>
          <a:xfrm rot="5400000" flipH="1" flipV="1">
            <a:off x="1928370" y="1999691"/>
            <a:ext cx="302674" cy="1330780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11">
            <a:extLst>
              <a:ext uri="{FF2B5EF4-FFF2-40B4-BE49-F238E27FC236}">
                <a16:creationId xmlns:a16="http://schemas.microsoft.com/office/drawing/2014/main" id="{84845791-8891-3F61-EB2F-5DD7839A8C9A}"/>
              </a:ext>
            </a:extLst>
          </p:cNvPr>
          <p:cNvCxnSpPr>
            <a:cxnSpLocks/>
            <a:endCxn id="32" idx="1"/>
          </p:cNvCxnSpPr>
          <p:nvPr/>
        </p:nvCxnSpPr>
        <p:spPr>
          <a:xfrm>
            <a:off x="1426583" y="4585031"/>
            <a:ext cx="1318514" cy="405426"/>
          </a:xfrm>
          <a:prstGeom prst="bentConnector3">
            <a:avLst>
              <a:gd name="adj1" fmla="val -87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1F3FAAA8-068B-4134-75BD-1AD7165E570F}"/>
              </a:ext>
            </a:extLst>
          </p:cNvPr>
          <p:cNvSpPr txBox="1"/>
          <p:nvPr/>
        </p:nvSpPr>
        <p:spPr>
          <a:xfrm>
            <a:off x="2894209" y="4967448"/>
            <a:ext cx="92150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Automated Call Distribution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0FFB3B6C-DFD9-1AE5-5DD3-D407AB3AD350}"/>
              </a:ext>
            </a:extLst>
          </p:cNvPr>
          <p:cNvSpPr txBox="1"/>
          <p:nvPr/>
        </p:nvSpPr>
        <p:spPr>
          <a:xfrm>
            <a:off x="2882556" y="2442824"/>
            <a:ext cx="92150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Self-service id. of resources on fda.gov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A5C7EC4E-328C-683A-BA59-00B18B433742}"/>
              </a:ext>
            </a:extLst>
          </p:cNvPr>
          <p:cNvSpPr txBox="1"/>
          <p:nvPr/>
        </p:nvSpPr>
        <p:spPr>
          <a:xfrm>
            <a:off x="3285177" y="3070153"/>
            <a:ext cx="4380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Yes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116B0B6-D2A7-024E-D33F-712948558BA6}"/>
              </a:ext>
            </a:extLst>
          </p:cNvPr>
          <p:cNvSpPr txBox="1"/>
          <p:nvPr/>
        </p:nvSpPr>
        <p:spPr>
          <a:xfrm>
            <a:off x="3884968" y="4991324"/>
            <a:ext cx="16373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Inquiries and Complaints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0" name="Straight Connector 11">
            <a:extLst>
              <a:ext uri="{FF2B5EF4-FFF2-40B4-BE49-F238E27FC236}">
                <a16:creationId xmlns:a16="http://schemas.microsoft.com/office/drawing/2014/main" id="{4259FC56-DF9F-AB0F-BEA9-7F06EC88C743}"/>
              </a:ext>
            </a:extLst>
          </p:cNvPr>
          <p:cNvCxnSpPr>
            <a:cxnSpLocks/>
            <a:stCxn id="32" idx="2"/>
            <a:endCxn id="51" idx="0"/>
          </p:cNvCxnSpPr>
          <p:nvPr/>
        </p:nvCxnSpPr>
        <p:spPr>
          <a:xfrm>
            <a:off x="3339457" y="5584817"/>
            <a:ext cx="15505" cy="305667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9E7A8B6B-C938-6B32-48DE-156DF4E08D5F}"/>
              </a:ext>
            </a:extLst>
          </p:cNvPr>
          <p:cNvSpPr/>
          <p:nvPr/>
        </p:nvSpPr>
        <p:spPr>
          <a:xfrm>
            <a:off x="2808515" y="5890484"/>
            <a:ext cx="1092893" cy="574078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1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Other processes</a:t>
            </a:r>
          </a:p>
        </p:txBody>
      </p:sp>
      <p:pic>
        <p:nvPicPr>
          <p:cNvPr id="52" name="Graphic 51" descr="Clipboard Partially Checked outline">
            <a:extLst>
              <a:ext uri="{FF2B5EF4-FFF2-40B4-BE49-F238E27FC236}">
                <a16:creationId xmlns:a16="http://schemas.microsoft.com/office/drawing/2014/main" id="{0006ADA6-1E77-3FA5-20DB-9A8CAABFED75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047343" y="1868787"/>
            <a:ext cx="274320" cy="274320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A1AF84BF-EB9D-DBE8-F137-68F0F958407D}"/>
              </a:ext>
            </a:extLst>
          </p:cNvPr>
          <p:cNvSpPr txBox="1"/>
          <p:nvPr/>
        </p:nvSpPr>
        <p:spPr>
          <a:xfrm rot="17160657">
            <a:off x="402957" y="3288962"/>
            <a:ext cx="886076" cy="979150"/>
          </a:xfrm>
          <a:prstGeom prst="rect">
            <a:avLst/>
          </a:prstGeom>
          <a:noFill/>
        </p:spPr>
        <p:txBody>
          <a:bodyPr wrap="square" rtlCol="0">
            <a:prstTxWarp prst="textCircle">
              <a:avLst/>
            </a:prstTxWarp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D60036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200,000 p.a.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D60036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54" name="Straight Connector 11">
            <a:extLst>
              <a:ext uri="{FF2B5EF4-FFF2-40B4-BE49-F238E27FC236}">
                <a16:creationId xmlns:a16="http://schemas.microsoft.com/office/drawing/2014/main" id="{95DD260F-8790-6F8E-3583-2CC05C08AF00}"/>
              </a:ext>
            </a:extLst>
          </p:cNvPr>
          <p:cNvCxnSpPr>
            <a:cxnSpLocks/>
            <a:stCxn id="16" idx="2"/>
            <a:endCxn id="34" idx="3"/>
          </p:cNvCxnSpPr>
          <p:nvPr/>
        </p:nvCxnSpPr>
        <p:spPr>
          <a:xfrm rot="5400000">
            <a:off x="8310313" y="4481632"/>
            <a:ext cx="774000" cy="24281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49901F51-65E8-B5E6-C0DD-AE49CA9D5EE8}"/>
              </a:ext>
            </a:extLst>
          </p:cNvPr>
          <p:cNvSpPr txBox="1"/>
          <p:nvPr/>
        </p:nvSpPr>
        <p:spPr>
          <a:xfrm>
            <a:off x="2247544" y="1806183"/>
            <a:ext cx="1214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E292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 do: Centralize 20+ webforms</a:t>
            </a:r>
          </a:p>
        </p:txBody>
      </p:sp>
      <p:pic>
        <p:nvPicPr>
          <p:cNvPr id="56" name="Graphic 55" descr="Clipboard Partially Checked outline">
            <a:extLst>
              <a:ext uri="{FF2B5EF4-FFF2-40B4-BE49-F238E27FC236}">
                <a16:creationId xmlns:a16="http://schemas.microsoft.com/office/drawing/2014/main" id="{0368EF0E-6A4C-C8ED-F7B6-2E353A1817E7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2021484" y="4521236"/>
            <a:ext cx="274320" cy="274320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6A5BC424-42F8-B6F1-73F7-6559A8BBC3AB}"/>
              </a:ext>
            </a:extLst>
          </p:cNvPr>
          <p:cNvSpPr txBox="1"/>
          <p:nvPr/>
        </p:nvSpPr>
        <p:spPr>
          <a:xfrm>
            <a:off x="2232168" y="4483718"/>
            <a:ext cx="10021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E292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 do: Expand to all FDA</a:t>
            </a:r>
          </a:p>
        </p:txBody>
      </p:sp>
      <p:pic>
        <p:nvPicPr>
          <p:cNvPr id="58" name="Graphic 57" descr="Clipboard Partially Checked outline">
            <a:extLst>
              <a:ext uri="{FF2B5EF4-FFF2-40B4-BE49-F238E27FC236}">
                <a16:creationId xmlns:a16="http://schemas.microsoft.com/office/drawing/2014/main" id="{EF3CF39F-AFBC-2E1C-AD61-7BA26D0C350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962722" y="3823595"/>
            <a:ext cx="274320" cy="274320"/>
          </a:xfrm>
          <a:prstGeom prst="rect">
            <a:avLst/>
          </a:prstGeom>
        </p:spPr>
      </p:pic>
      <p:sp>
        <p:nvSpPr>
          <p:cNvPr id="60" name="TextBox 59">
            <a:extLst>
              <a:ext uri="{FF2B5EF4-FFF2-40B4-BE49-F238E27FC236}">
                <a16:creationId xmlns:a16="http://schemas.microsoft.com/office/drawing/2014/main" id="{E03178F0-5E10-D006-1FF5-AC7E0CFCFED7}"/>
              </a:ext>
            </a:extLst>
          </p:cNvPr>
          <p:cNvSpPr txBox="1"/>
          <p:nvPr/>
        </p:nvSpPr>
        <p:spPr>
          <a:xfrm>
            <a:off x="2133043" y="3792378"/>
            <a:ext cx="9779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>
                <a:ln>
                  <a:noFill/>
                </a:ln>
                <a:solidFill>
                  <a:srgbClr val="2E292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 do: Digitize and route mail</a:t>
            </a:r>
          </a:p>
        </p:txBody>
      </p:sp>
      <p:cxnSp>
        <p:nvCxnSpPr>
          <p:cNvPr id="61" name="Straight Connector 11">
            <a:extLst>
              <a:ext uri="{FF2B5EF4-FFF2-40B4-BE49-F238E27FC236}">
                <a16:creationId xmlns:a16="http://schemas.microsoft.com/office/drawing/2014/main" id="{CFF8E17C-522F-9960-37DA-5D03A22BB79D}"/>
              </a:ext>
            </a:extLst>
          </p:cNvPr>
          <p:cNvCxnSpPr>
            <a:cxnSpLocks/>
            <a:stCxn id="31" idx="2"/>
            <a:endCxn id="20" idx="3"/>
          </p:cNvCxnSpPr>
          <p:nvPr/>
        </p:nvCxnSpPr>
        <p:spPr>
          <a:xfrm rot="5400000">
            <a:off x="3544103" y="1715648"/>
            <a:ext cx="337279" cy="3486312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11">
            <a:extLst>
              <a:ext uri="{FF2B5EF4-FFF2-40B4-BE49-F238E27FC236}">
                <a16:creationId xmlns:a16="http://schemas.microsoft.com/office/drawing/2014/main" id="{AA60B13D-25EA-D756-B91B-5FA8E599A3FC}"/>
              </a:ext>
            </a:extLst>
          </p:cNvPr>
          <p:cNvCxnSpPr>
            <a:cxnSpLocks/>
          </p:cNvCxnSpPr>
          <p:nvPr/>
        </p:nvCxnSpPr>
        <p:spPr>
          <a:xfrm rot="10800000">
            <a:off x="1983953" y="3702046"/>
            <a:ext cx="4880624" cy="1131029"/>
          </a:xfrm>
          <a:prstGeom prst="bentConnector3">
            <a:avLst>
              <a:gd name="adj1" fmla="val 22576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TextBox 62">
            <a:extLst>
              <a:ext uri="{FF2B5EF4-FFF2-40B4-BE49-F238E27FC236}">
                <a16:creationId xmlns:a16="http://schemas.microsoft.com/office/drawing/2014/main" id="{26A6F9E2-BEEE-AFFA-96F2-C6CDC96C559E}"/>
              </a:ext>
            </a:extLst>
          </p:cNvPr>
          <p:cNvSpPr txBox="1"/>
          <p:nvPr/>
        </p:nvSpPr>
        <p:spPr>
          <a:xfrm>
            <a:off x="3641557" y="1352489"/>
            <a:ext cx="46798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>
                <a:ln>
                  <a:noFill/>
                </a:ln>
                <a:solidFill>
                  <a:srgbClr val="2E292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 SCOPE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3901BDB-5FA3-61F6-0D6D-08DB8E3B0CFB}"/>
              </a:ext>
            </a:extLst>
          </p:cNvPr>
          <p:cNvSpPr txBox="1"/>
          <p:nvPr/>
        </p:nvSpPr>
        <p:spPr>
          <a:xfrm>
            <a:off x="10042924" y="1344518"/>
            <a:ext cx="20683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600" normalizeH="0" baseline="0" noProof="0">
                <a:ln>
                  <a:noFill/>
                </a:ln>
                <a:solidFill>
                  <a:srgbClr val="2E2925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 of SCOPE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1839DFAF-41C9-4080-E317-F8BC18A192AD}"/>
              </a:ext>
            </a:extLst>
          </p:cNvPr>
          <p:cNvSpPr/>
          <p:nvPr/>
        </p:nvSpPr>
        <p:spPr>
          <a:xfrm>
            <a:off x="10296072" y="2011614"/>
            <a:ext cx="1562041" cy="729442"/>
          </a:xfrm>
          <a:prstGeom prst="rect">
            <a:avLst/>
          </a:prstGeom>
          <a:noFill/>
          <a:ln>
            <a:solidFill>
              <a:schemeClr val="accent1">
                <a:lumMod val="25000"/>
                <a:lumOff val="75000"/>
              </a:schemeClr>
            </a:solidFill>
            <a:prstDash val="dash"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Regulated industry electronic submissions</a:t>
            </a:r>
          </a:p>
        </p:txBody>
      </p:sp>
      <p:cxnSp>
        <p:nvCxnSpPr>
          <p:cNvPr id="66" name="Straight Connector 11">
            <a:extLst>
              <a:ext uri="{FF2B5EF4-FFF2-40B4-BE49-F238E27FC236}">
                <a16:creationId xmlns:a16="http://schemas.microsoft.com/office/drawing/2014/main" id="{AD7F2D70-BA87-F168-1D6E-A87A25EAD1F7}"/>
              </a:ext>
            </a:extLst>
          </p:cNvPr>
          <p:cNvCxnSpPr>
            <a:cxnSpLocks/>
            <a:stCxn id="36" idx="1"/>
            <a:endCxn id="31" idx="3"/>
          </p:cNvCxnSpPr>
          <p:nvPr/>
        </p:nvCxnSpPr>
        <p:spPr>
          <a:xfrm rot="10800000">
            <a:off x="6515246" y="2513745"/>
            <a:ext cx="3780826" cy="1136549"/>
          </a:xfrm>
          <a:prstGeom prst="bentConnector3">
            <a:avLst>
              <a:gd name="adj1" fmla="val 411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11">
            <a:extLst>
              <a:ext uri="{FF2B5EF4-FFF2-40B4-BE49-F238E27FC236}">
                <a16:creationId xmlns:a16="http://schemas.microsoft.com/office/drawing/2014/main" id="{0C63833E-79DE-31D8-31D1-50BD852247C0}"/>
              </a:ext>
            </a:extLst>
          </p:cNvPr>
          <p:cNvCxnSpPr>
            <a:cxnSpLocks/>
            <a:stCxn id="15" idx="1"/>
            <a:endCxn id="31" idx="3"/>
          </p:cNvCxnSpPr>
          <p:nvPr/>
        </p:nvCxnSpPr>
        <p:spPr>
          <a:xfrm rot="10800000">
            <a:off x="6515246" y="2513744"/>
            <a:ext cx="221618" cy="2155348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9958AB63-C489-31E5-648C-BB21395BCDDF}"/>
              </a:ext>
            </a:extLst>
          </p:cNvPr>
          <p:cNvSpPr txBox="1"/>
          <p:nvPr/>
        </p:nvSpPr>
        <p:spPr>
          <a:xfrm>
            <a:off x="6573277" y="2314992"/>
            <a:ext cx="958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Complaints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60B85AA5-2779-3FCE-8488-DA52D56E30F4}"/>
              </a:ext>
            </a:extLst>
          </p:cNvPr>
          <p:cNvSpPr txBox="1"/>
          <p:nvPr/>
        </p:nvSpPr>
        <p:spPr>
          <a:xfrm rot="16200000">
            <a:off x="6230280" y="2561407"/>
            <a:ext cx="958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Inquiries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70" name="Straight Connector 11">
            <a:extLst>
              <a:ext uri="{FF2B5EF4-FFF2-40B4-BE49-F238E27FC236}">
                <a16:creationId xmlns:a16="http://schemas.microsoft.com/office/drawing/2014/main" id="{3AD60692-2D92-65A4-0BB5-B0506DEDB93D}"/>
              </a:ext>
            </a:extLst>
          </p:cNvPr>
          <p:cNvCxnSpPr>
            <a:cxnSpLocks/>
            <a:endCxn id="36" idx="2"/>
          </p:cNvCxnSpPr>
          <p:nvPr/>
        </p:nvCxnSpPr>
        <p:spPr>
          <a:xfrm>
            <a:off x="9008533" y="4233548"/>
            <a:ext cx="2068560" cy="162548"/>
          </a:xfrm>
          <a:prstGeom prst="bentConnector4">
            <a:avLst>
              <a:gd name="adj1" fmla="val 371"/>
              <a:gd name="adj2" fmla="val 240635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3801B234-6BD8-6AA1-9CD5-08C6241AB76D}"/>
              </a:ext>
            </a:extLst>
          </p:cNvPr>
          <p:cNvSpPr txBox="1"/>
          <p:nvPr/>
        </p:nvSpPr>
        <p:spPr>
          <a:xfrm>
            <a:off x="8962292" y="4394705"/>
            <a:ext cx="95825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Complaints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72" name="Graphic 71" descr="User outline">
            <a:extLst>
              <a:ext uri="{FF2B5EF4-FFF2-40B4-BE49-F238E27FC236}">
                <a16:creationId xmlns:a16="http://schemas.microsoft.com/office/drawing/2014/main" id="{6CC5C21C-2328-564E-2AE7-1FD78F18160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3983" y="4019384"/>
            <a:ext cx="640080" cy="640080"/>
          </a:xfrm>
          <a:prstGeom prst="rect">
            <a:avLst/>
          </a:prstGeom>
        </p:spPr>
      </p:pic>
      <p:grpSp>
        <p:nvGrpSpPr>
          <p:cNvPr id="77" name="Group 76">
            <a:extLst>
              <a:ext uri="{FF2B5EF4-FFF2-40B4-BE49-F238E27FC236}">
                <a16:creationId xmlns:a16="http://schemas.microsoft.com/office/drawing/2014/main" id="{BAD889DE-3123-5DB0-AF66-DD26924CF94C}"/>
              </a:ext>
            </a:extLst>
          </p:cNvPr>
          <p:cNvGrpSpPr/>
          <p:nvPr/>
        </p:nvGrpSpPr>
        <p:grpSpPr>
          <a:xfrm>
            <a:off x="1955248" y="1233981"/>
            <a:ext cx="2217420" cy="461665"/>
            <a:chOff x="3440430" y="1028700"/>
            <a:chExt cx="2217420" cy="461665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96ADB2AB-C328-874B-D2E8-9F662FC113FA}"/>
                </a:ext>
              </a:extLst>
            </p:cNvPr>
            <p:cNvSpPr txBox="1"/>
            <p:nvPr/>
          </p:nvSpPr>
          <p:spPr>
            <a:xfrm>
              <a:off x="3440430" y="1028700"/>
              <a:ext cx="212598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err="1">
                  <a:ln>
                    <a:noFill/>
                  </a:ln>
                  <a:solidFill>
                    <a:srgbClr val="007CBA"/>
                  </a:solidFill>
                  <a:effectLst/>
                  <a:uLnTx/>
                  <a:uFillTx/>
                  <a:latin typeface="Univers Condensed Light" panose="020B0306020202040204" pitchFamily="34" charset="0"/>
                  <a:ea typeface="+mn-ea"/>
                  <a:cs typeface="+mn-cs"/>
                </a:rPr>
                <a:t>ICOnS</a:t>
              </a: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007CBA"/>
                </a:solidFill>
                <a:effectLst/>
                <a:uLnTx/>
                <a:uFillTx/>
                <a:latin typeface="Univers Condensed Light" panose="020B0306020202040204" pitchFamily="34" charset="0"/>
                <a:ea typeface="+mn-ea"/>
                <a:cs typeface="+mn-cs"/>
              </a:endParaRP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E4C9B159-ACAB-E7B5-59EB-C49973E246E8}"/>
                </a:ext>
              </a:extLst>
            </p:cNvPr>
            <p:cNvSpPr txBox="1"/>
            <p:nvPr/>
          </p:nvSpPr>
          <p:spPr>
            <a:xfrm>
              <a:off x="4194810" y="1044088"/>
              <a:ext cx="146304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>
                  <a:ln>
                    <a:noFill/>
                  </a:ln>
                  <a:solidFill>
                    <a:srgbClr val="007CBA"/>
                  </a:solidFill>
                  <a:effectLst/>
                  <a:uLnTx/>
                  <a:uFillTx/>
                  <a:latin typeface="Arial Narrow" panose="020B0606020202030204" pitchFamily="34" charset="0"/>
                  <a:ea typeface="+mn-ea"/>
                  <a:cs typeface="+mn-cs"/>
                </a:rPr>
                <a:t>Inquiries and Complaints Optimization Solution</a:t>
              </a:r>
            </a:p>
          </p:txBody>
        </p:sp>
      </p:grp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EE94979-775C-6DF0-348F-F88EC9501A67}"/>
              </a:ext>
            </a:extLst>
          </p:cNvPr>
          <p:cNvSpPr txBox="1">
            <a:spLocks/>
          </p:cNvSpPr>
          <p:nvPr/>
        </p:nvSpPr>
        <p:spPr>
          <a:xfrm>
            <a:off x="336598" y="6297341"/>
            <a:ext cx="1311275" cy="2682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50" b="0" i="0" kern="1200">
                <a:solidFill>
                  <a:srgbClr val="007DBB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007DBB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727179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AC9F0-9E4B-D381-3E27-1F95717C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>
                <a:latin typeface="Arial" panose="020B0604020202020204" pitchFamily="34" charset="0"/>
                <a:cs typeface="Arial" panose="020B0604020202020204" pitchFamily="34" charset="0"/>
              </a:rPr>
              <a:t>Goals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8B24F-975B-09E7-D41C-D9A98F78F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/>
              <a:t>Office of Operations 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4FC2E8F-3F37-8399-9F48-F0E0228B01D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1371600"/>
            <a:ext cx="11254498" cy="478269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>
                <a:latin typeface="Arial"/>
                <a:cs typeface="Arial"/>
              </a:rPr>
              <a:t>Goal 1: Implement a tiered (0-3) contact center structure with an enterprise CRM solution. </a:t>
            </a: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>
                <a:latin typeface="Arial"/>
                <a:cs typeface="Arial"/>
              </a:rPr>
              <a:t>Goal 2: Form the business advisors working group to be the long-term business process owner. </a:t>
            </a:r>
            <a:endParaRPr lang="en-US" sz="2000">
              <a:latin typeface="Arial"/>
              <a:ea typeface="Calibri"/>
              <a:cs typeface="Arial"/>
            </a:endParaRPr>
          </a:p>
          <a:p>
            <a:pPr marL="342900" indent="-34290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2000">
                <a:latin typeface="Arial"/>
                <a:ea typeface="Calibri"/>
                <a:cs typeface="Arial"/>
              </a:rPr>
              <a:t>Goal 3: Establish CRM Governance.</a:t>
            </a:r>
          </a:p>
          <a:p>
            <a:pPr indent="0">
              <a:buNone/>
            </a:pPr>
            <a:endParaRPr lang="en-US">
              <a:solidFill>
                <a:prstClr val="black"/>
              </a:solidFill>
              <a:latin typeface="+mn-lt"/>
              <a:ea typeface="Calibri" panose="020F0502020204030204"/>
              <a:cs typeface="Calibri" panose="020F0502020204030204"/>
            </a:endParaRPr>
          </a:p>
          <a:p>
            <a:pPr marL="342900" indent="-342900">
              <a:spcBef>
                <a:spcPts val="500"/>
              </a:spcBef>
              <a:buChar char="•"/>
            </a:pPr>
            <a:endParaRPr lang="en-US" sz="2400" i="1">
              <a:latin typeface="+mn-lt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5B2984DA-6811-4D47-1AB7-101B56EA97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5925" y="6316663"/>
            <a:ext cx="1311275" cy="268287"/>
          </a:xfrm>
        </p:spPr>
        <p:txBody>
          <a:bodyPr/>
          <a:lstStyle/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24937802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AC9F0-9E4B-D381-3E27-1F95717C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598" y="407624"/>
            <a:ext cx="10483802" cy="451692"/>
          </a:xfrm>
        </p:spPr>
        <p:txBody>
          <a:bodyPr/>
          <a:lstStyle/>
          <a:p>
            <a:r>
              <a:rPr lang="en-US" b="0" dirty="0">
                <a:latin typeface="Arial"/>
                <a:cs typeface="Arial"/>
              </a:rPr>
              <a:t>Goal 1: Tiered Contact Center Structure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8B24F-975B-09E7-D41C-D9A98F78F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/>
              <a:t>Office of Operations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BB28C-FD53-E777-2436-45FB9C5D6803}"/>
              </a:ext>
            </a:extLst>
          </p:cNvPr>
          <p:cNvSpPr txBox="1"/>
          <p:nvPr/>
        </p:nvSpPr>
        <p:spPr>
          <a:xfrm>
            <a:off x="457200" y="1286933"/>
            <a:ext cx="11333320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Establish a tiered (0-3) contact center structure by implementing the following: 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49A3CC76-9ADE-4CD6-9551-79F8377DE8D2}"/>
              </a:ext>
            </a:extLst>
          </p:cNvPr>
          <p:cNvSpPr txBox="1">
            <a:spLocks/>
          </p:cNvSpPr>
          <p:nvPr/>
        </p:nvSpPr>
        <p:spPr>
          <a:xfrm>
            <a:off x="336598" y="6297341"/>
            <a:ext cx="1311275" cy="2682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377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200" b="1" i="0" kern="1200">
                <a:solidFill>
                  <a:srgbClr val="44546A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1pPr>
            <a:lvl2pPr marL="457189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2pPr>
            <a:lvl3pPr marL="914377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3pPr>
            <a:lvl4pPr marL="1371566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4pPr>
            <a:lvl5pPr marL="1828755" indent="0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b="1" i="0" kern="1200">
                <a:solidFill>
                  <a:schemeClr val="accent5">
                    <a:lumMod val="50000"/>
                  </a:schemeClr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defRPr>
            </a:lvl5pPr>
            <a:lvl6pPr marL="2514537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44546A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+mn-cs"/>
              </a:rPr>
              <a:t>March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B271AF-92D9-D4EC-3E3C-1057D261F27F}"/>
              </a:ext>
            </a:extLst>
          </p:cNvPr>
          <p:cNvSpPr txBox="1"/>
          <p:nvPr/>
        </p:nvSpPr>
        <p:spPr>
          <a:xfrm>
            <a:off x="460060" y="1936906"/>
            <a:ext cx="6197600" cy="3972281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Tier 0 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(self-service) 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Calibri"/>
                <a:cs typeface="Arial"/>
              </a:rPr>
              <a:t>Update operational governance, best practices, and standards for FDA's digital content.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Conduct an inventory of public fda.gov sites, consolidate redundant COP pages, and update content to better support self-service.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Open Sans Light" panose="020B0606030504020204" pitchFamily="34" charset="0"/>
              <a:cs typeface="Arial"/>
            </a:endParaRP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Improve FDA digital content search functionality.</a:t>
            </a:r>
          </a:p>
          <a:p>
            <a:pPr marL="685800" marR="0" lvl="1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Consolidate multiple inquiry intake forms and email addresses to the Unified Intake Tool for entry to the CRM.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None/>
              <a:tabLst/>
              <a:defRPr/>
            </a:pPr>
            <a:endParaRPr kumimoji="0" lang="en-US" sz="1600" b="1" i="0" u="sng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Open Sans Light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Tier 1-3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(routing 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  <a:sym typeface="Wingdings" panose="05000000000000000000" pitchFamily="2" charset="2"/>
              </a:rPr>
              <a:t>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increased complexity/expertise)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Establish an enterprise Tier 1 call center to accommodate current and anticipated volume for all FDA COPs. 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eriod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Work with COPs to define and script Tier 1 calls and escalation to Tier 2. 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eriod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Require FDA-wide use of the Automated Call Distribution system by removing or rerouting numerous contact center phone numbers to the Tier 1 queue.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Maintain Tier 2 and 3 calls in the appropriate business units/COPs.</a:t>
            </a:r>
          </a:p>
          <a:p>
            <a:pPr marL="1257300" marR="0" lvl="2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lphaLcPeriod"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Assures specialists and experts maintain knowledge and understanding of the specific products/policies in question. 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C9F52F6-560B-4B10-6056-F0CA0BD453D1}"/>
              </a:ext>
            </a:extLst>
          </p:cNvPr>
          <p:cNvSpPr txBox="1"/>
          <p:nvPr/>
        </p:nvSpPr>
        <p:spPr>
          <a:xfrm>
            <a:off x="7113280" y="1936906"/>
            <a:ext cx="4767420" cy="4583477"/>
          </a:xfrm>
          <a:prstGeom prst="rect">
            <a:avLst/>
          </a:prstGeom>
          <a:noFill/>
        </p:spPr>
        <p:txBody>
          <a:bodyPr wrap="square" lIns="91440" tIns="45720" rIns="91440" bIns="45720" numCol="1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Enterprise CRM solution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Comprehensive case and ticket management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Customer relationship and contact management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Tiered support structure and escalation management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Regulatory compliance and security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Reporting, analytics, and performance management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Integration and interoperability, single sign-on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User experience and interface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/>
                <a:cs typeface="Arial"/>
              </a:rPr>
              <a:t>Scalability and future enhancement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6CDEBF9-B45F-5EB3-757F-15124CE828B3}"/>
              </a:ext>
            </a:extLst>
          </p:cNvPr>
          <p:cNvCxnSpPr/>
          <p:nvPr/>
        </p:nvCxnSpPr>
        <p:spPr>
          <a:xfrm>
            <a:off x="6972300" y="2006600"/>
            <a:ext cx="0" cy="368300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43696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AC9F0-9E4B-D381-3E27-1F95717CF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165" y="407624"/>
            <a:ext cx="10036943" cy="451692"/>
          </a:xfrm>
        </p:spPr>
        <p:txBody>
          <a:bodyPr/>
          <a:lstStyle/>
          <a:p>
            <a:r>
              <a:rPr lang="en-US" b="0" dirty="0">
                <a:latin typeface="+mn-lt"/>
                <a:cs typeface="Calibri"/>
              </a:rPr>
              <a:t>Goal 2: Business Process Owners</a:t>
            </a:r>
            <a:endParaRPr lang="en-US" b="0" dirty="0">
              <a:cs typeface="Calibri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8B24F-975B-09E7-D41C-D9A98F78F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Office of Operations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BB28C-FD53-E777-2436-45FB9C5D6803}"/>
              </a:ext>
            </a:extLst>
          </p:cNvPr>
          <p:cNvSpPr txBox="1"/>
          <p:nvPr/>
        </p:nvSpPr>
        <p:spPr>
          <a:xfrm>
            <a:off x="457200" y="1371600"/>
            <a:ext cx="10039927" cy="513986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Form the business advisors group to be the long-term business process owner. 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Open Sans Light" panose="020B0606030504020204" pitchFamily="34" charset="0"/>
              <a:cs typeface="Open Sans Light" panose="020B0606030504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 panose="020B0606030504020204" pitchFamily="34" charset="0"/>
                <a:cs typeface="Open Sans Light" panose="020B0606030504020204" pitchFamily="34" charset="0"/>
              </a:rPr>
              <a:t>Small advisory group with representation from FDA Center/Office/Programs responsible for submitted public inquiries, voluntary complaints, and mandatory safety reports.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 panose="020B0606030504020204" pitchFamily="34" charset="0"/>
                <a:cs typeface="Open Sans Light" panose="020B0606030504020204" pitchFamily="34" charset="0"/>
              </a:rPr>
              <a:t>Complements ~150 subject matter experts involved with CHIME and ICONS projects.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 panose="020B0606030504020204" pitchFamily="34" charset="0"/>
                <a:cs typeface="Open Sans Light" panose="020B0606030504020204" pitchFamily="34" charset="0"/>
              </a:rPr>
              <a:t>Authority to serve this function.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  <a:t>Advise on key components or phases of project work, e.g., high-level process/system requirements.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Calibri"/>
                <a:cs typeface="Calibri"/>
              </a:rPr>
              <a:t>Participate and provide approval on requirements, vendor selection (from RFI to RFQ), change management, e.g., communication, training.  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 panose="020B0606030504020204" pitchFamily="34" charset="0"/>
                <a:cs typeface="Open Sans Light" panose="020B0606030504020204" pitchFamily="34" charset="0"/>
              </a:rPr>
              <a:t>Develop Agency protocols and metrics and hold Tier 2&amp;3 managers (and vicariously their agents) accountable if they’re not following them.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 panose="020B0606030504020204" pitchFamily="34" charset="0"/>
                <a:cs typeface="Open Sans Light" panose="020B0606030504020204" pitchFamily="34" charset="0"/>
              </a:rPr>
              <a:t>Keep the public’s experience in mind and push back at center-requested changes that overly complicate consumer experience. 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 panose="020B0606030504020204" pitchFamily="34" charset="0"/>
                <a:cs typeface="Open Sans Light" panose="020B0606030504020204" pitchFamily="34" charset="0"/>
              </a:rPr>
              <a:t>Maintain the CRM functionality (and O&amp;M and DM&amp;E) and work with their COPs to change/adapt it over time.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 typeface="+mj-lt"/>
              <a:buAutoNum type="alphaLcPeriod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Open Sans Light" panose="020B0606030504020204" pitchFamily="34" charset="0"/>
                <a:cs typeface="Open Sans Light" panose="020B0606030504020204" pitchFamily="34" charset="0"/>
              </a:rPr>
              <a:t>Integrate Tier 0 changes into the overall website plan.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Open Sans Light" panose="020B0606030504020204" pitchFamily="34" charset="0"/>
              <a:cs typeface="Open Sans Light" panose="020B0606030504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557B4830-FBFC-9A83-42D7-8212A3FA3B4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5925" y="6316663"/>
            <a:ext cx="1311275" cy="268287"/>
          </a:xfrm>
        </p:spPr>
        <p:txBody>
          <a:bodyPr/>
          <a:lstStyle/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31685718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AC9F0-9E4B-D381-3E27-1F95717CF2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dirty="0">
                <a:latin typeface="Arial"/>
                <a:cs typeface="Arial"/>
              </a:rPr>
              <a:t>Goal 3: CRM Governance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A8B24F-975B-09E7-D41C-D9A98F78F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algn="ctr"/>
            <a:r>
              <a:rPr lang="en-US"/>
              <a:t>Office of Operations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A3BB28C-FD53-E777-2436-45FB9C5D6803}"/>
              </a:ext>
            </a:extLst>
          </p:cNvPr>
          <p:cNvSpPr txBox="1"/>
          <p:nvPr/>
        </p:nvSpPr>
        <p:spPr>
          <a:xfrm>
            <a:off x="843149" y="3682272"/>
            <a:ext cx="10039927" cy="64633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None/>
              <a:tabLst/>
              <a:defRPr/>
            </a:pP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Open Sans Light"/>
              <a:cs typeface="Open Sans Light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 typeface="+mj-lt"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Open Sans Light" panose="020B0606030504020204" pitchFamily="34" charset="0"/>
              <a:cs typeface="Open Sans Light" panose="020B0606030504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C947A7-8076-125B-7C37-A5C0FD221284}"/>
              </a:ext>
            </a:extLst>
          </p:cNvPr>
          <p:cNvSpPr txBox="1"/>
          <p:nvPr/>
        </p:nvSpPr>
        <p:spPr>
          <a:xfrm>
            <a:off x="457200" y="1371600"/>
            <a:ext cx="11305167" cy="212365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Establish CRM governance to address the following: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 panose="020B0604020202020204" pitchFamily="34" charset="0"/>
              <a:ea typeface="Calibri" panose="020F0502020204030204"/>
              <a:cs typeface="Arial" panose="020B0604020202020204" pitchFamily="34" charset="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Calibri" panose="020F0502020204030204"/>
                <a:cs typeface="Arial"/>
              </a:rPr>
              <a:t>Assess current state FDA-wide CRM/process workflow systems (e.g., Appian, Genesys, Salesforce, ServiceNow).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Calibri" panose="020F0502020204030204"/>
                <a:cs typeface="Arial"/>
              </a:rPr>
              <a:t>Provide operational governance, best practice, and standards to optimize system use.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222C67"/>
                </a:solidFill>
                <a:effectLst/>
                <a:uLnTx/>
                <a:uFillTx/>
                <a:latin typeface="Arial"/>
                <a:ea typeface="Calibri" panose="020F0502020204030204"/>
                <a:cs typeface="Arial"/>
              </a:rPr>
              <a:t>Consolidate contracts, licenses, and new development. 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22C67"/>
              </a:buClr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222C67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50EE890D-FE33-9B19-75FB-E24B1AB973E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15925" y="6316663"/>
            <a:ext cx="1311275" cy="268287"/>
          </a:xfrm>
        </p:spPr>
        <p:txBody>
          <a:bodyPr/>
          <a:lstStyle/>
          <a:p>
            <a:r>
              <a:rPr lang="en-US" dirty="0"/>
              <a:t>March 2026</a:t>
            </a:r>
          </a:p>
        </p:txBody>
      </p:sp>
    </p:spTree>
    <p:extLst>
      <p:ext uri="{BB962C8B-B14F-4D97-AF65-F5344CB8AC3E}">
        <p14:creationId xmlns:p14="http://schemas.microsoft.com/office/powerpoint/2010/main" val="14618955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3A0DB-F8B8-7E2C-3379-EBCDFB60F1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6600" dirty="0"/>
            </a:br>
            <a:br>
              <a:rPr lang="en-US" sz="6600" dirty="0"/>
            </a:br>
            <a:r>
              <a:rPr lang="en-US" sz="6600" dirty="0"/>
              <a:t>Q&amp;A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623EF6-A0F1-6489-90D0-EF75C72785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1175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06126-EE21-4BB2-1C80-4C7438994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A31478-7F96-91FA-B2CA-CC416B68012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br>
              <a:rPr lang="en-US" sz="6600" dirty="0"/>
            </a:br>
            <a:br>
              <a:rPr lang="en-US" sz="6600" dirty="0"/>
            </a:br>
            <a:r>
              <a:rPr lang="en-US" sz="6600" dirty="0"/>
              <a:t>Thank you!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C1011E-76F6-5D24-6AB7-4EC9601A2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51916-448D-084F-871F-01BF4E2B7E7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9929110"/>
      </p:ext>
    </p:extLst>
  </p:cSld>
  <p:clrMapOvr>
    <a:masterClrMapping/>
  </p:clrMapOvr>
</p:sld>
</file>

<file path=ppt/theme/theme1.xml><?xml version="1.0" encoding="utf-8"?>
<a:theme xmlns:a="http://schemas.openxmlformats.org/drawingml/2006/main" name="2_Office Theme">
  <a:themeElements>
    <a:clrScheme name="FDA">
      <a:dk1>
        <a:srgbClr val="222C67"/>
      </a:dk1>
      <a:lt1>
        <a:sysClr val="window" lastClr="FFFFFF"/>
      </a:lt1>
      <a:dk2>
        <a:srgbClr val="007CBA"/>
      </a:dk2>
      <a:lt2>
        <a:srgbClr val="FFFFFF"/>
      </a:lt2>
      <a:accent1>
        <a:srgbClr val="2E2925"/>
      </a:accent1>
      <a:accent2>
        <a:srgbClr val="6D6E71"/>
      </a:accent2>
      <a:accent3>
        <a:srgbClr val="D60036"/>
      </a:accent3>
      <a:accent4>
        <a:srgbClr val="E5B611"/>
      </a:accent4>
      <a:accent5>
        <a:srgbClr val="008659"/>
      </a:accent5>
      <a:accent6>
        <a:srgbClr val="743796"/>
      </a:accent6>
      <a:hlink>
        <a:srgbClr val="0563C1"/>
      </a:hlink>
      <a:folHlink>
        <a:srgbClr val="954F72"/>
      </a:folHlink>
    </a:clrScheme>
    <a:fontScheme name="FDA">
      <a:majorFont>
        <a:latin typeface="Merriweathe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buClr>
            <a:schemeClr val="tx1"/>
          </a:buClr>
          <a:defRPr dirty="0" smtClean="0">
            <a:ea typeface="Open Sans Light" panose="020B0606030504020204" pitchFamily="34" charset="0"/>
            <a:cs typeface="Open Sans Light" panose="020B060603050402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O BLUF_ Template" id="{93622370-851C-4C55-AFCE-6820ADA550ED}" vid="{15DD1AF4-A6CA-4D37-A3C3-33C3E0DC138C}"/>
    </a:ext>
  </a:extLst>
</a:theme>
</file>

<file path=ppt/theme/theme2.xml><?xml version="1.0" encoding="utf-8"?>
<a:theme xmlns:a="http://schemas.openxmlformats.org/drawingml/2006/main" name="1_Office Theme">
  <a:themeElements>
    <a:clrScheme name="FDA">
      <a:dk1>
        <a:srgbClr val="222C67"/>
      </a:dk1>
      <a:lt1>
        <a:sysClr val="window" lastClr="FFFFFF"/>
      </a:lt1>
      <a:dk2>
        <a:srgbClr val="007CBA"/>
      </a:dk2>
      <a:lt2>
        <a:srgbClr val="FFFFFF"/>
      </a:lt2>
      <a:accent1>
        <a:srgbClr val="2E2925"/>
      </a:accent1>
      <a:accent2>
        <a:srgbClr val="6D6E71"/>
      </a:accent2>
      <a:accent3>
        <a:srgbClr val="D60036"/>
      </a:accent3>
      <a:accent4>
        <a:srgbClr val="E5B611"/>
      </a:accent4>
      <a:accent5>
        <a:srgbClr val="008659"/>
      </a:accent5>
      <a:accent6>
        <a:srgbClr val="743796"/>
      </a:accent6>
      <a:hlink>
        <a:srgbClr val="0563C1"/>
      </a:hlink>
      <a:folHlink>
        <a:srgbClr val="954F72"/>
      </a:folHlink>
    </a:clrScheme>
    <a:fontScheme name="FDA">
      <a:majorFont>
        <a:latin typeface="Merriweather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DA">
      <a:dk1>
        <a:srgbClr val="222C67"/>
      </a:dk1>
      <a:lt1>
        <a:sysClr val="window" lastClr="FFFFFF"/>
      </a:lt1>
      <a:dk2>
        <a:srgbClr val="007CBA"/>
      </a:dk2>
      <a:lt2>
        <a:srgbClr val="FFFFFF"/>
      </a:lt2>
      <a:accent1>
        <a:srgbClr val="2E2925"/>
      </a:accent1>
      <a:accent2>
        <a:srgbClr val="6D6E71"/>
      </a:accent2>
      <a:accent3>
        <a:srgbClr val="D60036"/>
      </a:accent3>
      <a:accent4>
        <a:srgbClr val="E5B611"/>
      </a:accent4>
      <a:accent5>
        <a:srgbClr val="008659"/>
      </a:accent5>
      <a:accent6>
        <a:srgbClr val="743796"/>
      </a:accent6>
      <a:hlink>
        <a:srgbClr val="0563C1"/>
      </a:hlink>
      <a:folHlink>
        <a:srgbClr val="954F72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3CA65DBBA2B94CBD2919BD2A52B8BC" ma:contentTypeVersion="0" ma:contentTypeDescription="Create a new document." ma:contentTypeScope="" ma:versionID="76934077fd9b54c957fdee0c823ecaa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500c6692915ba10984c0aabd49f31b2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18233F5-9E4C-47FE-9692-41E80086EED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0656878-89BA-474A-BE56-13A600BF01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D7DAB7-FC93-48FE-8013-99897132DD7B}">
  <ds:schemaRefs>
    <ds:schemaRef ds:uri="http://purl.org/dc/elements/1.1/"/>
    <ds:schemaRef ds:uri="http://schemas.microsoft.com/office/2006/metadata/properties"/>
    <ds:schemaRef ds:uri="http://schemas.microsoft.com/office/2006/documentManagement/types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www.w3.org/XML/1998/namespace"/>
    <ds:schemaRef ds:uri="http://purl.org/dc/terms/"/>
  </ds:schemaRefs>
</ds:datastoreItem>
</file>

<file path=docMetadata/LabelInfo.xml><?xml version="1.0" encoding="utf-8"?>
<clbl:labelList xmlns:clbl="http://schemas.microsoft.com/office/2020/mipLabelMetadata">
  <clbl:label id="{7d2fdb41-339c-4257-87f2-a665730b31fc}" enabled="0" method="" siteId="{7d2fdb41-339c-4257-87f2-a665730b31f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401</TotalTime>
  <Words>1322</Words>
  <Application>Microsoft Office PowerPoint</Application>
  <PresentationFormat>Widescreen</PresentationFormat>
  <Paragraphs>142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12</vt:i4>
      </vt:variant>
    </vt:vector>
  </HeadingPairs>
  <TitlesOfParts>
    <vt:vector size="31" baseType="lpstr">
      <vt:lpstr>Aptos</vt:lpstr>
      <vt:lpstr>Aptos Display</vt:lpstr>
      <vt:lpstr>Arial</vt:lpstr>
      <vt:lpstr>Arial Narrow</vt:lpstr>
      <vt:lpstr>Calibri</vt:lpstr>
      <vt:lpstr>Calibri</vt:lpstr>
      <vt:lpstr>Calibri </vt:lpstr>
      <vt:lpstr>Calibri  </vt:lpstr>
      <vt:lpstr>Calibri Light</vt:lpstr>
      <vt:lpstr>Helvetica</vt:lpstr>
      <vt:lpstr>Merriweather</vt:lpstr>
      <vt:lpstr>Open Sans ExtraBold</vt:lpstr>
      <vt:lpstr>Open Sans Light</vt:lpstr>
      <vt:lpstr>Source Sans Pro</vt:lpstr>
      <vt:lpstr>Univers Condensed Light</vt:lpstr>
      <vt:lpstr>Wingdings</vt:lpstr>
      <vt:lpstr>2_Office Theme</vt:lpstr>
      <vt:lpstr>1_Office Theme</vt:lpstr>
      <vt:lpstr>Office Theme</vt:lpstr>
      <vt:lpstr>PowerPoint Presentation</vt:lpstr>
      <vt:lpstr>Industry Day Agenda</vt:lpstr>
      <vt:lpstr>PowerPoint Presentation</vt:lpstr>
      <vt:lpstr>Ground rules during Q&amp;A</vt:lpstr>
      <vt:lpstr>Vision and Scope</vt:lpstr>
      <vt:lpstr>Simplified FDA Customer Journey of an Inquiry or Complaint</vt:lpstr>
      <vt:lpstr>Goals</vt:lpstr>
      <vt:lpstr>Goal 1: Tiered Contact Center Structure</vt:lpstr>
      <vt:lpstr>Goal 2: Business Process Owners</vt:lpstr>
      <vt:lpstr>Goal 3: CRM Governance</vt:lpstr>
      <vt:lpstr>  Q&amp;A</vt:lpstr>
      <vt:lpstr>  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FDA PowerPoint Presentation Template</dc:title>
  <dc:subject>A presentation template for authors to structure FDA branded presentations.</dc:subject>
  <dc:creator>U.S. Food and Drug Administration</dc:creator>
  <cp:keywords>Template, FDA, Presentation, branding, monogram</cp:keywords>
  <cp:lastModifiedBy>Shah, Shailesh</cp:lastModifiedBy>
  <cp:revision>3</cp:revision>
  <cp:lastPrinted>2025-05-13T16:04:53Z</cp:lastPrinted>
  <dcterms:created xsi:type="dcterms:W3CDTF">2021-08-12T14:41:37Z</dcterms:created>
  <dcterms:modified xsi:type="dcterms:W3CDTF">2026-03-11T17:10:24Z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0x010100C13CA65DBBA2B94CBD2919BD2A52B8BC</vt:lpwstr>
  </property>
  <property fmtid="{D5CDD505-2E9C-101B-9397-08002B2CF9AE}" pid="4" name="xd_ProgID">
    <vt:lpwstr/>
  </property>
  <property fmtid="{D5CDD505-2E9C-101B-9397-08002B2CF9AE}" pid="5" name="ComplianceAssetId">
    <vt:lpwstr/>
  </property>
  <property fmtid="{D5CDD505-2E9C-101B-9397-08002B2CF9AE}" pid="6" name="TemplateUrl">
    <vt:lpwstr/>
  </property>
  <property fmtid="{D5CDD505-2E9C-101B-9397-08002B2CF9AE}" pid="7" name="_ExtendedDescription">
    <vt:lpwstr/>
  </property>
  <property fmtid="{D5CDD505-2E9C-101B-9397-08002B2CF9AE}" pid="8" name="TriggerFlowInfo">
    <vt:lpwstr/>
  </property>
  <property fmtid="{D5CDD505-2E9C-101B-9397-08002B2CF9AE}" pid="9" name="xd_Signature">
    <vt:bool>false</vt:bool>
  </property>
</Properties>
</file>